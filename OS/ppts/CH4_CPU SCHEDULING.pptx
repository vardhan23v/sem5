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318" r:id="rId2"/>
    <p:sldId id="256" r:id="rId3"/>
    <p:sldId id="353" r:id="rId4"/>
    <p:sldId id="257" r:id="rId5"/>
    <p:sldId id="278" r:id="rId6"/>
    <p:sldId id="27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352" r:id="rId16"/>
    <p:sldId id="291" r:id="rId17"/>
    <p:sldId id="343" r:id="rId18"/>
    <p:sldId id="360" r:id="rId19"/>
    <p:sldId id="269" r:id="rId20"/>
    <p:sldId id="361" r:id="rId21"/>
    <p:sldId id="270" r:id="rId22"/>
    <p:sldId id="271" r:id="rId23"/>
    <p:sldId id="281" r:id="rId24"/>
    <p:sldId id="282" r:id="rId25"/>
    <p:sldId id="272" r:id="rId26"/>
    <p:sldId id="283" r:id="rId27"/>
    <p:sldId id="273" r:id="rId28"/>
    <p:sldId id="274" r:id="rId29"/>
    <p:sldId id="292" r:id="rId30"/>
    <p:sldId id="320" r:id="rId31"/>
    <p:sldId id="275" r:id="rId32"/>
    <p:sldId id="319" r:id="rId33"/>
  </p:sldIdLst>
  <p:sldSz cx="13716000" cy="9144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7">
          <p15:clr>
            <a:srgbClr val="A4A3A4"/>
          </p15:clr>
        </p15:guide>
        <p15:guide id="2" pos="19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06" y="58"/>
      </p:cViewPr>
      <p:guideLst>
        <p:guide orient="horz" pos="1517"/>
        <p:guide pos="1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</a:defRPr>
            </a:lvl1pPr>
          </a:lstStyle>
          <a:p>
            <a:fld id="{54492EB3-0312-4C94-ACA2-C5355F3C76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</a:defRPr>
            </a:lvl1pPr>
          </a:lstStyle>
          <a:p>
            <a:fld id="{0C9E32B4-B3B1-4225-B1EE-1A9B01E99D4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534060-CEFA-42F5-8F8B-10AE1E493BE7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DC76A4-7CFC-45C3-A87F-C66B869671CB}" type="slidenum">
              <a:rPr lang="en-US"/>
              <a:pPr/>
              <a:t>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C4ED71-0D3F-4B0F-92B2-0A838296B595}" type="slidenum">
              <a:rPr lang="en-US"/>
              <a:pPr/>
              <a:t>4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D04C15-BB92-480D-A600-A12CC9213F13}" type="slidenum">
              <a:rPr lang="en-US"/>
              <a:pPr/>
              <a:t>5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2DDEE-1DC8-47FE-ABBC-659D5EAEFE8B}" type="slidenum">
              <a:rPr lang="en-US"/>
              <a:pPr/>
              <a:t>6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20190-F904-4007-A11B-C0603F036466}" type="slidenum">
              <a:rPr lang="en-US"/>
              <a:pPr/>
              <a:t>7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55762D-50E3-4B49-AC35-AB41CC4A133C}" type="slidenum">
              <a:rPr lang="en-US"/>
              <a:pPr/>
              <a:t>8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60FD50-1798-4884-8B81-CDFE853188F9}" type="slidenum">
              <a:rPr lang="en-US"/>
              <a:pPr/>
              <a:t>9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7B7A3-AC53-43E5-B643-2C51BEB2A4FF}" type="slidenum">
              <a:rPr lang="en-US"/>
              <a:pPr/>
              <a:t>10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7CDA14-3197-4095-A0D3-F47D3DA01A1E}" type="slidenum">
              <a:rPr lang="en-US"/>
              <a:pPr/>
              <a:t>11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D689BC-F572-4BA9-AB89-A03A584F0857}" type="slidenum">
              <a:rPr lang="en-US"/>
              <a:pPr/>
              <a:t>12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385B22-6B66-48BC-8AE6-1E478A3CAB3A}" type="slidenum">
              <a:rPr lang="en-US"/>
              <a:pPr/>
              <a:t>13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08355F-3906-4B8A-A13C-4D51DD85A2A4}" type="slidenum">
              <a:rPr lang="en-US"/>
              <a:pPr/>
              <a:t>14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63EF80-E9B9-4B6E-9929-A6CBF4649B08}" type="slidenum">
              <a:rPr lang="en-US"/>
              <a:pPr/>
              <a:t>15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82FA15-1B10-4CF1-A2E6-E223568F8713}" type="slidenum">
              <a:rPr lang="en-US"/>
              <a:pPr/>
              <a:t>16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F07683-E227-469A-9B1A-E09CF32C7CA9}" type="slidenum">
              <a:rPr lang="en-US"/>
              <a:pPr/>
              <a:t>17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5B593B-0AEB-430F-A40A-ABB32B8A3B3A}" type="slidenum">
              <a:rPr lang="en-US"/>
              <a:pPr/>
              <a:t>18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8AC77-05AD-4B47-9659-126DABED6D46}" type="slidenum">
              <a:rPr lang="en-US"/>
              <a:pPr/>
              <a:t>19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64175B-759C-440D-948D-A19806604024}" type="slidenum">
              <a:rPr lang="en-US"/>
              <a:pPr/>
              <a:t>20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852C7D-DD15-4840-8F87-F3C9189612C6}" type="slidenum">
              <a:rPr lang="en-US"/>
              <a:pPr/>
              <a:t>21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51B8F-42BC-4F70-BBB4-B75117B82E89}" type="slidenum">
              <a:rPr lang="en-US"/>
              <a:pPr/>
              <a:t>22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38AB46-E39A-45DC-96AA-EBEAB3713A7B}" type="slidenum">
              <a:rPr lang="en-US"/>
              <a:pPr/>
              <a:t>23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BD9BEE-782A-4A51-B4CD-DD4202A318B3}" type="slidenum">
              <a:rPr lang="en-US"/>
              <a:pPr/>
              <a:t>24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9D6252-9D79-45B3-A133-502007AED4E7}" type="slidenum">
              <a:rPr lang="en-US"/>
              <a:pPr/>
              <a:t>25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9285CF-9147-4C86-BFB0-5537E5985403}" type="slidenum">
              <a:rPr lang="en-US"/>
              <a:pPr/>
              <a:t>26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955D52-9982-4A86-A44F-222362204651}" type="slidenum">
              <a:rPr lang="en-US"/>
              <a:pPr/>
              <a:t>27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79A738-9A4B-4B70-A2E4-85751BE973DF}" type="slidenum">
              <a:rPr lang="en-US"/>
              <a:pPr/>
              <a:t>28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318887-75B5-408A-B8AC-5EA0ABF8D853}" type="slidenum">
              <a:rPr lang="en-US"/>
              <a:pPr/>
              <a:t>29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FC8D5B-B812-431D-AADB-7243F62EBF8D}" type="slidenum">
              <a:rPr lang="en-US"/>
              <a:pPr/>
              <a:t>30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CA0314-E5D9-4509-9AF9-A7EA88DFAD0A}" type="slidenum">
              <a:rPr lang="en-US"/>
              <a:pPr/>
              <a:t>31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365683-9F0E-4E17-8133-2421DEE06219}" type="slidenum">
              <a:rPr lang="en-US"/>
              <a:pPr/>
              <a:t>32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73538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21299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1299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21300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6397625" y="8818563"/>
            <a:ext cx="6445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5.</a:t>
            </a:r>
            <a:fld id="{2A4C16DD-49BF-48F5-8211-DA6BB90C5110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21300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213003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/>
              <a:t>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eaLnBrk="1" hangingPunct="1"/>
            <a:r>
              <a:rPr lang="en-US" dirty="0"/>
              <a:t>CPU Scheduling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8725" y="1662113"/>
            <a:ext cx="11004550" cy="5030787"/>
          </a:xfrm>
        </p:spPr>
        <p:txBody>
          <a:bodyPr/>
          <a:lstStyle/>
          <a:p>
            <a:r>
              <a:rPr lang="en-US" dirty="0"/>
              <a:t>Basic Concepts</a:t>
            </a:r>
          </a:p>
          <a:p>
            <a:r>
              <a:rPr lang="en-US" dirty="0"/>
              <a:t>Scheduling Criteria </a:t>
            </a:r>
          </a:p>
          <a:p>
            <a:r>
              <a:rPr lang="en-US" dirty="0"/>
              <a:t>Scheduling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591925" cy="6040438"/>
          </a:xfrm>
        </p:spPr>
        <p:txBody>
          <a:bodyPr/>
          <a:lstStyle/>
          <a:p>
            <a:r>
              <a:rPr lang="en-US"/>
              <a:t>To introduce CPU scheduling, which is the basis for multiprogrammed operating systems</a:t>
            </a:r>
          </a:p>
          <a:p>
            <a:endParaRPr lang="en-US"/>
          </a:p>
          <a:p>
            <a:r>
              <a:rPr lang="en-US"/>
              <a:t>To describe various CPU-scheduling algorithms</a:t>
            </a:r>
          </a:p>
          <a:p>
            <a:endParaRPr lang="en-US"/>
          </a:p>
          <a:p>
            <a:r>
              <a:rPr lang="en-US"/>
              <a:t>To discuss evaluation criteria for selecting a CPU-scheduling algorithm for a particular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Basic Concepts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063" y="1700213"/>
            <a:ext cx="11028362" cy="4572000"/>
          </a:xfrm>
        </p:spPr>
        <p:txBody>
          <a:bodyPr/>
          <a:lstStyle/>
          <a:p>
            <a:r>
              <a:rPr lang="en-US"/>
              <a:t>Maximum CPU utilization obtained with multiprogramming</a:t>
            </a:r>
          </a:p>
          <a:p>
            <a:endParaRPr lang="en-US"/>
          </a:p>
          <a:p>
            <a:r>
              <a:rPr lang="en-US"/>
              <a:t>CPU–I/O Burst Cycle – Process execution consists of a </a:t>
            </a:r>
            <a:r>
              <a:rPr lang="en-US" i="1"/>
              <a:t>cycle</a:t>
            </a:r>
            <a:r>
              <a:rPr lang="en-US"/>
              <a:t> of CPU execution and I/O wait</a:t>
            </a:r>
          </a:p>
          <a:p>
            <a:endParaRPr lang="en-US"/>
          </a:p>
          <a:p>
            <a:r>
              <a:rPr lang="en-US" b="1"/>
              <a:t>CPU burst </a:t>
            </a:r>
            <a:r>
              <a:rPr lang="en-US"/>
              <a:t>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5863" y="628650"/>
            <a:ext cx="11887200" cy="609600"/>
          </a:xfrm>
        </p:spPr>
        <p:txBody>
          <a:bodyPr/>
          <a:lstStyle/>
          <a:p>
            <a:pPr eaLnBrk="1" hangingPunct="1"/>
            <a:r>
              <a:rPr lang="en-US" sz="4000"/>
              <a:t>Alternating Sequence of CPU and </a:t>
            </a:r>
            <a:br>
              <a:rPr lang="en-US" sz="4000"/>
            </a:br>
            <a:r>
              <a:rPr lang="en-US" sz="4000"/>
              <a:t>I/O Bursts</a:t>
            </a:r>
          </a:p>
        </p:txBody>
      </p:sp>
      <p:pic>
        <p:nvPicPr>
          <p:cNvPr id="23555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60863" y="1649413"/>
            <a:ext cx="4116387" cy="671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69888"/>
            <a:ext cx="11430000" cy="768350"/>
          </a:xfrm>
        </p:spPr>
        <p:txBody>
          <a:bodyPr/>
          <a:lstStyle/>
          <a:p>
            <a:pPr eaLnBrk="1" hangingPunct="1"/>
            <a:r>
              <a:rPr lang="en-US"/>
              <a:t>Histogram of CPU-burst Times</a:t>
            </a:r>
          </a:p>
        </p:txBody>
      </p:sp>
      <p:pic>
        <p:nvPicPr>
          <p:cNvPr id="2560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2525" y="2033588"/>
            <a:ext cx="8582025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369888"/>
            <a:ext cx="11772900" cy="768350"/>
          </a:xfrm>
        </p:spPr>
        <p:txBody>
          <a:bodyPr/>
          <a:lstStyle/>
          <a:p>
            <a:pPr eaLnBrk="1" hangingPunct="1"/>
            <a:r>
              <a:rPr 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14138" cy="6040438"/>
          </a:xfrm>
        </p:spPr>
        <p:txBody>
          <a:bodyPr/>
          <a:lstStyle/>
          <a:p>
            <a:pPr marL="489833" indent="-489833">
              <a:defRPr/>
            </a:pPr>
            <a:r>
              <a:rPr lang="en-US" dirty="0"/>
              <a:t>Selects from among the processes in ready queue, and allocates the CPU to one of them</a:t>
            </a:r>
          </a:p>
          <a:p>
            <a:pPr marL="1061304" lvl="1" indent="-408194">
              <a:defRPr/>
            </a:pPr>
            <a:r>
              <a:rPr lang="en-US" dirty="0"/>
              <a:t>Queue may be ordered in various ways</a:t>
            </a:r>
          </a:p>
          <a:p>
            <a:pPr marL="489833" indent="-489833">
              <a:defRPr/>
            </a:pPr>
            <a:r>
              <a:rPr lang="en-US" dirty="0"/>
              <a:t>CPU scheduling decisions may take place when a process:</a:t>
            </a:r>
          </a:p>
          <a:p>
            <a:pPr marL="1142943" lvl="1" indent="-489833">
              <a:buFont typeface="Monotype Sorts" charset="2"/>
              <a:buNone/>
              <a:defRPr/>
            </a:pPr>
            <a:r>
              <a:rPr lang="en-US" dirty="0">
                <a:solidFill>
                  <a:srgbClr val="CC6600"/>
                </a:solidFill>
              </a:rPr>
              <a:t>1.	</a:t>
            </a:r>
            <a:r>
              <a:rPr lang="en-US" dirty="0"/>
              <a:t>Switches from running to waiting state</a:t>
            </a:r>
          </a:p>
          <a:p>
            <a:pPr marL="1142943" lvl="1" indent="-489833">
              <a:buFont typeface="Monotype Sorts" charset="2"/>
              <a:buNone/>
              <a:defRPr/>
            </a:pPr>
            <a:r>
              <a:rPr lang="en-US" dirty="0">
                <a:solidFill>
                  <a:srgbClr val="CC6600"/>
                </a:solidFill>
              </a:rPr>
              <a:t>2.</a:t>
            </a:r>
            <a:r>
              <a:rPr lang="en-US" dirty="0"/>
              <a:t>	Switches from running to ready state</a:t>
            </a:r>
          </a:p>
          <a:p>
            <a:pPr marL="1142943" lvl="1" indent="-489833">
              <a:buFont typeface="Monotype Sorts" charset="2"/>
              <a:buNone/>
              <a:defRPr/>
            </a:pPr>
            <a:r>
              <a:rPr lang="en-US" dirty="0">
                <a:solidFill>
                  <a:srgbClr val="CC6600"/>
                </a:solidFill>
              </a:rPr>
              <a:t>3.</a:t>
            </a:r>
            <a:r>
              <a:rPr lang="en-US" dirty="0"/>
              <a:t>	Switches from waiting to ready</a:t>
            </a:r>
          </a:p>
          <a:p>
            <a:pPr marL="1142943" lvl="1" indent="-489833">
              <a:buFont typeface="Monotype Sorts" charset="2"/>
              <a:buAutoNum type="arabicPeriod" startAt="4"/>
              <a:defRPr/>
            </a:pPr>
            <a:r>
              <a:rPr lang="en-US" dirty="0"/>
              <a:t>Terminates</a:t>
            </a:r>
          </a:p>
          <a:p>
            <a:pPr marL="489833" indent="-489833">
              <a:defRPr/>
            </a:pPr>
            <a:r>
              <a:rPr lang="en-US" dirty="0"/>
              <a:t>Scheduling under 1 and 4 is </a:t>
            </a:r>
            <a:r>
              <a:rPr lang="en-US" b="1" dirty="0" err="1"/>
              <a:t>nonpreemptive</a:t>
            </a:r>
            <a:endParaRPr lang="en-US" b="1" dirty="0"/>
          </a:p>
          <a:p>
            <a:pPr marL="489833" indent="-489833">
              <a:defRPr/>
            </a:pPr>
            <a:r>
              <a:rPr lang="en-US" dirty="0"/>
              <a:t>All other scheduling is </a:t>
            </a:r>
            <a:r>
              <a:rPr lang="en-US" b="1" dirty="0"/>
              <a:t>preemptive</a:t>
            </a:r>
          </a:p>
          <a:p>
            <a:pPr marL="1061304" lvl="1" indent="-408194">
              <a:defRPr/>
            </a:pPr>
            <a:r>
              <a:rPr lang="en-US" dirty="0"/>
              <a:t>Consider access to shared data</a:t>
            </a:r>
          </a:p>
          <a:p>
            <a:pPr marL="1061304" lvl="1" indent="-408194">
              <a:defRPr/>
            </a:pPr>
            <a:r>
              <a:rPr lang="en-US" dirty="0"/>
              <a:t>Consider preemption while in kernel mode</a:t>
            </a:r>
          </a:p>
          <a:p>
            <a:pPr marL="1061304" lvl="1" indent="-408194">
              <a:defRPr/>
            </a:pPr>
            <a:r>
              <a:rPr lang="en-US" dirty="0"/>
              <a:t>Consider interrupts occurring during crucial OS activities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Dispatcher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596688" cy="5978525"/>
          </a:xfrm>
        </p:spPr>
        <p:txBody>
          <a:bodyPr/>
          <a:lstStyle/>
          <a:p>
            <a:r>
              <a:rPr lang="en-US"/>
              <a:t>Dispatcher module gives control of the CPU to the process selected by the short-term scheduler; this involves:</a:t>
            </a:r>
          </a:p>
          <a:p>
            <a:pPr lvl="1"/>
            <a:r>
              <a:rPr lang="en-US"/>
              <a:t>switching context</a:t>
            </a:r>
          </a:p>
          <a:p>
            <a:pPr lvl="1"/>
            <a:r>
              <a:rPr lang="en-US"/>
              <a:t>switching to user mode</a:t>
            </a:r>
          </a:p>
          <a:p>
            <a:pPr lvl="1"/>
            <a:r>
              <a:rPr lang="en-US"/>
              <a:t>jumping to the proper location in the user program to restart that program</a:t>
            </a:r>
          </a:p>
          <a:p>
            <a:pPr lvl="1"/>
            <a:endParaRPr lang="en-US"/>
          </a:p>
          <a:p>
            <a:r>
              <a:rPr lang="en-US" b="1"/>
              <a:t>Dispatch latency </a:t>
            </a:r>
            <a:r>
              <a:rPr lang="en-US"/>
              <a:t>– time it takes for the dispatcher to stop one process and start another running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369888"/>
            <a:ext cx="11544300" cy="768350"/>
          </a:xfrm>
        </p:spPr>
        <p:txBody>
          <a:bodyPr/>
          <a:lstStyle/>
          <a:p>
            <a:pPr eaLnBrk="1" hangingPunct="1"/>
            <a:r>
              <a:rPr lang="en-US"/>
              <a:t>Scheduling Criteria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8725" y="1662113"/>
            <a:ext cx="11456988" cy="6611937"/>
          </a:xfrm>
        </p:spPr>
        <p:txBody>
          <a:bodyPr/>
          <a:lstStyle/>
          <a:p>
            <a:r>
              <a:rPr lang="en-US" b="1"/>
              <a:t>CPU utilization </a:t>
            </a:r>
            <a:r>
              <a:rPr lang="en-US"/>
              <a:t>– keep the CPU as busy as possible</a:t>
            </a:r>
          </a:p>
          <a:p>
            <a:endParaRPr lang="en-US"/>
          </a:p>
          <a:p>
            <a:r>
              <a:rPr lang="en-US" b="1"/>
              <a:t>Throughput</a:t>
            </a:r>
            <a:r>
              <a:rPr lang="en-US"/>
              <a:t> – # of processes that complete their execution per time unit</a:t>
            </a:r>
          </a:p>
          <a:p>
            <a:endParaRPr lang="en-US"/>
          </a:p>
          <a:p>
            <a:r>
              <a:rPr lang="en-US" b="1"/>
              <a:t>Turnaround time </a:t>
            </a:r>
            <a:r>
              <a:rPr lang="en-US"/>
              <a:t>– amount of time to execute a particular process</a:t>
            </a:r>
          </a:p>
          <a:p>
            <a:endParaRPr lang="en-US"/>
          </a:p>
          <a:p>
            <a:r>
              <a:rPr lang="en-US" b="1"/>
              <a:t>Waiting time </a:t>
            </a:r>
            <a:r>
              <a:rPr lang="en-US"/>
              <a:t>– amount of time a process has been waiting in the ready queue</a:t>
            </a:r>
          </a:p>
          <a:p>
            <a:endParaRPr lang="en-US"/>
          </a:p>
          <a:p>
            <a:r>
              <a:rPr lang="en-US" b="1"/>
              <a:t>Response time </a:t>
            </a:r>
            <a:r>
              <a:rPr lang="en-US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369888"/>
            <a:ext cx="11544300" cy="768350"/>
          </a:xfrm>
        </p:spPr>
        <p:txBody>
          <a:bodyPr/>
          <a:lstStyle/>
          <a:p>
            <a:pPr eaLnBrk="1" hangingPunct="1"/>
            <a:r>
              <a:rPr lang="en-US" sz="4000"/>
              <a:t>Scheduling Algorithm Optimization Criteria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19288"/>
            <a:ext cx="11026775" cy="5978525"/>
          </a:xfrm>
        </p:spPr>
        <p:txBody>
          <a:bodyPr/>
          <a:lstStyle/>
          <a:p>
            <a:r>
              <a:rPr lang="en-US"/>
              <a:t>Max CPU utilization</a:t>
            </a:r>
          </a:p>
          <a:p>
            <a:r>
              <a:rPr lang="en-US"/>
              <a:t>Max throughput</a:t>
            </a:r>
          </a:p>
          <a:p>
            <a:r>
              <a:rPr lang="en-US"/>
              <a:t>Min turnaround time </a:t>
            </a:r>
          </a:p>
          <a:p>
            <a:r>
              <a:rPr lang="en-US"/>
              <a:t>Min waiting time </a:t>
            </a:r>
          </a:p>
          <a:p>
            <a:r>
              <a:rPr lang="en-US"/>
              <a:t>Min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33400"/>
            <a:ext cx="12006263" cy="609600"/>
          </a:xfrm>
        </p:spPr>
        <p:txBody>
          <a:bodyPr/>
          <a:lstStyle/>
          <a:p>
            <a:pPr eaLnBrk="1" hangingPunct="1"/>
            <a:r>
              <a:rPr lang="en-US" sz="4000"/>
              <a:t>First-Come, First-Served (FCFS) Scheduling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6650" y="1854200"/>
            <a:ext cx="11349038" cy="54864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 sz="23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24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	3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	 </a:t>
            </a:r>
            <a:r>
              <a:rPr lang="en-US"/>
              <a:t>3</a:t>
            </a:r>
            <a:r>
              <a:rPr lang="en-US" i="1" baseline="-25000"/>
              <a:t> </a:t>
            </a:r>
          </a:p>
          <a:p>
            <a:pPr>
              <a:lnSpc>
                <a:spcPct val="90000"/>
              </a:lnSpc>
              <a:tabLst>
                <a:tab pos="4330700" algn="ctr"/>
                <a:tab pos="6621463" algn="ctr"/>
              </a:tabLst>
            </a:pPr>
            <a:r>
              <a:rPr lang="en-US"/>
              <a:t>Suppose that the processes arrive in the order: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3  </a:t>
            </a:r>
            <a:br>
              <a:rPr lang="en-US" i="1" baseline="-25000"/>
            </a:br>
            <a:r>
              <a:rPr lang="en-US"/>
              <a:t>The Gantt Chart for the schedule is:</a:t>
            </a:r>
            <a:br>
              <a:rPr lang="en-US"/>
            </a:br>
            <a:br>
              <a:rPr lang="en-US" sz="2300"/>
            </a:br>
            <a:br>
              <a:rPr lang="en-US" sz="2300"/>
            </a:br>
            <a:br>
              <a:rPr lang="en-US" sz="2300"/>
            </a:br>
            <a:br>
              <a:rPr lang="en-US" sz="2300"/>
            </a:br>
            <a:endParaRPr lang="en-US" sz="230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4330700" algn="ctr"/>
                <a:tab pos="6621463" algn="ctr"/>
              </a:tabLst>
            </a:pPr>
            <a:endParaRPr lang="en-US" sz="2300"/>
          </a:p>
          <a:p>
            <a:pPr>
              <a:lnSpc>
                <a:spcPct val="90000"/>
              </a:lnSpc>
              <a:tabLst>
                <a:tab pos="4330700" algn="ctr"/>
                <a:tab pos="6621463" algn="ctr"/>
              </a:tabLst>
            </a:pPr>
            <a:r>
              <a:rPr lang="en-US"/>
              <a:t>Waiting time for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 = 0;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 = 24; </a:t>
            </a:r>
            <a:r>
              <a:rPr lang="en-US" i="1"/>
              <a:t>P</a:t>
            </a:r>
            <a:r>
              <a:rPr lang="en-US" i="1" baseline="-25000"/>
              <a:t>3 </a:t>
            </a:r>
            <a:r>
              <a:rPr lang="en-US"/>
              <a:t>= 27</a:t>
            </a:r>
          </a:p>
          <a:p>
            <a:pPr>
              <a:lnSpc>
                <a:spcPct val="90000"/>
              </a:lnSpc>
              <a:tabLst>
                <a:tab pos="4330700" algn="ctr"/>
                <a:tab pos="6621463" algn="ctr"/>
              </a:tabLst>
            </a:pPr>
            <a:r>
              <a:rPr lang="en-US"/>
              <a:t>Average waiting time:  (0 + 24 + 27)/3 = 17</a:t>
            </a:r>
          </a:p>
        </p:txBody>
      </p:sp>
      <p:grpSp>
        <p:nvGrpSpPr>
          <p:cNvPr id="35844" name="Group 18"/>
          <p:cNvGrpSpPr>
            <a:grpSpLocks/>
          </p:cNvGrpSpPr>
          <p:nvPr/>
        </p:nvGrpSpPr>
        <p:grpSpPr bwMode="auto">
          <a:xfrm>
            <a:off x="1722438" y="4276725"/>
            <a:ext cx="8148637" cy="1444625"/>
            <a:chOff x="888" y="2688"/>
            <a:chExt cx="3422" cy="682"/>
          </a:xfrm>
        </p:grpSpPr>
        <p:sp>
          <p:nvSpPr>
            <p:cNvPr id="35845" name="Rectangle 4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6" name="Text Box 5"/>
            <p:cNvSpPr txBox="1">
              <a:spLocks noChangeArrowheads="1"/>
            </p:cNvSpPr>
            <p:nvPr/>
          </p:nvSpPr>
          <p:spPr bwMode="auto">
            <a:xfrm>
              <a:off x="1819" y="2764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35847" name="Text Box 6"/>
            <p:cNvSpPr txBox="1">
              <a:spLocks noChangeArrowheads="1"/>
            </p:cNvSpPr>
            <p:nvPr/>
          </p:nvSpPr>
          <p:spPr bwMode="auto">
            <a:xfrm>
              <a:off x="3307" y="2764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35848" name="Text Box 7"/>
            <p:cNvSpPr txBox="1">
              <a:spLocks noChangeArrowheads="1"/>
            </p:cNvSpPr>
            <p:nvPr/>
          </p:nvSpPr>
          <p:spPr bwMode="auto">
            <a:xfrm>
              <a:off x="3883" y="2764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35849" name="Line 8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0" name="Line 9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Line 10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Line 11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Line 12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Line 13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Text Box 14"/>
            <p:cNvSpPr txBox="1">
              <a:spLocks noChangeArrowheads="1"/>
            </p:cNvSpPr>
            <p:nvPr/>
          </p:nvSpPr>
          <p:spPr bwMode="auto">
            <a:xfrm>
              <a:off x="2973" y="319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24</a:t>
              </a:r>
            </a:p>
          </p:txBody>
        </p:sp>
        <p:sp>
          <p:nvSpPr>
            <p:cNvPr id="35856" name="Text Box 15"/>
            <p:cNvSpPr txBox="1">
              <a:spLocks noChangeArrowheads="1"/>
            </p:cNvSpPr>
            <p:nvPr/>
          </p:nvSpPr>
          <p:spPr bwMode="auto">
            <a:xfrm>
              <a:off x="3549" y="319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27</a:t>
              </a:r>
            </a:p>
          </p:txBody>
        </p:sp>
        <p:sp>
          <p:nvSpPr>
            <p:cNvPr id="35857" name="Text Box 16"/>
            <p:cNvSpPr txBox="1">
              <a:spLocks noChangeArrowheads="1"/>
            </p:cNvSpPr>
            <p:nvPr/>
          </p:nvSpPr>
          <p:spPr bwMode="auto">
            <a:xfrm>
              <a:off x="4125" y="319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30</a:t>
              </a:r>
            </a:p>
          </p:txBody>
        </p:sp>
        <p:sp>
          <p:nvSpPr>
            <p:cNvPr id="35858" name="Text Box 17"/>
            <p:cNvSpPr txBox="1">
              <a:spLocks noChangeArrowheads="1"/>
            </p:cNvSpPr>
            <p:nvPr/>
          </p:nvSpPr>
          <p:spPr bwMode="auto">
            <a:xfrm>
              <a:off x="888" y="3196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eaLnBrk="1" hangingPunct="1"/>
            <a:r>
              <a:rPr lang="en-US"/>
              <a:t>FCFS Scheduling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  <a:tabLst>
                <a:tab pos="5214938" algn="ctr"/>
              </a:tabLst>
            </a:pPr>
            <a:r>
              <a:rPr lang="en-US"/>
              <a:t>Suppose that the processes arrive in the order:</a:t>
            </a:r>
          </a:p>
          <a:p>
            <a:pPr>
              <a:buFont typeface="Monotype Sorts" charset="2"/>
              <a:buNone/>
              <a:tabLst>
                <a:tab pos="5214938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</a:t>
            </a:r>
          </a:p>
          <a:p>
            <a:pPr>
              <a:tabLst>
                <a:tab pos="5214938" algn="ctr"/>
              </a:tabLst>
            </a:pPr>
            <a:r>
              <a:rPr lang="en-US"/>
              <a:t>The Gantt chart for the schedule is:</a:t>
            </a:r>
            <a:br>
              <a:rPr lang="en-US"/>
            </a:b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endParaRPr lang="en-US"/>
          </a:p>
          <a:p>
            <a:pPr>
              <a:tabLst>
                <a:tab pos="5214938" algn="ctr"/>
              </a:tabLst>
            </a:pPr>
            <a:r>
              <a:rPr lang="en-US"/>
              <a:t>Waiting time for </a:t>
            </a:r>
            <a:r>
              <a:rPr lang="en-US" i="1"/>
              <a:t>P</a:t>
            </a:r>
            <a:r>
              <a:rPr lang="en-US" i="1" baseline="-25000"/>
              <a:t>1 </a:t>
            </a:r>
            <a:r>
              <a:rPr lang="en-US" i="1"/>
              <a:t>=</a:t>
            </a:r>
            <a:r>
              <a:rPr lang="en-US"/>
              <a:t> 6</a:t>
            </a:r>
            <a:r>
              <a:rPr lang="en-US" i="1"/>
              <a:t>;</a:t>
            </a:r>
            <a:r>
              <a:rPr lang="en-US" i="1" baseline="-25000"/>
              <a:t>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= 0</a:t>
            </a:r>
            <a:r>
              <a:rPr lang="en-US" i="1" baseline="-25000"/>
              <a:t>; </a:t>
            </a:r>
            <a:r>
              <a:rPr lang="en-US" i="1"/>
              <a:t>P</a:t>
            </a:r>
            <a:r>
              <a:rPr lang="en-US" i="1" baseline="-25000"/>
              <a:t>3 </a:t>
            </a:r>
            <a:r>
              <a:rPr lang="en-US" i="1"/>
              <a:t>= </a:t>
            </a:r>
            <a:r>
              <a:rPr lang="en-US"/>
              <a:t>3</a:t>
            </a:r>
            <a:endParaRPr lang="en-US" i="1"/>
          </a:p>
          <a:p>
            <a:pPr>
              <a:tabLst>
                <a:tab pos="5214938" algn="ctr"/>
              </a:tabLst>
            </a:pPr>
            <a:r>
              <a:rPr lang="en-US"/>
              <a:t>Average waiting time:   (6 + 0 + 3)/3 = 3</a:t>
            </a:r>
          </a:p>
          <a:p>
            <a:pPr>
              <a:tabLst>
                <a:tab pos="5214938" algn="ctr"/>
              </a:tabLst>
            </a:pPr>
            <a:r>
              <a:rPr lang="en-US"/>
              <a:t>Much better than previous case</a:t>
            </a:r>
          </a:p>
          <a:p>
            <a:pPr>
              <a:tabLst>
                <a:tab pos="5214938" algn="ctr"/>
              </a:tabLst>
            </a:pPr>
            <a:r>
              <a:rPr lang="en-US" b="1"/>
              <a:t>Convoy effect </a:t>
            </a:r>
            <a:r>
              <a:rPr lang="en-US"/>
              <a:t>- short process behind long process</a:t>
            </a:r>
          </a:p>
          <a:p>
            <a:pPr lvl="1">
              <a:tabLst>
                <a:tab pos="5214938" algn="ctr"/>
              </a:tabLst>
            </a:pPr>
            <a:r>
              <a:rPr lang="en-US"/>
              <a:t>Consider one CPU-bound and many I/O-bound processes</a:t>
            </a:r>
          </a:p>
        </p:txBody>
      </p:sp>
      <p:grpSp>
        <p:nvGrpSpPr>
          <p:cNvPr id="37892" name="Group 20"/>
          <p:cNvGrpSpPr>
            <a:grpSpLocks/>
          </p:cNvGrpSpPr>
          <p:nvPr/>
        </p:nvGrpSpPr>
        <p:grpSpPr bwMode="auto">
          <a:xfrm>
            <a:off x="2909888" y="3473450"/>
            <a:ext cx="8177212" cy="1443038"/>
            <a:chOff x="884" y="1650"/>
            <a:chExt cx="3434" cy="682"/>
          </a:xfrm>
        </p:grpSpPr>
        <p:sp>
          <p:nvSpPr>
            <p:cNvPr id="37893" name="Rectangle 6"/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4" name="Text Box 7"/>
            <p:cNvSpPr txBox="1">
              <a:spLocks noChangeArrowheads="1"/>
            </p:cNvSpPr>
            <p:nvPr/>
          </p:nvSpPr>
          <p:spPr bwMode="auto">
            <a:xfrm flipH="1">
              <a:off x="3222" y="1726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37895" name="Text Box 8"/>
            <p:cNvSpPr txBox="1">
              <a:spLocks noChangeArrowheads="1"/>
            </p:cNvSpPr>
            <p:nvPr/>
          </p:nvSpPr>
          <p:spPr bwMode="auto">
            <a:xfrm flipH="1">
              <a:off x="1734" y="1726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37896" name="Text Box 9"/>
            <p:cNvSpPr txBox="1">
              <a:spLocks noChangeArrowheads="1"/>
            </p:cNvSpPr>
            <p:nvPr/>
          </p:nvSpPr>
          <p:spPr bwMode="auto">
            <a:xfrm flipH="1">
              <a:off x="1158" y="1726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37897" name="Line 10"/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8" name="Line 11"/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9" name="Line 12"/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0" name="Line 13"/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Line 14"/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2" name="Line 15"/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3" name="Text Box 16"/>
            <p:cNvSpPr txBox="1">
              <a:spLocks noChangeArrowheads="1"/>
            </p:cNvSpPr>
            <p:nvPr/>
          </p:nvSpPr>
          <p:spPr bwMode="auto">
            <a:xfrm flipH="1">
              <a:off x="2088" y="2158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6</a:t>
              </a:r>
            </a:p>
          </p:txBody>
        </p:sp>
        <p:sp>
          <p:nvSpPr>
            <p:cNvPr id="37904" name="Text Box 17"/>
            <p:cNvSpPr txBox="1">
              <a:spLocks noChangeArrowheads="1"/>
            </p:cNvSpPr>
            <p:nvPr/>
          </p:nvSpPr>
          <p:spPr bwMode="auto">
            <a:xfrm flipH="1">
              <a:off x="1512" y="2158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37905" name="Text Box 18"/>
            <p:cNvSpPr txBox="1">
              <a:spLocks noChangeArrowheads="1"/>
            </p:cNvSpPr>
            <p:nvPr/>
          </p:nvSpPr>
          <p:spPr bwMode="auto">
            <a:xfrm flipH="1">
              <a:off x="4133" y="2158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30</a:t>
              </a:r>
            </a:p>
          </p:txBody>
        </p:sp>
        <p:sp>
          <p:nvSpPr>
            <p:cNvPr id="37906" name="Text Box 19"/>
            <p:cNvSpPr txBox="1">
              <a:spLocks noChangeArrowheads="1"/>
            </p:cNvSpPr>
            <p:nvPr/>
          </p:nvSpPr>
          <p:spPr bwMode="auto">
            <a:xfrm flipH="1">
              <a:off x="884" y="2158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369888"/>
            <a:ext cx="11745912" cy="768350"/>
          </a:xfrm>
        </p:spPr>
        <p:txBody>
          <a:bodyPr/>
          <a:lstStyle/>
          <a:p>
            <a:pPr eaLnBrk="1" hangingPunct="1"/>
            <a:r>
              <a:rPr lang="en-US"/>
              <a:t>Shortest-Job-First (SJF) Scheduling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/>
              <a:t>Associate with each process the length of its next CPU burst</a:t>
            </a:r>
          </a:p>
          <a:p>
            <a:pPr lvl="1"/>
            <a:r>
              <a:rPr lang="en-US"/>
              <a:t> Use these lengths to schedule the process with the shortest time</a:t>
            </a:r>
          </a:p>
          <a:p>
            <a:endParaRPr lang="en-US"/>
          </a:p>
          <a:p>
            <a:r>
              <a:rPr lang="en-US"/>
              <a:t>SJF is optimal – gives minimum average waiting time for a given set of processes</a:t>
            </a:r>
          </a:p>
          <a:p>
            <a:pPr lvl="1"/>
            <a:r>
              <a:rPr lang="en-US"/>
              <a:t>The difficulty is knowing the length of the next CPU request</a:t>
            </a:r>
          </a:p>
          <a:p>
            <a:pPr lvl="1"/>
            <a:r>
              <a:rPr lang="en-US"/>
              <a:t>Could ask the user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SJF</a:t>
            </a:r>
          </a:p>
        </p:txBody>
      </p:sp>
      <p:sp>
        <p:nvSpPr>
          <p:cNvPr id="41987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      	                </a:t>
            </a:r>
            <a:r>
              <a:rPr lang="en-US" u="sng"/>
              <a:t>Process</a:t>
            </a:r>
            <a:r>
              <a:rPr lang="en-US" u="sng">
                <a:solidFill>
                  <a:schemeClr val="bg1"/>
                </a:solidFill>
              </a:rPr>
              <a:t>Arriva	l Time</a:t>
            </a:r>
            <a:r>
              <a:rPr lang="en-US"/>
              <a:t>	</a:t>
            </a:r>
            <a:r>
              <a:rPr lang="en-US" u="sng"/>
              <a:t>Burst Time</a:t>
            </a: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</a:t>
            </a:r>
            <a:r>
              <a:rPr lang="en-US">
                <a:solidFill>
                  <a:schemeClr val="bg1"/>
                </a:solidFill>
              </a:rPr>
              <a:t>0.0</a:t>
            </a:r>
            <a:r>
              <a:rPr lang="en-US"/>
              <a:t>	6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 	</a:t>
            </a:r>
            <a:r>
              <a:rPr lang="en-US">
                <a:solidFill>
                  <a:schemeClr val="bg1"/>
                </a:solidFill>
              </a:rPr>
              <a:t>2.0</a:t>
            </a:r>
            <a:r>
              <a:rPr lang="en-US"/>
              <a:t>	8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</a:t>
            </a:r>
            <a:r>
              <a:rPr lang="en-US">
                <a:solidFill>
                  <a:schemeClr val="bg1"/>
                </a:solidFill>
              </a:rPr>
              <a:t>4.0</a:t>
            </a:r>
            <a:r>
              <a:rPr lang="en-US"/>
              <a:t>	7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</a:t>
            </a:r>
            <a:r>
              <a:rPr lang="en-US">
                <a:solidFill>
                  <a:schemeClr val="bg1"/>
                </a:solidFill>
              </a:rPr>
              <a:t>5.0</a:t>
            </a:r>
            <a:r>
              <a:rPr lang="en-US"/>
              <a:t>	3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SJF scheduling chart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Average waiting time = (3 + 16 + 9 + 0) / 4 = 7</a:t>
            </a:r>
            <a:endParaRPr lang="en-US" i="1" baseline="-25000"/>
          </a:p>
        </p:txBody>
      </p:sp>
      <p:grpSp>
        <p:nvGrpSpPr>
          <p:cNvPr id="41988" name="Group 74"/>
          <p:cNvGrpSpPr>
            <a:grpSpLocks/>
          </p:cNvGrpSpPr>
          <p:nvPr/>
        </p:nvGrpSpPr>
        <p:grpSpPr bwMode="auto">
          <a:xfrm>
            <a:off x="1774825" y="3992563"/>
            <a:ext cx="8704263" cy="1487487"/>
            <a:chOff x="896" y="2352"/>
            <a:chExt cx="3655" cy="703"/>
          </a:xfrm>
        </p:grpSpPr>
        <p:sp>
          <p:nvSpPr>
            <p:cNvPr id="41989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Text Box 38"/>
            <p:cNvSpPr txBox="1">
              <a:spLocks noChangeArrowheads="1"/>
            </p:cNvSpPr>
            <p:nvPr/>
          </p:nvSpPr>
          <p:spPr bwMode="auto">
            <a:xfrm flipH="1">
              <a:off x="1052" y="2441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4</a:t>
              </a:r>
              <a:endParaRPr lang="en-US">
                <a:latin typeface="Helvetica" charset="0"/>
              </a:endParaRPr>
            </a:p>
          </p:txBody>
        </p:sp>
        <p:sp>
          <p:nvSpPr>
            <p:cNvPr id="41991" name="Text Box 39"/>
            <p:cNvSpPr txBox="1">
              <a:spLocks noChangeArrowheads="1"/>
            </p:cNvSpPr>
            <p:nvPr/>
          </p:nvSpPr>
          <p:spPr bwMode="auto">
            <a:xfrm flipH="1">
              <a:off x="3019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41992" name="Text Box 40"/>
            <p:cNvSpPr txBox="1">
              <a:spLocks noChangeArrowheads="1"/>
            </p:cNvSpPr>
            <p:nvPr/>
          </p:nvSpPr>
          <p:spPr bwMode="auto">
            <a:xfrm flipH="1">
              <a:off x="2012" y="2477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41993" name="Line 41"/>
            <p:cNvSpPr>
              <a:spLocks noChangeShapeType="1"/>
            </p:cNvSpPr>
            <p:nvPr/>
          </p:nvSpPr>
          <p:spPr bwMode="auto">
            <a:xfrm flipH="1">
              <a:off x="4452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Line 42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Text Box 48"/>
            <p:cNvSpPr txBox="1">
              <a:spLocks noChangeArrowheads="1"/>
            </p:cNvSpPr>
            <p:nvPr/>
          </p:nvSpPr>
          <p:spPr bwMode="auto">
            <a:xfrm flipH="1">
              <a:off x="1569" y="2861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41997" name="Text Box 49"/>
            <p:cNvSpPr txBox="1">
              <a:spLocks noChangeArrowheads="1"/>
            </p:cNvSpPr>
            <p:nvPr/>
          </p:nvSpPr>
          <p:spPr bwMode="auto">
            <a:xfrm flipH="1">
              <a:off x="3358" y="287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16</a:t>
              </a:r>
            </a:p>
          </p:txBody>
        </p:sp>
        <p:sp>
          <p:nvSpPr>
            <p:cNvPr id="41998" name="Text Box 50"/>
            <p:cNvSpPr txBox="1">
              <a:spLocks noChangeArrowheads="1"/>
            </p:cNvSpPr>
            <p:nvPr/>
          </p:nvSpPr>
          <p:spPr bwMode="auto">
            <a:xfrm flipH="1">
              <a:off x="896" y="2881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41999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Line 54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Line 58"/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Line 63"/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Text Box 64"/>
            <p:cNvSpPr txBox="1">
              <a:spLocks noChangeArrowheads="1"/>
            </p:cNvSpPr>
            <p:nvPr/>
          </p:nvSpPr>
          <p:spPr bwMode="auto">
            <a:xfrm flipH="1">
              <a:off x="2625" y="2861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9</a:t>
              </a:r>
            </a:p>
          </p:txBody>
        </p:sp>
        <p:sp>
          <p:nvSpPr>
            <p:cNvPr id="42004" name="Line 69"/>
            <p:cNvSpPr>
              <a:spLocks noChangeShapeType="1"/>
            </p:cNvSpPr>
            <p:nvPr/>
          </p:nvSpPr>
          <p:spPr bwMode="auto">
            <a:xfrm flipH="1">
              <a:off x="1632" y="23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Text Box 70"/>
            <p:cNvSpPr txBox="1">
              <a:spLocks noChangeArrowheads="1"/>
            </p:cNvSpPr>
            <p:nvPr/>
          </p:nvSpPr>
          <p:spPr bwMode="auto">
            <a:xfrm flipH="1">
              <a:off x="3787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42006" name="Text Box 73"/>
            <p:cNvSpPr txBox="1">
              <a:spLocks noChangeArrowheads="1"/>
            </p:cNvSpPr>
            <p:nvPr/>
          </p:nvSpPr>
          <p:spPr bwMode="auto">
            <a:xfrm flipH="1">
              <a:off x="4366" y="287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1614488" y="323850"/>
            <a:ext cx="11658600" cy="814388"/>
          </a:xfrm>
        </p:spPr>
        <p:txBody>
          <a:bodyPr/>
          <a:lstStyle/>
          <a:p>
            <a:pPr eaLnBrk="1" hangingPunct="1"/>
            <a:r>
              <a:rPr lang="en-US"/>
              <a:t>Determining Length of Next CPU Burst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580188"/>
          </a:xfrm>
        </p:spPr>
        <p:txBody>
          <a:bodyPr/>
          <a:lstStyle/>
          <a:p>
            <a:r>
              <a:rPr lang="en-US"/>
              <a:t>Can only estimate the length – should be similar to the previous one</a:t>
            </a:r>
          </a:p>
          <a:p>
            <a:pPr lvl="1"/>
            <a:r>
              <a:rPr lang="en-US"/>
              <a:t>Then pick process with shortest predicted next CPU burst</a:t>
            </a:r>
          </a:p>
          <a:p>
            <a:endParaRPr lang="en-US"/>
          </a:p>
          <a:p>
            <a:r>
              <a:rPr lang="en-US"/>
              <a:t>Can be done by using the length of previous CPU bursts, using exponential averaging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Commonly, </a:t>
            </a:r>
            <a:r>
              <a:rPr lang="en-US">
                <a:latin typeface="Lucida Grande" charset="0"/>
              </a:rPr>
              <a:t>α </a:t>
            </a:r>
            <a:r>
              <a:rPr lang="en-US"/>
              <a:t>set to ½</a:t>
            </a:r>
          </a:p>
          <a:p>
            <a:r>
              <a:rPr lang="en-US"/>
              <a:t>Preemptive version called </a:t>
            </a:r>
            <a:r>
              <a:rPr lang="en-US" b="1"/>
              <a:t>shortest-remaining-time-first</a:t>
            </a:r>
          </a:p>
          <a:p>
            <a:pPr lvl="1">
              <a:buFont typeface="Monotype Sorts" charset="2"/>
              <a:buNone/>
            </a:pPr>
            <a:endParaRPr lang="en-US"/>
          </a:p>
          <a:p>
            <a:pPr lvl="1">
              <a:buFont typeface="Monotype Sorts" charset="2"/>
              <a:buNone/>
            </a:pPr>
            <a:endParaRPr lang="en-US"/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1636713" y="3659188"/>
          <a:ext cx="6640512" cy="16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1777680" progId="Equation.3">
                  <p:embed/>
                </p:oleObj>
              </mc:Choice>
              <mc:Fallback>
                <p:oleObj name="Equation" r:id="rId3" imgW="6400800" imgH="17776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3659188"/>
                        <a:ext cx="6640512" cy="167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3398838" y="6664325"/>
          <a:ext cx="33337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2280" imgH="317160" progId="Equation.3">
                  <p:embed/>
                </p:oleObj>
              </mc:Choice>
              <mc:Fallback>
                <p:oleObj name="Equation" r:id="rId5" imgW="2222280" imgH="317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6664325"/>
                        <a:ext cx="3333750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322263"/>
            <a:ext cx="12334875" cy="904875"/>
          </a:xfrm>
        </p:spPr>
        <p:txBody>
          <a:bodyPr/>
          <a:lstStyle/>
          <a:p>
            <a:pPr eaLnBrk="1" hangingPunct="1"/>
            <a:r>
              <a:rPr lang="en-US" sz="4000"/>
              <a:t>Prediction of the Length of the </a:t>
            </a:r>
            <a:br>
              <a:rPr lang="en-US" sz="4000"/>
            </a:br>
            <a:r>
              <a:rPr lang="en-US" sz="4000"/>
              <a:t>Next CPU Burst</a:t>
            </a:r>
          </a:p>
        </p:txBody>
      </p:sp>
      <p:pic>
        <p:nvPicPr>
          <p:cNvPr id="4608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89225" y="1871663"/>
            <a:ext cx="8755063" cy="561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2613" y="369888"/>
            <a:ext cx="11177587" cy="768350"/>
          </a:xfrm>
        </p:spPr>
        <p:txBody>
          <a:bodyPr/>
          <a:lstStyle/>
          <a:p>
            <a:pPr eaLnBrk="1" hangingPunct="1"/>
            <a:r>
              <a:rPr lang="en-US"/>
              <a:t>Examples of Exponential Averaging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14138" cy="6040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charset="2"/>
              </a:rPr>
              <a:t></a:t>
            </a:r>
            <a:r>
              <a:rPr lang="en-US" baseline="-25000">
                <a:sym typeface="Symbol" charset="2"/>
              </a:rPr>
              <a:t>n+1</a:t>
            </a:r>
            <a:r>
              <a:rPr lang="en-US">
                <a:sym typeface="Symbol" charset="2"/>
              </a:rPr>
              <a:t> = </a:t>
            </a:r>
            <a:r>
              <a:rPr lang="en-US" baseline="-25000">
                <a:sym typeface="Symbol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charset="2"/>
              </a:rPr>
              <a:t>Recent history does not count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charset="2"/>
              </a:rPr>
              <a:t> </a:t>
            </a:r>
            <a:r>
              <a:rPr lang="en-US" baseline="-25000">
                <a:sym typeface="Symbol" charset="2"/>
              </a:rPr>
              <a:t>n+1</a:t>
            </a:r>
            <a:r>
              <a:rPr lang="en-US">
                <a:sym typeface="Symbol" charset="2"/>
              </a:rPr>
              <a:t> =  </a:t>
            </a:r>
            <a:r>
              <a:rPr lang="en-US" i="1">
                <a:sym typeface="Symbol" charset="2"/>
              </a:rPr>
              <a:t>t</a:t>
            </a:r>
            <a:r>
              <a:rPr lang="en-US" baseline="-25000">
                <a:sym typeface="Symbol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charset="2"/>
              </a:rPr>
              <a:t>Only the actual last CPU burst counts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charset="2"/>
              <a:buNone/>
            </a:pPr>
            <a:r>
              <a:rPr lang="en-US">
                <a:sym typeface="Symbol" charset="2"/>
              </a:rPr>
              <a:t></a:t>
            </a:r>
            <a:r>
              <a:rPr lang="en-US" i="1" baseline="-25000">
                <a:sym typeface="Symbol" charset="2"/>
              </a:rPr>
              <a:t>n</a:t>
            </a:r>
            <a:r>
              <a:rPr lang="en-US" baseline="-25000">
                <a:sym typeface="Symbol" charset="2"/>
              </a:rPr>
              <a:t>+1</a:t>
            </a:r>
            <a:r>
              <a:rPr lang="en-US">
                <a:sym typeface="Symbol" charset="2"/>
              </a:rPr>
              <a:t> =  t</a:t>
            </a:r>
            <a:r>
              <a:rPr lang="en-US" i="1" baseline="-25000">
                <a:sym typeface="Symbol" charset="2"/>
              </a:rPr>
              <a:t>n</a:t>
            </a:r>
            <a:r>
              <a:rPr lang="en-US">
                <a:sym typeface="Symbol" charset="2"/>
              </a:rPr>
              <a:t>+(1</a:t>
            </a:r>
            <a:r>
              <a:rPr lang="en-US" i="1">
                <a:sym typeface="Symbol" charset="2"/>
              </a:rPr>
              <a:t> - </a:t>
            </a:r>
            <a:r>
              <a:rPr lang="en-US">
                <a:sym typeface="Symbol" charset="2"/>
              </a:rPr>
              <a:t></a:t>
            </a:r>
            <a:r>
              <a:rPr lang="en-US" i="1">
                <a:sym typeface="Symbol" charset="2"/>
              </a:rPr>
              <a:t>)</a:t>
            </a:r>
            <a:r>
              <a:rPr lang="en-US">
                <a:sym typeface="Symbol" charset="2"/>
              </a:rPr>
              <a:t> </a:t>
            </a:r>
            <a:r>
              <a:rPr lang="en-US" i="1">
                <a:sym typeface="Symbol" charset="2"/>
              </a:rPr>
              <a:t>t</a:t>
            </a:r>
            <a:r>
              <a:rPr lang="en-US" i="1" baseline="-25000">
                <a:sym typeface="Symbol" charset="2"/>
              </a:rPr>
              <a:t>n</a:t>
            </a:r>
            <a:r>
              <a:rPr lang="en-US" i="1">
                <a:sym typeface="Symbol" charset="2"/>
              </a:rPr>
              <a:t> </a:t>
            </a:r>
            <a:r>
              <a:rPr lang="en-US">
                <a:sym typeface="Symbol" charset="2"/>
              </a:rPr>
              <a:t>-1</a:t>
            </a:r>
            <a:r>
              <a:rPr lang="en-US" i="1">
                <a:sym typeface="Symbol" charset="2"/>
              </a:rPr>
              <a:t> </a:t>
            </a:r>
            <a:r>
              <a:rPr lang="en-US">
                <a:sym typeface="Symbol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charset="2"/>
              <a:buNone/>
            </a:pPr>
            <a:r>
              <a:rPr lang="en-US">
                <a:sym typeface="Symbol" charset="2"/>
              </a:rPr>
              <a:t>            </a:t>
            </a:r>
            <a:r>
              <a:rPr lang="en-US" i="1">
                <a:sym typeface="Symbol" charset="2"/>
              </a:rPr>
              <a:t>+(</a:t>
            </a:r>
            <a:r>
              <a:rPr lang="en-US">
                <a:sym typeface="Symbol" charset="2"/>
              </a:rPr>
              <a:t>1 -  </a:t>
            </a:r>
            <a:r>
              <a:rPr lang="en-US" i="1">
                <a:sym typeface="Symbol" charset="2"/>
              </a:rPr>
              <a:t>)</a:t>
            </a:r>
            <a:r>
              <a:rPr lang="en-US" i="1" baseline="30000">
                <a:sym typeface="Symbol" charset="2"/>
              </a:rPr>
              <a:t>j</a:t>
            </a:r>
            <a:r>
              <a:rPr lang="en-US" baseline="30000">
                <a:sym typeface="Symbol" charset="2"/>
              </a:rPr>
              <a:t> </a:t>
            </a:r>
            <a:r>
              <a:rPr lang="en-US">
                <a:sym typeface="Symbol" charset="2"/>
              </a:rPr>
              <a:t> </a:t>
            </a:r>
            <a:r>
              <a:rPr lang="en-US" i="1">
                <a:sym typeface="Symbol" charset="2"/>
              </a:rPr>
              <a:t>t</a:t>
            </a:r>
            <a:r>
              <a:rPr lang="en-US" i="1" baseline="-25000">
                <a:sym typeface="Symbol" charset="2"/>
              </a:rPr>
              <a:t>n</a:t>
            </a:r>
            <a:r>
              <a:rPr lang="en-US">
                <a:sym typeface="Symbol" charset="2"/>
              </a:rPr>
              <a:t> </a:t>
            </a:r>
            <a:r>
              <a:rPr lang="en-US" baseline="-25000">
                <a:sym typeface="Symbol" charset="2"/>
              </a:rPr>
              <a:t>-</a:t>
            </a:r>
            <a:r>
              <a:rPr lang="en-US" i="1" baseline="-25000">
                <a:sym typeface="Symbol" charset="2"/>
              </a:rPr>
              <a:t>j</a:t>
            </a:r>
            <a:r>
              <a:rPr lang="en-US" i="1">
                <a:sym typeface="Symbol" charset="2"/>
              </a:rPr>
              <a:t> </a:t>
            </a:r>
            <a:r>
              <a:rPr lang="en-US">
                <a:sym typeface="Symbol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charset="2"/>
              <a:buNone/>
            </a:pPr>
            <a:r>
              <a:rPr lang="en-US">
                <a:sym typeface="Symbol" charset="2"/>
              </a:rPr>
              <a:t>            </a:t>
            </a:r>
            <a:r>
              <a:rPr lang="en-US" i="1">
                <a:sym typeface="Symbol" charset="2"/>
              </a:rPr>
              <a:t>+(</a:t>
            </a:r>
            <a:r>
              <a:rPr lang="en-US">
                <a:sym typeface="Symbol" charset="2"/>
              </a:rPr>
              <a:t>1 -  </a:t>
            </a:r>
            <a:r>
              <a:rPr lang="en-US" i="1">
                <a:sym typeface="Symbol" charset="2"/>
              </a:rPr>
              <a:t>)</a:t>
            </a:r>
            <a:r>
              <a:rPr lang="en-US" i="1" baseline="30000">
                <a:sym typeface="Symbol" charset="2"/>
              </a:rPr>
              <a:t>n</a:t>
            </a:r>
            <a:r>
              <a:rPr lang="en-US" baseline="30000">
                <a:sym typeface="Symbol" charset="2"/>
              </a:rPr>
              <a:t> +1 </a:t>
            </a:r>
            <a:r>
              <a:rPr lang="en-US">
                <a:sym typeface="Symbol" charset="2"/>
              </a:rPr>
              <a:t></a:t>
            </a:r>
            <a:r>
              <a:rPr lang="en-US" baseline="-25000">
                <a:sym typeface="Symbol" charset="2"/>
              </a:rPr>
              <a:t>0</a:t>
            </a:r>
            <a:br>
              <a:rPr lang="en-US" baseline="-25000">
                <a:sym typeface="Symbol" charset="2"/>
              </a:rPr>
            </a:br>
            <a:endParaRPr lang="en-US" baseline="-25000">
              <a:sym typeface="Symbol" charset="2"/>
            </a:endParaRPr>
          </a:p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>
              <a:sym typeface="Symbol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788" y="369888"/>
            <a:ext cx="10920412" cy="768350"/>
          </a:xfrm>
        </p:spPr>
        <p:txBody>
          <a:bodyPr/>
          <a:lstStyle/>
          <a:p>
            <a:pPr eaLnBrk="1" hangingPunct="1"/>
            <a:r>
              <a:rPr lang="en-US" sz="4000"/>
              <a:t>Example of Shortest-remaining-time-first</a:t>
            </a:r>
          </a:p>
        </p:txBody>
      </p:sp>
      <p:sp>
        <p:nvSpPr>
          <p:cNvPr id="50179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Now we add the concepts of varying arrival times and preemption to the analysis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        </a:t>
            </a:r>
            <a:r>
              <a:rPr lang="en-US" u="sng"/>
              <a:t>Process</a:t>
            </a:r>
            <a:r>
              <a:rPr lang="en-US" u="sng">
                <a:solidFill>
                  <a:schemeClr val="bg1"/>
                </a:solidFill>
              </a:rPr>
              <a:t>A	arri </a:t>
            </a:r>
            <a:r>
              <a:rPr lang="en-US" i="1" u="sng"/>
              <a:t>Arrival </a:t>
            </a:r>
            <a:r>
              <a:rPr lang="en-US" u="sng"/>
              <a:t>Time</a:t>
            </a:r>
            <a:r>
              <a:rPr lang="en-US" u="sng">
                <a:solidFill>
                  <a:schemeClr val="bg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Burst Time</a:t>
            </a: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8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4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9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3</a:t>
            </a:r>
            <a:r>
              <a:rPr lang="en-US"/>
              <a:t>	5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 i="1"/>
              <a:t>Preemptive </a:t>
            </a:r>
            <a:r>
              <a:rPr lang="en-US"/>
              <a:t>SJF Gantt Chart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Average waiting time = [(10-1)+(1-1)+(17-2)+5-3)]/4 = 26/4 = 6.5 msec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 i="1" baseline="-25000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endParaRPr lang="en-US" i="1" baseline="-25000"/>
          </a:p>
        </p:txBody>
      </p:sp>
      <p:grpSp>
        <p:nvGrpSpPr>
          <p:cNvPr id="50180" name="Group 74"/>
          <p:cNvGrpSpPr>
            <a:grpSpLocks/>
          </p:cNvGrpSpPr>
          <p:nvPr/>
        </p:nvGrpSpPr>
        <p:grpSpPr bwMode="auto">
          <a:xfrm>
            <a:off x="1414463" y="4964113"/>
            <a:ext cx="8702675" cy="1384300"/>
            <a:chOff x="901" y="2366"/>
            <a:chExt cx="3655" cy="654"/>
          </a:xfrm>
        </p:grpSpPr>
        <p:sp>
          <p:nvSpPr>
            <p:cNvPr id="50181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2" name="Text Box 38"/>
            <p:cNvSpPr txBox="1">
              <a:spLocks noChangeArrowheads="1"/>
            </p:cNvSpPr>
            <p:nvPr/>
          </p:nvSpPr>
          <p:spPr bwMode="auto">
            <a:xfrm flipH="1">
              <a:off x="1052" y="2441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83" name="Text Box 39"/>
            <p:cNvSpPr txBox="1">
              <a:spLocks noChangeArrowheads="1"/>
            </p:cNvSpPr>
            <p:nvPr/>
          </p:nvSpPr>
          <p:spPr bwMode="auto">
            <a:xfrm flipH="1">
              <a:off x="3019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84" name="Text Box 40"/>
            <p:cNvSpPr txBox="1">
              <a:spLocks noChangeArrowheads="1"/>
            </p:cNvSpPr>
            <p:nvPr/>
          </p:nvSpPr>
          <p:spPr bwMode="auto">
            <a:xfrm flipH="1">
              <a:off x="1498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85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6" name="Text Box 48"/>
            <p:cNvSpPr txBox="1">
              <a:spLocks noChangeArrowheads="1"/>
            </p:cNvSpPr>
            <p:nvPr/>
          </p:nvSpPr>
          <p:spPr bwMode="auto">
            <a:xfrm flipH="1">
              <a:off x="1244" y="2845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</a:t>
              </a:r>
            </a:p>
          </p:txBody>
        </p:sp>
        <p:sp>
          <p:nvSpPr>
            <p:cNvPr id="50187" name="Text Box 49"/>
            <p:cNvSpPr txBox="1">
              <a:spLocks noChangeArrowheads="1"/>
            </p:cNvSpPr>
            <p:nvPr/>
          </p:nvSpPr>
          <p:spPr bwMode="auto">
            <a:xfrm flipH="1">
              <a:off x="3353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17</a:t>
              </a:r>
            </a:p>
          </p:txBody>
        </p:sp>
        <p:sp>
          <p:nvSpPr>
            <p:cNvPr id="50188" name="Text Box 50"/>
            <p:cNvSpPr txBox="1">
              <a:spLocks noChangeArrowheads="1"/>
            </p:cNvSpPr>
            <p:nvPr/>
          </p:nvSpPr>
          <p:spPr bwMode="auto">
            <a:xfrm flipH="1">
              <a:off x="90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50189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0" name="Text Box 64"/>
            <p:cNvSpPr txBox="1">
              <a:spLocks noChangeArrowheads="1"/>
            </p:cNvSpPr>
            <p:nvPr/>
          </p:nvSpPr>
          <p:spPr bwMode="auto">
            <a:xfrm flipH="1">
              <a:off x="2597" y="2845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10</a:t>
              </a:r>
            </a:p>
          </p:txBody>
        </p:sp>
        <p:sp>
          <p:nvSpPr>
            <p:cNvPr id="50191" name="Line 69"/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2" name="Text Box 70"/>
            <p:cNvSpPr txBox="1">
              <a:spLocks noChangeArrowheads="1"/>
            </p:cNvSpPr>
            <p:nvPr/>
          </p:nvSpPr>
          <p:spPr bwMode="auto">
            <a:xfrm flipH="1">
              <a:off x="3787" y="242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50193" name="Text Box 73"/>
            <p:cNvSpPr txBox="1">
              <a:spLocks noChangeArrowheads="1"/>
            </p:cNvSpPr>
            <p:nvPr/>
          </p:nvSpPr>
          <p:spPr bwMode="auto">
            <a:xfrm flipH="1">
              <a:off x="4371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26</a:t>
              </a:r>
            </a:p>
          </p:txBody>
        </p:sp>
        <p:sp>
          <p:nvSpPr>
            <p:cNvPr id="50194" name="Line 43"/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5" name="Text Box 64"/>
            <p:cNvSpPr txBox="1">
              <a:spLocks noChangeArrowheads="1"/>
            </p:cNvSpPr>
            <p:nvPr/>
          </p:nvSpPr>
          <p:spPr bwMode="auto">
            <a:xfrm flipH="1">
              <a:off x="186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5</a:t>
              </a:r>
            </a:p>
          </p:txBody>
        </p:sp>
        <p:sp>
          <p:nvSpPr>
            <p:cNvPr id="50196" name="Text Box 39"/>
            <p:cNvSpPr txBox="1">
              <a:spLocks noChangeArrowheads="1"/>
            </p:cNvSpPr>
            <p:nvPr/>
          </p:nvSpPr>
          <p:spPr bwMode="auto">
            <a:xfrm flipH="1">
              <a:off x="2185" y="243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4</a:t>
              </a:r>
              <a:endParaRPr lang="en-US">
                <a:latin typeface="Helvetica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eaLnBrk="1" hangingPunct="1"/>
            <a:r>
              <a:rPr lang="en-US"/>
              <a:t>Priority Scheduling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71288" cy="6040438"/>
          </a:xfrm>
        </p:spPr>
        <p:txBody>
          <a:bodyPr/>
          <a:lstStyle/>
          <a:p>
            <a:r>
              <a:rPr lang="en-US"/>
              <a:t>A priority number (integer) is associated with each process</a:t>
            </a:r>
          </a:p>
          <a:p>
            <a:endParaRPr lang="en-US" sz="1100"/>
          </a:p>
          <a:p>
            <a:r>
              <a:rPr lang="en-US"/>
              <a:t>The CPU is allocated to the process with the highest priority (smallest integer </a:t>
            </a:r>
            <a:r>
              <a:rPr lang="en-US">
                <a:sym typeface="Symbol" charset="2"/>
              </a:rPr>
              <a:t> highest priority)</a:t>
            </a:r>
          </a:p>
          <a:p>
            <a:pPr lvl="1"/>
            <a:r>
              <a:rPr lang="en-US"/>
              <a:t>Preemptive</a:t>
            </a:r>
          </a:p>
          <a:p>
            <a:pPr lvl="1"/>
            <a:r>
              <a:rPr lang="en-US"/>
              <a:t>Nonpreemptive</a:t>
            </a:r>
          </a:p>
          <a:p>
            <a:pPr lvl="1"/>
            <a:endParaRPr lang="en-US" sz="1100"/>
          </a:p>
          <a:p>
            <a:r>
              <a:rPr lang="en-US"/>
              <a:t>SJF is priority scheduling where priority is the inverse of predicted next CPU burst time</a:t>
            </a:r>
          </a:p>
          <a:p>
            <a:endParaRPr lang="en-US" sz="1100"/>
          </a:p>
          <a:p>
            <a:r>
              <a:rPr lang="en-US"/>
              <a:t>Problem </a:t>
            </a:r>
            <a:r>
              <a:rPr lang="en-US">
                <a:sym typeface="Symbol" charset="2"/>
              </a:rPr>
              <a:t> </a:t>
            </a:r>
            <a:r>
              <a:rPr lang="en-US" b="1">
                <a:sym typeface="Symbol" charset="2"/>
              </a:rPr>
              <a:t>Starvation </a:t>
            </a:r>
            <a:r>
              <a:rPr lang="en-US">
                <a:sym typeface="Symbol" charset="2"/>
              </a:rPr>
              <a:t>– low priority processes may never execute</a:t>
            </a:r>
          </a:p>
          <a:p>
            <a:endParaRPr lang="en-US" sz="1100">
              <a:sym typeface="Symbol" charset="2"/>
            </a:endParaRPr>
          </a:p>
          <a:p>
            <a:r>
              <a:rPr lang="en-US">
                <a:sym typeface="Symbol" charset="2"/>
              </a:rPr>
              <a:t>Solution  </a:t>
            </a:r>
            <a:r>
              <a:rPr lang="en-US" b="1">
                <a:sym typeface="Symbol" charset="2"/>
              </a:rPr>
              <a:t>Aging </a:t>
            </a:r>
            <a:r>
              <a:rPr lang="en-US">
                <a:sym typeface="Symbol" charset="2"/>
              </a:rPr>
              <a:t>– as time progresses increase the priority of the process</a:t>
            </a:r>
          </a:p>
          <a:p>
            <a:pPr>
              <a:buFont typeface="Monotype Sorts" charset="2"/>
              <a:buNone/>
            </a:pPr>
            <a:endParaRPr lang="en-US">
              <a:sym typeface="Symbol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788" y="369888"/>
            <a:ext cx="10920412" cy="768350"/>
          </a:xfrm>
        </p:spPr>
        <p:txBody>
          <a:bodyPr/>
          <a:lstStyle/>
          <a:p>
            <a:pPr eaLnBrk="1" hangingPunct="1"/>
            <a:r>
              <a:rPr lang="en-US" sz="4000"/>
              <a:t>Example of Priority Scheduling</a:t>
            </a:r>
          </a:p>
        </p:txBody>
      </p:sp>
      <p:sp>
        <p:nvSpPr>
          <p:cNvPr id="54275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        </a:t>
            </a:r>
            <a:r>
              <a:rPr lang="en-US" u="sng"/>
              <a:t>Process</a:t>
            </a:r>
            <a:r>
              <a:rPr lang="en-US" u="sng">
                <a:solidFill>
                  <a:schemeClr val="bg1"/>
                </a:solidFill>
              </a:rPr>
              <a:t>A	arri </a:t>
            </a:r>
            <a:r>
              <a:rPr lang="en-US" u="sng"/>
              <a:t>Burst Time</a:t>
            </a:r>
            <a:r>
              <a:rPr lang="en-US" u="sng">
                <a:solidFill>
                  <a:schemeClr val="bg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Priority</a:t>
            </a:r>
            <a:endParaRPr lang="en-US"/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1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3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1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4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5</a:t>
            </a:r>
          </a:p>
          <a:p>
            <a:pPr>
              <a:buFont typeface="Monotype Sorts" charset="2"/>
              <a:buNone/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		</a:t>
            </a:r>
            <a:r>
              <a:rPr lang="en-US" i="1"/>
              <a:t>P</a:t>
            </a:r>
            <a:r>
              <a:rPr lang="en-US" i="1" baseline="-25000"/>
              <a:t>5	</a:t>
            </a:r>
            <a:r>
              <a:rPr lang="en-US"/>
              <a:t>5	2</a:t>
            </a:r>
            <a:endParaRPr lang="en-US" baseline="-25000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Priority scheduling Gantt Chart</a:t>
            </a:r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endParaRPr lang="en-US"/>
          </a:p>
          <a:p>
            <a:pPr>
              <a:tabLst>
                <a:tab pos="2289175" algn="ctr"/>
                <a:tab pos="4648200" algn="ctr"/>
                <a:tab pos="7346950" algn="ctr"/>
              </a:tabLst>
            </a:pPr>
            <a:r>
              <a:rPr lang="en-US"/>
              <a:t>Average waiting time = 8.2 msec</a:t>
            </a:r>
            <a:endParaRPr lang="en-US" i="1" baseline="-25000"/>
          </a:p>
        </p:txBody>
      </p:sp>
      <p:grpSp>
        <p:nvGrpSpPr>
          <p:cNvPr id="54276" name="Group 74"/>
          <p:cNvGrpSpPr>
            <a:grpSpLocks/>
          </p:cNvGrpSpPr>
          <p:nvPr/>
        </p:nvGrpSpPr>
        <p:grpSpPr bwMode="auto">
          <a:xfrm>
            <a:off x="1966913" y="4392613"/>
            <a:ext cx="7558087" cy="1384300"/>
            <a:chOff x="901" y="2366"/>
            <a:chExt cx="3174" cy="654"/>
          </a:xfrm>
        </p:grpSpPr>
        <p:sp>
          <p:nvSpPr>
            <p:cNvPr id="54277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02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78" name="Text Box 38"/>
            <p:cNvSpPr txBox="1">
              <a:spLocks noChangeArrowheads="1"/>
            </p:cNvSpPr>
            <p:nvPr/>
          </p:nvSpPr>
          <p:spPr bwMode="auto">
            <a:xfrm flipH="1">
              <a:off x="1052" y="2441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2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79" name="Text Box 39"/>
            <p:cNvSpPr txBox="1">
              <a:spLocks noChangeArrowheads="1"/>
            </p:cNvSpPr>
            <p:nvPr/>
          </p:nvSpPr>
          <p:spPr bwMode="auto">
            <a:xfrm flipH="1">
              <a:off x="3235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3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80" name="Text Box 40"/>
            <p:cNvSpPr txBox="1">
              <a:spLocks noChangeArrowheads="1"/>
            </p:cNvSpPr>
            <p:nvPr/>
          </p:nvSpPr>
          <p:spPr bwMode="auto">
            <a:xfrm flipH="1">
              <a:off x="1498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5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81" name="Line 43"/>
            <p:cNvSpPr>
              <a:spLocks noChangeShapeType="1"/>
            </p:cNvSpPr>
            <p:nvPr/>
          </p:nvSpPr>
          <p:spPr bwMode="auto">
            <a:xfrm flipH="1">
              <a:off x="3174" y="237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2" name="Text Box 48"/>
            <p:cNvSpPr txBox="1">
              <a:spLocks noChangeArrowheads="1"/>
            </p:cNvSpPr>
            <p:nvPr/>
          </p:nvSpPr>
          <p:spPr bwMode="auto">
            <a:xfrm flipH="1">
              <a:off x="1244" y="2845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</a:t>
              </a:r>
            </a:p>
          </p:txBody>
        </p:sp>
        <p:sp>
          <p:nvSpPr>
            <p:cNvPr id="54283" name="Text Box 49"/>
            <p:cNvSpPr txBox="1">
              <a:spLocks noChangeArrowheads="1"/>
            </p:cNvSpPr>
            <p:nvPr/>
          </p:nvSpPr>
          <p:spPr bwMode="auto">
            <a:xfrm flipH="1">
              <a:off x="3580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18</a:t>
              </a:r>
            </a:p>
          </p:txBody>
        </p:sp>
        <p:sp>
          <p:nvSpPr>
            <p:cNvPr id="54284" name="Text Box 50"/>
            <p:cNvSpPr txBox="1">
              <a:spLocks noChangeArrowheads="1"/>
            </p:cNvSpPr>
            <p:nvPr/>
          </p:nvSpPr>
          <p:spPr bwMode="auto">
            <a:xfrm flipH="1">
              <a:off x="90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54285" name="Line 52"/>
            <p:cNvSpPr>
              <a:spLocks noChangeShapeType="1"/>
            </p:cNvSpPr>
            <p:nvPr/>
          </p:nvSpPr>
          <p:spPr bwMode="auto">
            <a:xfrm flipH="1">
              <a:off x="3683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Text Box 64"/>
            <p:cNvSpPr txBox="1">
              <a:spLocks noChangeArrowheads="1"/>
            </p:cNvSpPr>
            <p:nvPr/>
          </p:nvSpPr>
          <p:spPr bwMode="auto">
            <a:xfrm flipH="1">
              <a:off x="3089" y="2845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16</a:t>
              </a:r>
            </a:p>
          </p:txBody>
        </p:sp>
        <p:sp>
          <p:nvSpPr>
            <p:cNvPr id="54287" name="Line 69"/>
            <p:cNvSpPr>
              <a:spLocks noChangeShapeType="1"/>
            </p:cNvSpPr>
            <p:nvPr/>
          </p:nvSpPr>
          <p:spPr bwMode="auto">
            <a:xfrm flipH="1">
              <a:off x="1313" y="2374"/>
              <a:ext cx="5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Text Box 70"/>
            <p:cNvSpPr txBox="1">
              <a:spLocks noChangeArrowheads="1"/>
            </p:cNvSpPr>
            <p:nvPr/>
          </p:nvSpPr>
          <p:spPr bwMode="auto">
            <a:xfrm flipH="1">
              <a:off x="3722" y="2439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4</a:t>
              </a:r>
              <a:endParaRPr lang="en-US">
                <a:latin typeface="Helvetica" charset="0"/>
              </a:endParaRPr>
            </a:p>
          </p:txBody>
        </p:sp>
        <p:sp>
          <p:nvSpPr>
            <p:cNvPr id="54289" name="Text Box 73"/>
            <p:cNvSpPr txBox="1">
              <a:spLocks noChangeArrowheads="1"/>
            </p:cNvSpPr>
            <p:nvPr/>
          </p:nvSpPr>
          <p:spPr bwMode="auto">
            <a:xfrm flipH="1">
              <a:off x="3890" y="2846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19</a:t>
              </a:r>
            </a:p>
          </p:txBody>
        </p:sp>
        <p:sp>
          <p:nvSpPr>
            <p:cNvPr id="54290" name="Line 43"/>
            <p:cNvSpPr>
              <a:spLocks noChangeShapeType="1"/>
            </p:cNvSpPr>
            <p:nvPr/>
          </p:nvSpPr>
          <p:spPr bwMode="auto">
            <a:xfrm flipH="1">
              <a:off x="1925" y="236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1" name="Text Box 64"/>
            <p:cNvSpPr txBox="1">
              <a:spLocks noChangeArrowheads="1"/>
            </p:cNvSpPr>
            <p:nvPr/>
          </p:nvSpPr>
          <p:spPr bwMode="auto">
            <a:xfrm flipH="1">
              <a:off x="1861" y="2843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6</a:t>
              </a:r>
            </a:p>
          </p:txBody>
        </p:sp>
        <p:sp>
          <p:nvSpPr>
            <p:cNvPr id="54292" name="Text Box 39"/>
            <p:cNvSpPr txBox="1">
              <a:spLocks noChangeArrowheads="1"/>
            </p:cNvSpPr>
            <p:nvPr/>
          </p:nvSpPr>
          <p:spPr bwMode="auto">
            <a:xfrm flipH="1">
              <a:off x="2569" y="2438"/>
              <a:ext cx="17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P</a:t>
              </a:r>
              <a:r>
                <a:rPr lang="en-US" baseline="-25000">
                  <a:latin typeface="Helvetica" charset="0"/>
                </a:rPr>
                <a:t>1</a:t>
              </a:r>
              <a:endParaRPr lang="en-US">
                <a:latin typeface="Helvetica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Round Robin (RR)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862138"/>
            <a:ext cx="11553825" cy="5978525"/>
          </a:xfrm>
        </p:spPr>
        <p:txBody>
          <a:bodyPr/>
          <a:lstStyle/>
          <a:p>
            <a:r>
              <a:rPr lang="en-US"/>
              <a:t>Each process gets a small unit of CPU time (</a:t>
            </a:r>
            <a:r>
              <a:rPr lang="en-US" b="1"/>
              <a:t>time quantum </a:t>
            </a:r>
            <a:r>
              <a:rPr lang="en-US"/>
              <a:t>q), usually 10-100 milliseconds.  After this time has elapsed, the process is preempted and added to the end of the ready queue.</a:t>
            </a:r>
          </a:p>
          <a:p>
            <a:r>
              <a:rPr lang="en-US"/>
              <a:t>If there are </a:t>
            </a:r>
            <a:r>
              <a:rPr lang="en-US" i="1"/>
              <a:t>n</a:t>
            </a:r>
            <a:r>
              <a:rPr lang="en-US"/>
              <a:t> processes in the ready queue and the time quantum is </a:t>
            </a:r>
            <a:r>
              <a:rPr lang="en-US" i="1"/>
              <a:t>q</a:t>
            </a:r>
            <a:r>
              <a:rPr lang="en-US"/>
              <a:t>, then each process gets 1/</a:t>
            </a:r>
            <a:r>
              <a:rPr lang="en-US" i="1"/>
              <a:t>n</a:t>
            </a:r>
            <a:r>
              <a:rPr lang="en-US"/>
              <a:t> of the CPU time in chunks of at most </a:t>
            </a:r>
            <a:r>
              <a:rPr lang="en-US" i="1"/>
              <a:t>q</a:t>
            </a:r>
            <a:r>
              <a:rPr lang="en-US"/>
              <a:t> time units at once.  No process waits more than (</a:t>
            </a:r>
            <a:r>
              <a:rPr lang="en-US" i="1"/>
              <a:t>n</a:t>
            </a:r>
            <a:r>
              <a:rPr lang="en-US"/>
              <a:t>-1)</a:t>
            </a:r>
            <a:r>
              <a:rPr lang="en-US" i="1"/>
              <a:t>q </a:t>
            </a:r>
            <a:r>
              <a:rPr lang="en-US"/>
              <a:t>time units.</a:t>
            </a:r>
          </a:p>
          <a:p>
            <a:r>
              <a:rPr lang="en-US"/>
              <a:t>Timer interrupts every quantum to schedule next process</a:t>
            </a:r>
          </a:p>
          <a:p>
            <a:r>
              <a:rPr lang="en-US"/>
              <a:t>Performance</a:t>
            </a:r>
          </a:p>
          <a:p>
            <a:pPr lvl="1"/>
            <a:r>
              <a:rPr lang="en-US" i="1"/>
              <a:t>q</a:t>
            </a:r>
            <a:r>
              <a:rPr lang="en-US"/>
              <a:t> large </a:t>
            </a:r>
            <a:r>
              <a:rPr lang="en-US">
                <a:sym typeface="Symbol" charset="2"/>
              </a:rPr>
              <a:t> FIFO</a:t>
            </a:r>
          </a:p>
          <a:p>
            <a:pPr lvl="1"/>
            <a:r>
              <a:rPr lang="en-US" i="1">
                <a:sym typeface="Symbol" charset="2"/>
              </a:rPr>
              <a:t>q </a:t>
            </a:r>
            <a:r>
              <a:rPr lang="en-US">
                <a:sym typeface="Symbol" charset="2"/>
              </a:rPr>
              <a:t>small  </a:t>
            </a:r>
            <a:r>
              <a:rPr lang="en-US" i="1">
                <a:sym typeface="Symbol" charset="2"/>
              </a:rPr>
              <a:t>q </a:t>
            </a:r>
            <a:r>
              <a:rPr lang="en-US">
                <a:sym typeface="Symbol" charset="2"/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5400"/>
            <a:ext cx="12082463" cy="1125538"/>
          </a:xfrm>
        </p:spPr>
        <p:txBody>
          <a:bodyPr/>
          <a:lstStyle/>
          <a:p>
            <a:pPr eaLnBrk="1" hangingPunct="1"/>
            <a:r>
              <a:rPr lang="en-US"/>
              <a:t>Example of RR with Time Quantum = 4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2014538"/>
            <a:ext cx="11026775" cy="597852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 i="1"/>
              <a:t>		P</a:t>
            </a:r>
            <a:r>
              <a:rPr lang="en-US" i="1" baseline="-25000"/>
              <a:t>1	</a:t>
            </a:r>
            <a:r>
              <a:rPr lang="en-US"/>
              <a:t>24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	 </a:t>
            </a:r>
            <a:r>
              <a:rPr lang="en-US"/>
              <a:t>3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	</a:t>
            </a:r>
            <a:r>
              <a:rPr lang="en-US"/>
              <a:t>3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173413" algn="ctr"/>
                <a:tab pos="5708650" algn="ctr"/>
              </a:tabLst>
            </a:pPr>
            <a:r>
              <a:rPr lang="en-US"/>
              <a:t>		</a:t>
            </a:r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Typically, higher average turnaround than SJF, but better </a:t>
            </a:r>
            <a:r>
              <a:rPr lang="en-US" i="1"/>
              <a:t>response</a:t>
            </a:r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q should be large compared to context switch time</a:t>
            </a:r>
          </a:p>
          <a:p>
            <a:pPr>
              <a:lnSpc>
                <a:spcPct val="90000"/>
              </a:lnSpc>
              <a:tabLst>
                <a:tab pos="3173413" algn="ctr"/>
                <a:tab pos="5708650" algn="ctr"/>
              </a:tabLst>
            </a:pPr>
            <a:r>
              <a:rPr lang="en-US"/>
              <a:t>q usually 10ms to 100ms, context switch &lt; 10 usec</a:t>
            </a:r>
          </a:p>
        </p:txBody>
      </p:sp>
      <p:grpSp>
        <p:nvGrpSpPr>
          <p:cNvPr id="58372" name="Group 27"/>
          <p:cNvGrpSpPr>
            <a:grpSpLocks/>
          </p:cNvGrpSpPr>
          <p:nvPr/>
        </p:nvGrpSpPr>
        <p:grpSpPr bwMode="auto">
          <a:xfrm>
            <a:off x="2266950" y="4298950"/>
            <a:ext cx="7027863" cy="1255713"/>
            <a:chOff x="1088" y="2640"/>
            <a:chExt cx="2951" cy="593"/>
          </a:xfrm>
        </p:grpSpPr>
        <p:grpSp>
          <p:nvGrpSpPr>
            <p:cNvPr id="58373" name="Group 14"/>
            <p:cNvGrpSpPr>
              <a:grpSpLocks/>
            </p:cNvGrpSpPr>
            <p:nvPr/>
          </p:nvGrpSpPr>
          <p:grpSpPr bwMode="auto">
            <a:xfrm>
              <a:off x="1152" y="2640"/>
              <a:ext cx="2842" cy="384"/>
              <a:chOff x="1152" y="2736"/>
              <a:chExt cx="2304" cy="288"/>
            </a:xfrm>
          </p:grpSpPr>
          <p:sp>
            <p:nvSpPr>
              <p:cNvPr id="58383" name="Rectangle 4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  <a:endParaRPr lang="en-US">
                  <a:latin typeface="Helvetica" charset="0"/>
                </a:endParaRPr>
              </a:p>
            </p:txBody>
          </p:sp>
          <p:sp>
            <p:nvSpPr>
              <p:cNvPr id="58384" name="Rectangle 5"/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2</a:t>
                </a:r>
              </a:p>
            </p:txBody>
          </p:sp>
          <p:sp>
            <p:nvSpPr>
              <p:cNvPr id="58385" name="Rectangle 6"/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3</a:t>
                </a:r>
              </a:p>
            </p:txBody>
          </p:sp>
          <p:sp>
            <p:nvSpPr>
              <p:cNvPr id="58386" name="Rectangle 7"/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87" name="Rectangle 8"/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88" name="Rectangle 9"/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89" name="Rectangle 10"/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  <p:sp>
            <p:nvSpPr>
              <p:cNvPr id="58390" name="Rectangle 11"/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Helvetica" charset="0"/>
                  </a:rPr>
                  <a:t>P</a:t>
                </a:r>
                <a:r>
                  <a:rPr lang="en-US" baseline="-25000">
                    <a:latin typeface="Helvetica" charset="0"/>
                  </a:rPr>
                  <a:t>1</a:t>
                </a:r>
              </a:p>
            </p:txBody>
          </p:sp>
        </p:grpSp>
        <p:sp>
          <p:nvSpPr>
            <p:cNvPr id="58374" name="Text Box 15"/>
            <p:cNvSpPr txBox="1">
              <a:spLocks noChangeArrowheads="1"/>
            </p:cNvSpPr>
            <p:nvPr/>
          </p:nvSpPr>
          <p:spPr bwMode="auto">
            <a:xfrm>
              <a:off x="1088" y="3052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0</a:t>
              </a:r>
            </a:p>
          </p:txBody>
        </p:sp>
        <p:sp>
          <p:nvSpPr>
            <p:cNvPr id="58375" name="Text Box 16"/>
            <p:cNvSpPr txBox="1">
              <a:spLocks noChangeArrowheads="1"/>
            </p:cNvSpPr>
            <p:nvPr/>
          </p:nvSpPr>
          <p:spPr bwMode="auto">
            <a:xfrm>
              <a:off x="1386" y="3059"/>
              <a:ext cx="19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4</a:t>
              </a:r>
            </a:p>
          </p:txBody>
        </p:sp>
        <p:sp>
          <p:nvSpPr>
            <p:cNvPr id="58376" name="Text Box 17"/>
            <p:cNvSpPr txBox="1">
              <a:spLocks noChangeArrowheads="1"/>
            </p:cNvSpPr>
            <p:nvPr/>
          </p:nvSpPr>
          <p:spPr bwMode="auto">
            <a:xfrm>
              <a:off x="1803" y="3059"/>
              <a:ext cx="13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7</a:t>
              </a:r>
            </a:p>
          </p:txBody>
        </p:sp>
        <p:sp>
          <p:nvSpPr>
            <p:cNvPr id="58377" name="Text Box 18"/>
            <p:cNvSpPr txBox="1">
              <a:spLocks noChangeArrowheads="1"/>
            </p:cNvSpPr>
            <p:nvPr/>
          </p:nvSpPr>
          <p:spPr bwMode="auto">
            <a:xfrm>
              <a:off x="2114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10</a:t>
              </a:r>
            </a:p>
          </p:txBody>
        </p:sp>
        <p:sp>
          <p:nvSpPr>
            <p:cNvPr id="58378" name="Text Box 19"/>
            <p:cNvSpPr txBox="1">
              <a:spLocks noChangeArrowheads="1"/>
            </p:cNvSpPr>
            <p:nvPr/>
          </p:nvSpPr>
          <p:spPr bwMode="auto">
            <a:xfrm>
              <a:off x="2502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14</a:t>
              </a:r>
            </a:p>
          </p:txBody>
        </p:sp>
        <p:sp>
          <p:nvSpPr>
            <p:cNvPr id="58379" name="Text Box 20"/>
            <p:cNvSpPr txBox="1">
              <a:spLocks noChangeArrowheads="1"/>
            </p:cNvSpPr>
            <p:nvPr/>
          </p:nvSpPr>
          <p:spPr bwMode="auto">
            <a:xfrm>
              <a:off x="2838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18</a:t>
              </a:r>
            </a:p>
          </p:txBody>
        </p:sp>
        <p:sp>
          <p:nvSpPr>
            <p:cNvPr id="58380" name="Text Box 21"/>
            <p:cNvSpPr txBox="1">
              <a:spLocks noChangeArrowheads="1"/>
            </p:cNvSpPr>
            <p:nvPr/>
          </p:nvSpPr>
          <p:spPr bwMode="auto">
            <a:xfrm>
              <a:off x="3134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22</a:t>
              </a:r>
            </a:p>
          </p:txBody>
        </p:sp>
        <p:sp>
          <p:nvSpPr>
            <p:cNvPr id="58381" name="Text Box 22"/>
            <p:cNvSpPr txBox="1">
              <a:spLocks noChangeArrowheads="1"/>
            </p:cNvSpPr>
            <p:nvPr/>
          </p:nvSpPr>
          <p:spPr bwMode="auto">
            <a:xfrm>
              <a:off x="3518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26</a:t>
              </a:r>
            </a:p>
          </p:txBody>
        </p:sp>
        <p:sp>
          <p:nvSpPr>
            <p:cNvPr id="58382" name="Text Box 24"/>
            <p:cNvSpPr txBox="1">
              <a:spLocks noChangeArrowheads="1"/>
            </p:cNvSpPr>
            <p:nvPr/>
          </p:nvSpPr>
          <p:spPr bwMode="auto">
            <a:xfrm>
              <a:off x="3854" y="3053"/>
              <a:ext cx="18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Helvetica" charset="0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38288" y="514350"/>
            <a:ext cx="11744325" cy="700088"/>
          </a:xfrm>
        </p:spPr>
        <p:txBody>
          <a:bodyPr/>
          <a:lstStyle/>
          <a:p>
            <a:pPr eaLnBrk="1" hangingPunct="1"/>
            <a:r>
              <a:rPr lang="en-US" sz="4400"/>
              <a:t>Time Quantum and Context Switch Time</a:t>
            </a:r>
          </a:p>
        </p:txBody>
      </p:sp>
      <p:pic>
        <p:nvPicPr>
          <p:cNvPr id="6041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9600" y="2476500"/>
            <a:ext cx="10598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9938" y="636588"/>
            <a:ext cx="12803187" cy="609600"/>
          </a:xfrm>
        </p:spPr>
        <p:txBody>
          <a:bodyPr/>
          <a:lstStyle/>
          <a:p>
            <a:pPr eaLnBrk="1" hangingPunct="1"/>
            <a:r>
              <a:rPr lang="en-US" sz="3700"/>
              <a:t>Turnaround Time Varies With </a:t>
            </a:r>
            <a:br>
              <a:rPr lang="en-US" sz="3700"/>
            </a:br>
            <a:r>
              <a:rPr lang="en-US" sz="3700"/>
              <a:t>The Time Quantum</a:t>
            </a:r>
          </a:p>
        </p:txBody>
      </p:sp>
      <p:pic>
        <p:nvPicPr>
          <p:cNvPr id="6246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7375" y="1839913"/>
            <a:ext cx="7507288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8" name="TextBox 3"/>
          <p:cNvSpPr txBox="1">
            <a:spLocks noChangeArrowheads="1"/>
          </p:cNvSpPr>
          <p:nvPr/>
        </p:nvSpPr>
        <p:spPr bwMode="auto">
          <a:xfrm>
            <a:off x="8905875" y="4992688"/>
            <a:ext cx="34702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622" tIns="65311" rIns="130622" bIns="65311">
            <a:spAutoFit/>
          </a:bodyPr>
          <a:lstStyle/>
          <a:p>
            <a:r>
              <a:rPr lang="en-US"/>
              <a:t>80% of CPU bursts should be shorter than q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0" y="407988"/>
            <a:ext cx="11569700" cy="768350"/>
          </a:xfrm>
        </p:spPr>
        <p:txBody>
          <a:bodyPr/>
          <a:lstStyle/>
          <a:p>
            <a:pPr eaLnBrk="1" hangingPunct="1"/>
            <a:r>
              <a:rPr lang="en-US"/>
              <a:t>Multilevel Queue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15738" cy="6961188"/>
          </a:xfrm>
        </p:spPr>
        <p:txBody>
          <a:bodyPr/>
          <a:lstStyle/>
          <a:p>
            <a:r>
              <a:rPr lang="en-US"/>
              <a:t>Ready queue is partitioned into separate queues, eg:</a:t>
            </a:r>
          </a:p>
          <a:p>
            <a:pPr lvl="1"/>
            <a:r>
              <a:rPr lang="en-US"/>
              <a:t>foreground (interactive)</a:t>
            </a:r>
          </a:p>
          <a:p>
            <a:pPr lvl="1"/>
            <a:r>
              <a:rPr lang="en-US"/>
              <a:t>background (batch)</a:t>
            </a:r>
          </a:p>
          <a:p>
            <a:r>
              <a:rPr lang="en-US"/>
              <a:t>Process permanently in a given queue</a:t>
            </a:r>
          </a:p>
          <a:p>
            <a:pPr lvl="1"/>
            <a:endParaRPr lang="en-US" sz="1100"/>
          </a:p>
          <a:p>
            <a:r>
              <a:rPr lang="en-US"/>
              <a:t>Each queue has its own scheduling algorithm:</a:t>
            </a:r>
          </a:p>
          <a:p>
            <a:pPr lvl="1"/>
            <a:r>
              <a:rPr lang="en-US"/>
              <a:t>foreground – RR</a:t>
            </a:r>
          </a:p>
          <a:p>
            <a:pPr lvl="1"/>
            <a:r>
              <a:rPr lang="en-US"/>
              <a:t>background – FCFS</a:t>
            </a:r>
          </a:p>
          <a:p>
            <a:pPr lvl="1"/>
            <a:endParaRPr lang="en-US" sz="1100"/>
          </a:p>
          <a:p>
            <a:r>
              <a:rPr lang="en-US"/>
              <a:t>Scheduling must be done between the queues:</a:t>
            </a:r>
          </a:p>
          <a:p>
            <a:pPr lvl="1"/>
            <a:r>
              <a:rPr lang="en-US"/>
              <a:t>Fixed priority scheduling; (i.e., serve all from foreground then from background).  Possibility of starvation.</a:t>
            </a:r>
          </a:p>
          <a:p>
            <a:pPr lvl="1"/>
            <a:r>
              <a:rPr lang="en-US"/>
              <a:t>Time slice – each queue gets a certain amount of CPU time which it can schedule amongst its processes; i.e., 80% to foreground in RR</a:t>
            </a:r>
          </a:p>
          <a:p>
            <a:pPr lvl="1"/>
            <a:r>
              <a:rPr lang="en-US"/>
              <a:t>20% to background in FCFS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36713" y="369888"/>
            <a:ext cx="11393487" cy="768350"/>
          </a:xfrm>
        </p:spPr>
        <p:txBody>
          <a:bodyPr/>
          <a:lstStyle/>
          <a:p>
            <a:pPr eaLnBrk="1" hangingPunct="1"/>
            <a:r>
              <a:rPr lang="en-US"/>
              <a:t>Multilevel Queue Scheduling</a:t>
            </a:r>
          </a:p>
        </p:txBody>
      </p:sp>
      <p:pic>
        <p:nvPicPr>
          <p:cNvPr id="66563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3013" y="1566863"/>
            <a:ext cx="10691812" cy="628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69888"/>
            <a:ext cx="12039600" cy="768350"/>
          </a:xfrm>
        </p:spPr>
        <p:txBody>
          <a:bodyPr/>
          <a:lstStyle/>
          <a:p>
            <a:pPr eaLnBrk="1" hangingPunct="1"/>
            <a:r>
              <a:rPr lang="en-US"/>
              <a:t>Multilevel Feedback Queue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57388"/>
            <a:ext cx="11026775" cy="5978525"/>
          </a:xfrm>
        </p:spPr>
        <p:txBody>
          <a:bodyPr/>
          <a:lstStyle/>
          <a:p>
            <a:r>
              <a:rPr lang="en-US"/>
              <a:t>A process can move between the various queues; aging can be implemented this way</a:t>
            </a:r>
          </a:p>
          <a:p>
            <a:endParaRPr lang="en-US"/>
          </a:p>
          <a:p>
            <a:r>
              <a:rPr lang="en-US"/>
              <a:t>Multilevel-feedback-queue scheduler defined by the following parameters:</a:t>
            </a:r>
          </a:p>
          <a:p>
            <a:pPr lvl="1"/>
            <a:r>
              <a:rPr lang="en-US"/>
              <a:t>number of queues</a:t>
            </a:r>
          </a:p>
          <a:p>
            <a:pPr lvl="1"/>
            <a:r>
              <a:rPr lang="en-US"/>
              <a:t>scheduling algorithms for each queue</a:t>
            </a:r>
          </a:p>
          <a:p>
            <a:pPr lvl="1"/>
            <a:r>
              <a:rPr lang="en-US"/>
              <a:t>method used to determine when to upgrade a process</a:t>
            </a:r>
          </a:p>
          <a:p>
            <a:pPr lvl="1"/>
            <a:r>
              <a:rPr lang="en-US"/>
              <a:t>method used to determine when to demote a process</a:t>
            </a:r>
          </a:p>
          <a:p>
            <a:pPr lvl="1"/>
            <a:r>
              <a:rPr lang="en-US"/>
              <a:t>method used to determine which queue a process will enter when that process needs service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98625" y="0"/>
            <a:ext cx="11658600" cy="1125538"/>
          </a:xfrm>
        </p:spPr>
        <p:txBody>
          <a:bodyPr/>
          <a:lstStyle/>
          <a:p>
            <a:pPr eaLnBrk="1" hangingPunct="1"/>
            <a:r>
              <a:rPr lang="en-US"/>
              <a:t>Example of Multilevel Feedback Queue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040438"/>
          </a:xfrm>
        </p:spPr>
        <p:txBody>
          <a:bodyPr/>
          <a:lstStyle/>
          <a:p>
            <a:r>
              <a:rPr lang="en-US"/>
              <a:t>Three queues: 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0</a:t>
            </a:r>
            <a:r>
              <a:rPr lang="en-US"/>
              <a:t> – RR with time quantum 8 milliseconds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 – RR time quantum 16 milliseconds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2</a:t>
            </a:r>
            <a:r>
              <a:rPr lang="en-US"/>
              <a:t> – FCFS</a:t>
            </a:r>
          </a:p>
          <a:p>
            <a:pPr lvl="1"/>
            <a:endParaRPr lang="en-US"/>
          </a:p>
          <a:p>
            <a:r>
              <a:rPr lang="en-US"/>
              <a:t>Scheduling</a:t>
            </a:r>
          </a:p>
          <a:p>
            <a:pPr lvl="1"/>
            <a:r>
              <a:rPr lang="en-US"/>
              <a:t>A new job enters queue </a:t>
            </a:r>
            <a:r>
              <a:rPr lang="en-US" i="1"/>
              <a:t>Q</a:t>
            </a:r>
            <a:r>
              <a:rPr lang="en-US" i="1" baseline="-25000"/>
              <a:t>0</a:t>
            </a:r>
            <a:r>
              <a:rPr lang="en-US" i="1"/>
              <a:t> </a:t>
            </a:r>
            <a:r>
              <a:rPr lang="en-US"/>
              <a:t>which is served</a:t>
            </a:r>
            <a:r>
              <a:rPr lang="en-US" i="1"/>
              <a:t> </a:t>
            </a:r>
            <a:r>
              <a:rPr lang="en-US"/>
              <a:t>FCFS</a:t>
            </a:r>
          </a:p>
          <a:p>
            <a:pPr lvl="2"/>
            <a:r>
              <a:rPr lang="en-US"/>
              <a:t>When it gains CPU, job receives 8 milliseconds</a:t>
            </a:r>
          </a:p>
          <a:p>
            <a:pPr lvl="2"/>
            <a:r>
              <a:rPr lang="en-US"/>
              <a:t>If it does not finish in 8 milliseconds, job is moved to queue </a:t>
            </a:r>
            <a:r>
              <a:rPr lang="en-US" i="1"/>
              <a:t>Q</a:t>
            </a:r>
            <a:r>
              <a:rPr lang="en-US" baseline="-25000"/>
              <a:t>1</a:t>
            </a:r>
            <a:endParaRPr lang="en-US"/>
          </a:p>
          <a:p>
            <a:pPr lvl="1"/>
            <a:r>
              <a:rPr lang="en-US"/>
              <a:t>At </a:t>
            </a:r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 job is again served FCFS and receives 16 additional milliseconds</a:t>
            </a:r>
          </a:p>
          <a:p>
            <a:pPr lvl="2"/>
            <a:r>
              <a:rPr lang="en-US"/>
              <a:t>If it still does not complete, it is preempted and moved to queue </a:t>
            </a:r>
            <a:r>
              <a:rPr lang="en-US" i="1"/>
              <a:t>Q</a:t>
            </a:r>
            <a:r>
              <a:rPr lang="en-US" baseline="-25000"/>
              <a:t>2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3363" y="369888"/>
            <a:ext cx="11526837" cy="768350"/>
          </a:xfrm>
        </p:spPr>
        <p:txBody>
          <a:bodyPr/>
          <a:lstStyle/>
          <a:p>
            <a:pPr eaLnBrk="1" hangingPunct="1"/>
            <a:r>
              <a:rPr lang="en-US"/>
              <a:t>Multilevel Feedback Queues</a:t>
            </a:r>
          </a:p>
        </p:txBody>
      </p:sp>
      <p:pic>
        <p:nvPicPr>
          <p:cNvPr id="72707" name="Picture 4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7325" y="1947863"/>
            <a:ext cx="10275888" cy="555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Scheduling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2103438"/>
            <a:ext cx="11491913" cy="4729162"/>
          </a:xfrm>
        </p:spPr>
        <p:txBody>
          <a:bodyPr/>
          <a:lstStyle/>
          <a:p>
            <a:r>
              <a:rPr lang="en-US"/>
              <a:t>Distinction between user-level and kernel-level threads</a:t>
            </a:r>
          </a:p>
          <a:p>
            <a:endParaRPr lang="en-US"/>
          </a:p>
          <a:p>
            <a:r>
              <a:rPr lang="en-US"/>
              <a:t>When threads supported, threads scheduled, not processes</a:t>
            </a:r>
          </a:p>
          <a:p>
            <a:endParaRPr lang="en-US"/>
          </a:p>
          <a:p>
            <a:r>
              <a:rPr lang="en-US"/>
              <a:t>Many-to-one and many-to-many models, thread library schedules user-level threads to run on LWP</a:t>
            </a:r>
          </a:p>
          <a:p>
            <a:pPr lvl="1"/>
            <a:r>
              <a:rPr lang="en-US"/>
              <a:t>Known as </a:t>
            </a:r>
            <a:r>
              <a:rPr lang="en-US" b="1"/>
              <a:t>process-contention scope (PCS) </a:t>
            </a:r>
            <a:r>
              <a:rPr lang="en-US"/>
              <a:t>since scheduling competition is within the process</a:t>
            </a:r>
          </a:p>
          <a:p>
            <a:pPr lvl="1"/>
            <a:r>
              <a:rPr lang="en-US"/>
              <a:t>Typically done via priority set by programmer</a:t>
            </a:r>
          </a:p>
          <a:p>
            <a:pPr lvl="1"/>
            <a:endParaRPr lang="en-US"/>
          </a:p>
          <a:p>
            <a:r>
              <a:rPr lang="en-US"/>
              <a:t>Kernel thread scheduled onto available CPU is </a:t>
            </a:r>
            <a:r>
              <a:rPr lang="en-US" b="1"/>
              <a:t>system-contention scope (SCS) </a:t>
            </a:r>
            <a:r>
              <a:rPr lang="en-US"/>
              <a:t>– competition among all threads in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eaLnBrk="1" hangingPunct="1"/>
            <a:r>
              <a:rPr lang="en-US"/>
              <a:t>Multiple-Processor Scheduling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407775" cy="6411912"/>
          </a:xfrm>
        </p:spPr>
        <p:txBody>
          <a:bodyPr/>
          <a:lstStyle/>
          <a:p>
            <a:r>
              <a:rPr lang="en-US"/>
              <a:t>CPU scheduling more complex when multiple CPUs are available</a:t>
            </a:r>
          </a:p>
          <a:p>
            <a:endParaRPr lang="en-US" sz="1100"/>
          </a:p>
          <a:p>
            <a:r>
              <a:rPr lang="en-US" b="1"/>
              <a:t>Homogeneous processors </a:t>
            </a:r>
            <a:r>
              <a:rPr lang="en-US"/>
              <a:t>within a multiprocessor</a:t>
            </a:r>
          </a:p>
          <a:p>
            <a:endParaRPr lang="en-US" sz="1100"/>
          </a:p>
          <a:p>
            <a:r>
              <a:rPr lang="en-US" b="1"/>
              <a:t>Asymmetric multiprocessing </a:t>
            </a:r>
            <a:r>
              <a:rPr lang="en-US"/>
              <a:t>– only one processor accesses the system data structures, alleviating the need for data sharing</a:t>
            </a:r>
          </a:p>
          <a:p>
            <a:endParaRPr lang="en-US" sz="1100"/>
          </a:p>
          <a:p>
            <a:r>
              <a:rPr lang="en-US" b="1"/>
              <a:t>Symmetric multiprocessing (SMP) </a:t>
            </a:r>
            <a:r>
              <a:rPr lang="en-US"/>
              <a:t>– each processor is self-scheduling, all processes in common ready queue, or each has its own private queue of ready processes</a:t>
            </a:r>
          </a:p>
          <a:p>
            <a:pPr lvl="1"/>
            <a:r>
              <a:rPr lang="en-US"/>
              <a:t>Currently, most common</a:t>
            </a:r>
          </a:p>
          <a:p>
            <a:endParaRPr lang="en-US" sz="1100"/>
          </a:p>
          <a:p>
            <a:r>
              <a:rPr lang="en-US" b="1"/>
              <a:t>Processor affinity </a:t>
            </a:r>
            <a:r>
              <a:rPr lang="en-US"/>
              <a:t>– process has affinity for processor on which it is currently running</a:t>
            </a:r>
          </a:p>
          <a:p>
            <a:pPr lvl="1"/>
            <a:r>
              <a:rPr lang="en-US" b="1"/>
              <a:t>soft affinity</a:t>
            </a:r>
          </a:p>
          <a:p>
            <a:pPr lvl="1"/>
            <a:r>
              <a:rPr lang="en-US" b="1"/>
              <a:t>hard affinity</a:t>
            </a:r>
          </a:p>
          <a:p>
            <a:pPr lvl="1"/>
            <a:r>
              <a:rPr lang="en-US"/>
              <a:t>Variations including </a:t>
            </a:r>
            <a:r>
              <a:rPr lang="en-US" b="1"/>
              <a:t>processor sets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9707</TotalTime>
  <Words>1767</Words>
  <Application>Microsoft Office PowerPoint</Application>
  <PresentationFormat>Custom</PresentationFormat>
  <Paragraphs>342</Paragraphs>
  <Slides>32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ＭＳ Ｐゴシック</vt:lpstr>
      <vt:lpstr>Arial</vt:lpstr>
      <vt:lpstr>Helvetica</vt:lpstr>
      <vt:lpstr>Lucida Grande</vt:lpstr>
      <vt:lpstr>Monotype Sorts</vt:lpstr>
      <vt:lpstr>Symbol</vt:lpstr>
      <vt:lpstr>Times New Roman</vt:lpstr>
      <vt:lpstr>Verdana</vt:lpstr>
      <vt:lpstr>Webdings</vt:lpstr>
      <vt:lpstr>os-8</vt:lpstr>
      <vt:lpstr>Equation</vt:lpstr>
      <vt:lpstr>CPU Scheduling</vt:lpstr>
      <vt:lpstr>CPU Scheduling</vt:lpstr>
      <vt:lpstr>Objectives</vt:lpstr>
      <vt:lpstr>Basic Concepts</vt:lpstr>
      <vt:lpstr>Alternating Sequence of CPU and  I/O Bursts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First-Come, First-Served (FCFS) Scheduling</vt:lpstr>
      <vt:lpstr>FCFS Scheduling (Cont.)</vt:lpstr>
      <vt:lpstr>Shortest-Job-First (SJF) Scheduling</vt:lpstr>
      <vt:lpstr>Example of SJF</vt:lpstr>
      <vt:lpstr>Determining Length of Next CPU Burst</vt:lpstr>
      <vt:lpstr>Prediction of the Length of the  Next CPU Burst</vt:lpstr>
      <vt:lpstr>Examples of Exponential Averaging</vt:lpstr>
      <vt:lpstr>Example of Shortest-remaining-time-first</vt:lpstr>
      <vt:lpstr>Priority Scheduling</vt:lpstr>
      <vt:lpstr>Example of Priority Scheduling</vt:lpstr>
      <vt:lpstr>Round Robin (RR)</vt:lpstr>
      <vt:lpstr>Example of RR with Time Quantum = 4</vt:lpstr>
      <vt:lpstr>Time Quantum and Context Switch Time</vt:lpstr>
      <vt:lpstr>Turnaround Time Varies With  The Time Quantum</vt:lpstr>
      <vt:lpstr>Multilevel Queue</vt:lpstr>
      <vt:lpstr>Multilevel Queue Scheduling</vt:lpstr>
      <vt:lpstr>Multilevel Feedback Queue</vt:lpstr>
      <vt:lpstr>Example of Multilevel Feedback Queue</vt:lpstr>
      <vt:lpstr>Multilevel Feedback Queues</vt:lpstr>
      <vt:lpstr>Thread Scheduling</vt:lpstr>
      <vt:lpstr>Multiple-Processor Scheduling</vt:lpstr>
      <vt:lpstr>THANK YOU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 CPU Scheduling</dc:title>
  <dc:creator>Marilyn Turnamian</dc:creator>
  <cp:lastModifiedBy>savitha shetty</cp:lastModifiedBy>
  <cp:revision>166</cp:revision>
  <cp:lastPrinted>2011-02-07T04:52:44Z</cp:lastPrinted>
  <dcterms:created xsi:type="dcterms:W3CDTF">2011-02-10T17:10:04Z</dcterms:created>
  <dcterms:modified xsi:type="dcterms:W3CDTF">2024-07-12T00:05:21Z</dcterms:modified>
</cp:coreProperties>
</file>