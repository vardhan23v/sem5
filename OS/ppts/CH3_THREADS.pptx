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327" r:id="rId2"/>
    <p:sldId id="263" r:id="rId3"/>
    <p:sldId id="329" r:id="rId4"/>
    <p:sldId id="339" r:id="rId5"/>
    <p:sldId id="264" r:id="rId6"/>
    <p:sldId id="285" r:id="rId7"/>
    <p:sldId id="279" r:id="rId8"/>
    <p:sldId id="280" r:id="rId9"/>
    <p:sldId id="281" r:id="rId10"/>
    <p:sldId id="282" r:id="rId11"/>
    <p:sldId id="303" r:id="rId12"/>
    <p:sldId id="283" r:id="rId13"/>
    <p:sldId id="258" r:id="rId14"/>
    <p:sldId id="286" r:id="rId15"/>
    <p:sldId id="259" r:id="rId16"/>
    <p:sldId id="304" r:id="rId17"/>
    <p:sldId id="257" r:id="rId18"/>
    <p:sldId id="328" r:id="rId19"/>
  </p:sldIdLst>
  <p:sldSz cx="13716000" cy="9144000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1pPr>
    <a:lvl2pPr marL="652463" indent="-19526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2pPr>
    <a:lvl3pPr marL="1304925" indent="-3905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3pPr>
    <a:lvl4pPr marL="1958975" indent="-5873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4pPr>
    <a:lvl5pPr marL="2611438" indent="-7826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7">
          <p15:clr>
            <a:srgbClr val="A4A3A4"/>
          </p15:clr>
        </p15:guide>
        <p15:guide id="2" pos="19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306" y="58"/>
      </p:cViewPr>
      <p:guideLst>
        <p:guide orient="horz" pos="1527"/>
        <p:guide pos="19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</a:defRPr>
            </a:lvl1pPr>
          </a:lstStyle>
          <a:p>
            <a:fld id="{099D7087-B4D8-4E67-A974-1C4634F4EE6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81050" y="688975"/>
            <a:ext cx="5262563" cy="350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427538"/>
            <a:ext cx="5100637" cy="419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</a:defRPr>
            </a:lvl1pPr>
          </a:lstStyle>
          <a:p>
            <a:fld id="{D85F2307-3D02-499F-A7ED-5480735EB8D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0B471E-478C-4991-AC16-A9DEB8FC6CDA}" type="slidenum">
              <a:rPr lang="en-US"/>
              <a:pPr/>
              <a:t>1</a:t>
            </a:fld>
            <a:endParaRPr 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BAB4E1-C066-4B86-8FF8-4769ACAA51DF}" type="slidenum">
              <a:rPr lang="en-US"/>
              <a:pPr/>
              <a:t>2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F38F00-A7C9-41F1-9F48-12BD35D964C2}" type="slidenum">
              <a:rPr lang="en-US"/>
              <a:pPr/>
              <a:t>5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61A843-A3D6-4026-AF41-F9DB4366038B}" type="slidenum">
              <a:rPr lang="en-US"/>
              <a:pPr/>
              <a:t>6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7C4977-728B-45F9-B20C-A3D9692E5730}" type="slidenum">
              <a:rPr lang="en-US"/>
              <a:pPr/>
              <a:t>7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8D63A2-4AEF-4079-B7DF-B42D51AE0654}" type="slidenum">
              <a:rPr lang="en-US"/>
              <a:pPr/>
              <a:t>8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8D1AB8-CAF1-4FE0-B4CC-5DBBC0D0DFB7}" type="slidenum">
              <a:rPr lang="en-US"/>
              <a:pPr/>
              <a:t>9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443069-D27F-4691-8F2C-D321469708DB}" type="slidenum">
              <a:rPr lang="en-US"/>
              <a:pPr/>
              <a:t>10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E80825-B5A0-4037-8C12-BAE4103C8A0F}" type="slidenum">
              <a:rPr lang="en-US"/>
              <a:pPr/>
              <a:t>11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6361F1-049D-45B8-A0FB-8C7EEF10C160}" type="slidenum">
              <a:rPr lang="en-US"/>
              <a:pPr/>
              <a:t>12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F6D760-CD02-4864-AAFC-7F3AFC03EFCA}" type="slidenum">
              <a:rPr lang="en-US"/>
              <a:pPr/>
              <a:t>13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768518-CD41-450A-BB28-CDF7AF27499C}" type="slidenum">
              <a:rPr lang="en-US"/>
              <a:pPr/>
              <a:t>14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54BDB6-9C64-488B-A95E-48B742ADD9DF}" type="slidenum">
              <a:rPr lang="en-US"/>
              <a:pPr/>
              <a:t>15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F0C747-5A66-4C35-A609-CC45ED79BC44}" type="slidenum">
              <a:rPr lang="en-US"/>
              <a:pPr/>
              <a:t>16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632FED-9318-4CEB-BC0D-DB2D8F80B5E5}" type="slidenum">
              <a:rPr lang="en-US"/>
              <a:pPr/>
              <a:t>17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E15B22-8EE2-4F96-B49F-F1746FC1E309}" type="slidenum">
              <a:rPr lang="en-US"/>
              <a:pPr/>
              <a:t>18</a:t>
            </a:fld>
            <a:endParaRPr lang="en-US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298450" y="3948113"/>
            <a:ext cx="12915900" cy="268287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647238" y="8818563"/>
            <a:ext cx="4068762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rgbClr val="33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1275" y="8818563"/>
            <a:ext cx="36861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>
                <a:solidFill>
                  <a:srgbClr val="336699"/>
                </a:solidFill>
                <a:latin typeface="Helvetica" charset="0"/>
              </a:rPr>
              <a:t>Operating System Concepts – 8</a:t>
            </a:r>
            <a:r>
              <a:rPr lang="en-US" sz="1400" b="1" baseline="3000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sz="1400" b="1">
                <a:solidFill>
                  <a:srgbClr val="33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1900" y="5543550"/>
            <a:ext cx="3092450" cy="2125663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837113" y="5354638"/>
            <a:ext cx="3505200" cy="2517775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>
              <a:defRPr/>
            </a:pPr>
            <a:endParaRPr lang="en-US">
              <a:cs typeface="ＭＳ Ｐゴシック" charset="-128"/>
            </a:endParaRPr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5875867"/>
            <a:ext cx="11658600" cy="181610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3875618"/>
            <a:ext cx="11658600" cy="2000249"/>
          </a:xfrm>
        </p:spPr>
        <p:txBody>
          <a:bodyPr anchor="b"/>
          <a:lstStyle>
            <a:lvl1pPr marL="0" indent="0">
              <a:buNone/>
              <a:defRPr sz="2900"/>
            </a:lvl1pPr>
            <a:lvl2pPr marL="653110" indent="0">
              <a:buNone/>
              <a:defRPr sz="2600"/>
            </a:lvl2pPr>
            <a:lvl3pPr marL="1306220" indent="0">
              <a:buNone/>
              <a:defRPr sz="2300"/>
            </a:lvl3pPr>
            <a:lvl4pPr marL="1959331" indent="0">
              <a:buNone/>
              <a:defRPr sz="2000"/>
            </a:lvl4pPr>
            <a:lvl5pPr marL="2612441" indent="0">
              <a:buNone/>
              <a:defRPr sz="2000"/>
            </a:lvl5pPr>
            <a:lvl6pPr marL="3265551" indent="0">
              <a:buNone/>
              <a:defRPr sz="2000"/>
            </a:lvl6pPr>
            <a:lvl7pPr marL="3918661" indent="0">
              <a:buNone/>
              <a:defRPr sz="2000"/>
            </a:lvl7pPr>
            <a:lvl8pPr marL="4571771" indent="0">
              <a:buNone/>
              <a:defRPr sz="2000"/>
            </a:lvl8pPr>
            <a:lvl9pPr marL="5224882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96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61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6184"/>
            <a:ext cx="123444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6817"/>
            <a:ext cx="6060282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99833"/>
            <a:ext cx="6060282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38" y="2046817"/>
            <a:ext cx="6062663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38" y="2899833"/>
            <a:ext cx="6062663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64067"/>
            <a:ext cx="4512470" cy="1549400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5" y="364067"/>
            <a:ext cx="7667625" cy="7804151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913467"/>
            <a:ext cx="4512470" cy="6254751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6400800"/>
            <a:ext cx="8229600" cy="755651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817033"/>
            <a:ext cx="8229600" cy="548640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7156451"/>
            <a:ext cx="8229600" cy="1073149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007" y="370417"/>
            <a:ext cx="3217068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70417"/>
            <a:ext cx="9422607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428625" y="0"/>
            <a:ext cx="1793875" cy="121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69888"/>
            <a:ext cx="12344400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09675" y="1644650"/>
            <a:ext cx="12344400" cy="604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6437" name="Rectangle 5"/>
          <p:cNvSpPr>
            <a:spLocks noChangeArrowheads="1"/>
          </p:cNvSpPr>
          <p:nvPr/>
        </p:nvSpPr>
        <p:spPr bwMode="auto">
          <a:xfrm>
            <a:off x="0" y="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146438" name="Line 6"/>
          <p:cNvSpPr>
            <a:spLocks noChangeShapeType="1"/>
          </p:cNvSpPr>
          <p:nvPr/>
        </p:nvSpPr>
        <p:spPr bwMode="auto">
          <a:xfrm>
            <a:off x="685800" y="1147763"/>
            <a:ext cx="121158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ffectLst/>
        </p:spPr>
        <p:txBody>
          <a:bodyPr lIns="130622" tIns="65311" rIns="130622" bIns="65311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146439" name="Rectangle 7"/>
          <p:cNvSpPr>
            <a:spLocks noChangeArrowheads="1"/>
          </p:cNvSpPr>
          <p:nvPr/>
        </p:nvSpPr>
        <p:spPr bwMode="auto">
          <a:xfrm>
            <a:off x="0" y="3048000"/>
            <a:ext cx="342900" cy="3048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146440" name="Rectangle 8"/>
          <p:cNvSpPr>
            <a:spLocks noChangeArrowheads="1"/>
          </p:cNvSpPr>
          <p:nvPr/>
        </p:nvSpPr>
        <p:spPr bwMode="auto">
          <a:xfrm>
            <a:off x="0" y="609600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146441" name="Text Box 9"/>
          <p:cNvSpPr txBox="1">
            <a:spLocks noChangeArrowheads="1"/>
          </p:cNvSpPr>
          <p:nvPr/>
        </p:nvSpPr>
        <p:spPr bwMode="auto">
          <a:xfrm>
            <a:off x="6403975" y="8818563"/>
            <a:ext cx="631825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4.</a:t>
            </a:r>
            <a:fld id="{1D2BBA59-132A-4C4C-8F11-BA90418171D4}" type="slidenum">
              <a:rPr lang="en-US" sz="1400" b="1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sz="14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46442" name="Text Box 10"/>
          <p:cNvSpPr txBox="1">
            <a:spLocks noChangeArrowheads="1"/>
          </p:cNvSpPr>
          <p:nvPr/>
        </p:nvSpPr>
        <p:spPr bwMode="auto">
          <a:xfrm>
            <a:off x="9734550" y="8783638"/>
            <a:ext cx="40703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146443" name="Text Box 11"/>
          <p:cNvSpPr txBox="1">
            <a:spLocks noChangeArrowheads="1"/>
          </p:cNvSpPr>
          <p:nvPr/>
        </p:nvSpPr>
        <p:spPr bwMode="auto">
          <a:xfrm>
            <a:off x="279400" y="8828088"/>
            <a:ext cx="36861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Operating System Concepts – 8</a:t>
            </a:r>
            <a:r>
              <a:rPr lang="en-US" sz="1400" b="1" baseline="3000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sz="1400" b="1">
                <a:solidFill>
                  <a:srgbClr val="00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1661775" y="7799388"/>
            <a:ext cx="1925638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6" r:id="rId2"/>
    <p:sldLayoutId id="2147483705" r:id="rId3"/>
    <p:sldLayoutId id="2147483704" r:id="rId4"/>
    <p:sldLayoutId id="2147483703" r:id="rId5"/>
    <p:sldLayoutId id="2147483702" r:id="rId6"/>
    <p:sldLayoutId id="2147483701" r:id="rId7"/>
    <p:sldLayoutId id="2147483700" r:id="rId8"/>
    <p:sldLayoutId id="2147483699" r:id="rId9"/>
    <p:sldLayoutId id="2147483698" r:id="rId10"/>
    <p:sldLayoutId id="214748369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5pPr>
      <a:lvl6pPr marL="65311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6pPr>
      <a:lvl7pPr marL="130622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7pPr>
      <a:lvl8pPr marL="195933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8pPr>
      <a:lvl9pPr marL="261244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9pPr>
    </p:titleStyle>
    <p:bodyStyle>
      <a:lvl1pPr marL="488950" indent="-4889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1060450" indent="-407988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550988" indent="-325438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2039938" indent="-325438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2530475" indent="-325438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318391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383702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449013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514324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eaLnBrk="1" hangingPunct="1"/>
            <a:r>
              <a:rPr lang="en-US" dirty="0"/>
              <a:t>Threads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Threads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  <a:p>
            <a:r>
              <a:rPr lang="en-US" dirty="0"/>
              <a:t>Multithreading Models</a:t>
            </a:r>
          </a:p>
          <a:p>
            <a:pPr>
              <a:buFont typeface="Monotype Sorts" charset="2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Objectives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209675" y="1644650"/>
            <a:ext cx="11453813" cy="6040438"/>
          </a:xfrm>
        </p:spPr>
        <p:txBody>
          <a:bodyPr/>
          <a:lstStyle/>
          <a:p>
            <a:r>
              <a:rPr lang="en-US" dirty="0"/>
              <a:t>To introduce the notion of a thread — a fundamental unit of CPU utilization that forms the basis of multithreaded computer systems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Threads run within application</a:t>
            </a:r>
          </a:p>
          <a:p>
            <a:r>
              <a:rPr lang="en-US" dirty="0"/>
              <a:t>Multiple tasks with the application can be implemented by separate threads</a:t>
            </a:r>
          </a:p>
          <a:p>
            <a:pPr lvl="1"/>
            <a:r>
              <a:rPr lang="en-US" dirty="0"/>
              <a:t>Update display</a:t>
            </a:r>
          </a:p>
          <a:p>
            <a:pPr lvl="1"/>
            <a:r>
              <a:rPr lang="en-US" dirty="0"/>
              <a:t>Fetch data</a:t>
            </a:r>
          </a:p>
          <a:p>
            <a:pPr lvl="1"/>
            <a:r>
              <a:rPr lang="en-US" dirty="0"/>
              <a:t>Spell checking</a:t>
            </a:r>
          </a:p>
          <a:p>
            <a:pPr lvl="1"/>
            <a:r>
              <a:rPr lang="en-US" dirty="0"/>
              <a:t>Answer a network request</a:t>
            </a:r>
          </a:p>
          <a:p>
            <a:r>
              <a:rPr lang="en-US" dirty="0"/>
              <a:t>Process creation is heavy-weight while thread creation is light-weight</a:t>
            </a:r>
          </a:p>
          <a:p>
            <a:r>
              <a:rPr lang="en-US" dirty="0"/>
              <a:t>Can simplify code, increase efficiency</a:t>
            </a:r>
          </a:p>
          <a:p>
            <a:r>
              <a:rPr lang="en-US" dirty="0"/>
              <a:t>Kernels are generally multithreaded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43013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/>
              <a:t>Single and Multithreaded Processes</a:t>
            </a:r>
          </a:p>
        </p:txBody>
      </p:sp>
      <p:pic>
        <p:nvPicPr>
          <p:cNvPr id="22531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33588" y="1798638"/>
            <a:ext cx="9901237" cy="582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93813" y="611188"/>
            <a:ext cx="10426700" cy="417512"/>
          </a:xfrm>
        </p:spPr>
        <p:txBody>
          <a:bodyPr/>
          <a:lstStyle/>
          <a:p>
            <a:pPr eaLnBrk="1" hangingPunct="1"/>
            <a:r>
              <a:rPr lang="en-US"/>
              <a:t>Benefits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Responsiveness</a:t>
            </a:r>
            <a:br>
              <a:rPr lang="en-US" b="1"/>
            </a:br>
            <a:endParaRPr lang="en-US" b="1"/>
          </a:p>
          <a:p>
            <a:r>
              <a:rPr lang="en-US" b="1"/>
              <a:t>Resource Sharing</a:t>
            </a:r>
            <a:br>
              <a:rPr lang="en-US" b="1"/>
            </a:br>
            <a:endParaRPr lang="en-US" b="1"/>
          </a:p>
          <a:p>
            <a:r>
              <a:rPr lang="en-US" b="1"/>
              <a:t>Economy</a:t>
            </a:r>
            <a:br>
              <a:rPr lang="en-US" b="1"/>
            </a:br>
            <a:endParaRPr lang="en-US" b="1"/>
          </a:p>
          <a:p>
            <a:r>
              <a:rPr lang="en-US" b="1"/>
              <a:t>Scalability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User Threads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Thread management done by user-level threads library</a:t>
            </a:r>
            <a:br>
              <a:rPr lang="en-US"/>
            </a:br>
            <a:endParaRPr lang="en-US"/>
          </a:p>
          <a:p>
            <a:r>
              <a:rPr lang="en-US"/>
              <a:t>Three primary thread libraries:</a:t>
            </a:r>
          </a:p>
          <a:p>
            <a:pPr lvl="1"/>
            <a:r>
              <a:rPr lang="en-US"/>
              <a:t> POSIX </a:t>
            </a:r>
            <a:r>
              <a:rPr lang="en-US" b="1">
                <a:solidFill>
                  <a:srgbClr val="3366FF"/>
                </a:solidFill>
              </a:rPr>
              <a:t>Pthreads</a:t>
            </a:r>
            <a:endParaRPr lang="en-US" b="1" i="1">
              <a:solidFill>
                <a:srgbClr val="3366FF"/>
              </a:solidFill>
            </a:endParaRPr>
          </a:p>
          <a:p>
            <a:pPr lvl="1"/>
            <a:r>
              <a:rPr lang="en-US"/>
              <a:t> Win32 threads</a:t>
            </a:r>
          </a:p>
          <a:p>
            <a:pPr lvl="1"/>
            <a:r>
              <a:rPr lang="en-US"/>
              <a:t> Java threads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Kernel Threads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Supported by the Kernel</a:t>
            </a:r>
            <a:br>
              <a:rPr lang="en-US"/>
            </a:br>
            <a:endParaRPr lang="en-US"/>
          </a:p>
          <a:p>
            <a:r>
              <a:rPr lang="en-US"/>
              <a:t>Examples</a:t>
            </a:r>
          </a:p>
          <a:p>
            <a:pPr lvl="1"/>
            <a:r>
              <a:rPr lang="en-US"/>
              <a:t>Windows XP/2000</a:t>
            </a:r>
          </a:p>
          <a:p>
            <a:pPr lvl="1"/>
            <a:r>
              <a:rPr lang="en-US"/>
              <a:t>Solaris</a:t>
            </a:r>
          </a:p>
          <a:p>
            <a:pPr lvl="1"/>
            <a:r>
              <a:rPr lang="en-US"/>
              <a:t>Linux</a:t>
            </a:r>
          </a:p>
          <a:p>
            <a:pPr lvl="1"/>
            <a:r>
              <a:rPr lang="en-US"/>
              <a:t>Tru64 UNIX</a:t>
            </a:r>
          </a:p>
          <a:p>
            <a:pPr lvl="1"/>
            <a:r>
              <a:rPr lang="en-US"/>
              <a:t>Mac OS 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Multithreading Models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Many-to-One</a:t>
            </a:r>
            <a:br>
              <a:rPr lang="en-US"/>
            </a:br>
            <a:endParaRPr lang="en-US"/>
          </a:p>
          <a:p>
            <a:r>
              <a:rPr lang="en-US"/>
              <a:t>One-to-One</a:t>
            </a:r>
            <a:br>
              <a:rPr lang="en-US"/>
            </a:br>
            <a:endParaRPr lang="en-US"/>
          </a:p>
          <a:p>
            <a:r>
              <a:rPr lang="en-US"/>
              <a:t>Many-to-Many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Many-to-One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Many user-level threads mapped to single kernel thread</a:t>
            </a:r>
          </a:p>
          <a:p>
            <a:endParaRPr lang="en-US"/>
          </a:p>
          <a:p>
            <a:r>
              <a:rPr lang="en-US"/>
              <a:t>Examples: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Solaris Green Threads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GNU Portable Threads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Many-to-One Model</a:t>
            </a:r>
          </a:p>
        </p:txBody>
      </p:sp>
      <p:pic>
        <p:nvPicPr>
          <p:cNvPr id="43011" name="Picture 4" descr="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24213" y="1522413"/>
            <a:ext cx="7915275" cy="694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One-to-One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Each user-level thread maps to kernel thread</a:t>
            </a:r>
          </a:p>
          <a:p>
            <a:endParaRPr lang="en-US"/>
          </a:p>
          <a:p>
            <a:r>
              <a:rPr lang="en-US"/>
              <a:t>Examples</a:t>
            </a:r>
          </a:p>
          <a:p>
            <a:pPr lvl="1"/>
            <a:r>
              <a:rPr lang="en-US"/>
              <a:t>Windows NT/XP/2000</a:t>
            </a:r>
          </a:p>
          <a:p>
            <a:pPr lvl="1"/>
            <a:r>
              <a:rPr lang="en-US"/>
              <a:t>Linux</a:t>
            </a:r>
          </a:p>
          <a:p>
            <a:pPr lvl="1"/>
            <a:r>
              <a:rPr lang="en-US"/>
              <a:t>Solaris 9 and later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One-to-one Model</a:t>
            </a:r>
          </a:p>
        </p:txBody>
      </p:sp>
      <p:pic>
        <p:nvPicPr>
          <p:cNvPr id="47107" name="Picture 4" descr="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69988" y="2678113"/>
            <a:ext cx="11607800" cy="391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Many-to-Many Model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2100263"/>
            <a:ext cx="11550650" cy="5926137"/>
          </a:xfrm>
        </p:spPr>
        <p:txBody>
          <a:bodyPr/>
          <a:lstStyle/>
          <a:p>
            <a:r>
              <a:rPr lang="en-US"/>
              <a:t>Allows many user level threads to be mapped to many kernel threads</a:t>
            </a:r>
          </a:p>
          <a:p>
            <a:endParaRPr lang="en-US"/>
          </a:p>
          <a:p>
            <a:r>
              <a:rPr lang="en-US"/>
              <a:t>Allows the  operating system to create a sufficient number of kernel threads</a:t>
            </a:r>
          </a:p>
          <a:p>
            <a:endParaRPr lang="en-US"/>
          </a:p>
          <a:p>
            <a:r>
              <a:rPr lang="en-US"/>
              <a:t>Solaris prior to version 9</a:t>
            </a:r>
          </a:p>
          <a:p>
            <a:endParaRPr lang="en-US"/>
          </a:p>
          <a:p>
            <a:r>
              <a:rPr lang="en-US"/>
              <a:t>Windows NT/2000 with the </a:t>
            </a:r>
            <a:r>
              <a:rPr lang="en-US" i="1"/>
              <a:t>ThreadFiber</a:t>
            </a:r>
            <a:r>
              <a:rPr lang="en-US"/>
              <a:t> package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Many-to-Many Model</a:t>
            </a:r>
          </a:p>
        </p:txBody>
      </p:sp>
      <p:pic>
        <p:nvPicPr>
          <p:cNvPr id="51203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22625" y="1792288"/>
            <a:ext cx="7729538" cy="587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Two-level Model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930400"/>
            <a:ext cx="11283950" cy="5942013"/>
          </a:xfrm>
        </p:spPr>
        <p:txBody>
          <a:bodyPr/>
          <a:lstStyle/>
          <a:p>
            <a:r>
              <a:rPr lang="en-US"/>
              <a:t>Similar to M:M, except that it allows a user thread to be </a:t>
            </a:r>
            <a:r>
              <a:rPr lang="en-US" b="1"/>
              <a:t>bound</a:t>
            </a:r>
            <a:r>
              <a:rPr lang="en-US"/>
              <a:t> to kernel thread</a:t>
            </a:r>
          </a:p>
          <a:p>
            <a:endParaRPr lang="en-US"/>
          </a:p>
          <a:p>
            <a:r>
              <a:rPr lang="en-US"/>
              <a:t>Examples</a:t>
            </a:r>
          </a:p>
          <a:p>
            <a:pPr lvl="1"/>
            <a:r>
              <a:rPr lang="en-US"/>
              <a:t>IRIX</a:t>
            </a:r>
          </a:p>
          <a:p>
            <a:pPr lvl="1"/>
            <a:r>
              <a:rPr lang="en-US"/>
              <a:t>HP-UX</a:t>
            </a:r>
          </a:p>
          <a:p>
            <a:pPr lvl="1"/>
            <a:r>
              <a:rPr lang="en-US"/>
              <a:t>Tru64 UNIX</a:t>
            </a:r>
          </a:p>
          <a:p>
            <a:pPr lvl="1"/>
            <a:r>
              <a:rPr lang="en-US"/>
              <a:t>Solaris 8 and earlier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Two-level Model</a:t>
            </a:r>
          </a:p>
        </p:txBody>
      </p:sp>
      <p:pic>
        <p:nvPicPr>
          <p:cNvPr id="55299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6963" y="2108200"/>
            <a:ext cx="8913812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eaLnBrk="1" hangingPunct="1"/>
            <a:r>
              <a:rPr lang="en-US"/>
              <a:t>THANK YOU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1674</TotalTime>
  <Words>268</Words>
  <Application>Microsoft Office PowerPoint</Application>
  <PresentationFormat>Custom</PresentationFormat>
  <Paragraphs>90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ＭＳ Ｐゴシック</vt:lpstr>
      <vt:lpstr>Arial</vt:lpstr>
      <vt:lpstr>Helvetica</vt:lpstr>
      <vt:lpstr>Monotype Sorts</vt:lpstr>
      <vt:lpstr>Times New Roman</vt:lpstr>
      <vt:lpstr>Verdana</vt:lpstr>
      <vt:lpstr>Webdings</vt:lpstr>
      <vt:lpstr>os-8</vt:lpstr>
      <vt:lpstr>Threads</vt:lpstr>
      <vt:lpstr>Threads</vt:lpstr>
      <vt:lpstr>Objectives</vt:lpstr>
      <vt:lpstr>Motivation</vt:lpstr>
      <vt:lpstr>Single and Multithreaded Processes</vt:lpstr>
      <vt:lpstr>Benefits</vt:lpstr>
      <vt:lpstr>User Threads</vt:lpstr>
      <vt:lpstr>Kernel Threads</vt:lpstr>
      <vt:lpstr>Multithreading Models</vt:lpstr>
      <vt:lpstr>Many-to-One</vt:lpstr>
      <vt:lpstr>Many-to-One Model</vt:lpstr>
      <vt:lpstr>One-to-One</vt:lpstr>
      <vt:lpstr>One-to-one Model</vt:lpstr>
      <vt:lpstr>Many-to-Many Model</vt:lpstr>
      <vt:lpstr>Many-to-Many Model</vt:lpstr>
      <vt:lpstr>Two-level Model</vt:lpstr>
      <vt:lpstr>Two-level Model</vt:lpstr>
      <vt:lpstr>THANK YOU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5.01</dc:title>
  <dc:creator>Marilyn Turnamian</dc:creator>
  <cp:lastModifiedBy>savitha shetty</cp:lastModifiedBy>
  <cp:revision>196</cp:revision>
  <cp:lastPrinted>2011-01-26T17:51:27Z</cp:lastPrinted>
  <dcterms:created xsi:type="dcterms:W3CDTF">2011-01-26T16:51:35Z</dcterms:created>
  <dcterms:modified xsi:type="dcterms:W3CDTF">2024-07-12T00:04:37Z</dcterms:modified>
</cp:coreProperties>
</file>