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30"/>
  </p:notesMasterIdLst>
  <p:handoutMasterIdLst>
    <p:handoutMasterId r:id="rId31"/>
  </p:handoutMasterIdLst>
  <p:sldIdLst>
    <p:sldId id="325" r:id="rId2"/>
    <p:sldId id="256" r:id="rId3"/>
    <p:sldId id="335" r:id="rId4"/>
    <p:sldId id="257" r:id="rId5"/>
    <p:sldId id="346" r:id="rId6"/>
    <p:sldId id="327" r:id="rId7"/>
    <p:sldId id="258" r:id="rId8"/>
    <p:sldId id="278" r:id="rId9"/>
    <p:sldId id="259" r:id="rId10"/>
    <p:sldId id="279" r:id="rId11"/>
    <p:sldId id="280" r:id="rId12"/>
    <p:sldId id="260" r:id="rId13"/>
    <p:sldId id="281" r:id="rId14"/>
    <p:sldId id="282" r:id="rId15"/>
    <p:sldId id="261" r:id="rId16"/>
    <p:sldId id="262" r:id="rId17"/>
    <p:sldId id="283" r:id="rId18"/>
    <p:sldId id="263" r:id="rId19"/>
    <p:sldId id="336" r:id="rId20"/>
    <p:sldId id="333" r:id="rId21"/>
    <p:sldId id="267" r:id="rId22"/>
    <p:sldId id="271" r:id="rId23"/>
    <p:sldId id="273" r:id="rId24"/>
    <p:sldId id="274" r:id="rId25"/>
    <p:sldId id="298" r:id="rId26"/>
    <p:sldId id="275" r:id="rId27"/>
    <p:sldId id="299" r:id="rId28"/>
    <p:sldId id="334" r:id="rId29"/>
  </p:sldIdLst>
  <p:sldSz cx="13716000" cy="9144000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19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306" y="58"/>
      </p:cViewPr>
      <p:guideLst>
        <p:guide orient="horz" pos="1536"/>
        <p:guide pos="1961"/>
      </p:guideLst>
    </p:cSldViewPr>
  </p:slideViewPr>
  <p:outlineViewPr>
    <p:cViewPr>
      <p:scale>
        <a:sx n="33" d="100"/>
        <a:sy n="33" d="100"/>
      </p:scale>
      <p:origin x="0" y="345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-1914" y="-84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smtClean="0">
                <a:latin typeface="Helvetica" charset="0"/>
              </a:defRPr>
            </a:lvl1pPr>
          </a:lstStyle>
          <a:p>
            <a:pPr>
              <a:defRPr/>
            </a:pPr>
            <a:fld id="{35B0396E-E6BF-44A3-9DF0-E40ABF9372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1050" y="688975"/>
            <a:ext cx="5262563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427538"/>
            <a:ext cx="5100637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smtClean="0">
                <a:latin typeface="Helvetica" charset="0"/>
              </a:defRPr>
            </a:lvl1pPr>
          </a:lstStyle>
          <a:p>
            <a:pPr>
              <a:defRPr/>
            </a:pPr>
            <a:fld id="{5B611C12-4FA3-4011-8556-D47589BE61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1275" y="8818563"/>
            <a:ext cx="3735388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Operating System Concepts  – 8</a:t>
            </a:r>
            <a:r>
              <a:rPr lang="en-US" sz="1400" b="1" baseline="3000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837113" y="5391150"/>
            <a:ext cx="3505200" cy="2455863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>
              <a:defRPr/>
            </a:pPr>
            <a:endParaRPr lang="en-US">
              <a:cs typeface="ＭＳ Ｐゴシック" charset="-128"/>
            </a:endParaRP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38" name="Line 6"/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 lIns="130622" tIns="65311" rIns="130622" bIns="65311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6403975" y="8818563"/>
            <a:ext cx="6318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3.</a:t>
            </a:r>
            <a:fld id="{25F28B70-F020-414F-8093-2BDE0F5B023D}" type="slidenum">
              <a:rPr lang="en-US" sz="1400" b="1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sz="14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146443" name="Text Box 11"/>
          <p:cNvSpPr txBox="1">
            <a:spLocks noChangeArrowheads="1"/>
          </p:cNvSpPr>
          <p:nvPr/>
        </p:nvSpPr>
        <p:spPr bwMode="auto">
          <a:xfrm>
            <a:off x="279400" y="8802688"/>
            <a:ext cx="3686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 dirty="0"/>
              <a:t>Process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6975" y="369888"/>
            <a:ext cx="9571038" cy="768350"/>
          </a:xfrm>
        </p:spPr>
        <p:txBody>
          <a:bodyPr/>
          <a:lstStyle/>
          <a:p>
            <a:pPr eaLnBrk="1" hangingPunct="1"/>
            <a:r>
              <a:rPr lang="en-US" dirty="0"/>
              <a:t>Processes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6938" cy="5095875"/>
          </a:xfrm>
        </p:spPr>
        <p:txBody>
          <a:bodyPr/>
          <a:lstStyle/>
          <a:p>
            <a:r>
              <a:rPr lang="en-US" dirty="0"/>
              <a:t>Process Concept</a:t>
            </a:r>
          </a:p>
          <a:p>
            <a:r>
              <a:rPr lang="en-US" dirty="0"/>
              <a:t>Process Scheduling</a:t>
            </a:r>
          </a:p>
          <a:p>
            <a:r>
              <a:rPr lang="en-US" dirty="0"/>
              <a:t>Operations on Processes</a:t>
            </a:r>
          </a:p>
          <a:p>
            <a:r>
              <a:rPr lang="en-US" dirty="0"/>
              <a:t>Interprocess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Objectives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0234613" cy="6040438"/>
          </a:xfrm>
        </p:spPr>
        <p:txBody>
          <a:bodyPr/>
          <a:lstStyle/>
          <a:p>
            <a:r>
              <a:rPr lang="en-US" dirty="0"/>
              <a:t>To introduce the notion of a process -- a program in execution, which forms the basis of all computation</a:t>
            </a:r>
          </a:p>
          <a:p>
            <a:endParaRPr lang="en-US" dirty="0"/>
          </a:p>
          <a:p>
            <a:r>
              <a:rPr lang="en-US" dirty="0"/>
              <a:t>To describe the various features of processes, including scheduling and communication.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365375" y="369888"/>
            <a:ext cx="9159875" cy="768350"/>
          </a:xfrm>
        </p:spPr>
        <p:txBody>
          <a:bodyPr/>
          <a:lstStyle/>
          <a:p>
            <a:pPr eaLnBrk="1" hangingPunct="1"/>
            <a:r>
              <a:rPr lang="en-US"/>
              <a:t>Process Concept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6938" cy="6381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An operating system executes a variety of programs:</a:t>
            </a:r>
          </a:p>
          <a:p>
            <a:pPr lvl="1">
              <a:lnSpc>
                <a:spcPct val="90000"/>
              </a:lnSpc>
            </a:pPr>
            <a:r>
              <a:rPr lang="en-US"/>
              <a:t>Batch system – jobs</a:t>
            </a:r>
          </a:p>
          <a:p>
            <a:pPr lvl="1">
              <a:lnSpc>
                <a:spcPct val="90000"/>
              </a:lnSpc>
            </a:pPr>
            <a:r>
              <a:rPr lang="en-US"/>
              <a:t>Time-shared systems – user programs or tasks</a:t>
            </a:r>
          </a:p>
          <a:p>
            <a:pPr lvl="1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Textbook uses the terms </a:t>
            </a:r>
            <a:r>
              <a:rPr lang="en-US" i="1"/>
              <a:t>job</a:t>
            </a:r>
            <a:r>
              <a:rPr lang="en-US"/>
              <a:t> and </a:t>
            </a:r>
            <a:r>
              <a:rPr lang="en-US" i="1"/>
              <a:t>process</a:t>
            </a:r>
            <a:r>
              <a:rPr lang="en-US"/>
              <a:t> almost interchangeably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Process – a program in execution; process execution must progress in sequential fashion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A process includes:</a:t>
            </a:r>
          </a:p>
          <a:p>
            <a:pPr lvl="1">
              <a:lnSpc>
                <a:spcPct val="90000"/>
              </a:lnSpc>
            </a:pPr>
            <a:r>
              <a:rPr lang="en-US"/>
              <a:t>program counter </a:t>
            </a:r>
          </a:p>
          <a:p>
            <a:pPr lvl="1">
              <a:lnSpc>
                <a:spcPct val="90000"/>
              </a:lnSpc>
            </a:pPr>
            <a:r>
              <a:rPr lang="en-US"/>
              <a:t>stack</a:t>
            </a:r>
          </a:p>
          <a:p>
            <a:pPr lvl="1">
              <a:lnSpc>
                <a:spcPct val="90000"/>
              </a:lnSpc>
            </a:pPr>
            <a:r>
              <a:rPr lang="en-US"/>
              <a:t>data 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Process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Multiple parts</a:t>
            </a:r>
          </a:p>
          <a:p>
            <a:pPr lvl="1"/>
            <a:r>
              <a:rPr lang="en-US"/>
              <a:t>The program code, also called </a:t>
            </a:r>
            <a:r>
              <a:rPr lang="en-US" b="1"/>
              <a:t>text section</a:t>
            </a:r>
          </a:p>
          <a:p>
            <a:pPr lvl="1"/>
            <a:r>
              <a:rPr lang="en-US"/>
              <a:t>Current activity including </a:t>
            </a:r>
            <a:r>
              <a:rPr lang="en-US" b="1"/>
              <a:t>program counter</a:t>
            </a:r>
            <a:r>
              <a:rPr lang="en-US"/>
              <a:t>, processor registers</a:t>
            </a:r>
          </a:p>
          <a:p>
            <a:pPr lvl="1"/>
            <a:r>
              <a:rPr lang="en-US" b="1"/>
              <a:t>Stack </a:t>
            </a:r>
            <a:r>
              <a:rPr lang="en-US"/>
              <a:t>containing temporary data</a:t>
            </a:r>
          </a:p>
          <a:p>
            <a:pPr lvl="2"/>
            <a:r>
              <a:rPr lang="en-US"/>
              <a:t>Function parameters, return addresses, local variables</a:t>
            </a:r>
          </a:p>
          <a:p>
            <a:pPr lvl="1"/>
            <a:r>
              <a:rPr lang="en-US" b="1"/>
              <a:t>Data section </a:t>
            </a:r>
            <a:r>
              <a:rPr lang="en-US"/>
              <a:t>containing global variables</a:t>
            </a:r>
          </a:p>
          <a:p>
            <a:pPr lvl="1"/>
            <a:r>
              <a:rPr lang="en-US" b="1"/>
              <a:t>Heap </a:t>
            </a:r>
            <a:r>
              <a:rPr lang="en-US"/>
              <a:t>containing memory dynamically allocated during run time</a:t>
            </a:r>
          </a:p>
          <a:p>
            <a:r>
              <a:rPr lang="en-US"/>
              <a:t>Program is passive entity, process is active </a:t>
            </a:r>
          </a:p>
          <a:p>
            <a:pPr lvl="1"/>
            <a:r>
              <a:rPr lang="en-US"/>
              <a:t>Program becomes process when executable file loaded into memory</a:t>
            </a:r>
          </a:p>
          <a:p>
            <a:r>
              <a:rPr lang="en-US"/>
              <a:t>Execution of program started via GUI mouse clicks, command line entry of its name, etc</a:t>
            </a:r>
          </a:p>
          <a:p>
            <a:r>
              <a:rPr lang="en-US"/>
              <a:t>One program can be several processes</a:t>
            </a:r>
          </a:p>
          <a:p>
            <a:pPr lvl="1"/>
            <a:r>
              <a:rPr lang="en-US"/>
              <a:t>Consider multiple users executing the same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Process in Memory</a:t>
            </a:r>
          </a:p>
        </p:txBody>
      </p:sp>
      <p:pic>
        <p:nvPicPr>
          <p:cNvPr id="819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10038" y="1903413"/>
            <a:ext cx="4367212" cy="613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041525" y="369888"/>
            <a:ext cx="9377363" cy="768350"/>
          </a:xfrm>
        </p:spPr>
        <p:txBody>
          <a:bodyPr/>
          <a:lstStyle/>
          <a:p>
            <a:pPr eaLnBrk="1" hangingPunct="1"/>
            <a:r>
              <a:rPr lang="en-US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6938" cy="4338637"/>
          </a:xfrm>
        </p:spPr>
        <p:txBody>
          <a:bodyPr/>
          <a:lstStyle/>
          <a:p>
            <a:r>
              <a:rPr lang="en-US"/>
              <a:t>As a process executes, it changes </a:t>
            </a:r>
            <a:r>
              <a:rPr lang="en-US" i="1"/>
              <a:t>state</a:t>
            </a:r>
            <a:endParaRPr lang="en-US"/>
          </a:p>
          <a:p>
            <a:pPr lvl="1"/>
            <a:r>
              <a:rPr lang="en-US" b="1"/>
              <a:t>new</a:t>
            </a:r>
            <a:r>
              <a:rPr lang="en-US"/>
              <a:t>:  The process is being created</a:t>
            </a:r>
          </a:p>
          <a:p>
            <a:pPr lvl="1"/>
            <a:r>
              <a:rPr lang="en-US" b="1"/>
              <a:t>running</a:t>
            </a:r>
            <a:r>
              <a:rPr lang="en-US"/>
              <a:t>:  Instructions are being executed</a:t>
            </a:r>
          </a:p>
          <a:p>
            <a:pPr lvl="1"/>
            <a:r>
              <a:rPr lang="en-US" b="1"/>
              <a:t>waiting</a:t>
            </a:r>
            <a:r>
              <a:rPr lang="en-US"/>
              <a:t>:  The process is waiting for some event to occur</a:t>
            </a:r>
          </a:p>
          <a:p>
            <a:pPr lvl="1"/>
            <a:r>
              <a:rPr lang="en-US" b="1"/>
              <a:t>ready</a:t>
            </a:r>
            <a:r>
              <a:rPr lang="en-US"/>
              <a:t>:  The process is waiting to be assigned to a processor</a:t>
            </a:r>
          </a:p>
          <a:p>
            <a:pPr lvl="1"/>
            <a:r>
              <a:rPr lang="en-US" b="1"/>
              <a:t>terminated</a:t>
            </a:r>
            <a:r>
              <a:rPr lang="en-US"/>
              <a:t>:  The process has finished execution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09663" y="369888"/>
            <a:ext cx="11920537" cy="768350"/>
          </a:xfrm>
        </p:spPr>
        <p:txBody>
          <a:bodyPr/>
          <a:lstStyle/>
          <a:p>
            <a:pPr eaLnBrk="1" hangingPunct="1"/>
            <a:r>
              <a:rPr lang="en-US"/>
              <a:t>Diagram of Process State</a:t>
            </a:r>
          </a:p>
        </p:txBody>
      </p:sp>
      <p:pic>
        <p:nvPicPr>
          <p:cNvPr id="10243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2875" y="2751138"/>
            <a:ext cx="11325225" cy="401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1013" y="369888"/>
            <a:ext cx="11279187" cy="768350"/>
          </a:xfrm>
        </p:spPr>
        <p:txBody>
          <a:bodyPr/>
          <a:lstStyle/>
          <a:p>
            <a:pPr eaLnBrk="1" hangingPunct="1"/>
            <a:r>
              <a:rPr lang="en-US"/>
              <a:t>Process Control Block (PCB)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053763" cy="5095875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/>
              <a:t>Information associated with each process</a:t>
            </a:r>
          </a:p>
          <a:p>
            <a:r>
              <a:rPr lang="en-US"/>
              <a:t>Process state</a:t>
            </a:r>
          </a:p>
          <a:p>
            <a:r>
              <a:rPr lang="en-US"/>
              <a:t>Program counter</a:t>
            </a:r>
          </a:p>
          <a:p>
            <a:r>
              <a:rPr lang="en-US"/>
              <a:t>CPU registers</a:t>
            </a:r>
          </a:p>
          <a:p>
            <a:r>
              <a:rPr lang="en-US"/>
              <a:t>CPU scheduling information</a:t>
            </a:r>
          </a:p>
          <a:p>
            <a:r>
              <a:rPr lang="en-US"/>
              <a:t>Memory-management information</a:t>
            </a:r>
          </a:p>
          <a:p>
            <a:r>
              <a:rPr lang="en-US"/>
              <a:t>Accounting information</a:t>
            </a:r>
          </a:p>
          <a:p>
            <a:r>
              <a:rPr lang="en-US"/>
              <a:t>I/O status information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400175" y="369888"/>
            <a:ext cx="11630025" cy="768350"/>
          </a:xfrm>
        </p:spPr>
        <p:txBody>
          <a:bodyPr/>
          <a:lstStyle/>
          <a:p>
            <a:pPr eaLnBrk="1" hangingPunct="1"/>
            <a:r>
              <a:rPr lang="en-US"/>
              <a:t>Process Control Block (PCB)</a:t>
            </a:r>
          </a:p>
        </p:txBody>
      </p:sp>
      <p:pic>
        <p:nvPicPr>
          <p:cNvPr id="12291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57725" y="1652588"/>
            <a:ext cx="4614863" cy="658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/>
              <a:t>CPU Switch From Process to Process</a:t>
            </a:r>
          </a:p>
        </p:txBody>
      </p:sp>
      <p:pic>
        <p:nvPicPr>
          <p:cNvPr id="13315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6450" y="1830388"/>
            <a:ext cx="10453688" cy="624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62100" y="369888"/>
            <a:ext cx="11468100" cy="768350"/>
          </a:xfrm>
        </p:spPr>
        <p:txBody>
          <a:bodyPr/>
          <a:lstStyle/>
          <a:p>
            <a:pPr eaLnBrk="1" hangingPunct="1"/>
            <a:r>
              <a:rPr lang="en-US"/>
              <a:t>Process Scheduling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2850" y="2000250"/>
            <a:ext cx="10463213" cy="5310188"/>
          </a:xfrm>
        </p:spPr>
        <p:txBody>
          <a:bodyPr/>
          <a:lstStyle/>
          <a:p>
            <a:r>
              <a:rPr lang="en-US"/>
              <a:t>Maximize CPU use, quickly switch processes onto CPU for time sharing</a:t>
            </a:r>
          </a:p>
          <a:p>
            <a:r>
              <a:rPr lang="en-US" b="1"/>
              <a:t>Process scheduler </a:t>
            </a:r>
            <a:r>
              <a:rPr lang="en-US"/>
              <a:t>selects among available processes for next execution on CPU</a:t>
            </a:r>
          </a:p>
          <a:p>
            <a:r>
              <a:rPr lang="en-US"/>
              <a:t>Maintains </a:t>
            </a:r>
            <a:r>
              <a:rPr lang="en-US" b="1"/>
              <a:t>scheduling queues </a:t>
            </a:r>
            <a:r>
              <a:rPr lang="en-US"/>
              <a:t>of processes</a:t>
            </a:r>
          </a:p>
          <a:p>
            <a:pPr lvl="1"/>
            <a:r>
              <a:rPr lang="en-US" b="1"/>
              <a:t>Job queue</a:t>
            </a:r>
            <a:r>
              <a:rPr lang="en-US"/>
              <a:t> – set of all processes in the system</a:t>
            </a:r>
          </a:p>
          <a:p>
            <a:pPr lvl="1"/>
            <a:r>
              <a:rPr lang="en-US" b="1"/>
              <a:t>Ready queue </a:t>
            </a:r>
            <a:r>
              <a:rPr lang="en-US"/>
              <a:t>– set of all processes residing in main memory, ready and waiting to execute</a:t>
            </a:r>
          </a:p>
          <a:p>
            <a:pPr lvl="1"/>
            <a:r>
              <a:rPr lang="en-US" b="1"/>
              <a:t>Device queues </a:t>
            </a:r>
            <a:r>
              <a:rPr lang="en-US"/>
              <a:t>– set of processes waiting for an I/O device</a:t>
            </a:r>
          </a:p>
          <a:p>
            <a:pPr lvl="1"/>
            <a:r>
              <a:rPr lang="en-US"/>
              <a:t>Processes migrate among the various queues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62088" y="609600"/>
            <a:ext cx="11976100" cy="609600"/>
          </a:xfrm>
        </p:spPr>
        <p:txBody>
          <a:bodyPr/>
          <a:lstStyle/>
          <a:p>
            <a:pPr eaLnBrk="1" hangingPunct="1"/>
            <a:r>
              <a:rPr lang="en-US" sz="4000"/>
              <a:t>Ready Queue And Various </a:t>
            </a:r>
            <a:br>
              <a:rPr lang="en-US" sz="4000"/>
            </a:br>
            <a:r>
              <a:rPr lang="en-US" sz="4000"/>
              <a:t>I/O Device Queues</a:t>
            </a:r>
          </a:p>
        </p:txBody>
      </p:sp>
      <p:pic>
        <p:nvPicPr>
          <p:cNvPr id="1638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52713" y="1619250"/>
            <a:ext cx="8734425" cy="669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57325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/>
              <a:t>Representation of Process Scheduling</a:t>
            </a:r>
          </a:p>
        </p:txBody>
      </p:sp>
      <p:pic>
        <p:nvPicPr>
          <p:cNvPr id="17411" name="Picture 4" descr="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46188" y="1822450"/>
            <a:ext cx="10853737" cy="557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Schedulers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930400"/>
            <a:ext cx="10801350" cy="3452813"/>
          </a:xfrm>
        </p:spPr>
        <p:txBody>
          <a:bodyPr/>
          <a:lstStyle/>
          <a:p>
            <a:r>
              <a:rPr lang="en-US" b="1">
                <a:solidFill>
                  <a:srgbClr val="000000"/>
                </a:solidFill>
              </a:rPr>
              <a:t>Long-term scheduler</a:t>
            </a:r>
            <a:r>
              <a:rPr lang="en-US">
                <a:solidFill>
                  <a:srgbClr val="000000"/>
                </a:solidFill>
              </a:rPr>
              <a:t>  </a:t>
            </a:r>
            <a:r>
              <a:rPr lang="en-US"/>
              <a:t>(or job scheduler) – selects which processes should be brought into the ready queue</a:t>
            </a:r>
          </a:p>
          <a:p>
            <a:r>
              <a:rPr lang="en-US" b="1">
                <a:solidFill>
                  <a:srgbClr val="000000"/>
                </a:solidFill>
              </a:rPr>
              <a:t>Short-term scheduler</a:t>
            </a:r>
            <a:r>
              <a:rPr lang="en-US">
                <a:solidFill>
                  <a:srgbClr val="000000"/>
                </a:solidFill>
              </a:rPr>
              <a:t>  </a:t>
            </a:r>
            <a:r>
              <a:rPr lang="en-US"/>
              <a:t>(or CPU scheduler) – selects which process should be executed next and allocates CPU</a:t>
            </a:r>
          </a:p>
          <a:p>
            <a:pPr lvl="1"/>
            <a:r>
              <a:rPr lang="en-US"/>
              <a:t>Sometimes the only scheduler in a system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Schedulers (Cont.)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077575" cy="6040438"/>
          </a:xfrm>
        </p:spPr>
        <p:txBody>
          <a:bodyPr/>
          <a:lstStyle/>
          <a:p>
            <a:r>
              <a:rPr lang="en-US"/>
              <a:t>Short-term scheduler is invoked very frequently (milliseconds) </a:t>
            </a:r>
            <a:r>
              <a:rPr lang="en-US">
                <a:sym typeface="Symbol" charset="2"/>
              </a:rPr>
              <a:t> (must be fast)</a:t>
            </a:r>
          </a:p>
          <a:p>
            <a:endParaRPr lang="en-US" sz="1100">
              <a:sym typeface="Symbol" charset="2"/>
            </a:endParaRPr>
          </a:p>
          <a:p>
            <a:r>
              <a:rPr lang="en-US">
                <a:sym typeface="Symbol" charset="2"/>
              </a:rPr>
              <a:t>Long-term scheduler is invoked very infrequently (seconds, minutes)  (may be slow)</a:t>
            </a:r>
          </a:p>
          <a:p>
            <a:endParaRPr lang="en-US" sz="1100">
              <a:sym typeface="Symbol" charset="2"/>
            </a:endParaRPr>
          </a:p>
          <a:p>
            <a:r>
              <a:rPr lang="en-US">
                <a:sym typeface="Symbol" charset="2"/>
              </a:rPr>
              <a:t>The long-term scheduler controls the </a:t>
            </a:r>
            <a:r>
              <a:rPr lang="en-US" i="1">
                <a:sym typeface="Symbol" charset="2"/>
              </a:rPr>
              <a:t>degree of multiprogramming</a:t>
            </a:r>
          </a:p>
          <a:p>
            <a:endParaRPr lang="en-US" sz="1100" i="1">
              <a:sym typeface="Symbol" charset="2"/>
            </a:endParaRPr>
          </a:p>
          <a:p>
            <a:r>
              <a:rPr lang="en-US">
                <a:sym typeface="Symbol" charset="2"/>
              </a:rPr>
              <a:t>Processes can be described as either:</a:t>
            </a:r>
          </a:p>
          <a:p>
            <a:pPr lvl="1"/>
            <a:r>
              <a:rPr lang="en-US" b="1">
                <a:solidFill>
                  <a:srgbClr val="000000"/>
                </a:solidFill>
                <a:sym typeface="Symbol" charset="2"/>
              </a:rPr>
              <a:t>I/O-bound process</a:t>
            </a:r>
            <a:r>
              <a:rPr lang="en-US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>
                <a:sym typeface="Symbol" charset="2"/>
              </a:rPr>
              <a:t>– spends more time doing I/O than computations, many short CPU bursts</a:t>
            </a:r>
          </a:p>
          <a:p>
            <a:pPr lvl="1"/>
            <a:r>
              <a:rPr lang="en-US" b="1">
                <a:solidFill>
                  <a:srgbClr val="000000"/>
                </a:solidFill>
                <a:sym typeface="Symbol" charset="2"/>
              </a:rPr>
              <a:t>CPU-bound process</a:t>
            </a:r>
            <a:r>
              <a:rPr lang="en-US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>
                <a:sym typeface="Symbol" charset="2"/>
              </a:rPr>
              <a:t>– spends more time doing computations; few very long CPU bursts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393825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/>
              <a:t>Addition of Medium Term Scheduling</a:t>
            </a:r>
          </a:p>
        </p:txBody>
      </p:sp>
      <p:pic>
        <p:nvPicPr>
          <p:cNvPr id="20483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7813" y="2897188"/>
            <a:ext cx="10991850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Context Switch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20450" cy="5930900"/>
          </a:xfrm>
        </p:spPr>
        <p:txBody>
          <a:bodyPr/>
          <a:lstStyle/>
          <a:p>
            <a:r>
              <a:rPr lang="en-US"/>
              <a:t>When CPU switches to another process, the system must save the state of the old process and load the saved state for the new process via a </a:t>
            </a:r>
            <a:r>
              <a:rPr lang="en-US" b="1">
                <a:solidFill>
                  <a:srgbClr val="3366FF"/>
                </a:solidFill>
              </a:rPr>
              <a:t>context switch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Context </a:t>
            </a:r>
            <a:r>
              <a:rPr lang="en-US"/>
              <a:t>of a process represented in the PCB</a:t>
            </a:r>
          </a:p>
          <a:p>
            <a:endParaRPr lang="en-US"/>
          </a:p>
          <a:p>
            <a:r>
              <a:rPr lang="en-US"/>
              <a:t>Context-switch time is overhead; the system does no useful work while switching</a:t>
            </a:r>
          </a:p>
          <a:p>
            <a:pPr lvl="1"/>
            <a:r>
              <a:rPr lang="en-US"/>
              <a:t>The more complex the OS and the PCB -&gt; longer the context switch</a:t>
            </a:r>
          </a:p>
          <a:p>
            <a:endParaRPr lang="en-US"/>
          </a:p>
          <a:p>
            <a:r>
              <a:rPr lang="en-US"/>
              <a:t>Time dependent on hardware support</a:t>
            </a:r>
          </a:p>
          <a:p>
            <a:pPr lvl="1"/>
            <a:r>
              <a:rPr lang="en-US"/>
              <a:t>Some hardware provides multiple sets of registers per CPU -&gt; multiple contexts loaded at once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r>
              <a:rPr lang="en-US" dirty="0"/>
              <a:t>Interprocess Communication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268075" cy="6040438"/>
          </a:xfrm>
        </p:spPr>
        <p:txBody>
          <a:bodyPr/>
          <a:lstStyle/>
          <a:p>
            <a:r>
              <a:rPr lang="en-US" dirty="0"/>
              <a:t>Processes within a system may be </a:t>
            </a:r>
            <a:r>
              <a:rPr lang="en-US" b="1" dirty="0"/>
              <a:t>independent </a:t>
            </a:r>
            <a:r>
              <a:rPr lang="en-US" dirty="0"/>
              <a:t>or </a:t>
            </a:r>
            <a:r>
              <a:rPr lang="en-US" b="1" dirty="0"/>
              <a:t>cooperating</a:t>
            </a:r>
          </a:p>
          <a:p>
            <a:r>
              <a:rPr lang="en-US" dirty="0"/>
              <a:t>Cooperating process can affect or be affected by other processes, including sharing data</a:t>
            </a:r>
          </a:p>
          <a:p>
            <a:r>
              <a:rPr lang="en-US" dirty="0"/>
              <a:t>Reasons for cooperating processes:</a:t>
            </a:r>
          </a:p>
          <a:p>
            <a:pPr lvl="1"/>
            <a:r>
              <a:rPr lang="en-US" dirty="0"/>
              <a:t>Information sharing</a:t>
            </a:r>
          </a:p>
          <a:p>
            <a:pPr lvl="1"/>
            <a:r>
              <a:rPr lang="en-US" dirty="0"/>
              <a:t>Computation speedup</a:t>
            </a:r>
          </a:p>
          <a:p>
            <a:pPr lvl="1"/>
            <a:r>
              <a:rPr lang="en-US" dirty="0"/>
              <a:t>Modularity</a:t>
            </a:r>
          </a:p>
          <a:p>
            <a:pPr lvl="1"/>
            <a:r>
              <a:rPr lang="en-US" dirty="0"/>
              <a:t>Convenience	</a:t>
            </a:r>
          </a:p>
          <a:p>
            <a:r>
              <a:rPr lang="en-US" dirty="0"/>
              <a:t>Cooperating processes need </a:t>
            </a:r>
            <a:r>
              <a:rPr lang="en-US" b="1" dirty="0" err="1"/>
              <a:t>interprocess</a:t>
            </a:r>
            <a:r>
              <a:rPr lang="en-US" b="1" dirty="0"/>
              <a:t> communication </a:t>
            </a:r>
            <a:r>
              <a:rPr lang="en-US" dirty="0"/>
              <a:t>(</a:t>
            </a:r>
            <a:r>
              <a:rPr lang="en-US" b="1" dirty="0"/>
              <a:t>IPC</a:t>
            </a:r>
            <a:r>
              <a:rPr lang="en-US" dirty="0"/>
              <a:t>)</a:t>
            </a:r>
          </a:p>
          <a:p>
            <a:r>
              <a:rPr lang="en-US" dirty="0"/>
              <a:t>Two models of IPC</a:t>
            </a:r>
          </a:p>
          <a:p>
            <a:pPr lvl="1"/>
            <a:r>
              <a:rPr lang="en-US" dirty="0"/>
              <a:t>Shared memory</a:t>
            </a:r>
          </a:p>
          <a:p>
            <a:pPr lvl="1"/>
            <a:r>
              <a:rPr lang="en-US" dirty="0"/>
              <a:t>Message passing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Communications Models </a:t>
            </a:r>
          </a:p>
        </p:txBody>
      </p:sp>
      <p:pic>
        <p:nvPicPr>
          <p:cNvPr id="2969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47875" y="1944688"/>
            <a:ext cx="9680575" cy="571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90675" y="369888"/>
            <a:ext cx="11439525" cy="768350"/>
          </a:xfrm>
        </p:spPr>
        <p:txBody>
          <a:bodyPr/>
          <a:lstStyle/>
          <a:p>
            <a:pPr eaLnBrk="1" hangingPunct="1"/>
            <a:r>
              <a:rPr lang="en-US"/>
              <a:t>Cooperating Processes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95063" cy="6040438"/>
          </a:xfrm>
        </p:spPr>
        <p:txBody>
          <a:bodyPr/>
          <a:lstStyle/>
          <a:p>
            <a:r>
              <a:rPr lang="en-US" b="1"/>
              <a:t>Independent</a:t>
            </a:r>
            <a:r>
              <a:rPr lang="en-US"/>
              <a:t> process cannot affect or be affected by the execution of another process</a:t>
            </a:r>
          </a:p>
          <a:p>
            <a:endParaRPr lang="en-US"/>
          </a:p>
          <a:p>
            <a:r>
              <a:rPr lang="en-US" b="1">
                <a:solidFill>
                  <a:srgbClr val="000000"/>
                </a:solidFill>
              </a:rPr>
              <a:t>Cooperating</a:t>
            </a:r>
            <a:r>
              <a:rPr lang="en-US"/>
              <a:t> process can affect or be affected by the execution of another process</a:t>
            </a:r>
          </a:p>
          <a:p>
            <a:endParaRPr lang="en-US"/>
          </a:p>
          <a:p>
            <a:r>
              <a:rPr lang="en-US"/>
              <a:t>Advantages of process cooperation</a:t>
            </a:r>
          </a:p>
          <a:p>
            <a:pPr lvl="1"/>
            <a:r>
              <a:rPr lang="en-US"/>
              <a:t>Information sharing </a:t>
            </a:r>
          </a:p>
          <a:p>
            <a:pPr lvl="1"/>
            <a:r>
              <a:rPr lang="en-US"/>
              <a:t>Computation speed-up</a:t>
            </a:r>
          </a:p>
          <a:p>
            <a:pPr lvl="1"/>
            <a:r>
              <a:rPr lang="en-US"/>
              <a:t>Modularity</a:t>
            </a:r>
          </a:p>
          <a:p>
            <a:pPr lvl="1"/>
            <a:r>
              <a:rPr lang="en-US"/>
              <a:t>Convenience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22338" y="395288"/>
            <a:ext cx="12344400" cy="768350"/>
          </a:xfrm>
        </p:spPr>
        <p:txBody>
          <a:bodyPr/>
          <a:lstStyle/>
          <a:p>
            <a:pPr eaLnBrk="1" hangingPunct="1"/>
            <a:r>
              <a:rPr lang="en-US" sz="3600" dirty="0"/>
              <a:t>Interprocess Communication – </a:t>
            </a:r>
            <a:br>
              <a:rPr lang="en-US" sz="3600" dirty="0"/>
            </a:br>
            <a:r>
              <a:rPr lang="en-US" sz="3600" dirty="0"/>
              <a:t>Message Passing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42713" cy="6040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Mechanism for processes to communicate and to synchronize their actions</a:t>
            </a:r>
          </a:p>
          <a:p>
            <a:pPr>
              <a:lnSpc>
                <a:spcPct val="90000"/>
              </a:lnSpc>
            </a:pPr>
            <a:r>
              <a:rPr lang="en-US"/>
              <a:t>Message system – processes communicate with each other without resorting to shared variables</a:t>
            </a:r>
          </a:p>
          <a:p>
            <a:pPr>
              <a:lnSpc>
                <a:spcPct val="90000"/>
              </a:lnSpc>
            </a:pPr>
            <a:r>
              <a:rPr lang="en-US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b="1"/>
              <a:t>send</a:t>
            </a:r>
            <a:r>
              <a:rPr lang="en-US"/>
              <a:t>(</a:t>
            </a:r>
            <a:r>
              <a:rPr lang="en-US" i="1"/>
              <a:t>message</a:t>
            </a:r>
            <a:r>
              <a:rPr lang="en-US"/>
              <a:t>) – message size fixed or variable </a:t>
            </a:r>
          </a:p>
          <a:p>
            <a:pPr lvl="1">
              <a:lnSpc>
                <a:spcPct val="90000"/>
              </a:lnSpc>
            </a:pPr>
            <a:r>
              <a:rPr lang="en-US" b="1"/>
              <a:t>receive</a:t>
            </a:r>
            <a:r>
              <a:rPr lang="en-US"/>
              <a:t>(</a:t>
            </a:r>
            <a:r>
              <a:rPr lang="en-US" i="1"/>
              <a:t>message</a:t>
            </a:r>
            <a:r>
              <a:rPr lang="en-US"/>
              <a:t>)</a:t>
            </a:r>
          </a:p>
          <a:p>
            <a:pPr>
              <a:lnSpc>
                <a:spcPct val="90000"/>
              </a:lnSpc>
            </a:pPr>
            <a:r>
              <a:rPr lang="en-US"/>
              <a:t>If </a:t>
            </a:r>
            <a:r>
              <a:rPr lang="en-US" i="1"/>
              <a:t>P</a:t>
            </a:r>
            <a:r>
              <a:rPr lang="en-US"/>
              <a:t> and </a:t>
            </a:r>
            <a:r>
              <a:rPr lang="en-US" i="1"/>
              <a:t>Q</a:t>
            </a:r>
            <a:r>
              <a:rPr lang="en-US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/>
              <a:t>establish a </a:t>
            </a:r>
            <a:r>
              <a:rPr lang="en-US" i="1"/>
              <a:t>communication</a:t>
            </a:r>
            <a:r>
              <a:rPr lang="en-US"/>
              <a:t> </a:t>
            </a:r>
            <a:r>
              <a:rPr lang="en-US" i="1"/>
              <a:t>link</a:t>
            </a:r>
            <a:r>
              <a:rPr lang="en-US"/>
              <a:t> between them</a:t>
            </a:r>
          </a:p>
          <a:p>
            <a:pPr lvl="1">
              <a:lnSpc>
                <a:spcPct val="90000"/>
              </a:lnSpc>
            </a:pPr>
            <a:r>
              <a:rPr lang="en-US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/>
              <a:t>Implementation of communication link</a:t>
            </a:r>
          </a:p>
          <a:p>
            <a:pPr lvl="1">
              <a:lnSpc>
                <a:spcPct val="90000"/>
              </a:lnSpc>
            </a:pPr>
            <a:r>
              <a:rPr lang="en-US"/>
              <a:t>physical (e.g., shared memory, hardware bus)</a:t>
            </a:r>
          </a:p>
          <a:p>
            <a:pPr lvl="1">
              <a:lnSpc>
                <a:spcPct val="90000"/>
              </a:lnSpc>
            </a:pPr>
            <a:r>
              <a:rPr lang="en-US"/>
              <a:t>logical (e.g., logical properties)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Direct Communication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53813" cy="6040438"/>
          </a:xfrm>
        </p:spPr>
        <p:txBody>
          <a:bodyPr/>
          <a:lstStyle/>
          <a:p>
            <a:r>
              <a:rPr lang="en-US"/>
              <a:t>Processes must name each other explicitly:</a:t>
            </a:r>
          </a:p>
          <a:p>
            <a:pPr lvl="1"/>
            <a:r>
              <a:rPr lang="en-US" b="1"/>
              <a:t>send</a:t>
            </a:r>
            <a:r>
              <a:rPr lang="en-US"/>
              <a:t> (</a:t>
            </a:r>
            <a:r>
              <a:rPr lang="en-US" i="1"/>
              <a:t>P, message</a:t>
            </a:r>
            <a:r>
              <a:rPr lang="en-US"/>
              <a:t>) – send a message to process P</a:t>
            </a:r>
          </a:p>
          <a:p>
            <a:pPr lvl="1"/>
            <a:r>
              <a:rPr lang="en-US" b="1"/>
              <a:t>receive</a:t>
            </a:r>
            <a:r>
              <a:rPr lang="en-US"/>
              <a:t>(</a:t>
            </a:r>
            <a:r>
              <a:rPr lang="en-US" i="1"/>
              <a:t>Q, message</a:t>
            </a:r>
            <a:r>
              <a:rPr lang="en-US"/>
              <a:t>) – receive a message from process Q</a:t>
            </a:r>
          </a:p>
          <a:p>
            <a:pPr lvl="1"/>
            <a:endParaRPr lang="en-US"/>
          </a:p>
          <a:p>
            <a:r>
              <a:rPr lang="en-US"/>
              <a:t>Properties of communication link</a:t>
            </a:r>
          </a:p>
          <a:p>
            <a:pPr lvl="1"/>
            <a:r>
              <a:rPr lang="en-US"/>
              <a:t>Links are established automatically</a:t>
            </a:r>
          </a:p>
          <a:p>
            <a:pPr lvl="1"/>
            <a:r>
              <a:rPr lang="en-US"/>
              <a:t>A link is associated with exactly one pair of communicating processes</a:t>
            </a:r>
          </a:p>
          <a:p>
            <a:pPr lvl="1"/>
            <a:r>
              <a:rPr lang="en-US"/>
              <a:t>Between each pair there exists exactly one link</a:t>
            </a:r>
          </a:p>
          <a:p>
            <a:pPr lvl="1"/>
            <a:r>
              <a:rPr lang="en-US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Indirect Communication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395075" cy="5545137"/>
          </a:xfrm>
        </p:spPr>
        <p:txBody>
          <a:bodyPr/>
          <a:lstStyle/>
          <a:p>
            <a:r>
              <a:rPr lang="en-US"/>
              <a:t>Messages are directed and received from mailboxes (also referred to as ports)</a:t>
            </a:r>
          </a:p>
          <a:p>
            <a:pPr lvl="1"/>
            <a:r>
              <a:rPr lang="en-US"/>
              <a:t>Each mailbox has a unique id</a:t>
            </a:r>
          </a:p>
          <a:p>
            <a:pPr lvl="1"/>
            <a:r>
              <a:rPr lang="en-US"/>
              <a:t>Processes can communicate only if they share a mailbox</a:t>
            </a:r>
          </a:p>
          <a:p>
            <a:pPr lvl="1"/>
            <a:endParaRPr lang="en-US"/>
          </a:p>
          <a:p>
            <a:r>
              <a:rPr lang="en-US"/>
              <a:t>Properties of communication link</a:t>
            </a:r>
          </a:p>
          <a:p>
            <a:pPr lvl="1"/>
            <a:r>
              <a:rPr lang="en-US"/>
              <a:t>Link established only if processes share a common mailbox</a:t>
            </a:r>
          </a:p>
          <a:p>
            <a:pPr lvl="1"/>
            <a:r>
              <a:rPr lang="en-US"/>
              <a:t>A link may be associated with many processes</a:t>
            </a:r>
          </a:p>
          <a:p>
            <a:pPr lvl="1"/>
            <a:r>
              <a:rPr lang="en-US"/>
              <a:t>Each pair of processes may share several communication links</a:t>
            </a:r>
          </a:p>
          <a:p>
            <a:pPr lvl="1"/>
            <a:r>
              <a:rPr lang="en-US"/>
              <a:t>Link may be unidirectional or bi-directional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Indirect Communication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62113"/>
            <a:ext cx="11371263" cy="5094287"/>
          </a:xfrm>
        </p:spPr>
        <p:txBody>
          <a:bodyPr/>
          <a:lstStyle/>
          <a:p>
            <a:r>
              <a:rPr lang="en-US"/>
              <a:t>Operations</a:t>
            </a:r>
          </a:p>
          <a:p>
            <a:pPr lvl="1"/>
            <a:r>
              <a:rPr lang="en-US"/>
              <a:t>create a new mailbox</a:t>
            </a:r>
          </a:p>
          <a:p>
            <a:pPr lvl="1"/>
            <a:r>
              <a:rPr lang="en-US"/>
              <a:t>send and receive messages through mailbox</a:t>
            </a:r>
          </a:p>
          <a:p>
            <a:pPr lvl="1"/>
            <a:r>
              <a:rPr lang="en-US"/>
              <a:t>destroy a mailbox</a:t>
            </a:r>
          </a:p>
          <a:p>
            <a:pPr lvl="1"/>
            <a:endParaRPr lang="en-US"/>
          </a:p>
          <a:p>
            <a:r>
              <a:rPr lang="en-US"/>
              <a:t>Primitives are defined as:</a:t>
            </a:r>
          </a:p>
          <a:p>
            <a:pPr>
              <a:buFont typeface="Monotype Sorts" charset="2"/>
              <a:buNone/>
            </a:pPr>
            <a:r>
              <a:rPr lang="en-US"/>
              <a:t>	</a:t>
            </a:r>
            <a:r>
              <a:rPr lang="en-US" b="1"/>
              <a:t>send</a:t>
            </a:r>
            <a:r>
              <a:rPr lang="en-US"/>
              <a:t>(</a:t>
            </a:r>
            <a:r>
              <a:rPr lang="en-US" i="1"/>
              <a:t>A, message</a:t>
            </a:r>
            <a:r>
              <a:rPr lang="en-US"/>
              <a:t>) – send a message to mailbox A</a:t>
            </a:r>
          </a:p>
          <a:p>
            <a:pPr>
              <a:buFont typeface="Monotype Sorts" charset="2"/>
              <a:buNone/>
            </a:pPr>
            <a:r>
              <a:rPr lang="en-US"/>
              <a:t>	</a:t>
            </a:r>
            <a:r>
              <a:rPr lang="en-US" b="1"/>
              <a:t>receive</a:t>
            </a:r>
            <a:r>
              <a:rPr lang="en-US"/>
              <a:t>(</a:t>
            </a:r>
            <a:r>
              <a:rPr lang="en-US" i="1"/>
              <a:t>A, message</a:t>
            </a:r>
            <a:r>
              <a:rPr lang="en-US"/>
              <a:t>) – receive a message from mailbox 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14450" y="369888"/>
            <a:ext cx="11715750" cy="768350"/>
          </a:xfrm>
        </p:spPr>
        <p:txBody>
          <a:bodyPr/>
          <a:lstStyle/>
          <a:p>
            <a:pPr eaLnBrk="1" hangingPunct="1"/>
            <a:r>
              <a:rPr lang="en-US"/>
              <a:t>Indirect Communication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42713" cy="6040438"/>
          </a:xfrm>
        </p:spPr>
        <p:txBody>
          <a:bodyPr/>
          <a:lstStyle/>
          <a:p>
            <a:r>
              <a:rPr lang="en-US"/>
              <a:t>Mailbox sharing</a:t>
            </a:r>
          </a:p>
          <a:p>
            <a:pPr lvl="1"/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 i="1"/>
              <a:t>, P</a:t>
            </a:r>
            <a:r>
              <a:rPr lang="en-US" i="1" baseline="-25000"/>
              <a:t>2</a:t>
            </a:r>
            <a:r>
              <a:rPr lang="en-US" i="1"/>
              <a:t>,</a:t>
            </a:r>
            <a:r>
              <a:rPr lang="en-US"/>
              <a:t> and</a:t>
            </a:r>
            <a:r>
              <a:rPr lang="en-US" i="1"/>
              <a:t> P</a:t>
            </a:r>
            <a:r>
              <a:rPr lang="en-US" i="1" baseline="-25000"/>
              <a:t>3</a:t>
            </a:r>
            <a:r>
              <a:rPr lang="en-US"/>
              <a:t> share mailbox A</a:t>
            </a:r>
          </a:p>
          <a:p>
            <a:pPr lvl="1"/>
            <a:r>
              <a:rPr lang="en-US" i="1"/>
              <a:t>P</a:t>
            </a:r>
            <a:r>
              <a:rPr lang="en-US" i="1" baseline="-25000"/>
              <a:t>1</a:t>
            </a:r>
            <a:r>
              <a:rPr lang="en-US"/>
              <a:t>, sends; </a:t>
            </a:r>
            <a:r>
              <a:rPr lang="en-US" i="1"/>
              <a:t>P</a:t>
            </a:r>
            <a:r>
              <a:rPr lang="en-US" i="1" baseline="-25000"/>
              <a:t>2</a:t>
            </a:r>
            <a:r>
              <a:rPr lang="en-US" i="1"/>
              <a:t> </a:t>
            </a:r>
            <a:r>
              <a:rPr lang="en-US"/>
              <a:t>and</a:t>
            </a:r>
            <a:r>
              <a:rPr lang="en-US" i="1"/>
              <a:t> P</a:t>
            </a:r>
            <a:r>
              <a:rPr lang="en-US" i="1" baseline="-25000"/>
              <a:t>3</a:t>
            </a:r>
            <a:r>
              <a:rPr lang="en-US"/>
              <a:t> receive</a:t>
            </a:r>
          </a:p>
          <a:p>
            <a:pPr lvl="1"/>
            <a:r>
              <a:rPr lang="en-US"/>
              <a:t>Who gets the message?</a:t>
            </a:r>
          </a:p>
          <a:p>
            <a:pPr lvl="1"/>
            <a:endParaRPr lang="en-US"/>
          </a:p>
          <a:p>
            <a:r>
              <a:rPr lang="en-US"/>
              <a:t>Solutions</a:t>
            </a:r>
          </a:p>
          <a:p>
            <a:pPr lvl="1"/>
            <a:r>
              <a:rPr lang="en-US"/>
              <a:t>Allow a link to be associated with at most two processes</a:t>
            </a:r>
          </a:p>
          <a:p>
            <a:pPr lvl="1"/>
            <a:r>
              <a:rPr lang="en-US"/>
              <a:t>Allow only one process at a time to execute a receive operation</a:t>
            </a:r>
          </a:p>
          <a:p>
            <a:pPr lvl="1"/>
            <a:r>
              <a:rPr lang="en-US"/>
              <a:t>Allow the system to select arbitrarily the receiver.  Sender is notified who the receiver was.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Synchronization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04575" cy="6040438"/>
          </a:xfrm>
        </p:spPr>
        <p:txBody>
          <a:bodyPr/>
          <a:lstStyle/>
          <a:p>
            <a:pPr marL="542925" indent="-542925"/>
            <a:r>
              <a:rPr lang="en-US"/>
              <a:t>Message passing may be either blocking or non-blocking</a:t>
            </a:r>
          </a:p>
          <a:p>
            <a:pPr marL="542925" indent="-542925"/>
            <a:endParaRPr lang="en-US"/>
          </a:p>
          <a:p>
            <a:pPr marL="542925" indent="-542925"/>
            <a:r>
              <a:rPr lang="en-US" b="1"/>
              <a:t>Blocking</a:t>
            </a:r>
            <a:r>
              <a:rPr lang="en-US"/>
              <a:t> is considered </a:t>
            </a:r>
            <a:r>
              <a:rPr lang="en-US" b="1"/>
              <a:t>synchronous</a:t>
            </a:r>
          </a:p>
          <a:p>
            <a:pPr marL="1141413" lvl="1" indent="-488950"/>
            <a:r>
              <a:rPr lang="en-US" b="1"/>
              <a:t>Blocking send </a:t>
            </a:r>
            <a:r>
              <a:rPr lang="en-US"/>
              <a:t>has the sender block until the message is received</a:t>
            </a:r>
          </a:p>
          <a:p>
            <a:pPr marL="1141413" lvl="1" indent="-488950"/>
            <a:r>
              <a:rPr lang="en-US" b="1"/>
              <a:t>Blocking receive </a:t>
            </a:r>
            <a:r>
              <a:rPr lang="en-US"/>
              <a:t>has the receiver block until a message is available</a:t>
            </a:r>
          </a:p>
          <a:p>
            <a:pPr marL="1141413" lvl="1" indent="-488950"/>
            <a:endParaRPr lang="en-US"/>
          </a:p>
          <a:p>
            <a:pPr marL="542925" indent="-542925"/>
            <a:r>
              <a:rPr lang="en-US" b="1"/>
              <a:t>Non-blocking</a:t>
            </a:r>
            <a:r>
              <a:rPr lang="en-US"/>
              <a:t> is considered </a:t>
            </a:r>
            <a:r>
              <a:rPr lang="en-US" b="1"/>
              <a:t>asynchronous</a:t>
            </a:r>
          </a:p>
          <a:p>
            <a:pPr marL="1141413" lvl="1" indent="-488950"/>
            <a:r>
              <a:rPr lang="en-US" b="1"/>
              <a:t>Non-blocking </a:t>
            </a:r>
            <a:r>
              <a:rPr lang="en-US"/>
              <a:t>send has the sender send the message and continue</a:t>
            </a:r>
          </a:p>
          <a:p>
            <a:pPr marL="1141413" lvl="1" indent="-488950"/>
            <a:r>
              <a:rPr lang="en-US" b="1"/>
              <a:t>Non-blocking </a:t>
            </a:r>
            <a:r>
              <a:rPr lang="en-US"/>
              <a:t>receive has the receiver receive a valid message or null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s-8">
  <a:themeElements>
    <a:clrScheme name="1_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1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4711</TotalTime>
  <Words>1111</Words>
  <Application>Microsoft Office PowerPoint</Application>
  <PresentationFormat>Custom</PresentationFormat>
  <Paragraphs>176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ＭＳ Ｐゴシック</vt:lpstr>
      <vt:lpstr>Arial</vt:lpstr>
      <vt:lpstr>Helvetica</vt:lpstr>
      <vt:lpstr>Monotype Sorts</vt:lpstr>
      <vt:lpstr>Symbol</vt:lpstr>
      <vt:lpstr>Times New Roman</vt:lpstr>
      <vt:lpstr>Verdana</vt:lpstr>
      <vt:lpstr>Webdings</vt:lpstr>
      <vt:lpstr>1_os-8</vt:lpstr>
      <vt:lpstr>Process Management</vt:lpstr>
      <vt:lpstr>Processes</vt:lpstr>
      <vt:lpstr>Objectives</vt:lpstr>
      <vt:lpstr>Process Concept</vt:lpstr>
      <vt:lpstr>The Process</vt:lpstr>
      <vt:lpstr>Process in Memory</vt:lpstr>
      <vt:lpstr>Process State</vt:lpstr>
      <vt:lpstr>Diagram of Process State</vt:lpstr>
      <vt:lpstr>Process Control Block (PCB)</vt:lpstr>
      <vt:lpstr>Process Control Block (PCB)</vt:lpstr>
      <vt:lpstr>CPU Switch From Process to Process</vt:lpstr>
      <vt:lpstr>Process Scheduling</vt:lpstr>
      <vt:lpstr>Ready Queue And Various  I/O Device Queues</vt:lpstr>
      <vt:lpstr>Representation of Process Scheduling</vt:lpstr>
      <vt:lpstr>Schedulers</vt:lpstr>
      <vt:lpstr>Schedulers (Cont.)</vt:lpstr>
      <vt:lpstr>Addition of Medium Term Scheduling</vt:lpstr>
      <vt:lpstr>Context Switch</vt:lpstr>
      <vt:lpstr>Interprocess Communication</vt:lpstr>
      <vt:lpstr>Communications Models </vt:lpstr>
      <vt:lpstr>Cooperating Processes</vt:lpstr>
      <vt:lpstr>Interprocess Communication –  Message Passing</vt:lpstr>
      <vt:lpstr>Direct Communication</vt:lpstr>
      <vt:lpstr>Indirect Communication</vt:lpstr>
      <vt:lpstr>Indirect Communication</vt:lpstr>
      <vt:lpstr>Indirect Communication</vt:lpstr>
      <vt:lpstr>Synchronization</vt:lpstr>
      <vt:lpstr>THANK YOU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savitha shetty</cp:lastModifiedBy>
  <cp:revision>164</cp:revision>
  <cp:lastPrinted>2011-01-14T21:21:29Z</cp:lastPrinted>
  <dcterms:created xsi:type="dcterms:W3CDTF">2011-01-14T20:24:54Z</dcterms:created>
  <dcterms:modified xsi:type="dcterms:W3CDTF">2024-07-12T00:03:13Z</dcterms:modified>
</cp:coreProperties>
</file>