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30"/>
  </p:notesMasterIdLst>
  <p:sldIdLst>
    <p:sldId id="256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98" r:id="rId23"/>
    <p:sldId id="300" r:id="rId24"/>
    <p:sldId id="329" r:id="rId25"/>
    <p:sldId id="351" r:id="rId26"/>
    <p:sldId id="368" r:id="rId27"/>
    <p:sldId id="369" r:id="rId28"/>
    <p:sldId id="370" r:id="rId29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IN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</a:p>
        </p:txBody>
      </p:sp>
      <p:sp>
        <p:nvSpPr>
          <p:cNvPr id="143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IN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&lt;header&gt;</a:t>
            </a:r>
          </a:p>
        </p:txBody>
      </p:sp>
      <p:sp>
        <p:nvSpPr>
          <p:cNvPr id="144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IN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145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IN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146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93F65CB4-3E07-46ED-9DB8-E37E562C7962}" type="slidenum">
              <a:rPr lang="en-IN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Shape 1"/>
          <p:cNvSpPr txBox="1"/>
          <p:nvPr/>
        </p:nvSpPr>
        <p:spPr>
          <a:xfrm>
            <a:off x="3900600" y="8832960"/>
            <a:ext cx="2980800" cy="463320"/>
          </a:xfrm>
          <a:prstGeom prst="rect">
            <a:avLst/>
          </a:prstGeom>
          <a:noFill/>
          <a:ln w="9360"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DEB87E22-8459-4CEC-8607-4784F296DC3E}" type="slidenum"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</a:t>
            </a:fld>
            <a:endParaRPr lang="en-IN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917640" y="4416480"/>
            <a:ext cx="5046480" cy="4181040"/>
          </a:xfrm>
          <a:prstGeom prst="rect">
            <a:avLst/>
          </a:prstGeom>
        </p:spPr>
        <p:txBody>
          <a:bodyPr lIns="92520" tIns="46080" rIns="92520" bIns="46080" anchor="ctr"/>
          <a:lstStyle/>
          <a:p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Shape 1"/>
          <p:cNvSpPr txBox="1"/>
          <p:nvPr/>
        </p:nvSpPr>
        <p:spPr>
          <a:xfrm>
            <a:off x="3900600" y="8832960"/>
            <a:ext cx="2980800" cy="463320"/>
          </a:xfrm>
          <a:prstGeom prst="rect">
            <a:avLst/>
          </a:prstGeom>
          <a:noFill/>
          <a:ln w="9360"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233DF0A6-AB60-4C78-AA84-60766909E501}" type="slidenum"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2</a:t>
            </a:fld>
            <a:endParaRPr lang="en-IN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917640" y="4416480"/>
            <a:ext cx="5046480" cy="4181040"/>
          </a:xfrm>
          <a:prstGeom prst="rect">
            <a:avLst/>
          </a:prstGeom>
        </p:spPr>
        <p:txBody>
          <a:bodyPr lIns="92520" tIns="46080" rIns="92520" bIns="46080" anchor="ctr"/>
          <a:lstStyle/>
          <a:p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Shape 1"/>
          <p:cNvSpPr txBox="1"/>
          <p:nvPr/>
        </p:nvSpPr>
        <p:spPr>
          <a:xfrm>
            <a:off x="3900600" y="8832960"/>
            <a:ext cx="2980800" cy="463320"/>
          </a:xfrm>
          <a:prstGeom prst="rect">
            <a:avLst/>
          </a:prstGeom>
          <a:noFill/>
          <a:ln w="9360"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F424A568-7CAE-4A2F-BFF3-3107C49057B2}" type="slidenum"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3</a:t>
            </a:fld>
            <a:endParaRPr lang="en-IN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917640" y="4416480"/>
            <a:ext cx="5046480" cy="4181040"/>
          </a:xfrm>
          <a:prstGeom prst="rect">
            <a:avLst/>
          </a:prstGeom>
        </p:spPr>
        <p:txBody>
          <a:bodyPr lIns="92520" tIns="46080" rIns="92520" bIns="46080" anchor="ctr"/>
          <a:lstStyle/>
          <a:p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Shape 1"/>
          <p:cNvSpPr txBox="1"/>
          <p:nvPr/>
        </p:nvSpPr>
        <p:spPr>
          <a:xfrm>
            <a:off x="3900600" y="8832960"/>
            <a:ext cx="2980800" cy="463320"/>
          </a:xfrm>
          <a:prstGeom prst="rect">
            <a:avLst/>
          </a:prstGeom>
          <a:noFill/>
          <a:ln w="9360"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4163394E-8001-41C7-94E1-F0E4C9367D80}" type="slidenum"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4</a:t>
            </a:fld>
            <a:endParaRPr lang="en-IN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917640" y="4416480"/>
            <a:ext cx="5046480" cy="4181040"/>
          </a:xfrm>
          <a:prstGeom prst="rect">
            <a:avLst/>
          </a:prstGeom>
        </p:spPr>
        <p:txBody>
          <a:bodyPr lIns="92520" tIns="46080" rIns="92520" bIns="46080" anchor="ctr"/>
          <a:lstStyle/>
          <a:p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Shape 1"/>
          <p:cNvSpPr txBox="1"/>
          <p:nvPr/>
        </p:nvSpPr>
        <p:spPr>
          <a:xfrm>
            <a:off x="3900600" y="8832960"/>
            <a:ext cx="2980800" cy="463320"/>
          </a:xfrm>
          <a:prstGeom prst="rect">
            <a:avLst/>
          </a:prstGeom>
          <a:noFill/>
          <a:ln w="9360"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E490CC68-799F-4E2D-96B9-3A6756C56DEA}" type="slidenum"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5</a:t>
            </a:fld>
            <a:endParaRPr lang="en-IN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917640" y="4416480"/>
            <a:ext cx="5046480" cy="4181040"/>
          </a:xfrm>
          <a:prstGeom prst="rect">
            <a:avLst/>
          </a:prstGeom>
        </p:spPr>
        <p:txBody>
          <a:bodyPr lIns="92520" tIns="46080" rIns="92520" bIns="46080" anchor="ctr"/>
          <a:lstStyle/>
          <a:p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Shape 1"/>
          <p:cNvSpPr txBox="1"/>
          <p:nvPr/>
        </p:nvSpPr>
        <p:spPr>
          <a:xfrm>
            <a:off x="3900600" y="8832960"/>
            <a:ext cx="2980800" cy="463320"/>
          </a:xfrm>
          <a:prstGeom prst="rect">
            <a:avLst/>
          </a:prstGeom>
          <a:noFill/>
          <a:ln w="9360"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6F3CEA85-A2FD-4411-A81C-68438C7DD598}" type="slidenum"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7</a:t>
            </a:fld>
            <a:endParaRPr lang="en-IN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917640" y="4416480"/>
            <a:ext cx="5046480" cy="4181040"/>
          </a:xfrm>
          <a:prstGeom prst="rect">
            <a:avLst/>
          </a:prstGeom>
        </p:spPr>
        <p:txBody>
          <a:bodyPr lIns="92520" tIns="46080" rIns="92520" bIns="46080" anchor="ctr"/>
          <a:lstStyle/>
          <a:p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Shape 1"/>
          <p:cNvSpPr txBox="1"/>
          <p:nvPr/>
        </p:nvSpPr>
        <p:spPr>
          <a:xfrm>
            <a:off x="3900600" y="8832960"/>
            <a:ext cx="2980800" cy="463320"/>
          </a:xfrm>
          <a:prstGeom prst="rect">
            <a:avLst/>
          </a:prstGeom>
          <a:noFill/>
          <a:ln w="9360"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0FFF6787-94C4-47EB-99BF-A289A2FCC65B}" type="slidenum"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8</a:t>
            </a:fld>
            <a:endParaRPr lang="en-IN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917640" y="4416480"/>
            <a:ext cx="5046480" cy="4181040"/>
          </a:xfrm>
          <a:prstGeom prst="rect">
            <a:avLst/>
          </a:prstGeom>
        </p:spPr>
        <p:txBody>
          <a:bodyPr lIns="92520" tIns="46080" rIns="92520" bIns="46080" anchor="ctr"/>
          <a:lstStyle/>
          <a:p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Shape 1"/>
          <p:cNvSpPr txBox="1"/>
          <p:nvPr/>
        </p:nvSpPr>
        <p:spPr>
          <a:xfrm>
            <a:off x="3900600" y="8832960"/>
            <a:ext cx="2980800" cy="463320"/>
          </a:xfrm>
          <a:prstGeom prst="rect">
            <a:avLst/>
          </a:prstGeom>
          <a:noFill/>
          <a:ln w="9360"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D1532980-34D5-446C-A45B-EA59B9073FC5}" type="slidenum"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10</a:t>
            </a:fld>
            <a:endParaRPr lang="en-IN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917640" y="4416480"/>
            <a:ext cx="5046480" cy="4181040"/>
          </a:xfrm>
          <a:prstGeom prst="rect">
            <a:avLst/>
          </a:prstGeom>
        </p:spPr>
        <p:txBody>
          <a:bodyPr lIns="92520" tIns="46080" rIns="92520" bIns="46080" anchor="ctr"/>
          <a:lstStyle/>
          <a:p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Shape 1"/>
          <p:cNvSpPr txBox="1"/>
          <p:nvPr/>
        </p:nvSpPr>
        <p:spPr>
          <a:xfrm>
            <a:off x="3900600" y="8832960"/>
            <a:ext cx="2980800" cy="463320"/>
          </a:xfrm>
          <a:prstGeom prst="rect">
            <a:avLst/>
          </a:prstGeom>
          <a:noFill/>
          <a:ln w="9360"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0E1334D3-A21F-4E73-8730-F0EBB41FA14D}" type="slidenum"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11</a:t>
            </a:fld>
            <a:endParaRPr lang="en-IN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917640" y="4416480"/>
            <a:ext cx="5046480" cy="4181040"/>
          </a:xfrm>
          <a:prstGeom prst="rect">
            <a:avLst/>
          </a:prstGeom>
        </p:spPr>
        <p:txBody>
          <a:bodyPr lIns="92520" tIns="46080" rIns="92520" bIns="46080" anchor="ctr"/>
          <a:lstStyle/>
          <a:p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Shape 1"/>
          <p:cNvSpPr txBox="1"/>
          <p:nvPr/>
        </p:nvSpPr>
        <p:spPr>
          <a:xfrm>
            <a:off x="3900600" y="8832960"/>
            <a:ext cx="2980800" cy="463320"/>
          </a:xfrm>
          <a:prstGeom prst="rect">
            <a:avLst/>
          </a:prstGeom>
          <a:noFill/>
          <a:ln w="9360"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C62FB6EE-0E97-481B-9AF4-6D0C75855153}" type="slidenum"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12</a:t>
            </a:fld>
            <a:endParaRPr lang="en-IN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917640" y="4416480"/>
            <a:ext cx="5046480" cy="4181040"/>
          </a:xfrm>
          <a:prstGeom prst="rect">
            <a:avLst/>
          </a:prstGeom>
        </p:spPr>
        <p:txBody>
          <a:bodyPr lIns="92520" tIns="46080" rIns="92520" bIns="46080" anchor="ctr"/>
          <a:lstStyle/>
          <a:p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Shape 1"/>
          <p:cNvSpPr txBox="1"/>
          <p:nvPr/>
        </p:nvSpPr>
        <p:spPr>
          <a:xfrm>
            <a:off x="3900600" y="8832960"/>
            <a:ext cx="2980800" cy="463320"/>
          </a:xfrm>
          <a:prstGeom prst="rect">
            <a:avLst/>
          </a:prstGeom>
          <a:noFill/>
          <a:ln w="9360"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D4BDAD80-AA2A-4B61-B321-89DD6712C0AB}" type="slidenum"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13</a:t>
            </a:fld>
            <a:endParaRPr lang="en-IN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917640" y="4416480"/>
            <a:ext cx="5046480" cy="4181040"/>
          </a:xfrm>
          <a:prstGeom prst="rect">
            <a:avLst/>
          </a:prstGeom>
        </p:spPr>
        <p:txBody>
          <a:bodyPr lIns="92520" tIns="46080" rIns="92520" bIns="46080" anchor="ctr"/>
          <a:lstStyle/>
          <a:p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Shape 1"/>
          <p:cNvSpPr txBox="1"/>
          <p:nvPr/>
        </p:nvSpPr>
        <p:spPr>
          <a:xfrm>
            <a:off x="3900600" y="8832960"/>
            <a:ext cx="2980800" cy="463320"/>
          </a:xfrm>
          <a:prstGeom prst="rect">
            <a:avLst/>
          </a:prstGeom>
          <a:noFill/>
          <a:ln w="9360"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4AEFB76D-A9DD-4341-A5C9-F49CA9496925}" type="slidenum"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14</a:t>
            </a:fld>
            <a:endParaRPr lang="en-IN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917640" y="4416480"/>
            <a:ext cx="5046480" cy="4181040"/>
          </a:xfrm>
          <a:prstGeom prst="rect">
            <a:avLst/>
          </a:prstGeom>
        </p:spPr>
        <p:txBody>
          <a:bodyPr lIns="92520" tIns="46080" rIns="92520" bIns="46080" anchor="ctr"/>
          <a:lstStyle/>
          <a:p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Shape 1"/>
          <p:cNvSpPr txBox="1"/>
          <p:nvPr/>
        </p:nvSpPr>
        <p:spPr>
          <a:xfrm>
            <a:off x="3900600" y="8832960"/>
            <a:ext cx="2980800" cy="463320"/>
          </a:xfrm>
          <a:prstGeom prst="rect">
            <a:avLst/>
          </a:prstGeom>
          <a:noFill/>
          <a:ln w="9360"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91C4799E-69FD-4EC1-80A8-2CD785D1A00A}" type="slidenum"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15</a:t>
            </a:fld>
            <a:endParaRPr lang="en-IN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917640" y="4416480"/>
            <a:ext cx="5046480" cy="4181040"/>
          </a:xfrm>
          <a:prstGeom prst="rect">
            <a:avLst/>
          </a:prstGeom>
        </p:spPr>
        <p:txBody>
          <a:bodyPr lIns="92520" tIns="46080" rIns="92520" bIns="46080" anchor="ctr"/>
          <a:lstStyle/>
          <a:p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Shape 1"/>
          <p:cNvSpPr txBox="1"/>
          <p:nvPr/>
        </p:nvSpPr>
        <p:spPr>
          <a:xfrm>
            <a:off x="3900600" y="8832960"/>
            <a:ext cx="2980800" cy="463320"/>
          </a:xfrm>
          <a:prstGeom prst="rect">
            <a:avLst/>
          </a:prstGeom>
          <a:noFill/>
          <a:ln w="9360"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2100B395-4464-4636-97B2-13DE6F4D24A7}" type="slidenum"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16</a:t>
            </a:fld>
            <a:endParaRPr lang="en-IN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917640" y="4416480"/>
            <a:ext cx="5046480" cy="4181040"/>
          </a:xfrm>
          <a:prstGeom prst="rect">
            <a:avLst/>
          </a:prstGeom>
        </p:spPr>
        <p:txBody>
          <a:bodyPr lIns="92520" tIns="46080" rIns="92520" bIns="46080" anchor="ctr"/>
          <a:lstStyle/>
          <a:p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Shape 1"/>
          <p:cNvSpPr txBox="1"/>
          <p:nvPr/>
        </p:nvSpPr>
        <p:spPr>
          <a:xfrm>
            <a:off x="3900600" y="8832960"/>
            <a:ext cx="2980800" cy="463320"/>
          </a:xfrm>
          <a:prstGeom prst="rect">
            <a:avLst/>
          </a:prstGeom>
          <a:noFill/>
          <a:ln w="9360"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EBAFBB1A-7D6F-4DDF-A4DA-DBA1FD993B9A}" type="slidenum"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17</a:t>
            </a:fld>
            <a:endParaRPr lang="en-IN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917640" y="4416480"/>
            <a:ext cx="5046480" cy="4181040"/>
          </a:xfrm>
          <a:prstGeom prst="rect">
            <a:avLst/>
          </a:prstGeom>
        </p:spPr>
        <p:txBody>
          <a:bodyPr lIns="92520" tIns="46080" rIns="92520" bIns="46080" anchor="ctr"/>
          <a:lstStyle/>
          <a:p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Shape 1"/>
          <p:cNvSpPr txBox="1"/>
          <p:nvPr/>
        </p:nvSpPr>
        <p:spPr>
          <a:xfrm>
            <a:off x="3900600" y="8832960"/>
            <a:ext cx="2980800" cy="463320"/>
          </a:xfrm>
          <a:prstGeom prst="rect">
            <a:avLst/>
          </a:prstGeom>
          <a:noFill/>
          <a:ln w="9360"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3020325C-694D-4C31-A700-021CCF24F544}" type="slidenum"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18</a:t>
            </a:fld>
            <a:endParaRPr lang="en-IN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917640" y="4416480"/>
            <a:ext cx="5046480" cy="4181040"/>
          </a:xfrm>
          <a:prstGeom prst="rect">
            <a:avLst/>
          </a:prstGeom>
        </p:spPr>
        <p:txBody>
          <a:bodyPr lIns="92520" tIns="46080" rIns="92520" bIns="46080" anchor="ctr"/>
          <a:lstStyle/>
          <a:p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Shape 1"/>
          <p:cNvSpPr txBox="1"/>
          <p:nvPr/>
        </p:nvSpPr>
        <p:spPr>
          <a:xfrm>
            <a:off x="3900600" y="8832960"/>
            <a:ext cx="2980800" cy="463320"/>
          </a:xfrm>
          <a:prstGeom prst="rect">
            <a:avLst/>
          </a:prstGeom>
          <a:noFill/>
          <a:ln w="9360">
            <a:noFill/>
          </a:ln>
        </p:spPr>
        <p:txBody>
          <a:bodyPr lIns="92520" tIns="46080" rIns="92520" bIns="46080" anchor="b"/>
          <a:lstStyle/>
          <a:p>
            <a:pPr algn="r">
              <a:lnSpc>
                <a:spcPct val="100000"/>
              </a:lnSpc>
            </a:pPr>
            <a:fld id="{AF9F2102-7AFB-4FDC-B0E0-1A9C92008C55}" type="slidenum">
              <a:rPr lang="en-IN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19</a:t>
            </a:fld>
            <a:endParaRPr lang="en-IN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917640" y="4416480"/>
            <a:ext cx="5046480" cy="4181040"/>
          </a:xfrm>
          <a:prstGeom prst="rect">
            <a:avLst/>
          </a:prstGeom>
        </p:spPr>
        <p:txBody>
          <a:bodyPr lIns="92520" tIns="46080" rIns="92520" bIns="46080" anchor="ctr"/>
          <a:lstStyle/>
          <a:p>
            <a:endParaRPr lang="en-IN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7894F0F2-FD38-4F50-86A3-9FE80E8C35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2D33BCA-48B6-413D-B8C9-5493EE24D4C3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9A027089-8C5B-48CD-83C9-82E7AC69E1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791160DD-71A0-4AAF-853F-F6A1ACFA1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7894F0F2-FD38-4F50-86A3-9FE80E8C35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2D33BCA-48B6-413D-B8C9-5493EE24D4C3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9A027089-8C5B-48CD-83C9-82E7AC69E1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791160DD-71A0-4AAF-853F-F6A1ACFA1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9704E6CA-49C0-4A2A-AEC1-BB04B55A48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7158379-05CF-4CC2-AD21-075AE5A4BA6F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64E6DB56-0C3E-477D-B270-81C5BEB648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4A9C3227-4B51-4748-9D4A-8F77C8BB8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67783A79-83B8-4D49-BBC2-5D548B427C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8928C3-9072-42C2-A825-768E263084C4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0DB4D94A-E0FC-49E4-83E5-A10A268ED5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95357CA5-7158-4580-8BAB-76FAF59084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ubTitle"/>
          </p:nvPr>
        </p:nvSpPr>
        <p:spPr>
          <a:xfrm>
            <a:off x="457200" y="277920"/>
            <a:ext cx="8229240" cy="2671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0" name="Picture 49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51" name="Picture 50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457200" y="277920"/>
            <a:ext cx="8229240" cy="2671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5" name="Picture 94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96" name="Picture 95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33419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ubTitle"/>
          </p:nvPr>
        </p:nvSpPr>
        <p:spPr>
          <a:xfrm>
            <a:off x="457200" y="277920"/>
            <a:ext cx="8229240" cy="26712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IN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40" name="Picture 139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141" name="Picture 140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/>
          <p:nvPr/>
        </p:nvPicPr>
        <p:blipFill>
          <a:blip r:embed="rId14"/>
          <a:stretch/>
        </p:blipFill>
        <p:spPr>
          <a:xfrm>
            <a:off x="285840" y="0"/>
            <a:ext cx="1195200" cy="907560"/>
          </a:xfrm>
          <a:prstGeom prst="rect">
            <a:avLst/>
          </a:prstGeom>
          <a:ln w="9360">
            <a:noFill/>
          </a:ln>
        </p:spPr>
      </p:pic>
      <p:sp>
        <p:nvSpPr>
          <p:cNvPr id="19" name="CustomShape 1" hidden="1"/>
          <p:cNvSpPr/>
          <p:nvPr/>
        </p:nvSpPr>
        <p:spPr>
          <a:xfrm>
            <a:off x="0" y="0"/>
            <a:ext cx="228240" cy="2285640"/>
          </a:xfrm>
          <a:prstGeom prst="rect">
            <a:avLst/>
          </a:prstGeom>
          <a:solidFill>
            <a:srgbClr val="336699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Line 2"/>
          <p:cNvSpPr/>
          <p:nvPr/>
        </p:nvSpPr>
        <p:spPr>
          <a:xfrm>
            <a:off x="457200" y="860400"/>
            <a:ext cx="8076960" cy="360"/>
          </a:xfrm>
          <a:prstGeom prst="line">
            <a:avLst/>
          </a:prstGeom>
          <a:ln w="19080">
            <a:solidFill>
              <a:srgbClr val="3366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3" hidden="1"/>
          <p:cNvSpPr/>
          <p:nvPr/>
        </p:nvSpPr>
        <p:spPr>
          <a:xfrm>
            <a:off x="0" y="2286000"/>
            <a:ext cx="228240" cy="2285640"/>
          </a:xfrm>
          <a:prstGeom prst="rect">
            <a:avLst/>
          </a:prstGeom>
          <a:solidFill>
            <a:srgbClr val="99CCFF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>
            <a:off x="0" y="4572000"/>
            <a:ext cx="228240" cy="2285640"/>
          </a:xfrm>
          <a:prstGeom prst="rect">
            <a:avLst/>
          </a:prstGeom>
          <a:solidFill>
            <a:srgbClr val="336699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4032000" y="6613560"/>
            <a:ext cx="896040" cy="2541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10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2.</a:t>
            </a:r>
            <a:fld id="{E36BD428-D9AD-4C0C-AF7F-EDA79B73125A}" type="slidenum">
              <a:rPr lang="en-IN" sz="10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‹#›</a:t>
            </a:fld>
            <a:endParaRPr lang="en-IN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CustomShape 6" hidden="1"/>
          <p:cNvSpPr/>
          <p:nvPr/>
        </p:nvSpPr>
        <p:spPr>
          <a:xfrm>
            <a:off x="6489720" y="6588000"/>
            <a:ext cx="2712600" cy="2426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10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Silberschatz, Galvin and Gagne ©2009</a:t>
            </a:r>
            <a:endParaRPr lang="en-IN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CustomShape 7" hidden="1"/>
          <p:cNvSpPr/>
          <p:nvPr/>
        </p:nvSpPr>
        <p:spPr>
          <a:xfrm>
            <a:off x="194040" y="6621480"/>
            <a:ext cx="2621160" cy="2426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10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Operating System Concepts – 8</a:t>
            </a:r>
            <a:r>
              <a:rPr lang="en-IN" sz="1000" b="1" strike="noStrike" spc="-1" baseline="30000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th</a:t>
            </a:r>
            <a:r>
              <a:rPr lang="en-IN" sz="10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 Edition</a:t>
            </a:r>
            <a:endParaRPr lang="en-IN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8" name="Picture 12"/>
          <p:cNvPicPr/>
          <p:nvPr/>
        </p:nvPicPr>
        <p:blipFill>
          <a:blip r:embed="rId15"/>
          <a:stretch/>
        </p:blipFill>
        <p:spPr>
          <a:xfrm>
            <a:off x="7773840" y="5850000"/>
            <a:ext cx="1283760" cy="791640"/>
          </a:xfrm>
          <a:prstGeom prst="rect">
            <a:avLst/>
          </a:prstGeom>
          <a:ln w="9360">
            <a:noFill/>
          </a:ln>
        </p:spPr>
      </p:pic>
      <p:sp>
        <p:nvSpPr>
          <p:cNvPr id="9" name="CustomShape 8"/>
          <p:cNvSpPr/>
          <p:nvPr/>
        </p:nvSpPr>
        <p:spPr>
          <a:xfrm>
            <a:off x="198360" y="2960640"/>
            <a:ext cx="2869920" cy="201240"/>
          </a:xfrm>
          <a:prstGeom prst="rect">
            <a:avLst/>
          </a:prstGeom>
          <a:solidFill>
            <a:srgbClr val="336699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3068640" y="2960640"/>
            <a:ext cx="2869920" cy="201240"/>
          </a:xfrm>
          <a:prstGeom prst="rect">
            <a:avLst/>
          </a:prstGeom>
          <a:solidFill>
            <a:srgbClr val="99CCFF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5938920" y="2960640"/>
            <a:ext cx="2869920" cy="201240"/>
          </a:xfrm>
          <a:prstGeom prst="rect">
            <a:avLst/>
          </a:prstGeom>
          <a:solidFill>
            <a:srgbClr val="336699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6489720" y="6588000"/>
            <a:ext cx="2712600" cy="2426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1000" b="1" strike="noStrike" spc="-1">
                <a:solidFill>
                  <a:srgbClr val="33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Silberschatz, Galvin and Gagne ©2009</a:t>
            </a:r>
            <a:endParaRPr lang="en-IN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CustomShape 12"/>
          <p:cNvSpPr/>
          <p:nvPr/>
        </p:nvSpPr>
        <p:spPr>
          <a:xfrm>
            <a:off x="35280" y="6613560"/>
            <a:ext cx="2621160" cy="2426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1000" b="1" strike="noStrike" spc="-1">
                <a:solidFill>
                  <a:srgbClr val="33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Operating System Concepts – 8</a:t>
            </a:r>
            <a:r>
              <a:rPr lang="en-IN" sz="1000" b="1" strike="noStrike" spc="-1" baseline="30000">
                <a:solidFill>
                  <a:srgbClr val="33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th</a:t>
            </a:r>
            <a:r>
              <a:rPr lang="en-IN" sz="1000" b="1" strike="noStrike" spc="-1">
                <a:solidFill>
                  <a:srgbClr val="33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 Edition</a:t>
            </a:r>
            <a:endParaRPr lang="en-IN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4" name="Picture 9"/>
          <p:cNvPicPr/>
          <p:nvPr/>
        </p:nvPicPr>
        <p:blipFill>
          <a:blip r:embed="rId16"/>
          <a:stretch/>
        </p:blipFill>
        <p:spPr>
          <a:xfrm>
            <a:off x="3360600" y="4157640"/>
            <a:ext cx="2061720" cy="1593360"/>
          </a:xfrm>
          <a:prstGeom prst="rect">
            <a:avLst/>
          </a:prstGeom>
          <a:ln w="76320">
            <a:solidFill>
              <a:srgbClr val="336699"/>
            </a:solidFill>
            <a:miter/>
          </a:ln>
        </p:spPr>
      </p:pic>
      <p:sp>
        <p:nvSpPr>
          <p:cNvPr id="15" name="CustomShape 13"/>
          <p:cNvSpPr/>
          <p:nvPr/>
        </p:nvSpPr>
        <p:spPr>
          <a:xfrm>
            <a:off x="3224160" y="4006800"/>
            <a:ext cx="2336400" cy="1887120"/>
          </a:xfrm>
          <a:prstGeom prst="rect">
            <a:avLst/>
          </a:prstGeom>
          <a:noFill/>
          <a:ln w="57240">
            <a:solidFill>
              <a:srgbClr val="66CC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PlaceHolder 14"/>
          <p:cNvSpPr>
            <a:spLocks noGrp="1"/>
          </p:cNvSpPr>
          <p:nvPr>
            <p:ph type="title"/>
          </p:nvPr>
        </p:nvSpPr>
        <p:spPr>
          <a:xfrm>
            <a:off x="685800" y="685800"/>
            <a:ext cx="7772040" cy="2126880"/>
          </a:xfrm>
          <a:prstGeom prst="rect">
            <a:avLst/>
          </a:prstGeom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43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Click to edit Master title style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7" name="PlaceHolder 1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2"/>
          <p:cNvPicPr/>
          <p:nvPr/>
        </p:nvPicPr>
        <p:blipFill>
          <a:blip r:embed="rId15"/>
          <a:stretch/>
        </p:blipFill>
        <p:spPr>
          <a:xfrm>
            <a:off x="285840" y="0"/>
            <a:ext cx="1195200" cy="907560"/>
          </a:xfrm>
          <a:prstGeom prst="rect">
            <a:avLst/>
          </a:prstGeom>
          <a:ln w="9360">
            <a:noFill/>
          </a:ln>
        </p:spPr>
      </p:pic>
      <p:sp>
        <p:nvSpPr>
          <p:cNvPr id="53" name="CustomShape 1"/>
          <p:cNvSpPr/>
          <p:nvPr/>
        </p:nvSpPr>
        <p:spPr>
          <a:xfrm>
            <a:off x="0" y="0"/>
            <a:ext cx="228240" cy="2285640"/>
          </a:xfrm>
          <a:prstGeom prst="rect">
            <a:avLst/>
          </a:prstGeom>
          <a:solidFill>
            <a:srgbClr val="336699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" name="Line 2"/>
          <p:cNvSpPr/>
          <p:nvPr/>
        </p:nvSpPr>
        <p:spPr>
          <a:xfrm>
            <a:off x="457200" y="860400"/>
            <a:ext cx="8076960" cy="360"/>
          </a:xfrm>
          <a:prstGeom prst="line">
            <a:avLst/>
          </a:prstGeom>
          <a:ln w="19080">
            <a:solidFill>
              <a:srgbClr val="3366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" name="CustomShape 3"/>
          <p:cNvSpPr/>
          <p:nvPr/>
        </p:nvSpPr>
        <p:spPr>
          <a:xfrm>
            <a:off x="0" y="2286000"/>
            <a:ext cx="228240" cy="2285640"/>
          </a:xfrm>
          <a:prstGeom prst="rect">
            <a:avLst/>
          </a:prstGeom>
          <a:solidFill>
            <a:srgbClr val="99CCFF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" name="CustomShape 4"/>
          <p:cNvSpPr/>
          <p:nvPr/>
        </p:nvSpPr>
        <p:spPr>
          <a:xfrm>
            <a:off x="0" y="4572000"/>
            <a:ext cx="228240" cy="2285640"/>
          </a:xfrm>
          <a:prstGeom prst="rect">
            <a:avLst/>
          </a:prstGeom>
          <a:solidFill>
            <a:srgbClr val="336699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" name="CustomShape 5"/>
          <p:cNvSpPr/>
          <p:nvPr/>
        </p:nvSpPr>
        <p:spPr>
          <a:xfrm>
            <a:off x="4032000" y="6613560"/>
            <a:ext cx="896040" cy="2541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10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2.</a:t>
            </a:r>
            <a:fld id="{C793E4E1-F315-4BEC-9C88-BEB2936A1BCE}" type="slidenum">
              <a:rPr lang="en-IN" sz="10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‹#›</a:t>
            </a:fld>
            <a:endParaRPr lang="en-IN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CustomShape 6"/>
          <p:cNvSpPr/>
          <p:nvPr/>
        </p:nvSpPr>
        <p:spPr>
          <a:xfrm>
            <a:off x="6489720" y="6588000"/>
            <a:ext cx="2712600" cy="2426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10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Silberschatz, Galvin and Gagne ©2009</a:t>
            </a:r>
            <a:endParaRPr lang="en-IN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9" name="CustomShape 7"/>
          <p:cNvSpPr/>
          <p:nvPr/>
        </p:nvSpPr>
        <p:spPr>
          <a:xfrm>
            <a:off x="194040" y="6621480"/>
            <a:ext cx="2621160" cy="2426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10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Operating System Concepts – 8</a:t>
            </a:r>
            <a:r>
              <a:rPr lang="en-IN" sz="1000" b="1" strike="noStrike" spc="-1" baseline="30000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th</a:t>
            </a:r>
            <a:r>
              <a:rPr lang="en-IN" sz="10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 Edition</a:t>
            </a:r>
            <a:endParaRPr lang="en-IN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0" name="Picture 12"/>
          <p:cNvPicPr/>
          <p:nvPr/>
        </p:nvPicPr>
        <p:blipFill>
          <a:blip r:embed="rId16"/>
          <a:stretch/>
        </p:blipFill>
        <p:spPr>
          <a:xfrm>
            <a:off x="7773840" y="5850000"/>
            <a:ext cx="1283760" cy="791640"/>
          </a:xfrm>
          <a:prstGeom prst="rect">
            <a:avLst/>
          </a:prstGeom>
          <a:ln w="9360">
            <a:noFill/>
          </a:ln>
        </p:spPr>
      </p:pic>
      <p:sp>
        <p:nvSpPr>
          <p:cNvPr id="61" name="PlaceHolder 8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Click to edit Master title style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62" name="PlaceHolder 9"/>
          <p:cNvSpPr>
            <a:spLocks noGrp="1"/>
          </p:cNvSpPr>
          <p:nvPr>
            <p:ph type="body"/>
          </p:nvPr>
        </p:nvSpPr>
        <p:spPr>
          <a:xfrm>
            <a:off x="806400" y="1233360"/>
            <a:ext cx="8229240" cy="4530240"/>
          </a:xfrm>
          <a:prstGeom prst="rect">
            <a:avLst/>
          </a:prstGeom>
        </p:spPr>
        <p:txBody>
          <a:bodyPr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Fifth Outline Level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Sixth Outline Level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Seventh Outline LevelClick to edit Master text styles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56000" lvl="7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Second level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888000" lvl="8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0" lvl="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Fourth level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0" lvl="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8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2"/>
          <p:cNvPicPr/>
          <p:nvPr/>
        </p:nvPicPr>
        <p:blipFill>
          <a:blip r:embed="rId14"/>
          <a:stretch/>
        </p:blipFill>
        <p:spPr>
          <a:xfrm>
            <a:off x="285840" y="0"/>
            <a:ext cx="1195200" cy="907560"/>
          </a:xfrm>
          <a:prstGeom prst="rect">
            <a:avLst/>
          </a:prstGeom>
          <a:ln w="9360">
            <a:noFill/>
          </a:ln>
        </p:spPr>
      </p:pic>
      <p:sp>
        <p:nvSpPr>
          <p:cNvPr id="98" name="CustomShape 1"/>
          <p:cNvSpPr/>
          <p:nvPr/>
        </p:nvSpPr>
        <p:spPr>
          <a:xfrm>
            <a:off x="0" y="0"/>
            <a:ext cx="228240" cy="2285640"/>
          </a:xfrm>
          <a:prstGeom prst="rect">
            <a:avLst/>
          </a:prstGeom>
          <a:solidFill>
            <a:srgbClr val="336699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9" name="Line 2"/>
          <p:cNvSpPr/>
          <p:nvPr/>
        </p:nvSpPr>
        <p:spPr>
          <a:xfrm>
            <a:off x="457200" y="860400"/>
            <a:ext cx="8076960" cy="360"/>
          </a:xfrm>
          <a:prstGeom prst="line">
            <a:avLst/>
          </a:prstGeom>
          <a:ln w="19080">
            <a:solidFill>
              <a:srgbClr val="3366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0" name="CustomShape 3"/>
          <p:cNvSpPr/>
          <p:nvPr/>
        </p:nvSpPr>
        <p:spPr>
          <a:xfrm>
            <a:off x="0" y="2286000"/>
            <a:ext cx="228240" cy="2285640"/>
          </a:xfrm>
          <a:prstGeom prst="rect">
            <a:avLst/>
          </a:prstGeom>
          <a:solidFill>
            <a:srgbClr val="99CCFF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1" name="CustomShape 4"/>
          <p:cNvSpPr/>
          <p:nvPr/>
        </p:nvSpPr>
        <p:spPr>
          <a:xfrm>
            <a:off x="0" y="4572000"/>
            <a:ext cx="228240" cy="2285640"/>
          </a:xfrm>
          <a:prstGeom prst="rect">
            <a:avLst/>
          </a:prstGeom>
          <a:solidFill>
            <a:srgbClr val="336699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2" name="CustomShape 5"/>
          <p:cNvSpPr/>
          <p:nvPr/>
        </p:nvSpPr>
        <p:spPr>
          <a:xfrm>
            <a:off x="4032000" y="6613560"/>
            <a:ext cx="896040" cy="2541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10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2.</a:t>
            </a:r>
            <a:fld id="{3CE73629-A3AF-4BED-B0FC-A369CB08EB76}" type="slidenum">
              <a:rPr lang="en-IN" sz="10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‹#›</a:t>
            </a:fld>
            <a:endParaRPr lang="en-IN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3" name="CustomShape 6"/>
          <p:cNvSpPr/>
          <p:nvPr/>
        </p:nvSpPr>
        <p:spPr>
          <a:xfrm>
            <a:off x="6489720" y="6588000"/>
            <a:ext cx="2712600" cy="2426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10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Silberschatz, Galvin and Gagne ©2009</a:t>
            </a:r>
            <a:endParaRPr lang="en-IN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4" name="CustomShape 7"/>
          <p:cNvSpPr/>
          <p:nvPr/>
        </p:nvSpPr>
        <p:spPr>
          <a:xfrm>
            <a:off x="194040" y="6621480"/>
            <a:ext cx="2621160" cy="2426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10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Operating System Concepts – 8</a:t>
            </a:r>
            <a:r>
              <a:rPr lang="en-IN" sz="1000" b="1" strike="noStrike" spc="-1" baseline="30000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th</a:t>
            </a:r>
            <a:r>
              <a:rPr lang="en-IN" sz="10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 Edition</a:t>
            </a:r>
            <a:endParaRPr lang="en-IN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05" name="Picture 12"/>
          <p:cNvPicPr/>
          <p:nvPr/>
        </p:nvPicPr>
        <p:blipFill>
          <a:blip r:embed="rId15"/>
          <a:stretch/>
        </p:blipFill>
        <p:spPr>
          <a:xfrm>
            <a:off x="7773840" y="5850000"/>
            <a:ext cx="1283760" cy="791640"/>
          </a:xfrm>
          <a:prstGeom prst="rect">
            <a:avLst/>
          </a:prstGeom>
          <a:ln w="9360">
            <a:noFill/>
          </a:ln>
        </p:spPr>
      </p:pic>
      <p:sp>
        <p:nvSpPr>
          <p:cNvPr id="106" name="PlaceHolder 8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240" cy="576000"/>
          </a:xfrm>
          <a:prstGeom prst="rect">
            <a:avLst/>
          </a:prstGeom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Click to edit Master title style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07" name="PlaceHolder 9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371520" y="835742"/>
            <a:ext cx="8457840" cy="2281084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Chapter 1: Introduction and System </a:t>
            </a:r>
            <a:r>
              <a:rPr lang="en-US" sz="3600" b="1" spc="-1" dirty="0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</a:t>
            </a:r>
            <a:r>
              <a:rPr lang="en-US" sz="3600" b="1" strike="noStrike" spc="-1" dirty="0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tructures</a:t>
            </a:r>
          </a:p>
          <a:p>
            <a:pPr algn="ctr">
              <a:lnSpc>
                <a:spcPct val="100000"/>
              </a:lnSpc>
            </a:pPr>
            <a:endParaRPr lang="en-US" sz="3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Shape 1"/>
          <p:cNvSpPr txBox="1"/>
          <p:nvPr/>
        </p:nvSpPr>
        <p:spPr>
          <a:xfrm>
            <a:off x="576360" y="277920"/>
            <a:ext cx="855324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Operating-System Structures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49" name="TextShape 2"/>
          <p:cNvSpPr txBox="1"/>
          <p:nvPr/>
        </p:nvSpPr>
        <p:spPr>
          <a:xfrm>
            <a:off x="806400" y="1233360"/>
            <a:ext cx="8229240" cy="453024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Operating System Services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User Operating System Interface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System Calls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Types of System Calls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1050840" y="277920"/>
            <a:ext cx="763560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Operating System Services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53" name="TextShape 2"/>
          <p:cNvSpPr txBox="1"/>
          <p:nvPr/>
        </p:nvSpPr>
        <p:spPr>
          <a:xfrm>
            <a:off x="641520" y="1238400"/>
            <a:ext cx="7849800" cy="486540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Operating systems provide an environment for execution of programs and services to programs and users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One set of operating-system services provides functions that are helpful to the user: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6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User interface </a:t>
            </a: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- Almost all operating systems have a user interface (UI).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5760" lvl="2" indent="-228240">
              <a:lnSpc>
                <a:spcPct val="100000"/>
              </a:lnSpc>
              <a:buClr>
                <a:srgbClr val="009900"/>
              </a:buClr>
              <a:buSzPct val="75000"/>
              <a:buFont typeface="Webdings" charset="2"/>
              <a:buChar char=""/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Varies between </a:t>
            </a:r>
            <a:r>
              <a:rPr lang="en-US" sz="1600" b="1" strike="noStrike" spc="-1">
                <a:solidFill>
                  <a:srgbClr val="3366FF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Command-Line (CLI)</a:t>
            </a: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, </a:t>
            </a:r>
            <a:r>
              <a:rPr lang="en-US" sz="1600" b="1" strike="noStrike" spc="-1">
                <a:solidFill>
                  <a:srgbClr val="3366FF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Graphics User Interface (GUI)</a:t>
            </a: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,</a:t>
            </a:r>
            <a:r>
              <a:rPr lang="en-US" sz="1600" b="1" strike="noStrike" spc="-1">
                <a:solidFill>
                  <a:srgbClr val="3366FF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 Batch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6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Program execution </a:t>
            </a: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- The system must be able to load a program into memory and to run that program, end execution, either normally or abnormally (indicating error)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6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I/O operations </a:t>
            </a: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-  A running program may require I/O, which may involve a file or an I/O device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6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File-system manipulation </a:t>
            </a: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-  The file system is of particular interest. Programs need to read and write files and directories, create and delete them, search them, list file Information, permission management.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Shape 1"/>
          <p:cNvSpPr txBox="1"/>
          <p:nvPr/>
        </p:nvSpPr>
        <p:spPr>
          <a:xfrm>
            <a:off x="946080" y="277920"/>
            <a:ext cx="786888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Operating System Services (Cont.)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55" name="TextShape 2"/>
          <p:cNvSpPr txBox="1"/>
          <p:nvPr/>
        </p:nvSpPr>
        <p:spPr>
          <a:xfrm>
            <a:off x="641520" y="1238400"/>
            <a:ext cx="7878240" cy="572904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Communications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 – Processes may exchange information, on the same computer or between computers over a network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5760" lvl="2" indent="-228240">
              <a:lnSpc>
                <a:spcPct val="100000"/>
              </a:lnSpc>
              <a:buClr>
                <a:srgbClr val="009900"/>
              </a:buClr>
              <a:buSzPct val="75000"/>
              <a:buFont typeface="Webdings" charset="2"/>
              <a:buChar char="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Communications may be via shared memory or through message passing (packets moved by the OS)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Error detection 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– OS needs to be constantly aware of possible errors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5760" lvl="2" indent="-228240">
              <a:lnSpc>
                <a:spcPct val="100000"/>
              </a:lnSpc>
              <a:buClr>
                <a:srgbClr val="009900"/>
              </a:buClr>
              <a:buSzPct val="75000"/>
              <a:buFont typeface="Webdings" charset="2"/>
              <a:buChar char="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May occur in the CPU and memory hardware, in I/O devices, in user program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5760" lvl="2" indent="-228240">
              <a:lnSpc>
                <a:spcPct val="100000"/>
              </a:lnSpc>
              <a:buClr>
                <a:srgbClr val="009900"/>
              </a:buClr>
              <a:buSzPct val="75000"/>
              <a:buFont typeface="Webdings" charset="2"/>
              <a:buChar char="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For each type of error, OS should take the appropriate action to ensure correct and consistent computing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5760" lvl="2" indent="-228240">
              <a:lnSpc>
                <a:spcPct val="100000"/>
              </a:lnSpc>
              <a:buClr>
                <a:srgbClr val="009900"/>
              </a:buClr>
              <a:buSzPct val="75000"/>
              <a:buFont typeface="Webdings" charset="2"/>
              <a:buChar char="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Debugging facilities can greatly enhance the user’s and programmer’s abilities to efficiently use the system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Shape 1"/>
          <p:cNvSpPr txBox="1"/>
          <p:nvPr/>
        </p:nvSpPr>
        <p:spPr>
          <a:xfrm>
            <a:off x="1003320" y="277920"/>
            <a:ext cx="781164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Operating System Services (Cont.)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57" name="TextShape 2"/>
          <p:cNvSpPr txBox="1"/>
          <p:nvPr/>
        </p:nvSpPr>
        <p:spPr>
          <a:xfrm>
            <a:off x="743040" y="1319040"/>
            <a:ext cx="7700760" cy="451296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9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Another set of OS functions exists for ensuring the efficient operation of the system itself via resource sharing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9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6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Resource allocation - </a:t>
            </a: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When  multiple users or multiple jobs running concurrently, resources must be allocated to each of them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5760" lvl="2" indent="-228240">
              <a:lnSpc>
                <a:spcPct val="90000"/>
              </a:lnSpc>
              <a:buClr>
                <a:srgbClr val="009900"/>
              </a:buClr>
              <a:buSzPct val="75000"/>
              <a:buFont typeface="Webdings" charset="2"/>
              <a:buChar char=""/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Many types of resources -  Some (such as CPU cycles, main memory, and file storage) may have special allocation code, others (such as I/O devices) may have general request and release code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9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6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Accounting -</a:t>
            </a: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 To keep track of which users use how much and what kinds of computer resources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9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6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Protection and security - </a:t>
            </a: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The owners of information stored in a multiuser or networked computer system may want to control use of that information, concurrent processes should not interfere with each other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5760" lvl="2" indent="-228240">
              <a:lnSpc>
                <a:spcPct val="90000"/>
              </a:lnSpc>
              <a:buClr>
                <a:srgbClr val="009900"/>
              </a:buClr>
              <a:buSzPct val="75000"/>
              <a:buFont typeface="Webdings" charset="2"/>
              <a:buChar char=""/>
            </a:pPr>
            <a:r>
              <a:rPr lang="en-US" sz="16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Protection</a:t>
            </a: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 involves ensuring that all access to system resources is controlled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5760" lvl="2" indent="-228240">
              <a:lnSpc>
                <a:spcPct val="90000"/>
              </a:lnSpc>
              <a:buClr>
                <a:srgbClr val="009900"/>
              </a:buClr>
              <a:buSzPct val="75000"/>
              <a:buFont typeface="Webdings" charset="2"/>
              <a:buChar char=""/>
            </a:pPr>
            <a:r>
              <a:rPr lang="en-US" sz="16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Security</a:t>
            </a: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 of the system from outsiders requires user authentication, extends to defending external I/O devices from invalid access attempts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5760" lvl="2" indent="-228240">
              <a:lnSpc>
                <a:spcPct val="90000"/>
              </a:lnSpc>
              <a:buClr>
                <a:srgbClr val="009900"/>
              </a:buClr>
              <a:buSzPct val="75000"/>
              <a:buFont typeface="Webdings" charset="2"/>
              <a:buChar char=""/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If a system is to be protected and secure, precautions must be instituted throughout it. A chain is only as strong as its weakest link.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Shape 1"/>
          <p:cNvSpPr txBox="1"/>
          <p:nvPr/>
        </p:nvSpPr>
        <p:spPr>
          <a:xfrm>
            <a:off x="814320" y="277920"/>
            <a:ext cx="822924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 dirty="0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A View of Operating System Services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pic>
        <p:nvPicPr>
          <p:cNvPr id="159" name="Picture 4"/>
          <p:cNvPicPr/>
          <p:nvPr/>
        </p:nvPicPr>
        <p:blipFill>
          <a:blip r:embed="rId2"/>
          <a:stretch/>
        </p:blipFill>
        <p:spPr>
          <a:xfrm>
            <a:off x="917640" y="1601640"/>
            <a:ext cx="7218000" cy="360324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Shape 1"/>
          <p:cNvSpPr txBox="1"/>
          <p:nvPr/>
        </p:nvSpPr>
        <p:spPr>
          <a:xfrm>
            <a:off x="857160" y="277920"/>
            <a:ext cx="822924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User Operating System Interface - CLI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61" name="TextShape 2"/>
          <p:cNvSpPr txBox="1"/>
          <p:nvPr/>
        </p:nvSpPr>
        <p:spPr>
          <a:xfrm>
            <a:off x="730080" y="1349280"/>
            <a:ext cx="7760880" cy="448272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Command Line Interface (CLI) or </a:t>
            </a:r>
            <a:r>
              <a:rPr lang="en-US" sz="1800" b="1" strike="noStrike" spc="-1">
                <a:solidFill>
                  <a:srgbClr val="3366FF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command interpreter</a:t>
            </a:r>
            <a:r>
              <a:rPr lang="en-US" sz="1800" b="0" strike="noStrike" spc="-1">
                <a:solidFill>
                  <a:srgbClr val="3366FF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allows direct command entry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5760" lvl="2" indent="-228240">
              <a:lnSpc>
                <a:spcPct val="100000"/>
              </a:lnSpc>
              <a:buClr>
                <a:srgbClr val="009900"/>
              </a:buClr>
              <a:buSzPct val="75000"/>
              <a:buFont typeface="Webdings" charset="2"/>
              <a:buChar char="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Sometimes implemented in kernel, sometimes by systems program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5760" lvl="2" indent="-228240">
              <a:lnSpc>
                <a:spcPct val="100000"/>
              </a:lnSpc>
              <a:buClr>
                <a:srgbClr val="009900"/>
              </a:buClr>
              <a:buSzPct val="75000"/>
              <a:buFont typeface="Webdings" charset="2"/>
              <a:buChar char="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Sometimes multiple flavors implemented – </a:t>
            </a:r>
            <a:r>
              <a:rPr lang="en-US" sz="1800" b="1" strike="noStrike" spc="-1">
                <a:solidFill>
                  <a:srgbClr val="3366FF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shells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5760" lvl="2" indent="-228240">
              <a:lnSpc>
                <a:spcPct val="100000"/>
              </a:lnSpc>
              <a:buClr>
                <a:srgbClr val="009900"/>
              </a:buClr>
              <a:buSzPct val="75000"/>
              <a:buFont typeface="Webdings" charset="2"/>
              <a:buChar char="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Primarily fetches a command from user and executes it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428840" lvl="3" indent="-228240">
              <a:lnSpc>
                <a:spcPct val="100000"/>
              </a:lnSpc>
              <a:buClr>
                <a:srgbClr val="FFCC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Sometimes commands built-in, sometimes just names of programs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771560" lvl="4" indent="-228240">
              <a:lnSpc>
                <a:spcPct val="100000"/>
              </a:lnSpc>
              <a:buClr>
                <a:srgbClr val="FF0066"/>
              </a:buClr>
              <a:buSzPct val="75000"/>
              <a:buFont typeface="StarSymbol"/>
              <a:buChar char="»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If the latter, adding new features doesn’t require shell modification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Shape 1"/>
          <p:cNvSpPr txBox="1"/>
          <p:nvPr/>
        </p:nvSpPr>
        <p:spPr>
          <a:xfrm>
            <a:off x="885960" y="277920"/>
            <a:ext cx="822924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0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User Operating System Interface - GUI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63" name="TextShape 2"/>
          <p:cNvSpPr txBox="1"/>
          <p:nvPr/>
        </p:nvSpPr>
        <p:spPr>
          <a:xfrm>
            <a:off x="806400" y="1233360"/>
            <a:ext cx="8229240" cy="453024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User-friendly </a:t>
            </a:r>
            <a:r>
              <a:rPr lang="en-US" sz="1800" b="1" strike="noStrike" spc="-1">
                <a:solidFill>
                  <a:srgbClr val="3366FF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desktop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 metaphor interface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Usually mouse, keyboard, and monitor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1" strike="noStrike" spc="-1">
                <a:solidFill>
                  <a:srgbClr val="3366FF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Icons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 represent files, programs, actions, etc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Various mouse buttons over objects in the interface cause various actions (provide information, options, execute function, open directory (known as a </a:t>
            </a:r>
            <a:r>
              <a:rPr lang="en-US" sz="1800" b="1" strike="noStrike" spc="-1">
                <a:solidFill>
                  <a:srgbClr val="3366FF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folder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)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Invented at Xerox PARC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Many systems now include both CLI and GUI interfaces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Microsoft Windows is GUI with CLI “command” shell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Apple Mac OS X as “Aqua” GUI interface with UNIX kernel underneath and shells available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Solaris is CLI with optional GUI interfaces (Java Desktop, KDE)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Shape 1"/>
          <p:cNvSpPr txBox="1"/>
          <p:nvPr/>
        </p:nvSpPr>
        <p:spPr>
          <a:xfrm>
            <a:off x="457200" y="277920"/>
            <a:ext cx="822924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Bourne Shell Command Interpreter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pic>
        <p:nvPicPr>
          <p:cNvPr id="165" name="Picture 4"/>
          <p:cNvPicPr/>
          <p:nvPr/>
        </p:nvPicPr>
        <p:blipFill>
          <a:blip r:embed="rId2"/>
          <a:stretch/>
        </p:blipFill>
        <p:spPr>
          <a:xfrm>
            <a:off x="1500120" y="1368360"/>
            <a:ext cx="6181200" cy="480960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 txBox="1"/>
          <p:nvPr/>
        </p:nvSpPr>
        <p:spPr>
          <a:xfrm>
            <a:off x="457200" y="277920"/>
            <a:ext cx="822924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System Calls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69" name="TextShape 2"/>
          <p:cNvSpPr txBox="1"/>
          <p:nvPr/>
        </p:nvSpPr>
        <p:spPr>
          <a:xfrm>
            <a:off x="806400" y="1233360"/>
            <a:ext cx="7597440" cy="453024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9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Programming interface to the services provided by the OS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9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Typically written in a high-level language (C or C++)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9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Mostly accessed by programs via a high-level </a:t>
            </a:r>
            <a:r>
              <a:rPr lang="en-US" sz="1800" b="1" strike="noStrike" spc="-1">
                <a:solidFill>
                  <a:srgbClr val="3366FF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Application Program Interface (API)</a:t>
            </a:r>
            <a:r>
              <a:rPr lang="en-US" sz="1800" b="0" strike="noStrike" spc="-1">
                <a:solidFill>
                  <a:srgbClr val="3366FF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rather than direct system call use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9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Three most common APIs are Win32 API for Windows, POSIX API for POSIX-based systems (including virtually all versions of UNIX, Linux, and Mac OS X), and Java API for the Java virtual machine (JVM)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9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Why use APIs rather than system calls?
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</a:p>
          <a:p>
            <a:pPr marL="343080" indent="-342720">
              <a:lnSpc>
                <a:spcPct val="9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	(Note that the system-call names used throughout this text are generic)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Shape 1"/>
          <p:cNvSpPr txBox="1"/>
          <p:nvPr/>
        </p:nvSpPr>
        <p:spPr>
          <a:xfrm>
            <a:off x="457200" y="277920"/>
            <a:ext cx="822924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Example of System Calls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71" name="TextShape 2"/>
          <p:cNvSpPr txBox="1"/>
          <p:nvPr/>
        </p:nvSpPr>
        <p:spPr>
          <a:xfrm>
            <a:off x="806400" y="1233360"/>
            <a:ext cx="8229240" cy="453024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System call sequence to copy the contents of one file to another file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72" name="Picture 5"/>
          <p:cNvPicPr/>
          <p:nvPr/>
        </p:nvPicPr>
        <p:blipFill>
          <a:blip r:embed="rId3"/>
          <a:stretch/>
        </p:blipFill>
        <p:spPr>
          <a:xfrm>
            <a:off x="1459080" y="1965240"/>
            <a:ext cx="5936760" cy="4017600"/>
          </a:xfrm>
          <a:prstGeom prst="rect">
            <a:avLst/>
          </a:prstGeom>
          <a:ln w="9360">
            <a:noFill/>
          </a:ln>
        </p:spPr>
      </p:pic>
      <p:sp>
        <p:nvSpPr>
          <p:cNvPr id="173" name="Line 3"/>
          <p:cNvSpPr/>
          <p:nvPr/>
        </p:nvSpPr>
        <p:spPr>
          <a:xfrm>
            <a:off x="7358040" y="2022120"/>
            <a:ext cx="360" cy="42084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Line 4"/>
          <p:cNvSpPr/>
          <p:nvPr/>
        </p:nvSpPr>
        <p:spPr>
          <a:xfrm>
            <a:off x="1503360" y="2012760"/>
            <a:ext cx="360" cy="43020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Shape 1"/>
          <p:cNvSpPr txBox="1"/>
          <p:nvPr/>
        </p:nvSpPr>
        <p:spPr>
          <a:xfrm>
            <a:off x="457200" y="277920"/>
            <a:ext cx="822924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Example of Standard API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76" name="TextShape 2"/>
          <p:cNvSpPr txBox="1"/>
          <p:nvPr/>
        </p:nvSpPr>
        <p:spPr>
          <a:xfrm>
            <a:off x="806400" y="1233360"/>
            <a:ext cx="8229240" cy="453024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9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Consider the ReadFile() function in the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9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Win32 API—a function for reading from a file
</a:t>
            </a: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90000"/>
              </a:lnSpc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
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9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A description of the parameters passed to ReadFile()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9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HANDLE file—the file to be read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9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LPVOID buffer—a buffer where the data will be read into and written from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9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DWORD bytesToRead—the number of bytes to be read into the buffer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9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LPDWORD bytesRead—the number of bytes read during the last read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9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LPOVERLAPPED ovl—indicates if overlapped I/O is being used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77" name="Picture 4"/>
          <p:cNvPicPr/>
          <p:nvPr/>
        </p:nvPicPr>
        <p:blipFill>
          <a:blip r:embed="rId3"/>
          <a:srcRect l="1030" t="29630" r="1030" b="29379"/>
          <a:stretch/>
        </p:blipFill>
        <p:spPr>
          <a:xfrm>
            <a:off x="1585800" y="1978200"/>
            <a:ext cx="6732360" cy="2112480"/>
          </a:xfrm>
          <a:prstGeom prst="rect">
            <a:avLst/>
          </a:prstGeom>
          <a:ln w="38160">
            <a:solidFill>
              <a:srgbClr val="FFFFFF"/>
            </a:solidFill>
            <a:miter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Shape 1"/>
          <p:cNvSpPr txBox="1"/>
          <p:nvPr/>
        </p:nvSpPr>
        <p:spPr>
          <a:xfrm>
            <a:off x="457200" y="277920"/>
            <a:ext cx="822924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System Call Implementation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79" name="TextShape 2"/>
          <p:cNvSpPr txBox="1"/>
          <p:nvPr/>
        </p:nvSpPr>
        <p:spPr>
          <a:xfrm>
            <a:off x="806400" y="1233360"/>
            <a:ext cx="7665840" cy="453024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Typically, a number associated with each system call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System-call interface maintains a table indexed according to these numbers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The system call interface invokes intended system call in OS kernel and returns status of the system call and any return values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The caller need know nothing about how the system call is implemented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Just needs to obey API and understand what OS will do as a result call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Most details of  OS interface hidden from programmer by API 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5760" lvl="2" indent="-228240">
              <a:lnSpc>
                <a:spcPct val="100000"/>
              </a:lnSpc>
              <a:buClr>
                <a:srgbClr val="009900"/>
              </a:buClr>
              <a:buSzPct val="75000"/>
              <a:buFont typeface="Webdings" charset="2"/>
              <a:buChar char="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Managed by run-time support library (set of functions built into libraries included with compiler)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Shape 1"/>
          <p:cNvSpPr txBox="1"/>
          <p:nvPr/>
        </p:nvSpPr>
        <p:spPr>
          <a:xfrm>
            <a:off x="857160" y="277920"/>
            <a:ext cx="822924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API – System Call – OS Relationship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pic>
        <p:nvPicPr>
          <p:cNvPr id="181" name="Picture 5"/>
          <p:cNvPicPr/>
          <p:nvPr/>
        </p:nvPicPr>
        <p:blipFill>
          <a:blip r:embed="rId3"/>
          <a:stretch/>
        </p:blipFill>
        <p:spPr>
          <a:xfrm>
            <a:off x="968400" y="1425600"/>
            <a:ext cx="7152840" cy="438120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Shape 1"/>
          <p:cNvSpPr txBox="1"/>
          <p:nvPr/>
        </p:nvSpPr>
        <p:spPr>
          <a:xfrm>
            <a:off x="457200" y="306360"/>
            <a:ext cx="822924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Standard C Library Example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83" name="TextShape 2"/>
          <p:cNvSpPr txBox="1"/>
          <p:nvPr/>
        </p:nvSpPr>
        <p:spPr>
          <a:xfrm>
            <a:off x="768240" y="1173240"/>
            <a:ext cx="7641720" cy="507816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C program invoking printf() library call, which calls write() system call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84" name="Picture 4"/>
          <p:cNvPicPr/>
          <p:nvPr/>
        </p:nvPicPr>
        <p:blipFill>
          <a:blip r:embed="rId3"/>
          <a:srcRect l="18284" t="2668" r="17347" b="1782"/>
          <a:stretch/>
        </p:blipFill>
        <p:spPr>
          <a:xfrm>
            <a:off x="2336760" y="2039760"/>
            <a:ext cx="4060440" cy="4285800"/>
          </a:xfrm>
          <a:prstGeom prst="rect">
            <a:avLst/>
          </a:prstGeom>
          <a:ln w="38160">
            <a:solidFill>
              <a:srgbClr val="FFFFFF"/>
            </a:solidFill>
            <a:miter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Shape 1"/>
          <p:cNvSpPr txBox="1"/>
          <p:nvPr/>
        </p:nvSpPr>
        <p:spPr>
          <a:xfrm>
            <a:off x="982800" y="277920"/>
            <a:ext cx="770364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System Call Parameter Passing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86" name="TextShape 2"/>
          <p:cNvSpPr txBox="1"/>
          <p:nvPr/>
        </p:nvSpPr>
        <p:spPr>
          <a:xfrm>
            <a:off x="806400" y="1233360"/>
            <a:ext cx="7644960" cy="453024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9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Often, more information is required than simply identity of desired system call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9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Exact type and amount of information vary according to OS and call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9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Three general methods used to pass parameters to the OS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9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Simplest:  pass the parameters in </a:t>
            </a:r>
            <a:r>
              <a:rPr lang="en-US" sz="1800" b="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registers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5760" lvl="2" indent="-228240">
              <a:lnSpc>
                <a:spcPct val="90000"/>
              </a:lnSpc>
              <a:buClr>
                <a:srgbClr val="009900"/>
              </a:buClr>
              <a:buSzPct val="75000"/>
              <a:buFont typeface="Webdings" charset="2"/>
              <a:buChar char="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 In some cases, may be more parameters than registers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9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Parameters stored in a </a:t>
            </a:r>
            <a:r>
              <a:rPr lang="en-US" sz="1800" b="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block, 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or table, in memory, and address of block passed as a parameter in a register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085760" lvl="2" indent="-228240">
              <a:lnSpc>
                <a:spcPct val="90000"/>
              </a:lnSpc>
              <a:buClr>
                <a:srgbClr val="009900"/>
              </a:buClr>
              <a:buSzPct val="75000"/>
              <a:buFont typeface="Webdings" charset="2"/>
              <a:buChar char="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This approach taken by Linux and Solaris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9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Parameters placed, or </a:t>
            </a:r>
            <a:r>
              <a:rPr lang="en-US" sz="1800" b="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pushed, 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onto the </a:t>
            </a:r>
            <a:r>
              <a:rPr lang="en-US" sz="1800" b="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stack 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by the program and </a:t>
            </a:r>
            <a:r>
              <a:rPr lang="en-US" sz="1800" b="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popped </a:t>
            </a: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off the stack by the operating system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9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Block and stack methods do not limit the number or length of parameters being passed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Shape 1"/>
          <p:cNvSpPr txBox="1"/>
          <p:nvPr/>
        </p:nvSpPr>
        <p:spPr>
          <a:xfrm>
            <a:off x="457200" y="277920"/>
            <a:ext cx="822924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Parameter Passing via Table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pic>
        <p:nvPicPr>
          <p:cNvPr id="188" name="Picture 7"/>
          <p:cNvPicPr/>
          <p:nvPr/>
        </p:nvPicPr>
        <p:blipFill>
          <a:blip r:embed="rId3"/>
          <a:stretch/>
        </p:blipFill>
        <p:spPr>
          <a:xfrm>
            <a:off x="1522440" y="1401840"/>
            <a:ext cx="7083000" cy="3719160"/>
          </a:xfrm>
          <a:prstGeom prst="rect">
            <a:avLst/>
          </a:prstGeom>
          <a:ln w="936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Shape 1"/>
          <p:cNvSpPr txBox="1"/>
          <p:nvPr/>
        </p:nvSpPr>
        <p:spPr>
          <a:xfrm>
            <a:off x="457200" y="277920"/>
            <a:ext cx="822924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Types of System Calls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90" name="TextShape 2"/>
          <p:cNvSpPr txBox="1"/>
          <p:nvPr/>
        </p:nvSpPr>
        <p:spPr>
          <a:xfrm>
            <a:off x="806400" y="1233360"/>
            <a:ext cx="8229240" cy="453024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Process control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end, abort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load, execute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create process, terminate process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get process attributes, set process attributes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wait for time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wait event, signal event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allocate and free memory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File management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create file, delete file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open, close file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read, write, reposition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get and set file attributes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Shape 1"/>
          <p:cNvSpPr txBox="1"/>
          <p:nvPr/>
        </p:nvSpPr>
        <p:spPr>
          <a:xfrm>
            <a:off x="457200" y="277920"/>
            <a:ext cx="8229240" cy="5760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ctr">
              <a:lnSpc>
                <a:spcPct val="100000"/>
              </a:lnSpc>
            </a:pPr>
            <a:r>
              <a:rPr lang="en-US" sz="3200" b="1" strike="noStrike" spc="-1">
                <a:solidFill>
                  <a:srgbClr val="006699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Types of System Calls (Cont.)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Verdana"/>
            </a:endParaRPr>
          </a:p>
        </p:txBody>
      </p:sp>
      <p:sp>
        <p:nvSpPr>
          <p:cNvPr id="192" name="TextShape 2"/>
          <p:cNvSpPr txBox="1"/>
          <p:nvPr/>
        </p:nvSpPr>
        <p:spPr>
          <a:xfrm>
            <a:off x="806400" y="1233360"/>
            <a:ext cx="8229240" cy="4530240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Device management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request device, release device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read, write, reposition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get device attributes, set device attributes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logically attach or detach devices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Information maintenance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get time or date, set time or date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get system data, set system data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get and set process, file, or device attributes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993300"/>
              </a:buClr>
              <a:buSzPct val="90000"/>
              <a:buFont typeface="Monotype Sorts" charset="2"/>
              <a:buChar char="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Communications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create, delete communication connection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send, receive messages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transfer status information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743040" lvl="1" indent="-285480">
              <a:lnSpc>
                <a:spcPct val="100000"/>
              </a:lnSpc>
              <a:buClr>
                <a:srgbClr val="CC6600"/>
              </a:buClr>
              <a:buSzPct val="80000"/>
              <a:buFont typeface="Monotype Sort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ＭＳ Ｐゴシック"/>
              </a:rPr>
              <a:t>attach and detach remote devices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BAB5C763-1598-4AB4-AB9B-F1C1B35DAD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System Services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AA46F960-9F83-4DB3-8C85-8EB4B59F5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1122363"/>
            <a:ext cx="7707312" cy="4683125"/>
          </a:xfrm>
        </p:spPr>
        <p:txBody>
          <a:bodyPr/>
          <a:lstStyle/>
          <a:p>
            <a:r>
              <a:rPr lang="en-US" altLang="en-US" dirty="0"/>
              <a:t>System programs provide a convenient environment for program development and execution.  They can be divided into:</a:t>
            </a:r>
          </a:p>
          <a:p>
            <a:pPr lvl="1"/>
            <a:r>
              <a:rPr lang="en-US" altLang="en-US" dirty="0"/>
              <a:t>File manipulation </a:t>
            </a:r>
          </a:p>
          <a:p>
            <a:pPr lvl="1"/>
            <a:r>
              <a:rPr lang="en-US" altLang="en-US" dirty="0"/>
              <a:t>Status information sometimes stored in a file</a:t>
            </a:r>
          </a:p>
          <a:p>
            <a:pPr lvl="1"/>
            <a:r>
              <a:rPr lang="en-US" altLang="en-US" dirty="0"/>
              <a:t>Programming language support</a:t>
            </a:r>
          </a:p>
          <a:p>
            <a:pPr lvl="1"/>
            <a:r>
              <a:rPr lang="en-US" altLang="en-US" dirty="0"/>
              <a:t>Program loading and execution</a:t>
            </a:r>
          </a:p>
          <a:p>
            <a:pPr lvl="1"/>
            <a:r>
              <a:rPr lang="en-US" altLang="en-US" dirty="0"/>
              <a:t>Communications</a:t>
            </a:r>
          </a:p>
          <a:p>
            <a:pPr lvl="1"/>
            <a:r>
              <a:rPr lang="en-US" altLang="en-US" dirty="0"/>
              <a:t>Background services</a:t>
            </a:r>
          </a:p>
          <a:p>
            <a:pPr lvl="1"/>
            <a:r>
              <a:rPr lang="en-US" altLang="en-US" dirty="0"/>
              <a:t>Application programs</a:t>
            </a:r>
          </a:p>
          <a:p>
            <a:r>
              <a:rPr lang="en-US" altLang="en-US" dirty="0"/>
              <a:t>Most users</a:t>
            </a:r>
            <a:r>
              <a:rPr lang="ja-JP" altLang="en-US" dirty="0"/>
              <a:t>’</a:t>
            </a:r>
            <a:r>
              <a:rPr lang="en-US" altLang="ja-JP" dirty="0"/>
              <a:t> view of the operating system is defined by system programs, not the actual system calls</a:t>
            </a: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BAB5C763-1598-4AB4-AB9B-F1C1B35DAD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7488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System Services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AA46F960-9F83-4DB3-8C85-8EB4B59F5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1122363"/>
            <a:ext cx="7707312" cy="4683125"/>
          </a:xfrm>
        </p:spPr>
        <p:txBody>
          <a:bodyPr/>
          <a:lstStyle/>
          <a:p>
            <a:r>
              <a:rPr lang="en-US" altLang="en-US" sz="2400" dirty="0"/>
              <a:t>System programs provide a convenient environment for program development and execution.  They can be divided into:</a:t>
            </a:r>
          </a:p>
          <a:p>
            <a:pPr lvl="1"/>
            <a:r>
              <a:rPr lang="en-US" altLang="en-US" dirty="0"/>
              <a:t>File manipulation </a:t>
            </a:r>
          </a:p>
          <a:p>
            <a:pPr lvl="1"/>
            <a:r>
              <a:rPr lang="en-US" altLang="en-US" dirty="0"/>
              <a:t>Status information sometimes stored in a file</a:t>
            </a:r>
          </a:p>
          <a:p>
            <a:pPr lvl="1"/>
            <a:r>
              <a:rPr lang="en-US" altLang="en-US" dirty="0"/>
              <a:t>Programming language support</a:t>
            </a:r>
          </a:p>
          <a:p>
            <a:pPr lvl="1"/>
            <a:r>
              <a:rPr lang="en-US" altLang="en-US" dirty="0"/>
              <a:t>Program loading and execution</a:t>
            </a:r>
          </a:p>
          <a:p>
            <a:pPr lvl="1"/>
            <a:r>
              <a:rPr lang="en-US" altLang="en-US" dirty="0"/>
              <a:t>Communications</a:t>
            </a:r>
          </a:p>
          <a:p>
            <a:pPr lvl="1"/>
            <a:r>
              <a:rPr lang="en-US" altLang="en-US" dirty="0"/>
              <a:t>Background services</a:t>
            </a:r>
          </a:p>
          <a:p>
            <a:pPr lvl="1"/>
            <a:r>
              <a:rPr lang="en-US" altLang="en-US" dirty="0"/>
              <a:t>Application programs</a:t>
            </a:r>
          </a:p>
          <a:p>
            <a:r>
              <a:rPr lang="en-US" altLang="en-US" sz="2400" dirty="0"/>
              <a:t>Most users</a:t>
            </a:r>
            <a:r>
              <a:rPr lang="ja-JP" altLang="en-US" sz="2400" dirty="0"/>
              <a:t>’</a:t>
            </a:r>
            <a:r>
              <a:rPr lang="en-US" altLang="ja-JP" sz="2400" dirty="0"/>
              <a:t> view of the operating system is defined by system programs, not the actual system calls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74F248A6-FEC6-47A1-A99A-98ABBC6C3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675" y="217488"/>
            <a:ext cx="8080375" cy="576262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System Services (Cont.)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AC26365-FF38-4159-8CB6-E4B6F33D9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213" y="1131888"/>
            <a:ext cx="7697787" cy="5187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/>
              <a:t>File modification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Text editors to create and modify files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Special commands to search contents of files or perform transformations of the text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/>
              <a:t>Programming-language support </a:t>
            </a:r>
            <a:r>
              <a:rPr lang="en-US" altLang="en-US" sz="2000" dirty="0"/>
              <a:t>- Compilers, assemblers, debuggers and interpreters sometimes provided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/>
              <a:t>Program loading and execution</a:t>
            </a:r>
            <a:r>
              <a:rPr lang="en-US" altLang="en-US" sz="2000" dirty="0"/>
              <a:t>- Absolute loaders, relocatable loaders, linkage editors, and overlay-loaders, debugging systems for higher-level and machine language</a:t>
            </a:r>
          </a:p>
          <a:p>
            <a:pPr>
              <a:lnSpc>
                <a:spcPct val="90000"/>
              </a:lnSpc>
            </a:pPr>
            <a:r>
              <a:rPr lang="en-US" altLang="en-US" sz="2000" b="1" dirty="0"/>
              <a:t>Communications</a:t>
            </a:r>
            <a:r>
              <a:rPr lang="en-US" altLang="en-US" sz="2000" dirty="0"/>
              <a:t> - Provide the mechanism for creating virtual connections among processes, users, and computer systems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Allow users to send messages to one another</a:t>
            </a:r>
            <a:r>
              <a:rPr lang="ja-JP" altLang="en-US" sz="2000" dirty="0"/>
              <a:t>’</a:t>
            </a:r>
            <a:r>
              <a:rPr lang="en-US" altLang="ja-JP" sz="2000" dirty="0"/>
              <a:t>s screens, browse web pages, send electronic-mail messages, log in remotely, transfer files from one machine to another</a:t>
            </a:r>
          </a:p>
          <a:p>
            <a:pPr>
              <a:lnSpc>
                <a:spcPct val="90000"/>
              </a:lnSpc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9B64704-3592-4DF7-85E7-FB2DB85811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775" y="217488"/>
            <a:ext cx="7996238" cy="576262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System Services (Cont.)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893ED54D-5EE3-433B-820F-AFAE8BC4B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108075"/>
            <a:ext cx="7675563" cy="5187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/>
              <a:t>Background Services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Launch at boot time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Some for system startup, then terminate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Some from system boot to shutdown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Provide facilities like disk checking, process scheduling, error logging, printing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Run in user context not kernel context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Known as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services</a:t>
            </a:r>
            <a:r>
              <a:rPr lang="en-US" altLang="en-US" sz="2000" dirty="0"/>
              <a:t>,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subsystems</a:t>
            </a:r>
            <a:r>
              <a:rPr lang="en-US" altLang="en-US" sz="2000" dirty="0"/>
              <a:t>,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daemons</a:t>
            </a:r>
            <a:r>
              <a:rPr lang="en-US" altLang="en-US" sz="2000" dirty="0"/>
              <a:t> </a:t>
            </a:r>
            <a:endParaRPr lang="en-US" altLang="en-US" sz="2000" b="1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b="1" dirty="0"/>
              <a:t>Application programs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Don’t pertain to system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Run by users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Not typically considered part of OS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Launched by command line, mouse click, finger poke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B139628D-AE2A-46FB-AA5B-FECFA241A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Linkers and Loaders</a:t>
            </a:r>
          </a:p>
        </p:txBody>
      </p:sp>
      <p:sp>
        <p:nvSpPr>
          <p:cNvPr id="66563" name="Content Placeholder 2">
            <a:extLst>
              <a:ext uri="{FF2B5EF4-FFF2-40B4-BE49-F238E27FC236}">
                <a16:creationId xmlns:a16="http://schemas.microsoft.com/office/drawing/2014/main" id="{F413004A-DAD3-4F03-A509-ECD5943DEF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dirty="0"/>
              <a:t>Source code compiled into object files designed to be loaded into any physical memory location –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relocatable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object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file</a:t>
            </a:r>
          </a:p>
          <a:p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Linker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combines these into single binary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executable</a:t>
            </a:r>
            <a:r>
              <a:rPr lang="en-US" altLang="en-US" sz="1800" dirty="0"/>
              <a:t> file</a:t>
            </a:r>
          </a:p>
          <a:p>
            <a:pPr lvl="1"/>
            <a:r>
              <a:rPr lang="en-US" altLang="en-US" sz="1800" dirty="0"/>
              <a:t>Also brings in libraries</a:t>
            </a:r>
          </a:p>
          <a:p>
            <a:r>
              <a:rPr lang="en-US" altLang="en-US" sz="1800" dirty="0"/>
              <a:t>Program resides on secondary storage as binary executable</a:t>
            </a:r>
          </a:p>
          <a:p>
            <a:r>
              <a:rPr lang="en-US" altLang="en-US" sz="1800" dirty="0"/>
              <a:t>Must be brought into memory by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loader</a:t>
            </a:r>
            <a:r>
              <a:rPr lang="en-US" altLang="en-US" sz="1800" dirty="0"/>
              <a:t> to be executed</a:t>
            </a:r>
          </a:p>
          <a:p>
            <a:pPr lvl="1"/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sz="1800" dirty="0"/>
              <a:t> assigns final addresses to program parts and adjusts code and data in program to match those addresses</a:t>
            </a:r>
          </a:p>
          <a:p>
            <a:r>
              <a:rPr lang="en-US" altLang="en-US" sz="1800" dirty="0"/>
              <a:t>Modern general purpose systems don’t link libraries into executables</a:t>
            </a:r>
          </a:p>
          <a:p>
            <a:pPr lvl="1"/>
            <a:r>
              <a:rPr lang="en-US" altLang="en-US" sz="1800" dirty="0"/>
              <a:t>Rather,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dynamically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linked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libraries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(in Windows,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DLLs</a:t>
            </a:r>
            <a:r>
              <a:rPr lang="en-US" altLang="en-US" sz="1800" dirty="0"/>
              <a:t>) are loaded as needed, shared by all that use the same version of that same library (loaded once)</a:t>
            </a:r>
          </a:p>
          <a:p>
            <a:r>
              <a:rPr lang="en-US" altLang="en-US" sz="1800" dirty="0"/>
              <a:t>Object, executable files have standard formats, so operating system knows how to load and start them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2C7140E0-64EE-48A3-941C-70C6BCDF8D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0438" y="225425"/>
            <a:ext cx="7573962" cy="576263"/>
          </a:xfrm>
        </p:spPr>
        <p:txBody>
          <a:bodyPr/>
          <a:lstStyle/>
          <a:p>
            <a:r>
              <a:rPr lang="en-US" alt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The Role of the Linker and Loader</a:t>
            </a:r>
          </a:p>
        </p:txBody>
      </p:sp>
      <p:pic>
        <p:nvPicPr>
          <p:cNvPr id="67587" name="Content Placeholder 6">
            <a:extLst>
              <a:ext uri="{FF2B5EF4-FFF2-40B4-BE49-F238E27FC236}">
                <a16:creationId xmlns:a16="http://schemas.microsoft.com/office/drawing/2014/main" id="{CD8E9885-D5F1-451A-B45F-8C24EB28DF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87613" y="1204913"/>
            <a:ext cx="4608512" cy="4859337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F801B-5CC9-F7F5-770B-DF89B13F7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         THANK YOU</a:t>
            </a:r>
            <a:endParaRPr lang="en-IN" sz="4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430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7682</TotalTime>
  <Words>1723</Words>
  <Application>Microsoft Office PowerPoint</Application>
  <PresentationFormat>On-screen Show (4:3)</PresentationFormat>
  <Paragraphs>207</Paragraphs>
  <Slides>26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Monotype Sorts</vt:lpstr>
      <vt:lpstr>StarSymbol</vt:lpstr>
      <vt:lpstr>Symbol</vt:lpstr>
      <vt:lpstr>Times New Roman</vt:lpstr>
      <vt:lpstr>Verdana</vt:lpstr>
      <vt:lpstr>Webdings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Services</vt:lpstr>
      <vt:lpstr>System Services</vt:lpstr>
      <vt:lpstr>System Services (Cont.)</vt:lpstr>
      <vt:lpstr>System Services (Cont.)</vt:lpstr>
      <vt:lpstr>Linkers and Loaders</vt:lpstr>
      <vt:lpstr>The Role of the Linker and Loader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subject/>
  <dc:creator>Lucent End User</dc:creator>
  <dc:description/>
  <cp:lastModifiedBy>savitha shetty</cp:lastModifiedBy>
  <cp:revision>137</cp:revision>
  <cp:lastPrinted>2001-06-14T13:58:17Z</cp:lastPrinted>
  <dcterms:created xsi:type="dcterms:W3CDTF">2011-01-13T23:43:38Z</dcterms:created>
  <dcterms:modified xsi:type="dcterms:W3CDTF">2024-07-12T00:13:57Z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Company">
    <vt:lpwstr>Lucent Technologies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51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54</vt:i4>
  </property>
</Properties>
</file>