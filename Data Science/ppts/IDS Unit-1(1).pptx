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39" r:id="rId55"/>
    <p:sldId id="337" r:id="rId56"/>
    <p:sldId id="338"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4" r:id="rId71"/>
    <p:sldId id="325" r:id="rId72"/>
    <p:sldId id="323" r:id="rId73"/>
    <p:sldId id="326" r:id="rId74"/>
    <p:sldId id="327" r:id="rId75"/>
    <p:sldId id="328" r:id="rId76"/>
    <p:sldId id="329" r:id="rId77"/>
    <p:sldId id="330" r:id="rId78"/>
    <p:sldId id="331" r:id="rId79"/>
    <p:sldId id="332" r:id="rId80"/>
    <p:sldId id="333" r:id="rId81"/>
    <p:sldId id="334" r:id="rId82"/>
    <p:sldId id="335" r:id="rId83"/>
    <p:sldId id="336" r:id="rId8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100" d="100"/>
          <a:sy n="100" d="100"/>
        </p:scale>
        <p:origin x="14" y="-2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942AA-F6D6-4D0F-B056-9C6C2E6064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7D5389-F9EA-4E5C-B67B-D0DB3B0D84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2111452-8BA8-469E-8D84-D6A294DB4DD5}"/>
              </a:ext>
            </a:extLst>
          </p:cNvPr>
          <p:cNvSpPr>
            <a:spLocks noGrp="1"/>
          </p:cNvSpPr>
          <p:nvPr>
            <p:ph type="dt" sz="half" idx="10"/>
          </p:nvPr>
        </p:nvSpPr>
        <p:spPr/>
        <p:txBody>
          <a:bodyPr/>
          <a:lstStyle/>
          <a:p>
            <a:fld id="{5B113146-2106-4C30-9C44-F176EA10EAF4}" type="datetimeFigureOut">
              <a:rPr lang="en-IN" smtClean="0"/>
              <a:t>14-08-2026</a:t>
            </a:fld>
            <a:endParaRPr lang="en-IN"/>
          </a:p>
        </p:txBody>
      </p:sp>
      <p:sp>
        <p:nvSpPr>
          <p:cNvPr id="5" name="Footer Placeholder 4">
            <a:extLst>
              <a:ext uri="{FF2B5EF4-FFF2-40B4-BE49-F238E27FC236}">
                <a16:creationId xmlns:a16="http://schemas.microsoft.com/office/drawing/2014/main" id="{38C7F44C-1524-490D-AB75-A847B424E8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742E77-913A-40F6-BC76-D62525410E4E}"/>
              </a:ext>
            </a:extLst>
          </p:cNvPr>
          <p:cNvSpPr>
            <a:spLocks noGrp="1"/>
          </p:cNvSpPr>
          <p:nvPr>
            <p:ph type="sldNum" sz="quarter" idx="12"/>
          </p:nvPr>
        </p:nvSpPr>
        <p:spPr/>
        <p:txBody>
          <a:bodyPr/>
          <a:lstStyle/>
          <a:p>
            <a:fld id="{A1272ACB-01FB-48BC-AEFF-65285202142E}" type="slidenum">
              <a:rPr lang="en-IN" smtClean="0"/>
              <a:t>‹#›</a:t>
            </a:fld>
            <a:endParaRPr lang="en-IN"/>
          </a:p>
        </p:txBody>
      </p:sp>
    </p:spTree>
    <p:extLst>
      <p:ext uri="{BB962C8B-B14F-4D97-AF65-F5344CB8AC3E}">
        <p14:creationId xmlns:p14="http://schemas.microsoft.com/office/powerpoint/2010/main" val="757544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3D9D1-D405-409E-AD0A-ADD8D1E91A3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FA2E233-833E-45E6-B991-4E2460D9E88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474783-5C5D-419C-9A95-355782585ABA}"/>
              </a:ext>
            </a:extLst>
          </p:cNvPr>
          <p:cNvSpPr>
            <a:spLocks noGrp="1"/>
          </p:cNvSpPr>
          <p:nvPr>
            <p:ph type="dt" sz="half" idx="10"/>
          </p:nvPr>
        </p:nvSpPr>
        <p:spPr/>
        <p:txBody>
          <a:bodyPr/>
          <a:lstStyle/>
          <a:p>
            <a:fld id="{5B113146-2106-4C30-9C44-F176EA10EAF4}" type="datetimeFigureOut">
              <a:rPr lang="en-IN" smtClean="0"/>
              <a:t>14-08-2026</a:t>
            </a:fld>
            <a:endParaRPr lang="en-IN"/>
          </a:p>
        </p:txBody>
      </p:sp>
      <p:sp>
        <p:nvSpPr>
          <p:cNvPr id="5" name="Footer Placeholder 4">
            <a:extLst>
              <a:ext uri="{FF2B5EF4-FFF2-40B4-BE49-F238E27FC236}">
                <a16:creationId xmlns:a16="http://schemas.microsoft.com/office/drawing/2014/main" id="{B366A886-776B-44D9-98C9-674E0FDA16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44F7E8-FC9B-42B5-AA9C-F2592868B74A}"/>
              </a:ext>
            </a:extLst>
          </p:cNvPr>
          <p:cNvSpPr>
            <a:spLocks noGrp="1"/>
          </p:cNvSpPr>
          <p:nvPr>
            <p:ph type="sldNum" sz="quarter" idx="12"/>
          </p:nvPr>
        </p:nvSpPr>
        <p:spPr/>
        <p:txBody>
          <a:bodyPr/>
          <a:lstStyle/>
          <a:p>
            <a:fld id="{A1272ACB-01FB-48BC-AEFF-65285202142E}" type="slidenum">
              <a:rPr lang="en-IN" smtClean="0"/>
              <a:t>‹#›</a:t>
            </a:fld>
            <a:endParaRPr lang="en-IN"/>
          </a:p>
        </p:txBody>
      </p:sp>
    </p:spTree>
    <p:extLst>
      <p:ext uri="{BB962C8B-B14F-4D97-AF65-F5344CB8AC3E}">
        <p14:creationId xmlns:p14="http://schemas.microsoft.com/office/powerpoint/2010/main" val="2648258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847BC-5EE6-43DC-B4D1-937863D2B39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0AF079C-40DB-45CA-A565-E9E9445C51C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17AF650-8A6C-454A-9FF4-9D71EEDC2149}"/>
              </a:ext>
            </a:extLst>
          </p:cNvPr>
          <p:cNvSpPr>
            <a:spLocks noGrp="1"/>
          </p:cNvSpPr>
          <p:nvPr>
            <p:ph type="dt" sz="half" idx="10"/>
          </p:nvPr>
        </p:nvSpPr>
        <p:spPr/>
        <p:txBody>
          <a:bodyPr/>
          <a:lstStyle/>
          <a:p>
            <a:fld id="{5B113146-2106-4C30-9C44-F176EA10EAF4}" type="datetimeFigureOut">
              <a:rPr lang="en-IN" smtClean="0"/>
              <a:t>14-08-2026</a:t>
            </a:fld>
            <a:endParaRPr lang="en-IN"/>
          </a:p>
        </p:txBody>
      </p:sp>
      <p:sp>
        <p:nvSpPr>
          <p:cNvPr id="5" name="Footer Placeholder 4">
            <a:extLst>
              <a:ext uri="{FF2B5EF4-FFF2-40B4-BE49-F238E27FC236}">
                <a16:creationId xmlns:a16="http://schemas.microsoft.com/office/drawing/2014/main" id="{87FBCC16-8B7C-414E-B17A-12FD988FC4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EF8591-42C0-40DE-873C-EA793C22A508}"/>
              </a:ext>
            </a:extLst>
          </p:cNvPr>
          <p:cNvSpPr>
            <a:spLocks noGrp="1"/>
          </p:cNvSpPr>
          <p:nvPr>
            <p:ph type="sldNum" sz="quarter" idx="12"/>
          </p:nvPr>
        </p:nvSpPr>
        <p:spPr/>
        <p:txBody>
          <a:bodyPr/>
          <a:lstStyle/>
          <a:p>
            <a:fld id="{A1272ACB-01FB-48BC-AEFF-65285202142E}" type="slidenum">
              <a:rPr lang="en-IN" smtClean="0"/>
              <a:t>‹#›</a:t>
            </a:fld>
            <a:endParaRPr lang="en-IN"/>
          </a:p>
        </p:txBody>
      </p:sp>
    </p:spTree>
    <p:extLst>
      <p:ext uri="{BB962C8B-B14F-4D97-AF65-F5344CB8AC3E}">
        <p14:creationId xmlns:p14="http://schemas.microsoft.com/office/powerpoint/2010/main" val="3889664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85A8C-90F7-4847-9C8B-6F57D71F620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2747CE9-C57E-4773-9F68-A8BAAF223291}"/>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8D1BB55-53E7-4F62-B82B-A9E9D6B2606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C32F2B7-AEB2-4C49-B49F-47DDB29AFA52}"/>
              </a:ext>
            </a:extLst>
          </p:cNvPr>
          <p:cNvSpPr>
            <a:spLocks noGrp="1"/>
          </p:cNvSpPr>
          <p:nvPr>
            <p:ph type="dt" sz="half" idx="10"/>
          </p:nvPr>
        </p:nvSpPr>
        <p:spPr/>
        <p:txBody>
          <a:bodyPr/>
          <a:lstStyle/>
          <a:p>
            <a:fld id="{5B113146-2106-4C30-9C44-F176EA10EAF4}" type="datetimeFigureOut">
              <a:rPr lang="en-IN" smtClean="0"/>
              <a:t>14-08-2026</a:t>
            </a:fld>
            <a:endParaRPr lang="en-IN"/>
          </a:p>
        </p:txBody>
      </p:sp>
      <p:sp>
        <p:nvSpPr>
          <p:cNvPr id="6" name="Footer Placeholder 5">
            <a:extLst>
              <a:ext uri="{FF2B5EF4-FFF2-40B4-BE49-F238E27FC236}">
                <a16:creationId xmlns:a16="http://schemas.microsoft.com/office/drawing/2014/main" id="{E1AA6F0C-24CE-43F4-BE28-9000DACC6A3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F1FB86F-2501-4BEB-86BD-A32408C61906}"/>
              </a:ext>
            </a:extLst>
          </p:cNvPr>
          <p:cNvSpPr>
            <a:spLocks noGrp="1"/>
          </p:cNvSpPr>
          <p:nvPr>
            <p:ph type="sldNum" sz="quarter" idx="12"/>
          </p:nvPr>
        </p:nvSpPr>
        <p:spPr/>
        <p:txBody>
          <a:bodyPr/>
          <a:lstStyle/>
          <a:p>
            <a:fld id="{A1272ACB-01FB-48BC-AEFF-65285202142E}" type="slidenum">
              <a:rPr lang="en-IN" smtClean="0"/>
              <a:t>‹#›</a:t>
            </a:fld>
            <a:endParaRPr lang="en-IN"/>
          </a:p>
        </p:txBody>
      </p:sp>
    </p:spTree>
    <p:extLst>
      <p:ext uri="{BB962C8B-B14F-4D97-AF65-F5344CB8AC3E}">
        <p14:creationId xmlns:p14="http://schemas.microsoft.com/office/powerpoint/2010/main" val="33825265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1ADEF-7754-452D-91EF-708C96C480C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A46958F-2B22-41EB-AB2F-B5383056A3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E2B9A31-91C7-4A42-86C8-5F591B6825F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7067F1A-6CF0-487C-B7E6-842D97BBAF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0FA528A-3689-43B3-87BA-FEEE4A1A9F9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C8E7A33-F548-49CB-8E0B-11F51E9126A4}"/>
              </a:ext>
            </a:extLst>
          </p:cNvPr>
          <p:cNvSpPr>
            <a:spLocks noGrp="1"/>
          </p:cNvSpPr>
          <p:nvPr>
            <p:ph type="dt" sz="half" idx="10"/>
          </p:nvPr>
        </p:nvSpPr>
        <p:spPr/>
        <p:txBody>
          <a:bodyPr/>
          <a:lstStyle/>
          <a:p>
            <a:fld id="{5B113146-2106-4C30-9C44-F176EA10EAF4}" type="datetimeFigureOut">
              <a:rPr lang="en-IN" smtClean="0"/>
              <a:t>14-08-2026</a:t>
            </a:fld>
            <a:endParaRPr lang="en-IN"/>
          </a:p>
        </p:txBody>
      </p:sp>
      <p:sp>
        <p:nvSpPr>
          <p:cNvPr id="8" name="Footer Placeholder 7">
            <a:extLst>
              <a:ext uri="{FF2B5EF4-FFF2-40B4-BE49-F238E27FC236}">
                <a16:creationId xmlns:a16="http://schemas.microsoft.com/office/drawing/2014/main" id="{64AD61BF-7AAA-448D-A2C3-2AD0178E832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AE191B2-0D91-446F-BB2A-CA23BC2CF436}"/>
              </a:ext>
            </a:extLst>
          </p:cNvPr>
          <p:cNvSpPr>
            <a:spLocks noGrp="1"/>
          </p:cNvSpPr>
          <p:nvPr>
            <p:ph type="sldNum" sz="quarter" idx="12"/>
          </p:nvPr>
        </p:nvSpPr>
        <p:spPr/>
        <p:txBody>
          <a:bodyPr/>
          <a:lstStyle/>
          <a:p>
            <a:fld id="{A1272ACB-01FB-48BC-AEFF-65285202142E}" type="slidenum">
              <a:rPr lang="en-IN" smtClean="0"/>
              <a:t>‹#›</a:t>
            </a:fld>
            <a:endParaRPr lang="en-IN"/>
          </a:p>
        </p:txBody>
      </p:sp>
    </p:spTree>
    <p:extLst>
      <p:ext uri="{BB962C8B-B14F-4D97-AF65-F5344CB8AC3E}">
        <p14:creationId xmlns:p14="http://schemas.microsoft.com/office/powerpoint/2010/main" val="1879239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082DA-0D84-4149-8C68-33B0DE44A8B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FF3B518-75D4-44E1-AEDA-913FAABBC38B}"/>
              </a:ext>
            </a:extLst>
          </p:cNvPr>
          <p:cNvSpPr>
            <a:spLocks noGrp="1"/>
          </p:cNvSpPr>
          <p:nvPr>
            <p:ph type="dt" sz="half" idx="10"/>
          </p:nvPr>
        </p:nvSpPr>
        <p:spPr/>
        <p:txBody>
          <a:bodyPr/>
          <a:lstStyle/>
          <a:p>
            <a:fld id="{5B113146-2106-4C30-9C44-F176EA10EAF4}" type="datetimeFigureOut">
              <a:rPr lang="en-IN" smtClean="0"/>
              <a:t>14-08-2026</a:t>
            </a:fld>
            <a:endParaRPr lang="en-IN"/>
          </a:p>
        </p:txBody>
      </p:sp>
      <p:sp>
        <p:nvSpPr>
          <p:cNvPr id="4" name="Footer Placeholder 3">
            <a:extLst>
              <a:ext uri="{FF2B5EF4-FFF2-40B4-BE49-F238E27FC236}">
                <a16:creationId xmlns:a16="http://schemas.microsoft.com/office/drawing/2014/main" id="{BC6EB997-274A-47A6-9C39-96113599E54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30F132E-1443-4237-A509-9C3A71CDA972}"/>
              </a:ext>
            </a:extLst>
          </p:cNvPr>
          <p:cNvSpPr>
            <a:spLocks noGrp="1"/>
          </p:cNvSpPr>
          <p:nvPr>
            <p:ph type="sldNum" sz="quarter" idx="12"/>
          </p:nvPr>
        </p:nvSpPr>
        <p:spPr/>
        <p:txBody>
          <a:bodyPr/>
          <a:lstStyle/>
          <a:p>
            <a:fld id="{A1272ACB-01FB-48BC-AEFF-65285202142E}" type="slidenum">
              <a:rPr lang="en-IN" smtClean="0"/>
              <a:t>‹#›</a:t>
            </a:fld>
            <a:endParaRPr lang="en-IN"/>
          </a:p>
        </p:txBody>
      </p:sp>
    </p:spTree>
    <p:extLst>
      <p:ext uri="{BB962C8B-B14F-4D97-AF65-F5344CB8AC3E}">
        <p14:creationId xmlns:p14="http://schemas.microsoft.com/office/powerpoint/2010/main" val="1764197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F00B29-F95C-4A49-827E-42DA67296F26}"/>
              </a:ext>
            </a:extLst>
          </p:cNvPr>
          <p:cNvSpPr>
            <a:spLocks noGrp="1"/>
          </p:cNvSpPr>
          <p:nvPr>
            <p:ph type="dt" sz="half" idx="10"/>
          </p:nvPr>
        </p:nvSpPr>
        <p:spPr/>
        <p:txBody>
          <a:bodyPr/>
          <a:lstStyle/>
          <a:p>
            <a:fld id="{5B113146-2106-4C30-9C44-F176EA10EAF4}" type="datetimeFigureOut">
              <a:rPr lang="en-IN" smtClean="0"/>
              <a:t>14-08-2026</a:t>
            </a:fld>
            <a:endParaRPr lang="en-IN"/>
          </a:p>
        </p:txBody>
      </p:sp>
      <p:sp>
        <p:nvSpPr>
          <p:cNvPr id="3" name="Footer Placeholder 2">
            <a:extLst>
              <a:ext uri="{FF2B5EF4-FFF2-40B4-BE49-F238E27FC236}">
                <a16:creationId xmlns:a16="http://schemas.microsoft.com/office/drawing/2014/main" id="{8541EEE8-A435-4B3E-AA38-EF4C70A7BBD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7CF64E7-8480-4FD5-8EF1-FB2B9814750F}"/>
              </a:ext>
            </a:extLst>
          </p:cNvPr>
          <p:cNvSpPr>
            <a:spLocks noGrp="1"/>
          </p:cNvSpPr>
          <p:nvPr>
            <p:ph type="sldNum" sz="quarter" idx="12"/>
          </p:nvPr>
        </p:nvSpPr>
        <p:spPr/>
        <p:txBody>
          <a:bodyPr/>
          <a:lstStyle/>
          <a:p>
            <a:fld id="{A1272ACB-01FB-48BC-AEFF-65285202142E}" type="slidenum">
              <a:rPr lang="en-IN" smtClean="0"/>
              <a:t>‹#›</a:t>
            </a:fld>
            <a:endParaRPr lang="en-IN"/>
          </a:p>
        </p:txBody>
      </p:sp>
    </p:spTree>
    <p:extLst>
      <p:ext uri="{BB962C8B-B14F-4D97-AF65-F5344CB8AC3E}">
        <p14:creationId xmlns:p14="http://schemas.microsoft.com/office/powerpoint/2010/main" val="58713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6F9E1-744A-401F-B694-914E07C1A6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2250EE6-71E1-4872-9D20-AC3EDE7087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5F8F100-1747-43F2-96E3-4EFAF9F206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82BDC18-460A-44D2-87EB-7EA8EDFC7E1D}"/>
              </a:ext>
            </a:extLst>
          </p:cNvPr>
          <p:cNvSpPr>
            <a:spLocks noGrp="1"/>
          </p:cNvSpPr>
          <p:nvPr>
            <p:ph type="dt" sz="half" idx="10"/>
          </p:nvPr>
        </p:nvSpPr>
        <p:spPr/>
        <p:txBody>
          <a:bodyPr/>
          <a:lstStyle/>
          <a:p>
            <a:fld id="{5B113146-2106-4C30-9C44-F176EA10EAF4}" type="datetimeFigureOut">
              <a:rPr lang="en-IN" smtClean="0"/>
              <a:t>14-08-2026</a:t>
            </a:fld>
            <a:endParaRPr lang="en-IN"/>
          </a:p>
        </p:txBody>
      </p:sp>
      <p:sp>
        <p:nvSpPr>
          <p:cNvPr id="6" name="Footer Placeholder 5">
            <a:extLst>
              <a:ext uri="{FF2B5EF4-FFF2-40B4-BE49-F238E27FC236}">
                <a16:creationId xmlns:a16="http://schemas.microsoft.com/office/drawing/2014/main" id="{8FAAD361-7A01-457C-97A4-8F048967CC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199255E-7FCA-4AB2-B44F-EAD5D94C07C4}"/>
              </a:ext>
            </a:extLst>
          </p:cNvPr>
          <p:cNvSpPr>
            <a:spLocks noGrp="1"/>
          </p:cNvSpPr>
          <p:nvPr>
            <p:ph type="sldNum" sz="quarter" idx="12"/>
          </p:nvPr>
        </p:nvSpPr>
        <p:spPr/>
        <p:txBody>
          <a:bodyPr/>
          <a:lstStyle/>
          <a:p>
            <a:fld id="{A1272ACB-01FB-48BC-AEFF-65285202142E}" type="slidenum">
              <a:rPr lang="en-IN" smtClean="0"/>
              <a:t>‹#›</a:t>
            </a:fld>
            <a:endParaRPr lang="en-IN"/>
          </a:p>
        </p:txBody>
      </p:sp>
    </p:spTree>
    <p:extLst>
      <p:ext uri="{BB962C8B-B14F-4D97-AF65-F5344CB8AC3E}">
        <p14:creationId xmlns:p14="http://schemas.microsoft.com/office/powerpoint/2010/main" val="18187110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7C9E3-F196-4E5C-ADE8-B0810B1615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70913A1-93C0-4ADC-AB54-0690745C16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EB807B1-D4A9-4CC3-BF59-AB3A94D526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5B87058-21CE-4599-BA2A-13BD30D177BB}"/>
              </a:ext>
            </a:extLst>
          </p:cNvPr>
          <p:cNvSpPr>
            <a:spLocks noGrp="1"/>
          </p:cNvSpPr>
          <p:nvPr>
            <p:ph type="dt" sz="half" idx="10"/>
          </p:nvPr>
        </p:nvSpPr>
        <p:spPr/>
        <p:txBody>
          <a:bodyPr/>
          <a:lstStyle/>
          <a:p>
            <a:fld id="{5B113146-2106-4C30-9C44-F176EA10EAF4}" type="datetimeFigureOut">
              <a:rPr lang="en-IN" smtClean="0"/>
              <a:t>14-08-2026</a:t>
            </a:fld>
            <a:endParaRPr lang="en-IN"/>
          </a:p>
        </p:txBody>
      </p:sp>
      <p:sp>
        <p:nvSpPr>
          <p:cNvPr id="6" name="Footer Placeholder 5">
            <a:extLst>
              <a:ext uri="{FF2B5EF4-FFF2-40B4-BE49-F238E27FC236}">
                <a16:creationId xmlns:a16="http://schemas.microsoft.com/office/drawing/2014/main" id="{176751B6-B862-4267-A733-A827139DDA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B8AFFD8-067B-4D46-8E7B-4E7F7A320EE3}"/>
              </a:ext>
            </a:extLst>
          </p:cNvPr>
          <p:cNvSpPr>
            <a:spLocks noGrp="1"/>
          </p:cNvSpPr>
          <p:nvPr>
            <p:ph type="sldNum" sz="quarter" idx="12"/>
          </p:nvPr>
        </p:nvSpPr>
        <p:spPr/>
        <p:txBody>
          <a:bodyPr/>
          <a:lstStyle/>
          <a:p>
            <a:fld id="{A1272ACB-01FB-48BC-AEFF-65285202142E}" type="slidenum">
              <a:rPr lang="en-IN" smtClean="0"/>
              <a:t>‹#›</a:t>
            </a:fld>
            <a:endParaRPr lang="en-IN"/>
          </a:p>
        </p:txBody>
      </p:sp>
    </p:spTree>
    <p:extLst>
      <p:ext uri="{BB962C8B-B14F-4D97-AF65-F5344CB8AC3E}">
        <p14:creationId xmlns:p14="http://schemas.microsoft.com/office/powerpoint/2010/main" val="1925651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E1840-FE1C-4B84-8B48-18F74B9A447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3B5BB7A-066D-43F8-AEA3-CDE1F22CB92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D18356-D33B-4F19-831D-052EE8A2A801}"/>
              </a:ext>
            </a:extLst>
          </p:cNvPr>
          <p:cNvSpPr>
            <a:spLocks noGrp="1"/>
          </p:cNvSpPr>
          <p:nvPr>
            <p:ph type="dt" sz="half" idx="10"/>
          </p:nvPr>
        </p:nvSpPr>
        <p:spPr/>
        <p:txBody>
          <a:bodyPr/>
          <a:lstStyle/>
          <a:p>
            <a:fld id="{5B113146-2106-4C30-9C44-F176EA10EAF4}" type="datetimeFigureOut">
              <a:rPr lang="en-IN" smtClean="0"/>
              <a:t>14-08-2026</a:t>
            </a:fld>
            <a:endParaRPr lang="en-IN"/>
          </a:p>
        </p:txBody>
      </p:sp>
      <p:sp>
        <p:nvSpPr>
          <p:cNvPr id="5" name="Footer Placeholder 4">
            <a:extLst>
              <a:ext uri="{FF2B5EF4-FFF2-40B4-BE49-F238E27FC236}">
                <a16:creationId xmlns:a16="http://schemas.microsoft.com/office/drawing/2014/main" id="{328D6688-7139-4EE3-800B-10B05B7DBD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F5D9E0-A766-4B21-9C2B-C7212B2E3869}"/>
              </a:ext>
            </a:extLst>
          </p:cNvPr>
          <p:cNvSpPr>
            <a:spLocks noGrp="1"/>
          </p:cNvSpPr>
          <p:nvPr>
            <p:ph type="sldNum" sz="quarter" idx="12"/>
          </p:nvPr>
        </p:nvSpPr>
        <p:spPr/>
        <p:txBody>
          <a:bodyPr/>
          <a:lstStyle/>
          <a:p>
            <a:fld id="{A1272ACB-01FB-48BC-AEFF-65285202142E}" type="slidenum">
              <a:rPr lang="en-IN" smtClean="0"/>
              <a:t>‹#›</a:t>
            </a:fld>
            <a:endParaRPr lang="en-IN"/>
          </a:p>
        </p:txBody>
      </p:sp>
    </p:spTree>
    <p:extLst>
      <p:ext uri="{BB962C8B-B14F-4D97-AF65-F5344CB8AC3E}">
        <p14:creationId xmlns:p14="http://schemas.microsoft.com/office/powerpoint/2010/main" val="424275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753E5F-59E3-472A-996A-1046F131D03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02BF4CA-7B02-4949-AB87-88086E2789C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8FF613-5B4C-4742-B9D9-970AC85F98D4}"/>
              </a:ext>
            </a:extLst>
          </p:cNvPr>
          <p:cNvSpPr>
            <a:spLocks noGrp="1"/>
          </p:cNvSpPr>
          <p:nvPr>
            <p:ph type="dt" sz="half" idx="10"/>
          </p:nvPr>
        </p:nvSpPr>
        <p:spPr/>
        <p:txBody>
          <a:bodyPr/>
          <a:lstStyle/>
          <a:p>
            <a:fld id="{5B113146-2106-4C30-9C44-F176EA10EAF4}" type="datetimeFigureOut">
              <a:rPr lang="en-IN" smtClean="0"/>
              <a:t>14-08-2026</a:t>
            </a:fld>
            <a:endParaRPr lang="en-IN"/>
          </a:p>
        </p:txBody>
      </p:sp>
      <p:sp>
        <p:nvSpPr>
          <p:cNvPr id="5" name="Footer Placeholder 4">
            <a:extLst>
              <a:ext uri="{FF2B5EF4-FFF2-40B4-BE49-F238E27FC236}">
                <a16:creationId xmlns:a16="http://schemas.microsoft.com/office/drawing/2014/main" id="{4B0BC5E3-A7F3-4537-B231-5B7C7923E9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B4F8C6-6FDB-4172-B5B7-4CD422662F84}"/>
              </a:ext>
            </a:extLst>
          </p:cNvPr>
          <p:cNvSpPr>
            <a:spLocks noGrp="1"/>
          </p:cNvSpPr>
          <p:nvPr>
            <p:ph type="sldNum" sz="quarter" idx="12"/>
          </p:nvPr>
        </p:nvSpPr>
        <p:spPr/>
        <p:txBody>
          <a:bodyPr/>
          <a:lstStyle/>
          <a:p>
            <a:fld id="{A1272ACB-01FB-48BC-AEFF-65285202142E}" type="slidenum">
              <a:rPr lang="en-IN" smtClean="0"/>
              <a:t>‹#›</a:t>
            </a:fld>
            <a:endParaRPr lang="en-IN"/>
          </a:p>
        </p:txBody>
      </p:sp>
    </p:spTree>
    <p:extLst>
      <p:ext uri="{BB962C8B-B14F-4D97-AF65-F5344CB8AC3E}">
        <p14:creationId xmlns:p14="http://schemas.microsoft.com/office/powerpoint/2010/main" val="29988609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AF8A3F-5F5A-4E81-AEBF-435AAA74F2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2943844-5DEC-49CC-9495-1B6D7A4F93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7FEEF2-BFD2-47F6-9D7B-5C4C55C27B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113146-2106-4C30-9C44-F176EA10EAF4}" type="datetimeFigureOut">
              <a:rPr lang="en-IN" smtClean="0"/>
              <a:t>14-08-2026</a:t>
            </a:fld>
            <a:endParaRPr lang="en-IN"/>
          </a:p>
        </p:txBody>
      </p:sp>
      <p:sp>
        <p:nvSpPr>
          <p:cNvPr id="5" name="Footer Placeholder 4">
            <a:extLst>
              <a:ext uri="{FF2B5EF4-FFF2-40B4-BE49-F238E27FC236}">
                <a16:creationId xmlns:a16="http://schemas.microsoft.com/office/drawing/2014/main" id="{2252D476-4675-49BC-A59E-C4B07EE347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F2C0801-B75A-4B12-B9C7-CC636B822E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272ACB-01FB-48BC-AEFF-65285202142E}" type="slidenum">
              <a:rPr lang="en-IN" smtClean="0"/>
              <a:t>‹#›</a:t>
            </a:fld>
            <a:endParaRPr lang="en-IN"/>
          </a:p>
        </p:txBody>
      </p:sp>
    </p:spTree>
    <p:extLst>
      <p:ext uri="{BB962C8B-B14F-4D97-AF65-F5344CB8AC3E}">
        <p14:creationId xmlns:p14="http://schemas.microsoft.com/office/powerpoint/2010/main" val="5942851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2.xml"/><Relationship Id="rId5" Type="http://schemas.openxmlformats.org/officeDocument/2006/relationships/image" Target="../media/image25.jpg"/><Relationship Id="rId4" Type="http://schemas.openxmlformats.org/officeDocument/2006/relationships/image" Target="../media/image24.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jp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8" Type="http://schemas.openxmlformats.org/officeDocument/2006/relationships/hyperlink" Target="https://support.microsoft.com/en-us/office/edate-function-3c920eb2-6e66-44e7-a1f5-753ae47ee4f5" TargetMode="External"/><Relationship Id="rId3" Type="http://schemas.openxmlformats.org/officeDocument/2006/relationships/hyperlink" Target="https://support.microsoft.com/en-us/office/datedif-function-25dba1a4-2812-480b-84dd-8b32a451b35c" TargetMode="External"/><Relationship Id="rId7" Type="http://schemas.openxmlformats.org/officeDocument/2006/relationships/hyperlink" Target="https://support.microsoft.com/en-us/office/days360-function-b9a509fd-49ef-407e-94df-0cbda5718c2a" TargetMode="External"/><Relationship Id="rId2" Type="http://schemas.openxmlformats.org/officeDocument/2006/relationships/hyperlink" Target="https://support.microsoft.com/en-us/office/date-function-e36c0c8c-4104-49da-ab83-82328b832349" TargetMode="External"/><Relationship Id="rId1" Type="http://schemas.openxmlformats.org/officeDocument/2006/relationships/slideLayout" Target="../slideLayouts/slideLayout2.xml"/><Relationship Id="rId6" Type="http://schemas.openxmlformats.org/officeDocument/2006/relationships/hyperlink" Target="https://support.microsoft.com/en-us/office/days-function-57740535-d549-4395-8728-0f07bff0b9df" TargetMode="External"/><Relationship Id="rId5" Type="http://schemas.openxmlformats.org/officeDocument/2006/relationships/hyperlink" Target="https://support.microsoft.com/en-us/office/day-function-8a7d1cbb-6c7d-4ba1-8aea-25c134d03101" TargetMode="External"/><Relationship Id="rId4" Type="http://schemas.openxmlformats.org/officeDocument/2006/relationships/hyperlink" Target="https://support.microsoft.com/en-us/office/datevalue-function-df8b07d4-7761-4a93-bc33-b7471bbff252" TargetMode="External"/><Relationship Id="rId9" Type="http://schemas.openxmlformats.org/officeDocument/2006/relationships/hyperlink" Target="https://support.microsoft.com/en-us/office/eomonth-function-7314ffa1-2bc9-4005-9d66-f49db127d628" TargetMode="External"/></Relationships>
</file>

<file path=ppt/slides/_rels/slide68.xml.rels><?xml version="1.0" encoding="UTF-8" standalone="yes"?>
<Relationships xmlns="http://schemas.openxmlformats.org/package/2006/relationships"><Relationship Id="rId8" Type="http://schemas.openxmlformats.org/officeDocument/2006/relationships/hyperlink" Target="https://support.microsoft.com/en-us/office/second-function-740d1cfc-553c-4099-b668-80eaa24e8af1" TargetMode="External"/><Relationship Id="rId3" Type="http://schemas.openxmlformats.org/officeDocument/2006/relationships/hyperlink" Target="https://support.microsoft.com/en-us/office/isoweeknum-function-1c2d0afe-d25b-4ab1-8894-8d0520e90e0e" TargetMode="External"/><Relationship Id="rId7" Type="http://schemas.openxmlformats.org/officeDocument/2006/relationships/hyperlink" Target="https://support.microsoft.com/en-us/office/now-function-3337fd29-145a-4347-b2e6-20c904739c46" TargetMode="External"/><Relationship Id="rId2" Type="http://schemas.openxmlformats.org/officeDocument/2006/relationships/hyperlink" Target="https://support.microsoft.com/en-us/office/hour-function-a3afa879-86cb-4339-b1b5-2dd2d7310ac7" TargetMode="External"/><Relationship Id="rId1" Type="http://schemas.openxmlformats.org/officeDocument/2006/relationships/slideLayout" Target="../slideLayouts/slideLayout2.xml"/><Relationship Id="rId6" Type="http://schemas.openxmlformats.org/officeDocument/2006/relationships/hyperlink" Target="https://support.microsoft.com/en-us/office/networkdays-intl-function-a9b26239-4f20-46a1-9ab8-4e925bfd5e28" TargetMode="External"/><Relationship Id="rId5" Type="http://schemas.openxmlformats.org/officeDocument/2006/relationships/hyperlink" Target="https://support.microsoft.com/en-us/office/month-function-579a2881-199b-48b2-ab90-ddba0eba86e8" TargetMode="External"/><Relationship Id="rId10" Type="http://schemas.openxmlformats.org/officeDocument/2006/relationships/hyperlink" Target="https://support.microsoft.com/en-us/office/timevalue-function-0b615c12-33d8-4431-bf3d-f3eb6d186645" TargetMode="External"/><Relationship Id="rId4" Type="http://schemas.openxmlformats.org/officeDocument/2006/relationships/hyperlink" Target="https://support.microsoft.com/en-us/office/minute-function-af728df0-05c4-4b07-9eed-a84801a60589" TargetMode="External"/><Relationship Id="rId9" Type="http://schemas.openxmlformats.org/officeDocument/2006/relationships/hyperlink" Target="https://support.microsoft.com/en-us/office/time-function-9a5aff99-8f7d-4611-845e-747d0b8d5457" TargetMode="External"/></Relationships>
</file>

<file path=ppt/slides/_rels/slide69.xml.rels><?xml version="1.0" encoding="UTF-8" standalone="yes"?>
<Relationships xmlns="http://schemas.openxmlformats.org/package/2006/relationships"><Relationship Id="rId8" Type="http://schemas.openxmlformats.org/officeDocument/2006/relationships/hyperlink" Target="https://support.microsoft.com/en-us/office/yearfrac-function-3844141e-c76d-4143-82b6-208454ddc6a8" TargetMode="External"/><Relationship Id="rId3" Type="http://schemas.openxmlformats.org/officeDocument/2006/relationships/hyperlink" Target="https://support.microsoft.com/en-us/office/weekday-function-60e44483-2ed1-439f-8bd0-e404c190949a" TargetMode="External"/><Relationship Id="rId7" Type="http://schemas.openxmlformats.org/officeDocument/2006/relationships/hyperlink" Target="https://support.microsoft.com/en-us/office/year-function-c64f017a-1354-490d-981f-578e8ec8d3b9" TargetMode="External"/><Relationship Id="rId2" Type="http://schemas.openxmlformats.org/officeDocument/2006/relationships/hyperlink" Target="https://support.microsoft.com/en-us/office/today-function-5eb3078d-a82c-4736-8930-2f51a028fdd9" TargetMode="External"/><Relationship Id="rId1" Type="http://schemas.openxmlformats.org/officeDocument/2006/relationships/slideLayout" Target="../slideLayouts/slideLayout2.xml"/><Relationship Id="rId6" Type="http://schemas.openxmlformats.org/officeDocument/2006/relationships/hyperlink" Target="https://support.microsoft.com/en-us/office/workday-intl-function-a378391c-9ba7-4678-8a39-39611a9bf81d" TargetMode="External"/><Relationship Id="rId5" Type="http://schemas.openxmlformats.org/officeDocument/2006/relationships/hyperlink" Target="https://support.microsoft.com/en-us/office/workday-function-f764a5b7-05fc-4494-9486-60d494efbf33" TargetMode="External"/><Relationship Id="rId4" Type="http://schemas.openxmlformats.org/officeDocument/2006/relationships/hyperlink" Target="https://support.microsoft.com/en-us/office/weeknum-function-e5c43a03-b4ab-426c-b411-b18c13c75340"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2.jpg"/><Relationship Id="rId1" Type="http://schemas.openxmlformats.org/officeDocument/2006/relationships/slideLayout" Target="../slideLayouts/slideLayout2.xml"/><Relationship Id="rId5" Type="http://schemas.openxmlformats.org/officeDocument/2006/relationships/image" Target="../media/image35.jpg"/><Relationship Id="rId4" Type="http://schemas.openxmlformats.org/officeDocument/2006/relationships/image" Target="../media/image34.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image" Target="../media/image39.jpg"/><Relationship Id="rId1" Type="http://schemas.openxmlformats.org/officeDocument/2006/relationships/slideLayout" Target="../slideLayouts/slideLayout2.xml"/><Relationship Id="rId4" Type="http://schemas.openxmlformats.org/officeDocument/2006/relationships/image" Target="../media/image41.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3C10A-B123-495E-A745-6419DDE88CFB}"/>
              </a:ext>
            </a:extLst>
          </p:cNvPr>
          <p:cNvSpPr>
            <a:spLocks noGrp="1"/>
          </p:cNvSpPr>
          <p:nvPr>
            <p:ph type="ctrTitle"/>
          </p:nvPr>
        </p:nvSpPr>
        <p:spPr/>
        <p:txBody>
          <a:bodyPr>
            <a:normAutofit fontScale="90000"/>
          </a:bodyPr>
          <a:lstStyle/>
          <a:p>
            <a:r>
              <a:rPr lang="en-US" dirty="0"/>
              <a:t>INTRODUCTION TO DATA ANALYSIS USING EXCEL </a:t>
            </a:r>
            <a:br>
              <a:rPr lang="en-US" dirty="0"/>
            </a:br>
            <a:r>
              <a:rPr lang="en-US" dirty="0"/>
              <a:t>UNIT - I </a:t>
            </a:r>
            <a:endParaRPr lang="en-IN" dirty="0"/>
          </a:p>
        </p:txBody>
      </p:sp>
      <p:sp>
        <p:nvSpPr>
          <p:cNvPr id="3" name="Subtitle 2">
            <a:extLst>
              <a:ext uri="{FF2B5EF4-FFF2-40B4-BE49-F238E27FC236}">
                <a16:creationId xmlns:a16="http://schemas.microsoft.com/office/drawing/2014/main" id="{6A4DE031-C5B9-4DDC-85C8-68CF684E7E59}"/>
              </a:ext>
            </a:extLst>
          </p:cNvPr>
          <p:cNvSpPr>
            <a:spLocks noGrp="1"/>
          </p:cNvSpPr>
          <p:nvPr>
            <p:ph type="subTitle" idx="1"/>
          </p:nvPr>
        </p:nvSpPr>
        <p:spPr>
          <a:xfrm>
            <a:off x="1524000" y="3814073"/>
            <a:ext cx="9144000" cy="1655762"/>
          </a:xfrm>
        </p:spPr>
        <p:txBody>
          <a:bodyPr/>
          <a:lstStyle/>
          <a:p>
            <a:r>
              <a:rPr lang="en-US" dirty="0"/>
              <a:t>INTRODUCTION TO DATA SCIENCE</a:t>
            </a:r>
            <a:endParaRPr lang="en-IN" dirty="0"/>
          </a:p>
        </p:txBody>
      </p:sp>
    </p:spTree>
    <p:extLst>
      <p:ext uri="{BB962C8B-B14F-4D97-AF65-F5344CB8AC3E}">
        <p14:creationId xmlns:p14="http://schemas.microsoft.com/office/powerpoint/2010/main" val="31431726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C4147-7ECD-4D07-BAC3-D4BBE6C55C61}"/>
              </a:ext>
            </a:extLst>
          </p:cNvPr>
          <p:cNvSpPr>
            <a:spLocks noGrp="1"/>
          </p:cNvSpPr>
          <p:nvPr>
            <p:ph type="title"/>
          </p:nvPr>
        </p:nvSpPr>
        <p:spPr>
          <a:xfrm>
            <a:off x="838200" y="213415"/>
            <a:ext cx="10515600" cy="1325563"/>
          </a:xfrm>
        </p:spPr>
        <p:txBody>
          <a:bodyPr/>
          <a:lstStyle/>
          <a:p>
            <a:r>
              <a:rPr lang="en-US" b="1" dirty="0"/>
              <a:t>Data Analysis</a:t>
            </a:r>
            <a:endParaRPr lang="en-IN" b="1" dirty="0"/>
          </a:p>
        </p:txBody>
      </p:sp>
      <p:sp>
        <p:nvSpPr>
          <p:cNvPr id="3" name="Content Placeholder 2">
            <a:extLst>
              <a:ext uri="{FF2B5EF4-FFF2-40B4-BE49-F238E27FC236}">
                <a16:creationId xmlns:a16="http://schemas.microsoft.com/office/drawing/2014/main" id="{5CC2CE53-0A70-4146-9134-73964A15147E}"/>
              </a:ext>
            </a:extLst>
          </p:cNvPr>
          <p:cNvSpPr>
            <a:spLocks noGrp="1"/>
          </p:cNvSpPr>
          <p:nvPr>
            <p:ph idx="1"/>
          </p:nvPr>
        </p:nvSpPr>
        <p:spPr>
          <a:xfrm>
            <a:off x="838200" y="1351723"/>
            <a:ext cx="10515600" cy="5035826"/>
          </a:xfrm>
        </p:spPr>
        <p:txBody>
          <a:bodyPr>
            <a:normAutofit fontScale="92500"/>
          </a:bodyPr>
          <a:lstStyle/>
          <a:p>
            <a:pPr algn="just"/>
            <a:r>
              <a:rPr lang="en-US" sz="2400" dirty="0"/>
              <a:t>Data Analysis is the process of examining, cleaning, transforming, and modeling data to discover useful information, patterns, and trends to support decision-making.</a:t>
            </a:r>
          </a:p>
          <a:p>
            <a:pPr algn="just"/>
            <a:r>
              <a:rPr lang="en-US" sz="2400" dirty="0"/>
              <a:t>The main aim of data analysis is turning raw data into useful information.</a:t>
            </a:r>
          </a:p>
          <a:p>
            <a:pPr algn="just"/>
            <a:r>
              <a:rPr lang="en-US" sz="2400" dirty="0"/>
              <a:t>Data Analysis process involves setting goals, collecting the data, cleaning, Interpreting the results in context.</a:t>
            </a:r>
          </a:p>
          <a:p>
            <a:pPr algn="just"/>
            <a:r>
              <a:rPr lang="en-US" sz="2400" dirty="0"/>
              <a:t>Data collection is gathering the data from relevant sources.</a:t>
            </a:r>
          </a:p>
          <a:p>
            <a:pPr algn="just"/>
            <a:r>
              <a:rPr lang="en-US" sz="2400" dirty="0"/>
              <a:t>Data cleaning is removing errors, handling missing values.</a:t>
            </a:r>
          </a:p>
          <a:p>
            <a:pPr algn="just"/>
            <a:r>
              <a:rPr lang="en-US" sz="2400" dirty="0"/>
              <a:t>Interpreting the results in context means going beyond the numbers to explain why the results occurred and what they mean in the real world, considering all relevant factors.</a:t>
            </a:r>
          </a:p>
          <a:p>
            <a:pPr algn="just"/>
            <a:r>
              <a:rPr lang="en-US" sz="2400" dirty="0"/>
              <a:t>Data analysis is at the heart of modern decision-making.</a:t>
            </a:r>
          </a:p>
          <a:p>
            <a:pPr algn="just"/>
            <a:r>
              <a:rPr lang="en-US" sz="2400" b="1" dirty="0"/>
              <a:t>Data Analysis </a:t>
            </a:r>
            <a:r>
              <a:rPr lang="en-US" sz="2400" dirty="0"/>
              <a:t>is about understanding past and present data to make informed decisions.</a:t>
            </a:r>
            <a:br>
              <a:rPr lang="en-US" sz="2400" dirty="0"/>
            </a:br>
            <a:r>
              <a:rPr lang="en-US" sz="2400" b="1" dirty="0"/>
              <a:t>Data Science </a:t>
            </a:r>
            <a:r>
              <a:rPr lang="en-US" sz="2400" dirty="0"/>
              <a:t>is about using data to create systems that can predict, learn, and automate decisions.</a:t>
            </a:r>
            <a:endParaRPr lang="en-IN" sz="2400" dirty="0"/>
          </a:p>
        </p:txBody>
      </p:sp>
    </p:spTree>
    <p:extLst>
      <p:ext uri="{BB962C8B-B14F-4D97-AF65-F5344CB8AC3E}">
        <p14:creationId xmlns:p14="http://schemas.microsoft.com/office/powerpoint/2010/main" val="1636391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59FDE-9F90-4D95-B918-DA6806855FC9}"/>
              </a:ext>
            </a:extLst>
          </p:cNvPr>
          <p:cNvSpPr>
            <a:spLocks noGrp="1"/>
          </p:cNvSpPr>
          <p:nvPr>
            <p:ph type="title"/>
          </p:nvPr>
        </p:nvSpPr>
        <p:spPr/>
        <p:txBody>
          <a:bodyPr/>
          <a:lstStyle/>
          <a:p>
            <a:r>
              <a:rPr lang="en-US" b="1" dirty="0"/>
              <a:t>Comparison: Data Analysis vs Data Science</a:t>
            </a:r>
            <a:endParaRPr lang="en-IN" b="1" dirty="0"/>
          </a:p>
        </p:txBody>
      </p:sp>
      <p:graphicFrame>
        <p:nvGraphicFramePr>
          <p:cNvPr id="4" name="Content Placeholder 3">
            <a:extLst>
              <a:ext uri="{FF2B5EF4-FFF2-40B4-BE49-F238E27FC236}">
                <a16:creationId xmlns:a16="http://schemas.microsoft.com/office/drawing/2014/main" id="{54D5DA2B-C620-485B-81C8-C9E65DE3411A}"/>
              </a:ext>
            </a:extLst>
          </p:cNvPr>
          <p:cNvGraphicFramePr>
            <a:graphicFrameLocks noGrp="1"/>
          </p:cNvGraphicFramePr>
          <p:nvPr>
            <p:ph idx="1"/>
            <p:extLst>
              <p:ext uri="{D42A27DB-BD31-4B8C-83A1-F6EECF244321}">
                <p14:modId xmlns:p14="http://schemas.microsoft.com/office/powerpoint/2010/main" val="184957009"/>
              </p:ext>
            </p:extLst>
          </p:nvPr>
        </p:nvGraphicFramePr>
        <p:xfrm>
          <a:off x="940904" y="1855303"/>
          <a:ext cx="10045149" cy="4505744"/>
        </p:xfrm>
        <a:graphic>
          <a:graphicData uri="http://schemas.openxmlformats.org/drawingml/2006/table">
            <a:tbl>
              <a:tblPr/>
              <a:tblGrid>
                <a:gridCol w="3348383">
                  <a:extLst>
                    <a:ext uri="{9D8B030D-6E8A-4147-A177-3AD203B41FA5}">
                      <a16:colId xmlns:a16="http://schemas.microsoft.com/office/drawing/2014/main" val="63023459"/>
                    </a:ext>
                  </a:extLst>
                </a:gridCol>
                <a:gridCol w="3348383">
                  <a:extLst>
                    <a:ext uri="{9D8B030D-6E8A-4147-A177-3AD203B41FA5}">
                      <a16:colId xmlns:a16="http://schemas.microsoft.com/office/drawing/2014/main" val="3078035371"/>
                    </a:ext>
                  </a:extLst>
                </a:gridCol>
                <a:gridCol w="3348383">
                  <a:extLst>
                    <a:ext uri="{9D8B030D-6E8A-4147-A177-3AD203B41FA5}">
                      <a16:colId xmlns:a16="http://schemas.microsoft.com/office/drawing/2014/main" val="1194399024"/>
                    </a:ext>
                  </a:extLst>
                </a:gridCol>
              </a:tblGrid>
              <a:tr h="234066">
                <a:tc>
                  <a:txBody>
                    <a:bodyPr/>
                    <a:lstStyle/>
                    <a:p>
                      <a:r>
                        <a:rPr lang="en-IN" sz="1100" b="1"/>
                        <a:t>Aspect</a:t>
                      </a:r>
                      <a:endParaRPr lang="en-IN" sz="1100"/>
                    </a:p>
                  </a:txBody>
                  <a:tcPr marL="56511" marR="56511" marT="28255" marB="28255" anchor="ctr">
                    <a:lnL>
                      <a:noFill/>
                    </a:lnL>
                    <a:lnR>
                      <a:noFill/>
                    </a:lnR>
                    <a:lnT>
                      <a:noFill/>
                    </a:lnT>
                    <a:lnB>
                      <a:noFill/>
                    </a:lnB>
                  </a:tcPr>
                </a:tc>
                <a:tc>
                  <a:txBody>
                    <a:bodyPr/>
                    <a:lstStyle/>
                    <a:p>
                      <a:r>
                        <a:rPr lang="en-IN" sz="1100" b="1"/>
                        <a:t>Data Analysis</a:t>
                      </a:r>
                      <a:endParaRPr lang="en-IN" sz="1100"/>
                    </a:p>
                  </a:txBody>
                  <a:tcPr marL="56511" marR="56511" marT="28255" marB="28255" anchor="ctr">
                    <a:lnL>
                      <a:noFill/>
                    </a:lnL>
                    <a:lnR>
                      <a:noFill/>
                    </a:lnR>
                    <a:lnT>
                      <a:noFill/>
                    </a:lnT>
                    <a:lnB>
                      <a:noFill/>
                    </a:lnB>
                  </a:tcPr>
                </a:tc>
                <a:tc>
                  <a:txBody>
                    <a:bodyPr/>
                    <a:lstStyle/>
                    <a:p>
                      <a:r>
                        <a:rPr lang="en-IN" sz="1100" b="1"/>
                        <a:t>Data Science</a:t>
                      </a:r>
                      <a:endParaRPr lang="en-IN" sz="1100"/>
                    </a:p>
                  </a:txBody>
                  <a:tcPr marL="56511" marR="56511" marT="28255" marB="28255" anchor="ctr">
                    <a:lnL>
                      <a:noFill/>
                    </a:lnL>
                    <a:lnR>
                      <a:noFill/>
                    </a:lnR>
                    <a:lnT>
                      <a:noFill/>
                    </a:lnT>
                    <a:lnB>
                      <a:noFill/>
                    </a:lnB>
                  </a:tcPr>
                </a:tc>
                <a:extLst>
                  <a:ext uri="{0D108BD9-81ED-4DB2-BD59-A6C34878D82A}">
                    <a16:rowId xmlns:a16="http://schemas.microsoft.com/office/drawing/2014/main" val="1377914"/>
                  </a:ext>
                </a:extLst>
              </a:tr>
              <a:tr h="585161">
                <a:tc>
                  <a:txBody>
                    <a:bodyPr/>
                    <a:lstStyle/>
                    <a:p>
                      <a:r>
                        <a:rPr lang="en-IN" sz="1100" b="1" dirty="0"/>
                        <a:t>Definition</a:t>
                      </a:r>
                      <a:endParaRPr lang="en-IN" sz="1100" dirty="0"/>
                    </a:p>
                  </a:txBody>
                  <a:tcPr marL="56511" marR="56511" marT="28255" marB="28255" anchor="ctr">
                    <a:lnL>
                      <a:noFill/>
                    </a:lnL>
                    <a:lnR>
                      <a:noFill/>
                    </a:lnR>
                    <a:lnT>
                      <a:noFill/>
                    </a:lnT>
                    <a:lnB>
                      <a:noFill/>
                    </a:lnB>
                  </a:tcPr>
                </a:tc>
                <a:tc>
                  <a:txBody>
                    <a:bodyPr/>
                    <a:lstStyle/>
                    <a:p>
                      <a:r>
                        <a:rPr lang="en-US" sz="1100"/>
                        <a:t>Examining data to find patterns and insights</a:t>
                      </a:r>
                    </a:p>
                  </a:txBody>
                  <a:tcPr marL="56511" marR="56511" marT="28255" marB="28255" anchor="ctr">
                    <a:lnL>
                      <a:noFill/>
                    </a:lnL>
                    <a:lnR>
                      <a:noFill/>
                    </a:lnR>
                    <a:lnT>
                      <a:noFill/>
                    </a:lnT>
                    <a:lnB>
                      <a:noFill/>
                    </a:lnB>
                  </a:tcPr>
                </a:tc>
                <a:tc>
                  <a:txBody>
                    <a:bodyPr/>
                    <a:lstStyle/>
                    <a:p>
                      <a:r>
                        <a:rPr lang="en-US" sz="1100"/>
                        <a:t>A broad field involving extraction of knowledge and predictions from data</a:t>
                      </a:r>
                    </a:p>
                  </a:txBody>
                  <a:tcPr marL="56511" marR="56511" marT="28255" marB="28255" anchor="ctr">
                    <a:lnL>
                      <a:noFill/>
                    </a:lnL>
                    <a:lnR>
                      <a:noFill/>
                    </a:lnR>
                    <a:lnT>
                      <a:noFill/>
                    </a:lnT>
                    <a:lnB>
                      <a:noFill/>
                    </a:lnB>
                  </a:tcPr>
                </a:tc>
                <a:extLst>
                  <a:ext uri="{0D108BD9-81ED-4DB2-BD59-A6C34878D82A}">
                    <a16:rowId xmlns:a16="http://schemas.microsoft.com/office/drawing/2014/main" val="1679710351"/>
                  </a:ext>
                </a:extLst>
              </a:tr>
              <a:tr h="409613">
                <a:tc>
                  <a:txBody>
                    <a:bodyPr/>
                    <a:lstStyle/>
                    <a:p>
                      <a:r>
                        <a:rPr lang="en-IN" sz="1100" b="1"/>
                        <a:t>Primary Goal</a:t>
                      </a:r>
                      <a:endParaRPr lang="en-IN" sz="1100"/>
                    </a:p>
                  </a:txBody>
                  <a:tcPr marL="56511" marR="56511" marT="28255" marB="28255" anchor="ctr">
                    <a:lnL>
                      <a:noFill/>
                    </a:lnL>
                    <a:lnR>
                      <a:noFill/>
                    </a:lnR>
                    <a:lnT>
                      <a:noFill/>
                    </a:lnT>
                    <a:lnB>
                      <a:noFill/>
                    </a:lnB>
                  </a:tcPr>
                </a:tc>
                <a:tc>
                  <a:txBody>
                    <a:bodyPr/>
                    <a:lstStyle/>
                    <a:p>
                      <a:r>
                        <a:rPr lang="en-US" sz="1100"/>
                        <a:t>To understand and interpret existing data</a:t>
                      </a:r>
                    </a:p>
                  </a:txBody>
                  <a:tcPr marL="56511" marR="56511" marT="28255" marB="28255" anchor="ctr">
                    <a:lnL>
                      <a:noFill/>
                    </a:lnL>
                    <a:lnR>
                      <a:noFill/>
                    </a:lnR>
                    <a:lnT>
                      <a:noFill/>
                    </a:lnT>
                    <a:lnB>
                      <a:noFill/>
                    </a:lnB>
                  </a:tcPr>
                </a:tc>
                <a:tc>
                  <a:txBody>
                    <a:bodyPr/>
                    <a:lstStyle/>
                    <a:p>
                      <a:r>
                        <a:rPr lang="en-US" sz="1100"/>
                        <a:t>To build models, make predictions, and automate decision-making</a:t>
                      </a:r>
                    </a:p>
                  </a:txBody>
                  <a:tcPr marL="56511" marR="56511" marT="28255" marB="28255" anchor="ctr">
                    <a:lnL>
                      <a:noFill/>
                    </a:lnL>
                    <a:lnR>
                      <a:noFill/>
                    </a:lnR>
                    <a:lnT>
                      <a:noFill/>
                    </a:lnT>
                    <a:lnB>
                      <a:noFill/>
                    </a:lnB>
                  </a:tcPr>
                </a:tc>
                <a:extLst>
                  <a:ext uri="{0D108BD9-81ED-4DB2-BD59-A6C34878D82A}">
                    <a16:rowId xmlns:a16="http://schemas.microsoft.com/office/drawing/2014/main" val="2751577293"/>
                  </a:ext>
                </a:extLst>
              </a:tr>
              <a:tr h="409613">
                <a:tc>
                  <a:txBody>
                    <a:bodyPr/>
                    <a:lstStyle/>
                    <a:p>
                      <a:r>
                        <a:rPr lang="en-IN" sz="1100" b="1"/>
                        <a:t>Focus</a:t>
                      </a:r>
                      <a:endParaRPr lang="en-IN" sz="1100"/>
                    </a:p>
                  </a:txBody>
                  <a:tcPr marL="56511" marR="56511" marT="28255" marB="28255" anchor="ctr">
                    <a:lnL>
                      <a:noFill/>
                    </a:lnL>
                    <a:lnR>
                      <a:noFill/>
                    </a:lnR>
                    <a:lnT>
                      <a:noFill/>
                    </a:lnT>
                    <a:lnB>
                      <a:noFill/>
                    </a:lnB>
                  </a:tcPr>
                </a:tc>
                <a:tc>
                  <a:txBody>
                    <a:bodyPr/>
                    <a:lstStyle/>
                    <a:p>
                      <a:r>
                        <a:rPr lang="en-IN" sz="1100" dirty="0"/>
                        <a:t>What happened and why</a:t>
                      </a:r>
                    </a:p>
                  </a:txBody>
                  <a:tcPr marL="56511" marR="56511" marT="28255" marB="28255" anchor="ctr">
                    <a:lnL>
                      <a:noFill/>
                    </a:lnL>
                    <a:lnR>
                      <a:noFill/>
                    </a:lnR>
                    <a:lnT>
                      <a:noFill/>
                    </a:lnT>
                    <a:lnB>
                      <a:noFill/>
                    </a:lnB>
                  </a:tcPr>
                </a:tc>
                <a:tc>
                  <a:txBody>
                    <a:bodyPr/>
                    <a:lstStyle/>
                    <a:p>
                      <a:r>
                        <a:rPr lang="en-US" sz="1100"/>
                        <a:t>What will happen or what to do next</a:t>
                      </a:r>
                    </a:p>
                  </a:txBody>
                  <a:tcPr marL="56511" marR="56511" marT="28255" marB="28255" anchor="ctr">
                    <a:lnL>
                      <a:noFill/>
                    </a:lnL>
                    <a:lnR>
                      <a:noFill/>
                    </a:lnR>
                    <a:lnT>
                      <a:noFill/>
                    </a:lnT>
                    <a:lnB>
                      <a:noFill/>
                    </a:lnB>
                  </a:tcPr>
                </a:tc>
                <a:extLst>
                  <a:ext uri="{0D108BD9-81ED-4DB2-BD59-A6C34878D82A}">
                    <a16:rowId xmlns:a16="http://schemas.microsoft.com/office/drawing/2014/main" val="2647642342"/>
                  </a:ext>
                </a:extLst>
              </a:tr>
              <a:tr h="409613">
                <a:tc>
                  <a:txBody>
                    <a:bodyPr/>
                    <a:lstStyle/>
                    <a:p>
                      <a:r>
                        <a:rPr lang="en-IN" sz="1100" b="1"/>
                        <a:t>Type of Data</a:t>
                      </a:r>
                      <a:endParaRPr lang="en-IN" sz="1100"/>
                    </a:p>
                  </a:txBody>
                  <a:tcPr marL="56511" marR="56511" marT="28255" marB="28255" anchor="ctr">
                    <a:lnL>
                      <a:noFill/>
                    </a:lnL>
                    <a:lnR>
                      <a:noFill/>
                    </a:lnR>
                    <a:lnT>
                      <a:noFill/>
                    </a:lnT>
                    <a:lnB>
                      <a:noFill/>
                    </a:lnB>
                  </a:tcPr>
                </a:tc>
                <a:tc>
                  <a:txBody>
                    <a:bodyPr/>
                    <a:lstStyle/>
                    <a:p>
                      <a:r>
                        <a:rPr lang="en-US" sz="1100"/>
                        <a:t>Structured data (e.g., tables, spreadsheets)</a:t>
                      </a:r>
                    </a:p>
                  </a:txBody>
                  <a:tcPr marL="56511" marR="56511" marT="28255" marB="28255" anchor="ctr">
                    <a:lnL>
                      <a:noFill/>
                    </a:lnL>
                    <a:lnR>
                      <a:noFill/>
                    </a:lnR>
                    <a:lnT>
                      <a:noFill/>
                    </a:lnT>
                    <a:lnB>
                      <a:noFill/>
                    </a:lnB>
                  </a:tcPr>
                </a:tc>
                <a:tc>
                  <a:txBody>
                    <a:bodyPr/>
                    <a:lstStyle/>
                    <a:p>
                      <a:r>
                        <a:rPr lang="en-US" sz="1100"/>
                        <a:t>Structured + Unstructured data (e.g., text, images, audio)</a:t>
                      </a:r>
                    </a:p>
                  </a:txBody>
                  <a:tcPr marL="56511" marR="56511" marT="28255" marB="28255" anchor="ctr">
                    <a:lnL>
                      <a:noFill/>
                    </a:lnL>
                    <a:lnR>
                      <a:noFill/>
                    </a:lnR>
                    <a:lnT>
                      <a:noFill/>
                    </a:lnT>
                    <a:lnB>
                      <a:noFill/>
                    </a:lnB>
                  </a:tcPr>
                </a:tc>
                <a:extLst>
                  <a:ext uri="{0D108BD9-81ED-4DB2-BD59-A6C34878D82A}">
                    <a16:rowId xmlns:a16="http://schemas.microsoft.com/office/drawing/2014/main" val="1895717782"/>
                  </a:ext>
                </a:extLst>
              </a:tr>
              <a:tr h="409613">
                <a:tc>
                  <a:txBody>
                    <a:bodyPr/>
                    <a:lstStyle/>
                    <a:p>
                      <a:r>
                        <a:rPr lang="en-IN" sz="1100" b="1"/>
                        <a:t>Processes Involved</a:t>
                      </a:r>
                      <a:endParaRPr lang="en-IN" sz="1100"/>
                    </a:p>
                  </a:txBody>
                  <a:tcPr marL="56511" marR="56511" marT="28255" marB="28255" anchor="ctr">
                    <a:lnL>
                      <a:noFill/>
                    </a:lnL>
                    <a:lnR>
                      <a:noFill/>
                    </a:lnR>
                    <a:lnT>
                      <a:noFill/>
                    </a:lnT>
                    <a:lnB>
                      <a:noFill/>
                    </a:lnB>
                  </a:tcPr>
                </a:tc>
                <a:tc>
                  <a:txBody>
                    <a:bodyPr/>
                    <a:lstStyle/>
                    <a:p>
                      <a:r>
                        <a:rPr lang="en-IN" sz="1100"/>
                        <a:t>Data cleaning, summarization, visualization</a:t>
                      </a:r>
                    </a:p>
                  </a:txBody>
                  <a:tcPr marL="56511" marR="56511" marT="28255" marB="28255" anchor="ctr">
                    <a:lnL>
                      <a:noFill/>
                    </a:lnL>
                    <a:lnR>
                      <a:noFill/>
                    </a:lnR>
                    <a:lnT>
                      <a:noFill/>
                    </a:lnT>
                    <a:lnB>
                      <a:noFill/>
                    </a:lnB>
                  </a:tcPr>
                </a:tc>
                <a:tc>
                  <a:txBody>
                    <a:bodyPr/>
                    <a:lstStyle/>
                    <a:p>
                      <a:r>
                        <a:rPr lang="en-US" sz="1100"/>
                        <a:t>Data collection, cleaning, modeling, machine learning, deployment</a:t>
                      </a:r>
                    </a:p>
                  </a:txBody>
                  <a:tcPr marL="56511" marR="56511" marT="28255" marB="28255" anchor="ctr">
                    <a:lnL>
                      <a:noFill/>
                    </a:lnL>
                    <a:lnR>
                      <a:noFill/>
                    </a:lnR>
                    <a:lnT>
                      <a:noFill/>
                    </a:lnT>
                    <a:lnB>
                      <a:noFill/>
                    </a:lnB>
                  </a:tcPr>
                </a:tc>
                <a:extLst>
                  <a:ext uri="{0D108BD9-81ED-4DB2-BD59-A6C34878D82A}">
                    <a16:rowId xmlns:a16="http://schemas.microsoft.com/office/drawing/2014/main" val="2887150781"/>
                  </a:ext>
                </a:extLst>
              </a:tr>
              <a:tr h="409613">
                <a:tc>
                  <a:txBody>
                    <a:bodyPr/>
                    <a:lstStyle/>
                    <a:p>
                      <a:r>
                        <a:rPr lang="en-IN" sz="1100" b="1"/>
                        <a:t>Tools Used</a:t>
                      </a:r>
                      <a:endParaRPr lang="en-IN" sz="1100"/>
                    </a:p>
                  </a:txBody>
                  <a:tcPr marL="56511" marR="56511" marT="28255" marB="28255" anchor="ctr">
                    <a:lnL>
                      <a:noFill/>
                    </a:lnL>
                    <a:lnR>
                      <a:noFill/>
                    </a:lnR>
                    <a:lnT>
                      <a:noFill/>
                    </a:lnT>
                    <a:lnB>
                      <a:noFill/>
                    </a:lnB>
                  </a:tcPr>
                </a:tc>
                <a:tc>
                  <a:txBody>
                    <a:bodyPr/>
                    <a:lstStyle/>
                    <a:p>
                      <a:r>
                        <a:rPr lang="en-IN" sz="1100"/>
                        <a:t>Excel, SQL, Python (Pandas, Matplotlib), Tableau</a:t>
                      </a:r>
                    </a:p>
                  </a:txBody>
                  <a:tcPr marL="56511" marR="56511" marT="28255" marB="28255" anchor="ctr">
                    <a:lnL>
                      <a:noFill/>
                    </a:lnL>
                    <a:lnR>
                      <a:noFill/>
                    </a:lnR>
                    <a:lnT>
                      <a:noFill/>
                    </a:lnT>
                    <a:lnB>
                      <a:noFill/>
                    </a:lnB>
                  </a:tcPr>
                </a:tc>
                <a:tc>
                  <a:txBody>
                    <a:bodyPr/>
                    <a:lstStyle/>
                    <a:p>
                      <a:r>
                        <a:rPr lang="en-US" sz="1100"/>
                        <a:t>Python (Scikit-learn, TensorFlow), R, Spark, Big Data tools</a:t>
                      </a:r>
                    </a:p>
                  </a:txBody>
                  <a:tcPr marL="56511" marR="56511" marT="28255" marB="28255" anchor="ctr">
                    <a:lnL>
                      <a:noFill/>
                    </a:lnL>
                    <a:lnR>
                      <a:noFill/>
                    </a:lnR>
                    <a:lnT>
                      <a:noFill/>
                    </a:lnT>
                    <a:lnB>
                      <a:noFill/>
                    </a:lnB>
                  </a:tcPr>
                </a:tc>
                <a:extLst>
                  <a:ext uri="{0D108BD9-81ED-4DB2-BD59-A6C34878D82A}">
                    <a16:rowId xmlns:a16="http://schemas.microsoft.com/office/drawing/2014/main" val="4283973685"/>
                  </a:ext>
                </a:extLst>
              </a:tr>
              <a:tr h="409613">
                <a:tc>
                  <a:txBody>
                    <a:bodyPr/>
                    <a:lstStyle/>
                    <a:p>
                      <a:r>
                        <a:rPr lang="en-IN" sz="1100" b="1"/>
                        <a:t>Techniques</a:t>
                      </a:r>
                      <a:endParaRPr lang="en-IN" sz="1100"/>
                    </a:p>
                  </a:txBody>
                  <a:tcPr marL="56511" marR="56511" marT="28255" marB="28255" anchor="ctr">
                    <a:lnL>
                      <a:noFill/>
                    </a:lnL>
                    <a:lnR>
                      <a:noFill/>
                    </a:lnR>
                    <a:lnT>
                      <a:noFill/>
                    </a:lnT>
                    <a:lnB>
                      <a:noFill/>
                    </a:lnB>
                  </a:tcPr>
                </a:tc>
                <a:tc>
                  <a:txBody>
                    <a:bodyPr/>
                    <a:lstStyle/>
                    <a:p>
                      <a:r>
                        <a:rPr lang="en-IN" sz="1100"/>
                        <a:t>Descriptive statistics, charts, pivot tables</a:t>
                      </a:r>
                    </a:p>
                  </a:txBody>
                  <a:tcPr marL="56511" marR="56511" marT="28255" marB="28255" anchor="ctr">
                    <a:lnL>
                      <a:noFill/>
                    </a:lnL>
                    <a:lnR>
                      <a:noFill/>
                    </a:lnR>
                    <a:lnT>
                      <a:noFill/>
                    </a:lnT>
                    <a:lnB>
                      <a:noFill/>
                    </a:lnB>
                  </a:tcPr>
                </a:tc>
                <a:tc>
                  <a:txBody>
                    <a:bodyPr/>
                    <a:lstStyle/>
                    <a:p>
                      <a:r>
                        <a:rPr lang="en-IN" sz="1100"/>
                        <a:t>Machine learning, statistical modeling, AI</a:t>
                      </a:r>
                    </a:p>
                  </a:txBody>
                  <a:tcPr marL="56511" marR="56511" marT="28255" marB="28255" anchor="ctr">
                    <a:lnL>
                      <a:noFill/>
                    </a:lnL>
                    <a:lnR>
                      <a:noFill/>
                    </a:lnR>
                    <a:lnT>
                      <a:noFill/>
                    </a:lnT>
                    <a:lnB>
                      <a:noFill/>
                    </a:lnB>
                  </a:tcPr>
                </a:tc>
                <a:extLst>
                  <a:ext uri="{0D108BD9-81ED-4DB2-BD59-A6C34878D82A}">
                    <a16:rowId xmlns:a16="http://schemas.microsoft.com/office/drawing/2014/main" val="2148915647"/>
                  </a:ext>
                </a:extLst>
              </a:tr>
              <a:tr h="409613">
                <a:tc>
                  <a:txBody>
                    <a:bodyPr/>
                    <a:lstStyle/>
                    <a:p>
                      <a:r>
                        <a:rPr lang="en-IN" sz="1100" b="1"/>
                        <a:t>Outcome</a:t>
                      </a:r>
                      <a:endParaRPr lang="en-IN" sz="1100"/>
                    </a:p>
                  </a:txBody>
                  <a:tcPr marL="56511" marR="56511" marT="28255" marB="28255" anchor="ctr">
                    <a:lnL>
                      <a:noFill/>
                    </a:lnL>
                    <a:lnR>
                      <a:noFill/>
                    </a:lnR>
                    <a:lnT>
                      <a:noFill/>
                    </a:lnT>
                    <a:lnB>
                      <a:noFill/>
                    </a:lnB>
                  </a:tcPr>
                </a:tc>
                <a:tc>
                  <a:txBody>
                    <a:bodyPr/>
                    <a:lstStyle/>
                    <a:p>
                      <a:r>
                        <a:rPr lang="en-IN" sz="1100"/>
                        <a:t>Reports, dashboards, summaries</a:t>
                      </a:r>
                    </a:p>
                  </a:txBody>
                  <a:tcPr marL="56511" marR="56511" marT="28255" marB="28255" anchor="ctr">
                    <a:lnL>
                      <a:noFill/>
                    </a:lnL>
                    <a:lnR>
                      <a:noFill/>
                    </a:lnR>
                    <a:lnT>
                      <a:noFill/>
                    </a:lnT>
                    <a:lnB>
                      <a:noFill/>
                    </a:lnB>
                  </a:tcPr>
                </a:tc>
                <a:tc>
                  <a:txBody>
                    <a:bodyPr/>
                    <a:lstStyle/>
                    <a:p>
                      <a:r>
                        <a:rPr lang="en-IN" sz="1100"/>
                        <a:t>Predictive models, intelligent systems</a:t>
                      </a:r>
                    </a:p>
                  </a:txBody>
                  <a:tcPr marL="56511" marR="56511" marT="28255" marB="28255" anchor="ctr">
                    <a:lnL>
                      <a:noFill/>
                    </a:lnL>
                    <a:lnR>
                      <a:noFill/>
                    </a:lnR>
                    <a:lnT>
                      <a:noFill/>
                    </a:lnT>
                    <a:lnB>
                      <a:noFill/>
                    </a:lnB>
                  </a:tcPr>
                </a:tc>
                <a:extLst>
                  <a:ext uri="{0D108BD9-81ED-4DB2-BD59-A6C34878D82A}">
                    <a16:rowId xmlns:a16="http://schemas.microsoft.com/office/drawing/2014/main" val="757320518"/>
                  </a:ext>
                </a:extLst>
              </a:tr>
              <a:tr h="409613">
                <a:tc>
                  <a:txBody>
                    <a:bodyPr/>
                    <a:lstStyle/>
                    <a:p>
                      <a:r>
                        <a:rPr lang="en-IN" sz="1100" b="1"/>
                        <a:t>Skill Level</a:t>
                      </a:r>
                      <a:endParaRPr lang="en-IN" sz="1100"/>
                    </a:p>
                  </a:txBody>
                  <a:tcPr marL="56511" marR="56511" marT="28255" marB="28255" anchor="ctr">
                    <a:lnL>
                      <a:noFill/>
                    </a:lnL>
                    <a:lnR>
                      <a:noFill/>
                    </a:lnR>
                    <a:lnT>
                      <a:noFill/>
                    </a:lnT>
                    <a:lnB>
                      <a:noFill/>
                    </a:lnB>
                  </a:tcPr>
                </a:tc>
                <a:tc>
                  <a:txBody>
                    <a:bodyPr/>
                    <a:lstStyle/>
                    <a:p>
                      <a:r>
                        <a:rPr lang="en-US" sz="1100"/>
                        <a:t>Generally easier to learn; foundation for Data Science</a:t>
                      </a:r>
                    </a:p>
                  </a:txBody>
                  <a:tcPr marL="56511" marR="56511" marT="28255" marB="28255" anchor="ctr">
                    <a:lnL>
                      <a:noFill/>
                    </a:lnL>
                    <a:lnR>
                      <a:noFill/>
                    </a:lnR>
                    <a:lnT>
                      <a:noFill/>
                    </a:lnT>
                    <a:lnB>
                      <a:noFill/>
                    </a:lnB>
                  </a:tcPr>
                </a:tc>
                <a:tc>
                  <a:txBody>
                    <a:bodyPr/>
                    <a:lstStyle/>
                    <a:p>
                      <a:r>
                        <a:rPr lang="en-US" sz="1100"/>
                        <a:t>Requires deeper knowledge of programming, statistics, and ML</a:t>
                      </a:r>
                    </a:p>
                  </a:txBody>
                  <a:tcPr marL="56511" marR="56511" marT="28255" marB="28255" anchor="ctr">
                    <a:lnL>
                      <a:noFill/>
                    </a:lnL>
                    <a:lnR>
                      <a:noFill/>
                    </a:lnR>
                    <a:lnT>
                      <a:noFill/>
                    </a:lnT>
                    <a:lnB>
                      <a:noFill/>
                    </a:lnB>
                  </a:tcPr>
                </a:tc>
                <a:extLst>
                  <a:ext uri="{0D108BD9-81ED-4DB2-BD59-A6C34878D82A}">
                    <a16:rowId xmlns:a16="http://schemas.microsoft.com/office/drawing/2014/main" val="3264706792"/>
                  </a:ext>
                </a:extLst>
              </a:tr>
              <a:tr h="409613">
                <a:tc>
                  <a:txBody>
                    <a:bodyPr/>
                    <a:lstStyle/>
                    <a:p>
                      <a:r>
                        <a:rPr lang="en-IN" sz="1100" b="1"/>
                        <a:t>Typical Roles</a:t>
                      </a:r>
                      <a:endParaRPr lang="en-IN" sz="1100"/>
                    </a:p>
                  </a:txBody>
                  <a:tcPr marL="56511" marR="56511" marT="28255" marB="28255" anchor="ctr">
                    <a:lnL>
                      <a:noFill/>
                    </a:lnL>
                    <a:lnR>
                      <a:noFill/>
                    </a:lnR>
                    <a:lnT>
                      <a:noFill/>
                    </a:lnT>
                    <a:lnB>
                      <a:noFill/>
                    </a:lnB>
                  </a:tcPr>
                </a:tc>
                <a:tc>
                  <a:txBody>
                    <a:bodyPr/>
                    <a:lstStyle/>
                    <a:p>
                      <a:r>
                        <a:rPr lang="en-IN" sz="1100"/>
                        <a:t>Data Analyst, Business Analyst</a:t>
                      </a:r>
                    </a:p>
                  </a:txBody>
                  <a:tcPr marL="56511" marR="56511" marT="28255" marB="28255" anchor="ctr">
                    <a:lnL>
                      <a:noFill/>
                    </a:lnL>
                    <a:lnR>
                      <a:noFill/>
                    </a:lnR>
                    <a:lnT>
                      <a:noFill/>
                    </a:lnT>
                    <a:lnB>
                      <a:noFill/>
                    </a:lnB>
                  </a:tcPr>
                </a:tc>
                <a:tc>
                  <a:txBody>
                    <a:bodyPr/>
                    <a:lstStyle/>
                    <a:p>
                      <a:r>
                        <a:rPr lang="it-IT" sz="1100" dirty="0"/>
                        <a:t>Data Scientist, ML Engineer, AI Specialist</a:t>
                      </a:r>
                    </a:p>
                  </a:txBody>
                  <a:tcPr marL="56511" marR="56511" marT="28255" marB="28255" anchor="ctr">
                    <a:lnL>
                      <a:noFill/>
                    </a:lnL>
                    <a:lnR>
                      <a:noFill/>
                    </a:lnR>
                    <a:lnT>
                      <a:noFill/>
                    </a:lnT>
                    <a:lnB>
                      <a:noFill/>
                    </a:lnB>
                  </a:tcPr>
                </a:tc>
                <a:extLst>
                  <a:ext uri="{0D108BD9-81ED-4DB2-BD59-A6C34878D82A}">
                    <a16:rowId xmlns:a16="http://schemas.microsoft.com/office/drawing/2014/main" val="216559205"/>
                  </a:ext>
                </a:extLst>
              </a:tr>
            </a:tbl>
          </a:graphicData>
        </a:graphic>
      </p:graphicFrame>
    </p:spTree>
    <p:extLst>
      <p:ext uri="{BB962C8B-B14F-4D97-AF65-F5344CB8AC3E}">
        <p14:creationId xmlns:p14="http://schemas.microsoft.com/office/powerpoint/2010/main" val="3102801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252AE-81FF-4430-B271-7C9A79DEED52}"/>
              </a:ext>
            </a:extLst>
          </p:cNvPr>
          <p:cNvSpPr>
            <a:spLocks noGrp="1"/>
          </p:cNvSpPr>
          <p:nvPr>
            <p:ph type="title"/>
          </p:nvPr>
        </p:nvSpPr>
        <p:spPr/>
        <p:txBody>
          <a:bodyPr/>
          <a:lstStyle/>
          <a:p>
            <a:r>
              <a:rPr lang="en-US" b="1" dirty="0"/>
              <a:t>Types of Data Analysis</a:t>
            </a:r>
            <a:endParaRPr lang="en-IN" b="1" dirty="0"/>
          </a:p>
        </p:txBody>
      </p:sp>
      <p:sp>
        <p:nvSpPr>
          <p:cNvPr id="3" name="Content Placeholder 2">
            <a:extLst>
              <a:ext uri="{FF2B5EF4-FFF2-40B4-BE49-F238E27FC236}">
                <a16:creationId xmlns:a16="http://schemas.microsoft.com/office/drawing/2014/main" id="{763C7EEF-17CF-4305-A997-A29BD52A5717}"/>
              </a:ext>
            </a:extLst>
          </p:cNvPr>
          <p:cNvSpPr>
            <a:spLocks noGrp="1"/>
          </p:cNvSpPr>
          <p:nvPr>
            <p:ph idx="1"/>
          </p:nvPr>
        </p:nvSpPr>
        <p:spPr/>
        <p:txBody>
          <a:bodyPr/>
          <a:lstStyle/>
          <a:p>
            <a:pPr marL="514350" indent="-514350">
              <a:buFont typeface="+mj-lt"/>
              <a:buAutoNum type="arabicPeriod"/>
            </a:pPr>
            <a:r>
              <a:rPr lang="en-US" dirty="0"/>
              <a:t>Data Mining </a:t>
            </a:r>
          </a:p>
          <a:p>
            <a:pPr marL="514350" indent="-514350">
              <a:buFont typeface="+mj-lt"/>
              <a:buAutoNum type="arabicPeriod"/>
            </a:pPr>
            <a:r>
              <a:rPr lang="en-US" dirty="0"/>
              <a:t>Business Intelligence </a:t>
            </a:r>
          </a:p>
          <a:p>
            <a:pPr marL="514350" indent="-514350">
              <a:buFont typeface="+mj-lt"/>
              <a:buAutoNum type="arabicPeriod"/>
            </a:pPr>
            <a:r>
              <a:rPr lang="en-US" dirty="0"/>
              <a:t>Statistical Analysis </a:t>
            </a:r>
          </a:p>
          <a:p>
            <a:pPr marL="514350" indent="-514350">
              <a:buFont typeface="+mj-lt"/>
              <a:buAutoNum type="arabicPeriod"/>
            </a:pPr>
            <a:r>
              <a:rPr lang="en-US" dirty="0"/>
              <a:t>Predictive Analytics </a:t>
            </a:r>
          </a:p>
          <a:p>
            <a:pPr marL="514350" indent="-514350">
              <a:buFont typeface="+mj-lt"/>
              <a:buAutoNum type="arabicPeriod"/>
            </a:pPr>
            <a:r>
              <a:rPr lang="en-US" dirty="0"/>
              <a:t>Text Analytics</a:t>
            </a:r>
            <a:endParaRPr lang="en-IN" dirty="0"/>
          </a:p>
        </p:txBody>
      </p:sp>
    </p:spTree>
    <p:extLst>
      <p:ext uri="{BB962C8B-B14F-4D97-AF65-F5344CB8AC3E}">
        <p14:creationId xmlns:p14="http://schemas.microsoft.com/office/powerpoint/2010/main" val="34326351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08E4F-8E78-4296-9716-409AAEF1EDFB}"/>
              </a:ext>
            </a:extLst>
          </p:cNvPr>
          <p:cNvSpPr>
            <a:spLocks noGrp="1"/>
          </p:cNvSpPr>
          <p:nvPr>
            <p:ph type="title"/>
          </p:nvPr>
        </p:nvSpPr>
        <p:spPr/>
        <p:txBody>
          <a:bodyPr/>
          <a:lstStyle/>
          <a:p>
            <a:r>
              <a:rPr lang="en-US" b="1" dirty="0"/>
              <a:t>Data Mining</a:t>
            </a:r>
            <a:endParaRPr lang="en-IN" b="1" dirty="0"/>
          </a:p>
        </p:txBody>
      </p:sp>
      <p:sp>
        <p:nvSpPr>
          <p:cNvPr id="3" name="Content Placeholder 2">
            <a:extLst>
              <a:ext uri="{FF2B5EF4-FFF2-40B4-BE49-F238E27FC236}">
                <a16:creationId xmlns:a16="http://schemas.microsoft.com/office/drawing/2014/main" id="{1C1D8A84-AC21-4721-8F52-F3222CA3C24E}"/>
              </a:ext>
            </a:extLst>
          </p:cNvPr>
          <p:cNvSpPr>
            <a:spLocks noGrp="1"/>
          </p:cNvSpPr>
          <p:nvPr>
            <p:ph idx="1"/>
          </p:nvPr>
        </p:nvSpPr>
        <p:spPr/>
        <p:txBody>
          <a:bodyPr>
            <a:normAutofit/>
          </a:bodyPr>
          <a:lstStyle/>
          <a:p>
            <a:r>
              <a:rPr lang="en-US" sz="2400" dirty="0"/>
              <a:t>Data Mining is the process of analyzing large datasets to find hidden patterns, relationships, and useful information.</a:t>
            </a:r>
          </a:p>
          <a:p>
            <a:r>
              <a:rPr lang="en-US" sz="2400" dirty="0"/>
              <a:t>The goal is to extract knowledge, not data — it focuses on discovering meaningful patterns that were not previously known.</a:t>
            </a:r>
          </a:p>
          <a:p>
            <a:r>
              <a:rPr lang="en-US" sz="2400" dirty="0"/>
              <a:t>It is a key step in the Knowledge Discovery in Databases (KDD) process.</a:t>
            </a:r>
          </a:p>
          <a:p>
            <a:r>
              <a:rPr lang="en-US" sz="2400" dirty="0"/>
              <a:t>Data mining analysis involves computer science methods at the intersection of the artificial intelligence, machine learning, statistics, and database systems.</a:t>
            </a:r>
          </a:p>
          <a:p>
            <a:r>
              <a:rPr lang="en-US" sz="2400" dirty="0"/>
              <a:t>The patterns found through data mining can help in Summarizing data, Improving decision-making, Making accurate predictions.</a:t>
            </a:r>
          </a:p>
          <a:p>
            <a:r>
              <a:rPr lang="en-US" sz="2400" dirty="0"/>
              <a:t>It is widely used in decision support systems to assist businesses in planning and forecasting.</a:t>
            </a:r>
          </a:p>
          <a:p>
            <a:endParaRPr lang="en-IN" sz="2400" dirty="0"/>
          </a:p>
        </p:txBody>
      </p:sp>
    </p:spTree>
    <p:extLst>
      <p:ext uri="{BB962C8B-B14F-4D97-AF65-F5344CB8AC3E}">
        <p14:creationId xmlns:p14="http://schemas.microsoft.com/office/powerpoint/2010/main" val="41365723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D96ED-32DC-43F6-9F7F-C6119DF4B9B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F003A38-D9FC-4015-88EA-24D78FE276DD}"/>
              </a:ext>
            </a:extLst>
          </p:cNvPr>
          <p:cNvSpPr>
            <a:spLocks noGrp="1"/>
          </p:cNvSpPr>
          <p:nvPr>
            <p:ph idx="1"/>
          </p:nvPr>
        </p:nvSpPr>
        <p:spPr/>
        <p:txBody>
          <a:bodyPr>
            <a:normAutofit/>
          </a:bodyPr>
          <a:lstStyle/>
          <a:p>
            <a:r>
              <a:rPr lang="en-US" sz="2400" dirty="0"/>
              <a:t>Applications of Data Mining include customer profiling and segmentation, market basket analysis, fraud and anomaly detection, predictive modeling.</a:t>
            </a:r>
          </a:p>
          <a:p>
            <a:pPr algn="just"/>
            <a:r>
              <a:rPr lang="en-US" sz="2400" dirty="0"/>
              <a:t>It is used across multiple industries such as finance, healthcare, retail, and telecommunications.</a:t>
            </a:r>
          </a:p>
          <a:p>
            <a:r>
              <a:rPr lang="en-US" sz="2400" dirty="0"/>
              <a:t>The results of data mining can uncover actionable insights, improve the accuracy of predictions, be integrated into decision support systems, detect outliers or anomalies.</a:t>
            </a:r>
          </a:p>
          <a:p>
            <a:pPr algn="just"/>
            <a:endParaRPr lang="en-US" sz="2400" dirty="0"/>
          </a:p>
          <a:p>
            <a:endParaRPr lang="en-IN" sz="2400" dirty="0"/>
          </a:p>
        </p:txBody>
      </p:sp>
    </p:spTree>
    <p:extLst>
      <p:ext uri="{BB962C8B-B14F-4D97-AF65-F5344CB8AC3E}">
        <p14:creationId xmlns:p14="http://schemas.microsoft.com/office/powerpoint/2010/main" val="1811343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065D5-2784-483F-BF01-33449BDEA432}"/>
              </a:ext>
            </a:extLst>
          </p:cNvPr>
          <p:cNvSpPr>
            <a:spLocks noGrp="1"/>
          </p:cNvSpPr>
          <p:nvPr>
            <p:ph type="title"/>
          </p:nvPr>
        </p:nvSpPr>
        <p:spPr/>
        <p:txBody>
          <a:bodyPr/>
          <a:lstStyle/>
          <a:p>
            <a:r>
              <a:rPr lang="en-US" b="1" dirty="0"/>
              <a:t>Business Intelligence</a:t>
            </a:r>
            <a:endParaRPr lang="en-IN" b="1" dirty="0"/>
          </a:p>
        </p:txBody>
      </p:sp>
      <p:sp>
        <p:nvSpPr>
          <p:cNvPr id="3" name="Content Placeholder 2">
            <a:extLst>
              <a:ext uri="{FF2B5EF4-FFF2-40B4-BE49-F238E27FC236}">
                <a16:creationId xmlns:a16="http://schemas.microsoft.com/office/drawing/2014/main" id="{8C572228-AB8B-405B-8255-B611C281A0EC}"/>
              </a:ext>
            </a:extLst>
          </p:cNvPr>
          <p:cNvSpPr>
            <a:spLocks noGrp="1"/>
          </p:cNvSpPr>
          <p:nvPr>
            <p:ph idx="1"/>
          </p:nvPr>
        </p:nvSpPr>
        <p:spPr>
          <a:xfrm>
            <a:off x="838200" y="1825625"/>
            <a:ext cx="10515600" cy="4351338"/>
          </a:xfrm>
        </p:spPr>
        <p:txBody>
          <a:bodyPr>
            <a:normAutofit/>
          </a:bodyPr>
          <a:lstStyle/>
          <a:p>
            <a:pPr algn="just"/>
            <a:r>
              <a:rPr lang="en-US" sz="2400" dirty="0"/>
              <a:t>Business Intelligence techniques and tools are for acquisition and transformation of large amounts of unstructured business data to help identify, develop and create new strategic business opportunities.</a:t>
            </a:r>
          </a:p>
          <a:p>
            <a:pPr algn="just"/>
            <a:r>
              <a:rPr lang="en-US" sz="2400" dirty="0"/>
              <a:t>The goal of business intelligence is to allow easy interpretation of large volumes of data to identify new opportunities. It helps in implementing an effective strategy based on insights that can provide businesses with a competitive market-advantage and long-term stability.</a:t>
            </a:r>
          </a:p>
          <a:p>
            <a:pPr algn="just"/>
            <a:r>
              <a:rPr lang="en-US" sz="2400" dirty="0"/>
              <a:t>Why are sales dropping in this region? Where do we have excess inventory? What are customers saying on social media? BI helps answer these critical questions.</a:t>
            </a:r>
          </a:p>
          <a:p>
            <a:pPr algn="just"/>
            <a:r>
              <a:rPr lang="en-US" sz="2400" dirty="0"/>
              <a:t>“Business intelligence provides past and current insights into the business,” says Maamar Ferkoun in his IBM cloud computing and business intelligence blog.</a:t>
            </a:r>
            <a:endParaRPr lang="en-IN" sz="2400" dirty="0"/>
          </a:p>
        </p:txBody>
      </p:sp>
    </p:spTree>
    <p:extLst>
      <p:ext uri="{BB962C8B-B14F-4D97-AF65-F5344CB8AC3E}">
        <p14:creationId xmlns:p14="http://schemas.microsoft.com/office/powerpoint/2010/main" val="122695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16A42-113B-47F4-83A0-F12EC45018B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7F3EE53-DE46-48BD-B55D-E299D09533F7}"/>
              </a:ext>
            </a:extLst>
          </p:cNvPr>
          <p:cNvSpPr>
            <a:spLocks noGrp="1"/>
          </p:cNvSpPr>
          <p:nvPr>
            <p:ph idx="1"/>
          </p:nvPr>
        </p:nvSpPr>
        <p:spPr/>
        <p:txBody>
          <a:bodyPr>
            <a:normAutofit/>
          </a:bodyPr>
          <a:lstStyle/>
          <a:p>
            <a:pPr algn="just"/>
            <a:r>
              <a:rPr lang="en-US" sz="2400" dirty="0"/>
              <a:t>Retailers, for example, can increase cost savings by comparing performance and benchmarks across stores, channels, and regions. And, with visibility into the claims process, insurers can see where they are missing service targets and use that information to improve outcomes.</a:t>
            </a:r>
            <a:endParaRPr lang="en-IN" sz="2400" dirty="0"/>
          </a:p>
        </p:txBody>
      </p:sp>
    </p:spTree>
    <p:extLst>
      <p:ext uri="{BB962C8B-B14F-4D97-AF65-F5344CB8AC3E}">
        <p14:creationId xmlns:p14="http://schemas.microsoft.com/office/powerpoint/2010/main" val="3229602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B7CC1-070C-4F8F-ADC7-F2EFDCDA1B22}"/>
              </a:ext>
            </a:extLst>
          </p:cNvPr>
          <p:cNvSpPr>
            <a:spLocks noGrp="1"/>
          </p:cNvSpPr>
          <p:nvPr>
            <p:ph type="title"/>
          </p:nvPr>
        </p:nvSpPr>
        <p:spPr>
          <a:xfrm>
            <a:off x="838200" y="118924"/>
            <a:ext cx="10515600" cy="1325563"/>
          </a:xfrm>
        </p:spPr>
        <p:txBody>
          <a:bodyPr/>
          <a:lstStyle/>
          <a:p>
            <a:r>
              <a:rPr lang="en-US" b="1" dirty="0"/>
              <a:t>Statistical Analysis</a:t>
            </a:r>
            <a:endParaRPr lang="en-IN" b="1" dirty="0"/>
          </a:p>
        </p:txBody>
      </p:sp>
      <p:sp>
        <p:nvSpPr>
          <p:cNvPr id="3" name="Content Placeholder 2">
            <a:extLst>
              <a:ext uri="{FF2B5EF4-FFF2-40B4-BE49-F238E27FC236}">
                <a16:creationId xmlns:a16="http://schemas.microsoft.com/office/drawing/2014/main" id="{68ECC6EE-0F99-4CFC-BD5D-038A41343583}"/>
              </a:ext>
            </a:extLst>
          </p:cNvPr>
          <p:cNvSpPr>
            <a:spLocks noGrp="1"/>
          </p:cNvSpPr>
          <p:nvPr>
            <p:ph idx="1"/>
          </p:nvPr>
        </p:nvSpPr>
        <p:spPr>
          <a:xfrm>
            <a:off x="838200" y="1444486"/>
            <a:ext cx="10515600" cy="4969565"/>
          </a:xfrm>
        </p:spPr>
        <p:txBody>
          <a:bodyPr>
            <a:normAutofit lnSpcReduction="10000"/>
          </a:bodyPr>
          <a:lstStyle/>
          <a:p>
            <a:pPr algn="just"/>
            <a:r>
              <a:rPr lang="en-US" sz="2400" dirty="0"/>
              <a:t>Statistics is the study of collection, analysis, interpretation, presentation, and organization of data.</a:t>
            </a:r>
          </a:p>
          <a:p>
            <a:pPr algn="just"/>
            <a:r>
              <a:rPr lang="en-US" sz="2400" dirty="0"/>
              <a:t>In data analysis, two main statistical methodologies are used-</a:t>
            </a:r>
          </a:p>
          <a:p>
            <a:pPr marL="457200" indent="-457200" algn="just">
              <a:buFont typeface="+mj-lt"/>
              <a:buAutoNum type="arabicPeriod"/>
            </a:pPr>
            <a:r>
              <a:rPr lang="en-IN" sz="2400" b="1" dirty="0"/>
              <a:t>Descriptive statistics:</a:t>
            </a:r>
            <a:r>
              <a:rPr lang="en-IN" sz="2400" dirty="0"/>
              <a:t> </a:t>
            </a:r>
            <a:r>
              <a:rPr lang="en-US" sz="2400" dirty="0"/>
              <a:t>In descriptive statistics, data from the entire population or a sample is summarized with numerical descriptors such as - Mean, Standard Deviation for Continuous Data; Frequency, Percentage for Categorical Data</a:t>
            </a:r>
          </a:p>
          <a:p>
            <a:pPr marL="457200" indent="-457200" algn="just">
              <a:buFont typeface="+mj-lt"/>
              <a:buAutoNum type="arabicPeriod"/>
            </a:pPr>
            <a:r>
              <a:rPr lang="en-US" sz="2400" b="1" dirty="0"/>
              <a:t>Inferential statistics:</a:t>
            </a:r>
            <a:r>
              <a:rPr lang="en-US" sz="2400" dirty="0"/>
              <a:t> It uses patterns in the sample data to draw inferences about the represented population or accounting for randomness. These inferences can be </a:t>
            </a:r>
          </a:p>
          <a:p>
            <a:pPr algn="just">
              <a:buFont typeface="Courier New" panose="02070309020205020404" pitchFamily="49" charset="0"/>
              <a:buChar char="o"/>
            </a:pPr>
            <a:r>
              <a:rPr lang="en-US" sz="2400" dirty="0"/>
              <a:t>answering yes/no questions about the data (hypothesis testing) </a:t>
            </a:r>
          </a:p>
          <a:p>
            <a:pPr algn="just">
              <a:buFont typeface="Courier New" panose="02070309020205020404" pitchFamily="49" charset="0"/>
              <a:buChar char="o"/>
            </a:pPr>
            <a:r>
              <a:rPr lang="en-US" sz="2400" dirty="0"/>
              <a:t>estimating numerical characteristics of the data (estimation) </a:t>
            </a:r>
          </a:p>
          <a:p>
            <a:pPr algn="just">
              <a:buFont typeface="Courier New" panose="02070309020205020404" pitchFamily="49" charset="0"/>
              <a:buChar char="o"/>
            </a:pPr>
            <a:r>
              <a:rPr lang="en-US" sz="2400" dirty="0"/>
              <a:t>describing associations within the data (correlation) </a:t>
            </a:r>
          </a:p>
          <a:p>
            <a:pPr algn="just">
              <a:buFont typeface="Courier New" panose="02070309020205020404" pitchFamily="49" charset="0"/>
              <a:buChar char="o"/>
            </a:pPr>
            <a:r>
              <a:rPr lang="en-US" sz="2400" dirty="0"/>
              <a:t>modeling relationships within the data (E.g. regression analysis)</a:t>
            </a:r>
            <a:endParaRPr lang="en-IN" sz="2400" dirty="0"/>
          </a:p>
        </p:txBody>
      </p:sp>
    </p:spTree>
    <p:extLst>
      <p:ext uri="{BB962C8B-B14F-4D97-AF65-F5344CB8AC3E}">
        <p14:creationId xmlns:p14="http://schemas.microsoft.com/office/powerpoint/2010/main" val="1671913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DFE3A-BDE4-4387-A811-074896A6D63D}"/>
              </a:ext>
            </a:extLst>
          </p:cNvPr>
          <p:cNvSpPr>
            <a:spLocks noGrp="1"/>
          </p:cNvSpPr>
          <p:nvPr>
            <p:ph type="title"/>
          </p:nvPr>
        </p:nvSpPr>
        <p:spPr>
          <a:xfrm>
            <a:off x="838200" y="179595"/>
            <a:ext cx="10515600" cy="1325563"/>
          </a:xfrm>
        </p:spPr>
        <p:txBody>
          <a:bodyPr/>
          <a:lstStyle/>
          <a:p>
            <a:r>
              <a:rPr lang="en-US" b="1" dirty="0"/>
              <a:t>Predictive Analytics </a:t>
            </a:r>
          </a:p>
        </p:txBody>
      </p:sp>
      <p:sp>
        <p:nvSpPr>
          <p:cNvPr id="3" name="Content Placeholder 2">
            <a:extLst>
              <a:ext uri="{FF2B5EF4-FFF2-40B4-BE49-F238E27FC236}">
                <a16:creationId xmlns:a16="http://schemas.microsoft.com/office/drawing/2014/main" id="{16FFAC8D-B104-48C8-86ED-3076BF5CE91A}"/>
              </a:ext>
            </a:extLst>
          </p:cNvPr>
          <p:cNvSpPr>
            <a:spLocks noGrp="1"/>
          </p:cNvSpPr>
          <p:nvPr>
            <p:ph idx="1"/>
          </p:nvPr>
        </p:nvSpPr>
        <p:spPr>
          <a:xfrm>
            <a:off x="838200" y="1505158"/>
            <a:ext cx="10515600" cy="4785485"/>
          </a:xfrm>
        </p:spPr>
        <p:txBody>
          <a:bodyPr>
            <a:normAutofit lnSpcReduction="10000"/>
          </a:bodyPr>
          <a:lstStyle/>
          <a:p>
            <a:pPr algn="just"/>
            <a:r>
              <a:rPr lang="en-US" sz="2400" dirty="0"/>
              <a:t>Predictive analytics is the process of using data to forecast future outcomes.</a:t>
            </a:r>
          </a:p>
          <a:p>
            <a:pPr algn="just"/>
            <a:r>
              <a:rPr lang="en-US" sz="2400" dirty="0"/>
              <a:t>The process uses data analysis, machine learning, artificial intelligence, and statistical models to find patterns that might predict future behavior.</a:t>
            </a:r>
          </a:p>
          <a:p>
            <a:pPr algn="just"/>
            <a:r>
              <a:rPr lang="en-US" sz="2400" dirty="0"/>
              <a:t>Organizations can use historic and current data to forecast trends and behaviors seconds, days, or years into the future with a great deal of precision.</a:t>
            </a:r>
          </a:p>
          <a:p>
            <a:pPr algn="just"/>
            <a:r>
              <a:rPr lang="en-US" sz="2400" dirty="0"/>
              <a:t>In general, there are two types of predictive analytics models: classification and regression models.</a:t>
            </a:r>
          </a:p>
          <a:p>
            <a:pPr algn="just"/>
            <a:r>
              <a:rPr lang="en-US" sz="2400" dirty="0"/>
              <a:t>Classification models attempt to put data objects (such as customers or potential outcomes) into one category or another. For instance, if a retailer has a lot of data on different types of customers, they may try to predict what types of customers will be receptive to market emails.</a:t>
            </a:r>
          </a:p>
          <a:p>
            <a:pPr algn="just"/>
            <a:r>
              <a:rPr lang="en-US" sz="2400" dirty="0"/>
              <a:t>Regression models try to predict continuous data, such as how much revenue that customer will generate during their relationship with the company.</a:t>
            </a:r>
            <a:endParaRPr lang="en-IN"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715466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BBFB8-C532-40C0-9BFA-A8EE16D8DBF1}"/>
              </a:ext>
            </a:extLst>
          </p:cNvPr>
          <p:cNvSpPr>
            <a:spLocks noGrp="1"/>
          </p:cNvSpPr>
          <p:nvPr>
            <p:ph type="title"/>
          </p:nvPr>
        </p:nvSpPr>
        <p:spPr/>
        <p:txBody>
          <a:bodyPr/>
          <a:lstStyle/>
          <a:p>
            <a:r>
              <a:rPr lang="en-US" b="1" dirty="0"/>
              <a:t>Text Analytics</a:t>
            </a:r>
            <a:endParaRPr lang="en-IN" dirty="0"/>
          </a:p>
        </p:txBody>
      </p:sp>
      <p:sp>
        <p:nvSpPr>
          <p:cNvPr id="3" name="Content Placeholder 2">
            <a:extLst>
              <a:ext uri="{FF2B5EF4-FFF2-40B4-BE49-F238E27FC236}">
                <a16:creationId xmlns:a16="http://schemas.microsoft.com/office/drawing/2014/main" id="{8E9E48A7-8B9C-4754-B3A2-BB4B26FD1D5E}"/>
              </a:ext>
            </a:extLst>
          </p:cNvPr>
          <p:cNvSpPr>
            <a:spLocks noGrp="1"/>
          </p:cNvSpPr>
          <p:nvPr>
            <p:ph idx="1"/>
          </p:nvPr>
        </p:nvSpPr>
        <p:spPr/>
        <p:txBody>
          <a:bodyPr>
            <a:normAutofit/>
          </a:bodyPr>
          <a:lstStyle/>
          <a:p>
            <a:pPr algn="just"/>
            <a:r>
              <a:rPr lang="en-US" sz="2400" dirty="0"/>
              <a:t>Text analytics is the process of transforming unstructured text documents into usable, structured data. Text analysis works by breaking apart sentences and phrases into their components, and then evaluating each part’s role and meaning using complex software rules and machine learning algorithms.</a:t>
            </a:r>
          </a:p>
          <a:p>
            <a:pPr algn="just"/>
            <a:r>
              <a:rPr lang="en-US" sz="2400" dirty="0"/>
              <a:t>Text analytics forms the foundation of numerous natural language processing (NLP) features, including named entity recognition, categorization, and sentiment analysis.</a:t>
            </a:r>
          </a:p>
          <a:p>
            <a:pPr algn="just"/>
            <a:r>
              <a:rPr lang="en-US" sz="2400" dirty="0"/>
              <a:t>Text Analytics, also referred to as Text Mining or as Text Data Mining is the process of deriving high-quality information from text.</a:t>
            </a:r>
            <a:endParaRPr lang="en-IN" sz="2400" dirty="0"/>
          </a:p>
        </p:txBody>
      </p:sp>
    </p:spTree>
    <p:extLst>
      <p:ext uri="{BB962C8B-B14F-4D97-AF65-F5344CB8AC3E}">
        <p14:creationId xmlns:p14="http://schemas.microsoft.com/office/powerpoint/2010/main" val="2567385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54DE7-D6D7-4D2A-885C-5FE19207E1F8}"/>
              </a:ext>
            </a:extLst>
          </p:cNvPr>
          <p:cNvSpPr>
            <a:spLocks noGrp="1"/>
          </p:cNvSpPr>
          <p:nvPr>
            <p:ph type="title"/>
          </p:nvPr>
        </p:nvSpPr>
        <p:spPr/>
        <p:txBody>
          <a:bodyPr/>
          <a:lstStyle/>
          <a:p>
            <a:r>
              <a:rPr lang="en-IN" b="1" dirty="0"/>
              <a:t>Data Analysis Process</a:t>
            </a:r>
          </a:p>
        </p:txBody>
      </p:sp>
      <p:sp>
        <p:nvSpPr>
          <p:cNvPr id="3" name="Content Placeholder 2">
            <a:extLst>
              <a:ext uri="{FF2B5EF4-FFF2-40B4-BE49-F238E27FC236}">
                <a16:creationId xmlns:a16="http://schemas.microsoft.com/office/drawing/2014/main" id="{B36C4209-F1AF-4AC9-9F9B-6F6DDBD4F093}"/>
              </a:ext>
            </a:extLst>
          </p:cNvPr>
          <p:cNvSpPr>
            <a:spLocks noGrp="1"/>
          </p:cNvSpPr>
          <p:nvPr>
            <p:ph idx="1"/>
          </p:nvPr>
        </p:nvSpPr>
        <p:spPr/>
        <p:txBody>
          <a:bodyPr/>
          <a:lstStyle/>
          <a:p>
            <a:pPr algn="just"/>
            <a:r>
              <a:rPr lang="en-US" dirty="0"/>
              <a:t>Specification of Data Requirements </a:t>
            </a:r>
          </a:p>
          <a:p>
            <a:pPr algn="just"/>
            <a:r>
              <a:rPr lang="en-US" dirty="0"/>
              <a:t>Data Gathering </a:t>
            </a:r>
          </a:p>
          <a:p>
            <a:pPr algn="just"/>
            <a:r>
              <a:rPr lang="en-US" dirty="0"/>
              <a:t>Data Processing </a:t>
            </a:r>
          </a:p>
          <a:p>
            <a:pPr algn="just"/>
            <a:r>
              <a:rPr lang="en-US" dirty="0"/>
              <a:t>Data Cleaning </a:t>
            </a:r>
          </a:p>
          <a:p>
            <a:pPr algn="just"/>
            <a:r>
              <a:rPr lang="en-US" dirty="0"/>
              <a:t>Data Analysis </a:t>
            </a:r>
          </a:p>
          <a:p>
            <a:pPr algn="just"/>
            <a:r>
              <a:rPr lang="en-US" dirty="0"/>
              <a:t>Data Communication</a:t>
            </a:r>
            <a:endParaRPr lang="en-IN" dirty="0"/>
          </a:p>
        </p:txBody>
      </p:sp>
    </p:spTree>
    <p:extLst>
      <p:ext uri="{BB962C8B-B14F-4D97-AF65-F5344CB8AC3E}">
        <p14:creationId xmlns:p14="http://schemas.microsoft.com/office/powerpoint/2010/main" val="34884447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6849E-5490-4007-8CBA-F9F677A3345C}"/>
              </a:ext>
            </a:extLst>
          </p:cNvPr>
          <p:cNvSpPr>
            <a:spLocks noGrp="1"/>
          </p:cNvSpPr>
          <p:nvPr>
            <p:ph type="title"/>
          </p:nvPr>
        </p:nvSpPr>
        <p:spPr/>
        <p:txBody>
          <a:bodyPr/>
          <a:lstStyle/>
          <a:p>
            <a:r>
              <a:rPr lang="en-IN" b="1" dirty="0"/>
              <a:t>Specification of Data Requirements</a:t>
            </a:r>
          </a:p>
        </p:txBody>
      </p:sp>
      <p:sp>
        <p:nvSpPr>
          <p:cNvPr id="3" name="Content Placeholder 2">
            <a:extLst>
              <a:ext uri="{FF2B5EF4-FFF2-40B4-BE49-F238E27FC236}">
                <a16:creationId xmlns:a16="http://schemas.microsoft.com/office/drawing/2014/main" id="{5061AF9C-F34D-40A6-AF99-E0DC29BDF302}"/>
              </a:ext>
            </a:extLst>
          </p:cNvPr>
          <p:cNvSpPr>
            <a:spLocks noGrp="1"/>
          </p:cNvSpPr>
          <p:nvPr>
            <p:ph idx="1"/>
          </p:nvPr>
        </p:nvSpPr>
        <p:spPr/>
        <p:txBody>
          <a:bodyPr>
            <a:normAutofit/>
          </a:bodyPr>
          <a:lstStyle/>
          <a:p>
            <a:pPr algn="just"/>
            <a:r>
              <a:rPr lang="en-US" sz="2400" dirty="0"/>
              <a:t>Identify the business question you’d like to answer. What problem is the company trying to solve? What do you need to measure, and how will you measure it?</a:t>
            </a:r>
          </a:p>
          <a:p>
            <a:pPr algn="just"/>
            <a:r>
              <a:rPr lang="en-US" sz="2400" dirty="0"/>
              <a:t>Figure out what data is needed based on their requirements or questions.</a:t>
            </a:r>
          </a:p>
          <a:p>
            <a:pPr algn="just"/>
            <a:r>
              <a:rPr lang="en-US" sz="2400" dirty="0"/>
              <a:t>If we want to study a group of people (called a population).</a:t>
            </a:r>
          </a:p>
          <a:p>
            <a:pPr algn="just"/>
            <a:r>
              <a:rPr lang="en-US" sz="2400" dirty="0"/>
              <a:t>Specific variables regarding a population (e.g., Age and Income) may be specified and obtained.</a:t>
            </a:r>
          </a:p>
          <a:p>
            <a:pPr algn="just"/>
            <a:r>
              <a:rPr lang="en-US" sz="2400" dirty="0"/>
              <a:t>Data may be numerical or categorical.</a:t>
            </a:r>
            <a:endParaRPr lang="en-IN" sz="2400" dirty="0"/>
          </a:p>
        </p:txBody>
      </p:sp>
    </p:spTree>
    <p:extLst>
      <p:ext uri="{BB962C8B-B14F-4D97-AF65-F5344CB8AC3E}">
        <p14:creationId xmlns:p14="http://schemas.microsoft.com/office/powerpoint/2010/main" val="247498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99417-4BD5-4D1B-812A-87943288D18B}"/>
              </a:ext>
            </a:extLst>
          </p:cNvPr>
          <p:cNvSpPr>
            <a:spLocks noGrp="1"/>
          </p:cNvSpPr>
          <p:nvPr>
            <p:ph type="title"/>
          </p:nvPr>
        </p:nvSpPr>
        <p:spPr/>
        <p:txBody>
          <a:bodyPr/>
          <a:lstStyle/>
          <a:p>
            <a:r>
              <a:rPr lang="en-IN" b="1" dirty="0"/>
              <a:t>Data Gathering</a:t>
            </a:r>
          </a:p>
        </p:txBody>
      </p:sp>
      <p:sp>
        <p:nvSpPr>
          <p:cNvPr id="3" name="Content Placeholder 2">
            <a:extLst>
              <a:ext uri="{FF2B5EF4-FFF2-40B4-BE49-F238E27FC236}">
                <a16:creationId xmlns:a16="http://schemas.microsoft.com/office/drawing/2014/main" id="{4B244DCE-21AD-4CDE-BAB2-1726A0D340C8}"/>
              </a:ext>
            </a:extLst>
          </p:cNvPr>
          <p:cNvSpPr>
            <a:spLocks noGrp="1"/>
          </p:cNvSpPr>
          <p:nvPr>
            <p:ph idx="1"/>
          </p:nvPr>
        </p:nvSpPr>
        <p:spPr>
          <a:xfrm>
            <a:off x="838200" y="1484243"/>
            <a:ext cx="10515600" cy="5008632"/>
          </a:xfrm>
        </p:spPr>
        <p:txBody>
          <a:bodyPr>
            <a:normAutofit lnSpcReduction="10000"/>
          </a:bodyPr>
          <a:lstStyle/>
          <a:p>
            <a:r>
              <a:rPr lang="en-US" sz="2400" dirty="0"/>
              <a:t>It means collecting the raw information (data) you need to answer a specific question or solve a problem.</a:t>
            </a:r>
          </a:p>
          <a:p>
            <a:r>
              <a:rPr lang="en-US" sz="2400" dirty="0"/>
              <a:t>To gather the specific variables or details identified in the earlier step.</a:t>
            </a:r>
          </a:p>
          <a:p>
            <a:r>
              <a:rPr lang="en-IN" sz="2400" dirty="0"/>
              <a:t>Data can be collected from:</a:t>
            </a:r>
          </a:p>
          <a:p>
            <a:pPr>
              <a:buFont typeface="Courier New" panose="02070309020205020404" pitchFamily="49" charset="0"/>
              <a:buChar char="o"/>
            </a:pPr>
            <a:r>
              <a:rPr lang="en-IN" sz="2400" b="1" dirty="0"/>
              <a:t>Internal sources</a:t>
            </a:r>
            <a:r>
              <a:rPr lang="en-IN" sz="2400" dirty="0"/>
              <a:t> (inside your organization)</a:t>
            </a:r>
            <a:br>
              <a:rPr lang="en-IN" sz="2400" dirty="0"/>
            </a:br>
            <a:r>
              <a:rPr lang="en-IN" sz="2400" dirty="0"/>
              <a:t>→ e.g., CRM software, employee records, sales data</a:t>
            </a:r>
          </a:p>
          <a:p>
            <a:pPr>
              <a:buFont typeface="Courier New" panose="02070309020205020404" pitchFamily="49" charset="0"/>
              <a:buChar char="o"/>
            </a:pPr>
            <a:r>
              <a:rPr lang="en-IN" sz="2400" b="1" dirty="0"/>
              <a:t>External sources</a:t>
            </a:r>
            <a:r>
              <a:rPr lang="en-IN" sz="2400" dirty="0"/>
              <a:t> (outside your organization)</a:t>
            </a:r>
            <a:br>
              <a:rPr lang="en-IN" sz="2400" dirty="0"/>
            </a:br>
            <a:r>
              <a:rPr lang="en-IN" sz="2400" dirty="0"/>
              <a:t>→ e.g., Government websites, online surveys, social media APIs, web pages</a:t>
            </a:r>
          </a:p>
          <a:p>
            <a:r>
              <a:rPr lang="en-US" sz="2400" dirty="0"/>
              <a:t>Often, the data is:</a:t>
            </a:r>
          </a:p>
          <a:p>
            <a:pPr>
              <a:buFont typeface="Courier New" panose="02070309020205020404" pitchFamily="49" charset="0"/>
              <a:buChar char="o"/>
            </a:pPr>
            <a:r>
              <a:rPr lang="en-US" sz="2400" dirty="0"/>
              <a:t>Unstructured </a:t>
            </a:r>
          </a:p>
          <a:p>
            <a:pPr>
              <a:buFont typeface="Courier New" panose="02070309020205020404" pitchFamily="49" charset="0"/>
              <a:buChar char="o"/>
            </a:pPr>
            <a:r>
              <a:rPr lang="en-US" sz="2400" dirty="0"/>
              <a:t>May include irrelevant information</a:t>
            </a:r>
          </a:p>
          <a:p>
            <a:r>
              <a:rPr lang="en-US" sz="2400" dirty="0"/>
              <a:t>The collected data is required to be subjected to Data Processing and Data Cleaning.</a:t>
            </a:r>
          </a:p>
          <a:p>
            <a:endParaRPr lang="en-IN" sz="2400" dirty="0"/>
          </a:p>
          <a:p>
            <a:endParaRPr lang="en-IN" sz="2400" dirty="0"/>
          </a:p>
        </p:txBody>
      </p:sp>
    </p:spTree>
    <p:extLst>
      <p:ext uri="{BB962C8B-B14F-4D97-AF65-F5344CB8AC3E}">
        <p14:creationId xmlns:p14="http://schemas.microsoft.com/office/powerpoint/2010/main" val="39636246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CC274-38D1-4E35-A555-CDF88E21097C}"/>
              </a:ext>
            </a:extLst>
          </p:cNvPr>
          <p:cNvSpPr>
            <a:spLocks noGrp="1"/>
          </p:cNvSpPr>
          <p:nvPr>
            <p:ph type="title"/>
          </p:nvPr>
        </p:nvSpPr>
        <p:spPr/>
        <p:txBody>
          <a:bodyPr/>
          <a:lstStyle/>
          <a:p>
            <a:r>
              <a:rPr lang="en-US" b="1" dirty="0"/>
              <a:t>Data Processing and Data Cleaning</a:t>
            </a:r>
            <a:endParaRPr lang="en-IN" b="1" dirty="0"/>
          </a:p>
        </p:txBody>
      </p:sp>
      <p:sp>
        <p:nvSpPr>
          <p:cNvPr id="3" name="Content Placeholder 2">
            <a:extLst>
              <a:ext uri="{FF2B5EF4-FFF2-40B4-BE49-F238E27FC236}">
                <a16:creationId xmlns:a16="http://schemas.microsoft.com/office/drawing/2014/main" id="{95697F4B-7AF5-497D-BE3A-DE622F12F5C9}"/>
              </a:ext>
            </a:extLst>
          </p:cNvPr>
          <p:cNvSpPr>
            <a:spLocks noGrp="1"/>
          </p:cNvSpPr>
          <p:nvPr>
            <p:ph idx="1"/>
          </p:nvPr>
        </p:nvSpPr>
        <p:spPr/>
        <p:txBody>
          <a:bodyPr>
            <a:normAutofit lnSpcReduction="10000"/>
          </a:bodyPr>
          <a:lstStyle/>
          <a:p>
            <a:pPr algn="just"/>
            <a:r>
              <a:rPr lang="en-US" sz="2400" dirty="0"/>
              <a:t>The data that is collected must be processed or organized for analysis. This includes structuring the data as required for the relevant Analysis Tools. For example, the data might have to be placed into rows and columns in a table within a Spreadsheet or Statistical Application. A Data Model might have to be created.</a:t>
            </a:r>
          </a:p>
          <a:p>
            <a:pPr algn="just"/>
            <a:r>
              <a:rPr lang="en-US" sz="2400" dirty="0"/>
              <a:t>Clean the data to prepare it for analysis. This often involves purging duplicate and anomalous data, reconciling inconsistencies, standardizing data structure and format, and dealing with white spaces and other syntax errors.</a:t>
            </a:r>
          </a:p>
          <a:p>
            <a:pPr algn="just"/>
            <a:r>
              <a:rPr lang="en-US" sz="2400" dirty="0"/>
              <a:t>For example: In financial data, check if the totals match known or published values. It helps spot mistakes or fraud.</a:t>
            </a:r>
          </a:p>
          <a:p>
            <a:pPr algn="just"/>
            <a:r>
              <a:rPr lang="en-US" sz="2400" dirty="0"/>
              <a:t>Quantitative data methods can be used for outlier detection that would be subsequently excluded in analysis.</a:t>
            </a:r>
            <a:endParaRPr lang="en-IN" sz="2400" dirty="0"/>
          </a:p>
        </p:txBody>
      </p:sp>
    </p:spTree>
    <p:extLst>
      <p:ext uri="{BB962C8B-B14F-4D97-AF65-F5344CB8AC3E}">
        <p14:creationId xmlns:p14="http://schemas.microsoft.com/office/powerpoint/2010/main" val="11010592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9592B-DD58-4FE9-B7AF-A5E81FFD672F}"/>
              </a:ext>
            </a:extLst>
          </p:cNvPr>
          <p:cNvSpPr>
            <a:spLocks noGrp="1"/>
          </p:cNvSpPr>
          <p:nvPr>
            <p:ph type="title"/>
          </p:nvPr>
        </p:nvSpPr>
        <p:spPr/>
        <p:txBody>
          <a:bodyPr/>
          <a:lstStyle/>
          <a:p>
            <a:r>
              <a:rPr lang="en-IN" b="1" dirty="0"/>
              <a:t>Data Analysis</a:t>
            </a:r>
          </a:p>
        </p:txBody>
      </p:sp>
      <p:sp>
        <p:nvSpPr>
          <p:cNvPr id="3" name="Content Placeholder 2">
            <a:extLst>
              <a:ext uri="{FF2B5EF4-FFF2-40B4-BE49-F238E27FC236}">
                <a16:creationId xmlns:a16="http://schemas.microsoft.com/office/drawing/2014/main" id="{BAB0C2C8-BF09-4D29-9F9F-D44665CE8879}"/>
              </a:ext>
            </a:extLst>
          </p:cNvPr>
          <p:cNvSpPr>
            <a:spLocks noGrp="1"/>
          </p:cNvSpPr>
          <p:nvPr>
            <p:ph idx="1"/>
          </p:nvPr>
        </p:nvSpPr>
        <p:spPr/>
        <p:txBody>
          <a:bodyPr>
            <a:normAutofit/>
          </a:bodyPr>
          <a:lstStyle/>
          <a:p>
            <a:pPr algn="just"/>
            <a:r>
              <a:rPr lang="en-US" sz="2400" dirty="0"/>
              <a:t>By manipulating the data using various data analysis techniques and tools, you can find trends, correlations, outliers, and variations that tell a story. During this stage, you might use data mining to discover patterns within databases or data visualization software to help transform data into an easy-to-understand graphical format.</a:t>
            </a:r>
          </a:p>
          <a:p>
            <a:pPr algn="just"/>
            <a:r>
              <a:rPr lang="en-US" sz="2400" dirty="0"/>
              <a:t>Data Visualization may also be used to examine the data in graphical format, to obtain additional insight regarding the messages within the data.</a:t>
            </a:r>
          </a:p>
          <a:p>
            <a:pPr algn="just"/>
            <a:r>
              <a:rPr lang="en-US" sz="2400" dirty="0"/>
              <a:t>Statistical Data Models such as Correlation, Regression Analysis can be used to identify the relations among the data variables.</a:t>
            </a:r>
            <a:endParaRPr lang="en-IN" sz="2400" dirty="0"/>
          </a:p>
        </p:txBody>
      </p:sp>
    </p:spTree>
    <p:extLst>
      <p:ext uri="{BB962C8B-B14F-4D97-AF65-F5344CB8AC3E}">
        <p14:creationId xmlns:p14="http://schemas.microsoft.com/office/powerpoint/2010/main" val="26595848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70B08-A508-4960-AB0E-4DA0C6F9F7FD}"/>
              </a:ext>
            </a:extLst>
          </p:cNvPr>
          <p:cNvSpPr>
            <a:spLocks noGrp="1"/>
          </p:cNvSpPr>
          <p:nvPr>
            <p:ph type="title"/>
          </p:nvPr>
        </p:nvSpPr>
        <p:spPr/>
        <p:txBody>
          <a:bodyPr/>
          <a:lstStyle/>
          <a:p>
            <a:r>
              <a:rPr lang="en-IN" b="1" dirty="0"/>
              <a:t>Data Communication</a:t>
            </a:r>
          </a:p>
        </p:txBody>
      </p:sp>
      <p:sp>
        <p:nvSpPr>
          <p:cNvPr id="3" name="Content Placeholder 2">
            <a:extLst>
              <a:ext uri="{FF2B5EF4-FFF2-40B4-BE49-F238E27FC236}">
                <a16:creationId xmlns:a16="http://schemas.microsoft.com/office/drawing/2014/main" id="{ECF1D293-D7BC-45A2-B415-ECC8B9544FAA}"/>
              </a:ext>
            </a:extLst>
          </p:cNvPr>
          <p:cNvSpPr>
            <a:spLocks noGrp="1"/>
          </p:cNvSpPr>
          <p:nvPr>
            <p:ph idx="1"/>
          </p:nvPr>
        </p:nvSpPr>
        <p:spPr/>
        <p:txBody>
          <a:bodyPr/>
          <a:lstStyle/>
          <a:p>
            <a:pPr algn="just"/>
            <a:r>
              <a:rPr lang="en-US" dirty="0"/>
              <a:t>The results of the data analysis are to be reported in a format as required by the users to support their decisions and further action. The feedback from the users might result in additional analysis.</a:t>
            </a:r>
          </a:p>
          <a:p>
            <a:pPr algn="just"/>
            <a:r>
              <a:rPr lang="en-US" dirty="0"/>
              <a:t>The data analysts can choose data visualization techniques, such as tables and charts, which help in communicating the message clearly and efficiently to the users.</a:t>
            </a:r>
          </a:p>
          <a:p>
            <a:pPr algn="just"/>
            <a:r>
              <a:rPr lang="en-US" dirty="0"/>
              <a:t>Interpret the results of your analysis to see how well the data answered your original question. What recommendations can you make based on the data?</a:t>
            </a:r>
            <a:endParaRPr lang="en-IN" dirty="0"/>
          </a:p>
        </p:txBody>
      </p:sp>
    </p:spTree>
    <p:extLst>
      <p:ext uri="{BB962C8B-B14F-4D97-AF65-F5344CB8AC3E}">
        <p14:creationId xmlns:p14="http://schemas.microsoft.com/office/powerpoint/2010/main" val="23144117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2891B-D4A5-491C-8182-404508545C50}"/>
              </a:ext>
            </a:extLst>
          </p:cNvPr>
          <p:cNvSpPr>
            <a:spLocks noGrp="1"/>
          </p:cNvSpPr>
          <p:nvPr>
            <p:ph type="title"/>
          </p:nvPr>
        </p:nvSpPr>
        <p:spPr/>
        <p:txBody>
          <a:bodyPr/>
          <a:lstStyle/>
          <a:p>
            <a:r>
              <a:rPr lang="en-IN" b="1" dirty="0"/>
              <a:t>Data Analysis with Excel </a:t>
            </a:r>
          </a:p>
        </p:txBody>
      </p:sp>
      <p:sp>
        <p:nvSpPr>
          <p:cNvPr id="3" name="Content Placeholder 2">
            <a:extLst>
              <a:ext uri="{FF2B5EF4-FFF2-40B4-BE49-F238E27FC236}">
                <a16:creationId xmlns:a16="http://schemas.microsoft.com/office/drawing/2014/main" id="{50DF8113-57BE-4D16-831B-6CA72DECB8E5}"/>
              </a:ext>
            </a:extLst>
          </p:cNvPr>
          <p:cNvSpPr>
            <a:spLocks noGrp="1"/>
          </p:cNvSpPr>
          <p:nvPr>
            <p:ph idx="1"/>
          </p:nvPr>
        </p:nvSpPr>
        <p:spPr/>
        <p:txBody>
          <a:bodyPr/>
          <a:lstStyle/>
          <a:p>
            <a:r>
              <a:rPr lang="en-US" dirty="0"/>
              <a:t>Microsoft Excel is a powerful electronic spreadsheet program you can use to automate accounting work, organize data, and perform a wide variety of tasks. Excel is designed to perform calculations, analyze information, and visualize data in a spreadsheet. Also this application includes database and charting features. </a:t>
            </a:r>
          </a:p>
          <a:p>
            <a:endParaRPr lang="en-IN" dirty="0"/>
          </a:p>
        </p:txBody>
      </p:sp>
    </p:spTree>
    <p:extLst>
      <p:ext uri="{BB962C8B-B14F-4D97-AF65-F5344CB8AC3E}">
        <p14:creationId xmlns:p14="http://schemas.microsoft.com/office/powerpoint/2010/main" val="30825233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AC5474-5D07-4EB9-A9D7-07ABB7535C36}"/>
              </a:ext>
            </a:extLst>
          </p:cNvPr>
          <p:cNvSpPr>
            <a:spLocks noGrp="1"/>
          </p:cNvSpPr>
          <p:nvPr>
            <p:ph idx="1"/>
          </p:nvPr>
        </p:nvSpPr>
        <p:spPr>
          <a:xfrm>
            <a:off x="728870" y="583096"/>
            <a:ext cx="10624930" cy="5593867"/>
          </a:xfrm>
        </p:spPr>
        <p:txBody>
          <a:bodyPr/>
          <a:lstStyle/>
          <a:p>
            <a:endParaRPr lang="en-IN" dirty="0"/>
          </a:p>
        </p:txBody>
      </p:sp>
      <p:grpSp>
        <p:nvGrpSpPr>
          <p:cNvPr id="4" name="Group 3">
            <a:extLst>
              <a:ext uri="{FF2B5EF4-FFF2-40B4-BE49-F238E27FC236}">
                <a16:creationId xmlns:a16="http://schemas.microsoft.com/office/drawing/2014/main" id="{B215D74B-300A-4DD1-B542-B175D43E76EB}"/>
              </a:ext>
            </a:extLst>
          </p:cNvPr>
          <p:cNvGrpSpPr/>
          <p:nvPr/>
        </p:nvGrpSpPr>
        <p:grpSpPr>
          <a:xfrm>
            <a:off x="304800" y="106017"/>
            <a:ext cx="11582400" cy="6751983"/>
            <a:chOff x="1610868" y="829056"/>
            <a:chExt cx="10605272" cy="5988231"/>
          </a:xfrm>
        </p:grpSpPr>
        <p:pic>
          <p:nvPicPr>
            <p:cNvPr id="5" name="Picture 4">
              <a:extLst>
                <a:ext uri="{FF2B5EF4-FFF2-40B4-BE49-F238E27FC236}">
                  <a16:creationId xmlns:a16="http://schemas.microsoft.com/office/drawing/2014/main" id="{117587BB-7D5D-4C63-AA93-C9176070C225}"/>
                </a:ext>
              </a:extLst>
            </p:cNvPr>
            <p:cNvPicPr/>
            <p:nvPr/>
          </p:nvPicPr>
          <p:blipFill>
            <a:blip r:embed="rId2"/>
            <a:stretch>
              <a:fillRect/>
            </a:stretch>
          </p:blipFill>
          <p:spPr>
            <a:xfrm>
              <a:off x="1749308" y="1260783"/>
              <a:ext cx="10466832" cy="5556504"/>
            </a:xfrm>
            <a:prstGeom prst="rect">
              <a:avLst/>
            </a:prstGeom>
          </p:spPr>
        </p:pic>
        <p:pic>
          <p:nvPicPr>
            <p:cNvPr id="6" name="Picture 5">
              <a:extLst>
                <a:ext uri="{FF2B5EF4-FFF2-40B4-BE49-F238E27FC236}">
                  <a16:creationId xmlns:a16="http://schemas.microsoft.com/office/drawing/2014/main" id="{4326357A-F7D9-466A-A4DF-A861160CA941}"/>
                </a:ext>
              </a:extLst>
            </p:cNvPr>
            <p:cNvPicPr/>
            <p:nvPr/>
          </p:nvPicPr>
          <p:blipFill>
            <a:blip r:embed="rId3"/>
            <a:stretch>
              <a:fillRect/>
            </a:stretch>
          </p:blipFill>
          <p:spPr>
            <a:xfrm>
              <a:off x="1610868" y="829056"/>
              <a:ext cx="7237476" cy="414528"/>
            </a:xfrm>
            <a:prstGeom prst="rect">
              <a:avLst/>
            </a:prstGeom>
          </p:spPr>
        </p:pic>
      </p:grpSp>
    </p:spTree>
    <p:extLst>
      <p:ext uri="{BB962C8B-B14F-4D97-AF65-F5344CB8AC3E}">
        <p14:creationId xmlns:p14="http://schemas.microsoft.com/office/powerpoint/2010/main" val="807887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6C0EA-2AD5-4D71-8C8C-735025AE8CC6}"/>
              </a:ext>
            </a:extLst>
          </p:cNvPr>
          <p:cNvSpPr>
            <a:spLocks noGrp="1"/>
          </p:cNvSpPr>
          <p:nvPr>
            <p:ph type="title"/>
          </p:nvPr>
        </p:nvSpPr>
        <p:spPr/>
        <p:txBody>
          <a:bodyPr/>
          <a:lstStyle/>
          <a:p>
            <a:r>
              <a:rPr lang="en-IN" b="1" dirty="0"/>
              <a:t>Spreadsheet Terms</a:t>
            </a:r>
          </a:p>
        </p:txBody>
      </p:sp>
      <p:graphicFrame>
        <p:nvGraphicFramePr>
          <p:cNvPr id="33" name="Content Placeholder 32">
            <a:extLst>
              <a:ext uri="{FF2B5EF4-FFF2-40B4-BE49-F238E27FC236}">
                <a16:creationId xmlns:a16="http://schemas.microsoft.com/office/drawing/2014/main" id="{E04A963C-17D0-4B85-9768-F13C8D9D82FF}"/>
              </a:ext>
            </a:extLst>
          </p:cNvPr>
          <p:cNvGraphicFramePr>
            <a:graphicFrameLocks noGrp="1"/>
          </p:cNvGraphicFramePr>
          <p:nvPr>
            <p:ph idx="1"/>
            <p:extLst>
              <p:ext uri="{D42A27DB-BD31-4B8C-83A1-F6EECF244321}">
                <p14:modId xmlns:p14="http://schemas.microsoft.com/office/powerpoint/2010/main" val="1220330502"/>
              </p:ext>
            </p:extLst>
          </p:nvPr>
        </p:nvGraphicFramePr>
        <p:xfrm>
          <a:off x="838199" y="1470992"/>
          <a:ext cx="10515599" cy="4890048"/>
        </p:xfrm>
        <a:graphic>
          <a:graphicData uri="http://schemas.openxmlformats.org/drawingml/2006/table">
            <a:tbl>
              <a:tblPr firstRow="1" firstCol="1" bandRow="1">
                <a:tableStyleId>{5C22544A-7EE6-4342-B048-85BDC9FD1C3A}</a:tableStyleId>
              </a:tblPr>
              <a:tblGrid>
                <a:gridCol w="434010">
                  <a:extLst>
                    <a:ext uri="{9D8B030D-6E8A-4147-A177-3AD203B41FA5}">
                      <a16:colId xmlns:a16="http://schemas.microsoft.com/office/drawing/2014/main" val="2114748475"/>
                    </a:ext>
                  </a:extLst>
                </a:gridCol>
                <a:gridCol w="1656521">
                  <a:extLst>
                    <a:ext uri="{9D8B030D-6E8A-4147-A177-3AD203B41FA5}">
                      <a16:colId xmlns:a16="http://schemas.microsoft.com/office/drawing/2014/main" val="2387653388"/>
                    </a:ext>
                  </a:extLst>
                </a:gridCol>
                <a:gridCol w="8425068">
                  <a:extLst>
                    <a:ext uri="{9D8B030D-6E8A-4147-A177-3AD203B41FA5}">
                      <a16:colId xmlns:a16="http://schemas.microsoft.com/office/drawing/2014/main" val="4273083488"/>
                    </a:ext>
                  </a:extLst>
                </a:gridCol>
              </a:tblGrid>
              <a:tr h="280223">
                <a:tc>
                  <a:txBody>
                    <a:bodyPr/>
                    <a:lstStyle/>
                    <a:p>
                      <a:pPr>
                        <a:lnSpc>
                          <a:spcPct val="107000"/>
                        </a:lnSpc>
                        <a:spcAft>
                          <a:spcPts val="0"/>
                        </a:spcAft>
                      </a:pPr>
                      <a:r>
                        <a:rPr lang="en-IN" sz="900">
                          <a:effectLst/>
                        </a:rPr>
                        <a:t> </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tc>
                  <a:txBody>
                    <a:bodyPr/>
                    <a:lstStyle/>
                    <a:p>
                      <a:pPr marL="3810" algn="ctr">
                        <a:lnSpc>
                          <a:spcPct val="107000"/>
                        </a:lnSpc>
                        <a:spcAft>
                          <a:spcPts val="0"/>
                        </a:spcAft>
                      </a:pPr>
                      <a:r>
                        <a:rPr lang="en-IN" sz="1100">
                          <a:effectLst/>
                        </a:rPr>
                        <a:t>Term </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tc>
                  <a:txBody>
                    <a:bodyPr/>
                    <a:lstStyle/>
                    <a:p>
                      <a:pPr marL="2540" algn="ctr">
                        <a:lnSpc>
                          <a:spcPct val="107000"/>
                        </a:lnSpc>
                        <a:spcAft>
                          <a:spcPts val="0"/>
                        </a:spcAft>
                      </a:pPr>
                      <a:r>
                        <a:rPr lang="en-IN" sz="1100" dirty="0">
                          <a:effectLst/>
                        </a:rPr>
                        <a:t>Description </a:t>
                      </a:r>
                      <a:endParaRPr lang="en-IN" sz="9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extLst>
                  <a:ext uri="{0D108BD9-81ED-4DB2-BD59-A6C34878D82A}">
                    <a16:rowId xmlns:a16="http://schemas.microsoft.com/office/drawing/2014/main" val="1515246901"/>
                  </a:ext>
                </a:extLst>
              </a:tr>
              <a:tr h="276227">
                <a:tc>
                  <a:txBody>
                    <a:bodyPr/>
                    <a:lstStyle/>
                    <a:p>
                      <a:pPr>
                        <a:lnSpc>
                          <a:spcPct val="107000"/>
                        </a:lnSpc>
                        <a:spcAft>
                          <a:spcPts val="0"/>
                        </a:spcAft>
                      </a:pPr>
                      <a:r>
                        <a:rPr lang="en-IN" sz="1100" dirty="0">
                          <a:effectLst/>
                        </a:rPr>
                        <a:t>1 </a:t>
                      </a:r>
                      <a:endParaRPr lang="en-IN" sz="9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tc>
                  <a:txBody>
                    <a:bodyPr/>
                    <a:lstStyle/>
                    <a:p>
                      <a:pPr marL="635">
                        <a:lnSpc>
                          <a:spcPct val="107000"/>
                        </a:lnSpc>
                        <a:spcAft>
                          <a:spcPts val="0"/>
                        </a:spcAft>
                      </a:pPr>
                      <a:r>
                        <a:rPr lang="en-IN" sz="1100">
                          <a:effectLst/>
                        </a:rPr>
                        <a:t>Quick Access Toolbar </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tc>
                  <a:txBody>
                    <a:bodyPr/>
                    <a:lstStyle/>
                    <a:p>
                      <a:pPr marL="635">
                        <a:lnSpc>
                          <a:spcPct val="107000"/>
                        </a:lnSpc>
                        <a:spcAft>
                          <a:spcPts val="0"/>
                        </a:spcAft>
                      </a:pPr>
                      <a:r>
                        <a:rPr lang="en-IN" sz="1100">
                          <a:effectLst/>
                        </a:rPr>
                        <a:t>Displays quick access to commonly used commands. </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extLst>
                  <a:ext uri="{0D108BD9-81ED-4DB2-BD59-A6C34878D82A}">
                    <a16:rowId xmlns:a16="http://schemas.microsoft.com/office/drawing/2014/main" val="2985302840"/>
                  </a:ext>
                </a:extLst>
              </a:tr>
              <a:tr h="276227">
                <a:tc>
                  <a:txBody>
                    <a:bodyPr/>
                    <a:lstStyle/>
                    <a:p>
                      <a:pPr>
                        <a:lnSpc>
                          <a:spcPct val="107000"/>
                        </a:lnSpc>
                        <a:spcAft>
                          <a:spcPts val="0"/>
                        </a:spcAft>
                      </a:pPr>
                      <a:r>
                        <a:rPr lang="en-IN" sz="1100">
                          <a:effectLst/>
                        </a:rPr>
                        <a:t>2 </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tc>
                  <a:txBody>
                    <a:bodyPr/>
                    <a:lstStyle/>
                    <a:p>
                      <a:pPr marL="635">
                        <a:lnSpc>
                          <a:spcPct val="107000"/>
                        </a:lnSpc>
                        <a:spcAft>
                          <a:spcPts val="0"/>
                        </a:spcAft>
                      </a:pPr>
                      <a:r>
                        <a:rPr lang="en-IN" sz="1100">
                          <a:effectLst/>
                        </a:rPr>
                        <a:t>Search Bar </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tc>
                  <a:txBody>
                    <a:bodyPr/>
                    <a:lstStyle/>
                    <a:p>
                      <a:pPr marL="635">
                        <a:lnSpc>
                          <a:spcPct val="107000"/>
                        </a:lnSpc>
                        <a:spcAft>
                          <a:spcPts val="0"/>
                        </a:spcAft>
                      </a:pPr>
                      <a:r>
                        <a:rPr lang="en-IN" sz="1100">
                          <a:effectLst/>
                        </a:rPr>
                        <a:t>Advance search will help you find and perform tasks. </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extLst>
                  <a:ext uri="{0D108BD9-81ED-4DB2-BD59-A6C34878D82A}">
                    <a16:rowId xmlns:a16="http://schemas.microsoft.com/office/drawing/2014/main" val="3590881146"/>
                  </a:ext>
                </a:extLst>
              </a:tr>
              <a:tr h="276227">
                <a:tc>
                  <a:txBody>
                    <a:bodyPr/>
                    <a:lstStyle/>
                    <a:p>
                      <a:pPr>
                        <a:lnSpc>
                          <a:spcPct val="107000"/>
                        </a:lnSpc>
                        <a:spcAft>
                          <a:spcPts val="0"/>
                        </a:spcAft>
                      </a:pPr>
                      <a:r>
                        <a:rPr lang="en-IN" sz="1100">
                          <a:effectLst/>
                        </a:rPr>
                        <a:t>3 </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tc>
                  <a:txBody>
                    <a:bodyPr/>
                    <a:lstStyle/>
                    <a:p>
                      <a:pPr marL="635">
                        <a:lnSpc>
                          <a:spcPct val="107000"/>
                        </a:lnSpc>
                        <a:spcAft>
                          <a:spcPts val="0"/>
                        </a:spcAft>
                      </a:pPr>
                      <a:r>
                        <a:rPr lang="en-IN" sz="1100">
                          <a:effectLst/>
                        </a:rPr>
                        <a:t>Title Bar </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tc>
                  <a:txBody>
                    <a:bodyPr/>
                    <a:lstStyle/>
                    <a:p>
                      <a:pPr marL="635">
                        <a:lnSpc>
                          <a:spcPct val="107000"/>
                        </a:lnSpc>
                        <a:spcAft>
                          <a:spcPts val="0"/>
                        </a:spcAft>
                      </a:pPr>
                      <a:r>
                        <a:rPr lang="en-IN" sz="1100">
                          <a:effectLst/>
                        </a:rPr>
                        <a:t>Displays the name of the application file. </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extLst>
                  <a:ext uri="{0D108BD9-81ED-4DB2-BD59-A6C34878D82A}">
                    <a16:rowId xmlns:a16="http://schemas.microsoft.com/office/drawing/2014/main" val="828086757"/>
                  </a:ext>
                </a:extLst>
              </a:tr>
              <a:tr h="523348">
                <a:tc>
                  <a:txBody>
                    <a:bodyPr/>
                    <a:lstStyle/>
                    <a:p>
                      <a:pPr>
                        <a:lnSpc>
                          <a:spcPct val="107000"/>
                        </a:lnSpc>
                        <a:spcAft>
                          <a:spcPts val="0"/>
                        </a:spcAft>
                      </a:pPr>
                      <a:r>
                        <a:rPr lang="en-IN" sz="1100">
                          <a:effectLst/>
                        </a:rPr>
                        <a:t>4 </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tc>
                  <a:txBody>
                    <a:bodyPr/>
                    <a:lstStyle/>
                    <a:p>
                      <a:pPr marL="635">
                        <a:lnSpc>
                          <a:spcPct val="107000"/>
                        </a:lnSpc>
                        <a:spcAft>
                          <a:spcPts val="0"/>
                        </a:spcAft>
                      </a:pPr>
                      <a:r>
                        <a:rPr lang="en-IN" sz="1100">
                          <a:effectLst/>
                        </a:rPr>
                        <a:t>File Tab </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tc>
                  <a:txBody>
                    <a:bodyPr/>
                    <a:lstStyle/>
                    <a:p>
                      <a:pPr marL="635" algn="just">
                        <a:lnSpc>
                          <a:spcPct val="107000"/>
                        </a:lnSpc>
                        <a:spcAft>
                          <a:spcPts val="0"/>
                        </a:spcAft>
                      </a:pPr>
                      <a:r>
                        <a:rPr lang="en-IN" sz="1100">
                          <a:effectLst/>
                        </a:rPr>
                        <a:t>The File tab has replaced the Office button. It helps you to manage the Microsoft application and provide access to its options such as Open, New, Save, As Print, etc.</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extLst>
                  <a:ext uri="{0D108BD9-81ED-4DB2-BD59-A6C34878D82A}">
                    <a16:rowId xmlns:a16="http://schemas.microsoft.com/office/drawing/2014/main" val="2698529047"/>
                  </a:ext>
                </a:extLst>
              </a:tr>
              <a:tr h="276227">
                <a:tc>
                  <a:txBody>
                    <a:bodyPr/>
                    <a:lstStyle/>
                    <a:p>
                      <a:pPr>
                        <a:lnSpc>
                          <a:spcPct val="107000"/>
                        </a:lnSpc>
                        <a:spcAft>
                          <a:spcPts val="0"/>
                        </a:spcAft>
                      </a:pPr>
                      <a:r>
                        <a:rPr lang="en-IN" sz="1100">
                          <a:effectLst/>
                        </a:rPr>
                        <a:t>5 </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tc>
                  <a:txBody>
                    <a:bodyPr/>
                    <a:lstStyle/>
                    <a:p>
                      <a:pPr marL="635">
                        <a:lnSpc>
                          <a:spcPct val="107000"/>
                        </a:lnSpc>
                        <a:spcAft>
                          <a:spcPts val="0"/>
                        </a:spcAft>
                      </a:pPr>
                      <a:r>
                        <a:rPr lang="en-IN" sz="1100">
                          <a:effectLst/>
                        </a:rPr>
                        <a:t>Name Box </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tc>
                  <a:txBody>
                    <a:bodyPr/>
                    <a:lstStyle/>
                    <a:p>
                      <a:pPr marL="635">
                        <a:lnSpc>
                          <a:spcPct val="107000"/>
                        </a:lnSpc>
                        <a:spcAft>
                          <a:spcPts val="0"/>
                        </a:spcAft>
                      </a:pPr>
                      <a:r>
                        <a:rPr lang="en-IN" sz="1100">
                          <a:effectLst/>
                        </a:rPr>
                        <a:t>Displays the active cell location.  </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extLst>
                  <a:ext uri="{0D108BD9-81ED-4DB2-BD59-A6C34878D82A}">
                    <a16:rowId xmlns:a16="http://schemas.microsoft.com/office/drawing/2014/main" val="487398248"/>
                  </a:ext>
                </a:extLst>
              </a:tr>
              <a:tr h="523348">
                <a:tc>
                  <a:txBody>
                    <a:bodyPr/>
                    <a:lstStyle/>
                    <a:p>
                      <a:pPr>
                        <a:lnSpc>
                          <a:spcPct val="107000"/>
                        </a:lnSpc>
                        <a:spcAft>
                          <a:spcPts val="0"/>
                        </a:spcAft>
                      </a:pPr>
                      <a:r>
                        <a:rPr lang="en-IN" sz="1100">
                          <a:effectLst/>
                        </a:rPr>
                        <a:t>6 </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tc>
                  <a:txBody>
                    <a:bodyPr/>
                    <a:lstStyle/>
                    <a:p>
                      <a:pPr marL="635">
                        <a:lnSpc>
                          <a:spcPct val="107000"/>
                        </a:lnSpc>
                        <a:spcAft>
                          <a:spcPts val="0"/>
                        </a:spcAft>
                      </a:pPr>
                      <a:r>
                        <a:rPr lang="en-IN" sz="1100">
                          <a:effectLst/>
                        </a:rPr>
                        <a:t>Cell </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tc>
                  <a:txBody>
                    <a:bodyPr/>
                    <a:lstStyle/>
                    <a:p>
                      <a:pPr marL="635" algn="just">
                        <a:lnSpc>
                          <a:spcPct val="107000"/>
                        </a:lnSpc>
                        <a:spcAft>
                          <a:spcPts val="0"/>
                        </a:spcAft>
                      </a:pPr>
                      <a:r>
                        <a:rPr lang="en-IN" sz="1100">
                          <a:effectLst/>
                        </a:rPr>
                        <a:t>The intersection of a row and column; cells are always named with the column letter followed by the row number (e.g. A1 and AB209); cells may contain text, numbers and formulas.</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extLst>
                  <a:ext uri="{0D108BD9-81ED-4DB2-BD59-A6C34878D82A}">
                    <a16:rowId xmlns:a16="http://schemas.microsoft.com/office/drawing/2014/main" val="3505105455"/>
                  </a:ext>
                </a:extLst>
              </a:tr>
              <a:tr h="433345">
                <a:tc>
                  <a:txBody>
                    <a:bodyPr/>
                    <a:lstStyle/>
                    <a:p>
                      <a:pPr>
                        <a:lnSpc>
                          <a:spcPct val="107000"/>
                        </a:lnSpc>
                        <a:spcAft>
                          <a:spcPts val="0"/>
                        </a:spcAft>
                      </a:pPr>
                      <a:r>
                        <a:rPr lang="en-IN" sz="1100">
                          <a:effectLst/>
                        </a:rPr>
                        <a:t>7 </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tc>
                  <a:txBody>
                    <a:bodyPr/>
                    <a:lstStyle/>
                    <a:p>
                      <a:pPr marL="635">
                        <a:lnSpc>
                          <a:spcPct val="107000"/>
                        </a:lnSpc>
                        <a:spcAft>
                          <a:spcPts val="0"/>
                        </a:spcAft>
                      </a:pPr>
                      <a:r>
                        <a:rPr lang="en-IN" sz="1100">
                          <a:effectLst/>
                        </a:rPr>
                        <a:t>Range </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tc>
                  <a:txBody>
                    <a:bodyPr/>
                    <a:lstStyle/>
                    <a:p>
                      <a:pPr marL="635" algn="just">
                        <a:lnSpc>
                          <a:spcPct val="107000"/>
                        </a:lnSpc>
                        <a:spcAft>
                          <a:spcPts val="0"/>
                        </a:spcAft>
                      </a:pPr>
                      <a:r>
                        <a:rPr lang="en-IN" sz="1100">
                          <a:effectLst/>
                        </a:rPr>
                        <a:t>One or more adjacent cells. A range is identified by its first and last cell address, separated by a colon. Example ranges are B5:B8, A1:B1 and A1:G240.</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extLst>
                  <a:ext uri="{0D108BD9-81ED-4DB2-BD59-A6C34878D82A}">
                    <a16:rowId xmlns:a16="http://schemas.microsoft.com/office/drawing/2014/main" val="1278484838"/>
                  </a:ext>
                </a:extLst>
              </a:tr>
              <a:tr h="276227">
                <a:tc>
                  <a:txBody>
                    <a:bodyPr/>
                    <a:lstStyle/>
                    <a:p>
                      <a:pPr>
                        <a:lnSpc>
                          <a:spcPct val="107000"/>
                        </a:lnSpc>
                        <a:spcAft>
                          <a:spcPts val="0"/>
                        </a:spcAft>
                      </a:pPr>
                      <a:r>
                        <a:rPr lang="en-IN" sz="1100">
                          <a:effectLst/>
                        </a:rPr>
                        <a:t>8 </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tc>
                  <a:txBody>
                    <a:bodyPr/>
                    <a:lstStyle/>
                    <a:p>
                      <a:pPr marL="635">
                        <a:lnSpc>
                          <a:spcPct val="107000"/>
                        </a:lnSpc>
                        <a:spcAft>
                          <a:spcPts val="0"/>
                        </a:spcAft>
                      </a:pPr>
                      <a:r>
                        <a:rPr lang="en-IN" sz="1100">
                          <a:effectLst/>
                        </a:rPr>
                        <a:t>Status Bar </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tc>
                  <a:txBody>
                    <a:bodyPr/>
                    <a:lstStyle/>
                    <a:p>
                      <a:pPr marL="635">
                        <a:lnSpc>
                          <a:spcPct val="107000"/>
                        </a:lnSpc>
                        <a:spcAft>
                          <a:spcPts val="0"/>
                        </a:spcAft>
                      </a:pPr>
                      <a:r>
                        <a:rPr lang="en-IN" sz="1100">
                          <a:effectLst/>
                        </a:rPr>
                        <a:t>Displays information about the current worksheet. </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extLst>
                  <a:ext uri="{0D108BD9-81ED-4DB2-BD59-A6C34878D82A}">
                    <a16:rowId xmlns:a16="http://schemas.microsoft.com/office/drawing/2014/main" val="1167609699"/>
                  </a:ext>
                </a:extLst>
              </a:tr>
              <a:tr h="276227">
                <a:tc>
                  <a:txBody>
                    <a:bodyPr/>
                    <a:lstStyle/>
                    <a:p>
                      <a:pPr>
                        <a:lnSpc>
                          <a:spcPct val="107000"/>
                        </a:lnSpc>
                        <a:spcAft>
                          <a:spcPts val="0"/>
                        </a:spcAft>
                      </a:pPr>
                      <a:r>
                        <a:rPr lang="en-IN" sz="1100">
                          <a:effectLst/>
                        </a:rPr>
                        <a:t>9 </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tc>
                  <a:txBody>
                    <a:bodyPr/>
                    <a:lstStyle/>
                    <a:p>
                      <a:pPr marL="635">
                        <a:lnSpc>
                          <a:spcPct val="107000"/>
                        </a:lnSpc>
                        <a:spcAft>
                          <a:spcPts val="0"/>
                        </a:spcAft>
                      </a:pPr>
                      <a:r>
                        <a:rPr lang="en-IN" sz="1100">
                          <a:effectLst/>
                        </a:rPr>
                        <a:t>New Sheet </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tc>
                  <a:txBody>
                    <a:bodyPr/>
                    <a:lstStyle/>
                    <a:p>
                      <a:pPr marL="635">
                        <a:lnSpc>
                          <a:spcPct val="107000"/>
                        </a:lnSpc>
                        <a:spcAft>
                          <a:spcPts val="0"/>
                        </a:spcAft>
                      </a:pPr>
                      <a:r>
                        <a:rPr lang="en-IN" sz="1100">
                          <a:effectLst/>
                        </a:rPr>
                        <a:t>Add a new sheet button. </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extLst>
                  <a:ext uri="{0D108BD9-81ED-4DB2-BD59-A6C34878D82A}">
                    <a16:rowId xmlns:a16="http://schemas.microsoft.com/office/drawing/2014/main" val="678144209"/>
                  </a:ext>
                </a:extLst>
              </a:tr>
              <a:tr h="353274">
                <a:tc>
                  <a:txBody>
                    <a:bodyPr/>
                    <a:lstStyle/>
                    <a:p>
                      <a:pPr>
                        <a:lnSpc>
                          <a:spcPct val="107000"/>
                        </a:lnSpc>
                        <a:spcAft>
                          <a:spcPts val="0"/>
                        </a:spcAft>
                      </a:pPr>
                      <a:r>
                        <a:rPr lang="en-IN" sz="1100">
                          <a:effectLst/>
                        </a:rPr>
                        <a:t>10 </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tc>
                  <a:txBody>
                    <a:bodyPr/>
                    <a:lstStyle/>
                    <a:p>
                      <a:pPr marL="635">
                        <a:lnSpc>
                          <a:spcPct val="107000"/>
                        </a:lnSpc>
                        <a:spcAft>
                          <a:spcPts val="0"/>
                        </a:spcAft>
                      </a:pPr>
                      <a:r>
                        <a:rPr lang="en-IN" sz="1100">
                          <a:effectLst/>
                        </a:rPr>
                        <a:t>Ribbon </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tc>
                  <a:txBody>
                    <a:bodyPr/>
                    <a:lstStyle/>
                    <a:p>
                      <a:pPr marL="635">
                        <a:lnSpc>
                          <a:spcPct val="107000"/>
                        </a:lnSpc>
                        <a:spcAft>
                          <a:spcPts val="0"/>
                        </a:spcAft>
                      </a:pPr>
                      <a:r>
                        <a:rPr lang="en-IN" sz="1100">
                          <a:effectLst/>
                        </a:rPr>
                        <a:t>Displays groups of related commands within tabs. Each tab provides buttons for commands.</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extLst>
                  <a:ext uri="{0D108BD9-81ED-4DB2-BD59-A6C34878D82A}">
                    <a16:rowId xmlns:a16="http://schemas.microsoft.com/office/drawing/2014/main" val="2833690517"/>
                  </a:ext>
                </a:extLst>
              </a:tr>
              <a:tr h="276227">
                <a:tc>
                  <a:txBody>
                    <a:bodyPr/>
                    <a:lstStyle/>
                    <a:p>
                      <a:pPr>
                        <a:lnSpc>
                          <a:spcPct val="107000"/>
                        </a:lnSpc>
                        <a:spcAft>
                          <a:spcPts val="0"/>
                        </a:spcAft>
                      </a:pPr>
                      <a:r>
                        <a:rPr lang="en-IN" sz="1100">
                          <a:effectLst/>
                        </a:rPr>
                        <a:t>11 </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tc>
                  <a:txBody>
                    <a:bodyPr/>
                    <a:lstStyle/>
                    <a:p>
                      <a:pPr marL="635">
                        <a:lnSpc>
                          <a:spcPct val="107000"/>
                        </a:lnSpc>
                        <a:spcAft>
                          <a:spcPts val="0"/>
                        </a:spcAft>
                      </a:pPr>
                      <a:r>
                        <a:rPr lang="en-IN" sz="1100">
                          <a:effectLst/>
                        </a:rPr>
                        <a:t>Formula Bar </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tc>
                  <a:txBody>
                    <a:bodyPr/>
                    <a:lstStyle/>
                    <a:p>
                      <a:pPr marL="635">
                        <a:lnSpc>
                          <a:spcPct val="107000"/>
                        </a:lnSpc>
                        <a:spcAft>
                          <a:spcPts val="0"/>
                        </a:spcAft>
                      </a:pPr>
                      <a:r>
                        <a:rPr lang="en-IN" sz="1100">
                          <a:effectLst/>
                        </a:rPr>
                        <a:t>Input formulas and perform calculations.  </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extLst>
                  <a:ext uri="{0D108BD9-81ED-4DB2-BD59-A6C34878D82A}">
                    <a16:rowId xmlns:a16="http://schemas.microsoft.com/office/drawing/2014/main" val="2517124979"/>
                  </a:ext>
                </a:extLst>
              </a:tr>
              <a:tr h="433345">
                <a:tc>
                  <a:txBody>
                    <a:bodyPr/>
                    <a:lstStyle/>
                    <a:p>
                      <a:pPr>
                        <a:lnSpc>
                          <a:spcPct val="107000"/>
                        </a:lnSpc>
                        <a:spcAft>
                          <a:spcPts val="0"/>
                        </a:spcAft>
                      </a:pPr>
                      <a:r>
                        <a:rPr lang="en-IN" sz="1100">
                          <a:effectLst/>
                        </a:rPr>
                        <a:t>12 </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tc>
                  <a:txBody>
                    <a:bodyPr/>
                    <a:lstStyle/>
                    <a:p>
                      <a:pPr marL="635">
                        <a:lnSpc>
                          <a:spcPct val="107000"/>
                        </a:lnSpc>
                        <a:spcAft>
                          <a:spcPts val="0"/>
                        </a:spcAft>
                      </a:pPr>
                      <a:r>
                        <a:rPr lang="en-IN" sz="1100">
                          <a:effectLst/>
                        </a:rPr>
                        <a:t>Worksheet </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tc>
                  <a:txBody>
                    <a:bodyPr/>
                    <a:lstStyle/>
                    <a:p>
                      <a:pPr marL="635">
                        <a:lnSpc>
                          <a:spcPct val="107000"/>
                        </a:lnSpc>
                        <a:spcAft>
                          <a:spcPts val="0"/>
                        </a:spcAft>
                      </a:pPr>
                      <a:r>
                        <a:rPr lang="en-IN" sz="1100">
                          <a:effectLst/>
                        </a:rPr>
                        <a:t>A grid of cells that are more than 16,000 columns wide (A-Z, AA-AZ, BA-BZ…IV) and more than 1,000,000 rows long. </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extLst>
                  <a:ext uri="{0D108BD9-81ED-4DB2-BD59-A6C34878D82A}">
                    <a16:rowId xmlns:a16="http://schemas.microsoft.com/office/drawing/2014/main" val="54630492"/>
                  </a:ext>
                </a:extLst>
              </a:tr>
              <a:tr h="409576">
                <a:tc>
                  <a:txBody>
                    <a:bodyPr/>
                    <a:lstStyle/>
                    <a:p>
                      <a:pPr>
                        <a:lnSpc>
                          <a:spcPct val="107000"/>
                        </a:lnSpc>
                        <a:spcAft>
                          <a:spcPts val="0"/>
                        </a:spcAft>
                      </a:pPr>
                      <a:r>
                        <a:rPr lang="en-IN" sz="1100">
                          <a:effectLst/>
                        </a:rPr>
                        <a:t>13 </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tc>
                  <a:txBody>
                    <a:bodyPr/>
                    <a:lstStyle/>
                    <a:p>
                      <a:pPr marL="635">
                        <a:lnSpc>
                          <a:spcPct val="107000"/>
                        </a:lnSpc>
                        <a:spcAft>
                          <a:spcPts val="0"/>
                        </a:spcAft>
                      </a:pPr>
                      <a:r>
                        <a:rPr lang="en-IN" sz="1100">
                          <a:effectLst/>
                        </a:rPr>
                        <a:t>View Option </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tc>
                  <a:txBody>
                    <a:bodyPr/>
                    <a:lstStyle/>
                    <a:p>
                      <a:pPr>
                        <a:lnSpc>
                          <a:spcPct val="107000"/>
                        </a:lnSpc>
                        <a:spcAft>
                          <a:spcPts val="0"/>
                        </a:spcAft>
                        <a:tabLst>
                          <a:tab pos="6807200" algn="r"/>
                        </a:tabLst>
                      </a:pPr>
                      <a:r>
                        <a:rPr lang="en-IN" sz="1100" dirty="0">
                          <a:effectLst/>
                        </a:rPr>
                        <a:t>Display worksheet view mode.</a:t>
                      </a:r>
                      <a:r>
                        <a:rPr lang="en-IN" sz="1000" dirty="0">
                          <a:effectLst/>
                        </a:rPr>
                        <a:t>                                                                	</a:t>
                      </a:r>
                      <a:endParaRPr lang="en-IN" sz="9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4375" marR="54375" marT="29474" marB="0"/>
                </a:tc>
                <a:extLst>
                  <a:ext uri="{0D108BD9-81ED-4DB2-BD59-A6C34878D82A}">
                    <a16:rowId xmlns:a16="http://schemas.microsoft.com/office/drawing/2014/main" val="2232333468"/>
                  </a:ext>
                </a:extLst>
              </a:tr>
            </a:tbl>
          </a:graphicData>
        </a:graphic>
      </p:graphicFrame>
    </p:spTree>
    <p:extLst>
      <p:ext uri="{BB962C8B-B14F-4D97-AF65-F5344CB8AC3E}">
        <p14:creationId xmlns:p14="http://schemas.microsoft.com/office/powerpoint/2010/main" val="3013469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138F1-A8D9-4E5B-8E37-F009E4033E43}"/>
              </a:ext>
            </a:extLst>
          </p:cNvPr>
          <p:cNvSpPr>
            <a:spLocks noGrp="1"/>
          </p:cNvSpPr>
          <p:nvPr>
            <p:ph type="title"/>
          </p:nvPr>
        </p:nvSpPr>
        <p:spPr>
          <a:xfrm>
            <a:off x="838200" y="211689"/>
            <a:ext cx="10515600" cy="1325563"/>
          </a:xfrm>
        </p:spPr>
        <p:txBody>
          <a:bodyPr/>
          <a:lstStyle/>
          <a:p>
            <a:r>
              <a:rPr lang="en-IN" b="1" dirty="0"/>
              <a:t>Ribbons</a:t>
            </a:r>
          </a:p>
        </p:txBody>
      </p:sp>
      <p:sp>
        <p:nvSpPr>
          <p:cNvPr id="3" name="Content Placeholder 2">
            <a:extLst>
              <a:ext uri="{FF2B5EF4-FFF2-40B4-BE49-F238E27FC236}">
                <a16:creationId xmlns:a16="http://schemas.microsoft.com/office/drawing/2014/main" id="{C8551819-712D-44D0-86EB-AE0880B2B29E}"/>
              </a:ext>
            </a:extLst>
          </p:cNvPr>
          <p:cNvSpPr>
            <a:spLocks noGrp="1"/>
          </p:cNvSpPr>
          <p:nvPr>
            <p:ph idx="1"/>
          </p:nvPr>
        </p:nvSpPr>
        <p:spPr>
          <a:xfrm>
            <a:off x="838200" y="1537252"/>
            <a:ext cx="10515600" cy="4639711"/>
          </a:xfrm>
        </p:spPr>
        <p:txBody>
          <a:bodyPr>
            <a:normAutofit fontScale="92500" lnSpcReduction="10000"/>
          </a:bodyPr>
          <a:lstStyle/>
          <a:p>
            <a:pPr algn="just"/>
            <a:r>
              <a:rPr lang="en-US" sz="2400" dirty="0"/>
              <a:t>Microsoft Excel ribbon is the row of tabs and icons at the top of the Excel window that allows you to quickly find, understand and use commands for completing a certain task.</a:t>
            </a:r>
          </a:p>
          <a:p>
            <a:pPr algn="just"/>
            <a:r>
              <a:rPr lang="en-US" sz="2400" dirty="0"/>
              <a:t>The ribbon first appeared in Excel 2007 replacing the traditional toolbars and pull-down menus found in previous versions. In Excel 2010, Microsoft added the ability to personalize the ribbon.</a:t>
            </a:r>
          </a:p>
          <a:p>
            <a:pPr algn="just"/>
            <a:r>
              <a:rPr lang="en-US" sz="2400" dirty="0"/>
              <a:t>The ribbon in Excel is made up of four basic components: tabs, groups, dialog launchers, and command buttons.</a:t>
            </a:r>
          </a:p>
          <a:p>
            <a:pPr algn="just"/>
            <a:r>
              <a:rPr lang="en-US" sz="2400" b="1" dirty="0"/>
              <a:t>Ribbon tab </a:t>
            </a:r>
            <a:r>
              <a:rPr lang="en-US" sz="2400" dirty="0"/>
              <a:t>contains multiple commands logically sub-divided into groups.</a:t>
            </a:r>
          </a:p>
          <a:p>
            <a:pPr algn="just"/>
            <a:r>
              <a:rPr lang="en-US" sz="2400" b="1" dirty="0"/>
              <a:t>Ribbon group </a:t>
            </a:r>
            <a:r>
              <a:rPr lang="en-US" sz="2400" dirty="0"/>
              <a:t>is a set of closely related commands normally performed as part of a larger task.</a:t>
            </a:r>
          </a:p>
          <a:p>
            <a:pPr algn="just"/>
            <a:r>
              <a:rPr lang="en-US" sz="2400" b="1" dirty="0"/>
              <a:t>Dialog launcher </a:t>
            </a:r>
            <a:r>
              <a:rPr lang="en-US" sz="2400" dirty="0"/>
              <a:t>is a small arrow in the lower-right corner of a group that brings up more related commands. Dialog launchers appear in groups that contain more commands than available space. </a:t>
            </a:r>
          </a:p>
          <a:p>
            <a:pPr algn="just"/>
            <a:r>
              <a:rPr lang="en-US" sz="2400" b="1" dirty="0"/>
              <a:t>Command button </a:t>
            </a:r>
            <a:r>
              <a:rPr lang="en-US" sz="2400" dirty="0"/>
              <a:t>is the button you click to perform a particular action</a:t>
            </a:r>
            <a:endParaRPr lang="en-IN" sz="2400" dirty="0"/>
          </a:p>
        </p:txBody>
      </p:sp>
    </p:spTree>
    <p:extLst>
      <p:ext uri="{BB962C8B-B14F-4D97-AF65-F5344CB8AC3E}">
        <p14:creationId xmlns:p14="http://schemas.microsoft.com/office/powerpoint/2010/main" val="24871538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00E68-DB47-4353-853B-D0681F98D81A}"/>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FEE9A1FE-F269-4847-AAFA-E7E88333AFC1}"/>
              </a:ext>
            </a:extLst>
          </p:cNvPr>
          <p:cNvPicPr>
            <a:picLocks noGrp="1"/>
          </p:cNvPicPr>
          <p:nvPr>
            <p:ph idx="1"/>
          </p:nvPr>
        </p:nvPicPr>
        <p:blipFill>
          <a:blip r:embed="rId2"/>
          <a:stretch>
            <a:fillRect/>
          </a:stretch>
        </p:blipFill>
        <p:spPr>
          <a:xfrm>
            <a:off x="1497496" y="2133600"/>
            <a:ext cx="8574156" cy="3472070"/>
          </a:xfrm>
          <a:prstGeom prst="rect">
            <a:avLst/>
          </a:prstGeom>
        </p:spPr>
      </p:pic>
    </p:spTree>
    <p:extLst>
      <p:ext uri="{BB962C8B-B14F-4D97-AF65-F5344CB8AC3E}">
        <p14:creationId xmlns:p14="http://schemas.microsoft.com/office/powerpoint/2010/main" val="15711442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AE26A-62E0-4E30-9FF6-B179416C3BB5}"/>
              </a:ext>
            </a:extLst>
          </p:cNvPr>
          <p:cNvSpPr>
            <a:spLocks noGrp="1"/>
          </p:cNvSpPr>
          <p:nvPr>
            <p:ph type="title"/>
          </p:nvPr>
        </p:nvSpPr>
        <p:spPr/>
        <p:txBody>
          <a:bodyPr/>
          <a:lstStyle/>
          <a:p>
            <a:r>
              <a:rPr lang="en-IN" b="1" dirty="0"/>
              <a:t>Rename a Worksheet</a:t>
            </a:r>
          </a:p>
        </p:txBody>
      </p:sp>
      <p:sp>
        <p:nvSpPr>
          <p:cNvPr id="3" name="Content Placeholder 2">
            <a:extLst>
              <a:ext uri="{FF2B5EF4-FFF2-40B4-BE49-F238E27FC236}">
                <a16:creationId xmlns:a16="http://schemas.microsoft.com/office/drawing/2014/main" id="{8A79A605-E078-4D86-B76D-5303D2DB5992}"/>
              </a:ext>
            </a:extLst>
          </p:cNvPr>
          <p:cNvSpPr>
            <a:spLocks noGrp="1"/>
          </p:cNvSpPr>
          <p:nvPr>
            <p:ph idx="1"/>
          </p:nvPr>
        </p:nvSpPr>
        <p:spPr>
          <a:xfrm>
            <a:off x="838200" y="1690688"/>
            <a:ext cx="10515600" cy="4351338"/>
          </a:xfrm>
        </p:spPr>
        <p:txBody>
          <a:bodyPr/>
          <a:lstStyle/>
          <a:p>
            <a:r>
              <a:rPr lang="en-US" dirty="0"/>
              <a:t>Every workbook contains at least one worksheet by default. When working with a large amount of data, you can create multiple worksheets to help organize your workbook and make it easier to find content. You can also group worksheets to quickly add information to multiple worksheets at the same time.</a:t>
            </a:r>
          </a:p>
          <a:p>
            <a:pPr marL="0" indent="0">
              <a:buNone/>
            </a:pPr>
            <a:endParaRPr lang="en-IN" dirty="0"/>
          </a:p>
        </p:txBody>
      </p:sp>
      <p:pic>
        <p:nvPicPr>
          <p:cNvPr id="5" name="Picture 4">
            <a:extLst>
              <a:ext uri="{FF2B5EF4-FFF2-40B4-BE49-F238E27FC236}">
                <a16:creationId xmlns:a16="http://schemas.microsoft.com/office/drawing/2014/main" id="{BDDB9DD6-7935-4CE6-80AB-67AE970AEAB4}"/>
              </a:ext>
            </a:extLst>
          </p:cNvPr>
          <p:cNvPicPr/>
          <p:nvPr/>
        </p:nvPicPr>
        <p:blipFill>
          <a:blip r:embed="rId2"/>
          <a:stretch>
            <a:fillRect/>
          </a:stretch>
        </p:blipFill>
        <p:spPr>
          <a:xfrm>
            <a:off x="3754270" y="3723860"/>
            <a:ext cx="4965660" cy="2539843"/>
          </a:xfrm>
          <a:prstGeom prst="rect">
            <a:avLst/>
          </a:prstGeom>
        </p:spPr>
      </p:pic>
    </p:spTree>
    <p:extLst>
      <p:ext uri="{BB962C8B-B14F-4D97-AF65-F5344CB8AC3E}">
        <p14:creationId xmlns:p14="http://schemas.microsoft.com/office/powerpoint/2010/main" val="20363812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5EE23-1445-421B-906C-BC7FBDF77514}"/>
              </a:ext>
            </a:extLst>
          </p:cNvPr>
          <p:cNvSpPr>
            <a:spLocks noGrp="1"/>
          </p:cNvSpPr>
          <p:nvPr>
            <p:ph type="title"/>
          </p:nvPr>
        </p:nvSpPr>
        <p:spPr/>
        <p:txBody>
          <a:bodyPr/>
          <a:lstStyle/>
          <a:p>
            <a:r>
              <a:rPr lang="en-IN" b="1" dirty="0"/>
              <a:t>Insert a New Worksheet</a:t>
            </a:r>
          </a:p>
        </p:txBody>
      </p:sp>
      <p:pic>
        <p:nvPicPr>
          <p:cNvPr id="4" name="Content Placeholder 3">
            <a:extLst>
              <a:ext uri="{FF2B5EF4-FFF2-40B4-BE49-F238E27FC236}">
                <a16:creationId xmlns:a16="http://schemas.microsoft.com/office/drawing/2014/main" id="{E0CCA643-BD8C-4E3D-9E45-EAAC4F7117F8}"/>
              </a:ext>
            </a:extLst>
          </p:cNvPr>
          <p:cNvPicPr>
            <a:picLocks noGrp="1"/>
          </p:cNvPicPr>
          <p:nvPr>
            <p:ph idx="1"/>
          </p:nvPr>
        </p:nvPicPr>
        <p:blipFill>
          <a:blip r:embed="rId2"/>
          <a:stretch>
            <a:fillRect/>
          </a:stretch>
        </p:blipFill>
        <p:spPr>
          <a:xfrm>
            <a:off x="1261466" y="1866766"/>
            <a:ext cx="7601727" cy="664465"/>
          </a:xfrm>
          <a:prstGeom prst="rect">
            <a:avLst/>
          </a:prstGeom>
        </p:spPr>
      </p:pic>
      <p:pic>
        <p:nvPicPr>
          <p:cNvPr id="5" name="Picture 4">
            <a:extLst>
              <a:ext uri="{FF2B5EF4-FFF2-40B4-BE49-F238E27FC236}">
                <a16:creationId xmlns:a16="http://schemas.microsoft.com/office/drawing/2014/main" id="{588FC11C-479C-4A05-98C6-D8030238F031}"/>
              </a:ext>
            </a:extLst>
          </p:cNvPr>
          <p:cNvPicPr/>
          <p:nvPr/>
        </p:nvPicPr>
        <p:blipFill>
          <a:blip r:embed="rId3"/>
          <a:stretch>
            <a:fillRect/>
          </a:stretch>
        </p:blipFill>
        <p:spPr>
          <a:xfrm>
            <a:off x="1261466" y="3083536"/>
            <a:ext cx="5183505" cy="2963545"/>
          </a:xfrm>
          <a:prstGeom prst="rect">
            <a:avLst/>
          </a:prstGeom>
        </p:spPr>
      </p:pic>
    </p:spTree>
    <p:extLst>
      <p:ext uri="{BB962C8B-B14F-4D97-AF65-F5344CB8AC3E}">
        <p14:creationId xmlns:p14="http://schemas.microsoft.com/office/powerpoint/2010/main" val="30980084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70A00-8A3D-4171-B2D1-931984AF8BAD}"/>
              </a:ext>
            </a:extLst>
          </p:cNvPr>
          <p:cNvSpPr>
            <a:spLocks noGrp="1"/>
          </p:cNvSpPr>
          <p:nvPr>
            <p:ph type="title"/>
          </p:nvPr>
        </p:nvSpPr>
        <p:spPr/>
        <p:txBody>
          <a:bodyPr/>
          <a:lstStyle/>
          <a:p>
            <a:r>
              <a:rPr lang="en-IN" b="1" dirty="0"/>
              <a:t>Delete a Worksheet</a:t>
            </a:r>
          </a:p>
        </p:txBody>
      </p:sp>
      <p:pic>
        <p:nvPicPr>
          <p:cNvPr id="4" name="Content Placeholder 3">
            <a:extLst>
              <a:ext uri="{FF2B5EF4-FFF2-40B4-BE49-F238E27FC236}">
                <a16:creationId xmlns:a16="http://schemas.microsoft.com/office/drawing/2014/main" id="{56877E85-D8B9-4F87-9D29-05F6C506430D}"/>
              </a:ext>
            </a:extLst>
          </p:cNvPr>
          <p:cNvPicPr>
            <a:picLocks noGrp="1"/>
          </p:cNvPicPr>
          <p:nvPr>
            <p:ph idx="1"/>
          </p:nvPr>
        </p:nvPicPr>
        <p:blipFill>
          <a:blip r:embed="rId2"/>
          <a:stretch>
            <a:fillRect/>
          </a:stretch>
        </p:blipFill>
        <p:spPr>
          <a:xfrm>
            <a:off x="1073426" y="1710670"/>
            <a:ext cx="6262480" cy="2847975"/>
          </a:xfrm>
          <a:prstGeom prst="rect">
            <a:avLst/>
          </a:prstGeom>
        </p:spPr>
      </p:pic>
    </p:spTree>
    <p:extLst>
      <p:ext uri="{BB962C8B-B14F-4D97-AF65-F5344CB8AC3E}">
        <p14:creationId xmlns:p14="http://schemas.microsoft.com/office/powerpoint/2010/main" val="14627961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3D0E2-3567-4830-B334-6D8385B7C4CA}"/>
              </a:ext>
            </a:extLst>
          </p:cNvPr>
          <p:cNvSpPr>
            <a:spLocks noGrp="1"/>
          </p:cNvSpPr>
          <p:nvPr>
            <p:ph type="title"/>
          </p:nvPr>
        </p:nvSpPr>
        <p:spPr/>
        <p:txBody>
          <a:bodyPr>
            <a:normAutofit fontScale="90000"/>
          </a:bodyPr>
          <a:lstStyle/>
          <a:p>
            <a:br>
              <a:rPr lang="en-IN" b="1" dirty="0"/>
            </a:br>
            <a:r>
              <a:rPr lang="en-IN" sz="4900" b="1" dirty="0"/>
              <a:t>Copy/Move Worksheet</a:t>
            </a:r>
            <a:br>
              <a:rPr lang="en-IN" sz="4900" b="1" dirty="0"/>
            </a:br>
            <a:endParaRPr lang="en-IN" sz="4900" dirty="0"/>
          </a:p>
        </p:txBody>
      </p:sp>
      <p:sp>
        <p:nvSpPr>
          <p:cNvPr id="3" name="Content Placeholder 2">
            <a:extLst>
              <a:ext uri="{FF2B5EF4-FFF2-40B4-BE49-F238E27FC236}">
                <a16:creationId xmlns:a16="http://schemas.microsoft.com/office/drawing/2014/main" id="{C73BD65E-FA9E-4E45-8DB6-1F2F96D80A8C}"/>
              </a:ext>
            </a:extLst>
          </p:cNvPr>
          <p:cNvSpPr>
            <a:spLocks noGrp="1"/>
          </p:cNvSpPr>
          <p:nvPr>
            <p:ph idx="1"/>
          </p:nvPr>
        </p:nvSpPr>
        <p:spPr/>
        <p:txBody>
          <a:bodyPr/>
          <a:lstStyle/>
          <a:p>
            <a:pPr lvl="0" algn="just" fontAlgn="base"/>
            <a:r>
              <a:rPr lang="en-IN" sz="2400" dirty="0"/>
              <a:t>You can copy worksheets to other workbooks as required. For example, you might need to keep records for six different divisions – rather than send each division the entire set of records, you can copy their worksheet to another workbook and send them their data only.</a:t>
            </a:r>
          </a:p>
          <a:p>
            <a:pPr lvl="0" algn="just" fontAlgn="base"/>
            <a:r>
              <a:rPr lang="en-IN" sz="2400" dirty="0"/>
              <a:t>If worksheets exist in the other workbook, you will need to determine the order in which to place the copied worksheet.</a:t>
            </a:r>
          </a:p>
          <a:p>
            <a:endParaRPr lang="en-IN" dirty="0"/>
          </a:p>
        </p:txBody>
      </p:sp>
    </p:spTree>
    <p:extLst>
      <p:ext uri="{BB962C8B-B14F-4D97-AF65-F5344CB8AC3E}">
        <p14:creationId xmlns:p14="http://schemas.microsoft.com/office/powerpoint/2010/main" val="14427006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2262F-B26E-4BA9-A4A8-CA10484B0FAF}"/>
              </a:ext>
            </a:extLst>
          </p:cNvPr>
          <p:cNvSpPr>
            <a:spLocks noGrp="1"/>
          </p:cNvSpPr>
          <p:nvPr>
            <p:ph type="title"/>
          </p:nvPr>
        </p:nvSpPr>
        <p:spPr/>
        <p:txBody>
          <a:bodyPr>
            <a:normAutofit fontScale="90000"/>
          </a:bodyPr>
          <a:lstStyle/>
          <a:p>
            <a:br>
              <a:rPr lang="en-IN" b="1" dirty="0"/>
            </a:br>
            <a:r>
              <a:rPr lang="en-IN" sz="4900" b="1" dirty="0"/>
              <a:t>CHANGING WORKSHEET TAB COLOURS</a:t>
            </a:r>
            <a:br>
              <a:rPr lang="en-IN" sz="4900" b="1" dirty="0"/>
            </a:br>
            <a:endParaRPr lang="en-IN" sz="4900" dirty="0"/>
          </a:p>
        </p:txBody>
      </p:sp>
      <p:sp>
        <p:nvSpPr>
          <p:cNvPr id="3" name="Content Placeholder 2">
            <a:extLst>
              <a:ext uri="{FF2B5EF4-FFF2-40B4-BE49-F238E27FC236}">
                <a16:creationId xmlns:a16="http://schemas.microsoft.com/office/drawing/2014/main" id="{D673BD3B-BA1F-4B44-81DB-5B13856CC31E}"/>
              </a:ext>
            </a:extLst>
          </p:cNvPr>
          <p:cNvSpPr>
            <a:spLocks noGrp="1"/>
          </p:cNvSpPr>
          <p:nvPr>
            <p:ph idx="1"/>
          </p:nvPr>
        </p:nvSpPr>
        <p:spPr/>
        <p:txBody>
          <a:bodyPr>
            <a:normAutofit/>
          </a:bodyPr>
          <a:lstStyle/>
          <a:p>
            <a:endParaRPr lang="en-IN" sz="2400" dirty="0"/>
          </a:p>
        </p:txBody>
      </p:sp>
      <p:grpSp>
        <p:nvGrpSpPr>
          <p:cNvPr id="4" name="Group 3">
            <a:extLst>
              <a:ext uri="{FF2B5EF4-FFF2-40B4-BE49-F238E27FC236}">
                <a16:creationId xmlns:a16="http://schemas.microsoft.com/office/drawing/2014/main" id="{A2A21602-77F1-4125-90F9-ADD8163AE435}"/>
              </a:ext>
            </a:extLst>
          </p:cNvPr>
          <p:cNvGrpSpPr/>
          <p:nvPr/>
        </p:nvGrpSpPr>
        <p:grpSpPr>
          <a:xfrm>
            <a:off x="838200" y="1690688"/>
            <a:ext cx="10149840" cy="2461260"/>
            <a:chOff x="0" y="0"/>
            <a:chExt cx="10150041" cy="2461466"/>
          </a:xfrm>
        </p:grpSpPr>
        <p:pic>
          <p:nvPicPr>
            <p:cNvPr id="5" name="Picture 4">
              <a:extLst>
                <a:ext uri="{FF2B5EF4-FFF2-40B4-BE49-F238E27FC236}">
                  <a16:creationId xmlns:a16="http://schemas.microsoft.com/office/drawing/2014/main" id="{8D67FDDF-416E-411C-AA71-D4A461619D38}"/>
                </a:ext>
              </a:extLst>
            </p:cNvPr>
            <p:cNvPicPr/>
            <p:nvPr/>
          </p:nvPicPr>
          <p:blipFill>
            <a:blip r:embed="rId2"/>
            <a:stretch>
              <a:fillRect/>
            </a:stretch>
          </p:blipFill>
          <p:spPr>
            <a:xfrm>
              <a:off x="0" y="35113"/>
              <a:ext cx="5160358" cy="2426225"/>
            </a:xfrm>
            <a:prstGeom prst="rect">
              <a:avLst/>
            </a:prstGeom>
          </p:spPr>
        </p:pic>
        <p:pic>
          <p:nvPicPr>
            <p:cNvPr id="6" name="Picture 5">
              <a:extLst>
                <a:ext uri="{FF2B5EF4-FFF2-40B4-BE49-F238E27FC236}">
                  <a16:creationId xmlns:a16="http://schemas.microsoft.com/office/drawing/2014/main" id="{37C0E6EF-DFAB-4152-A524-2D5C4A685C20}"/>
                </a:ext>
              </a:extLst>
            </p:cNvPr>
            <p:cNvPicPr/>
            <p:nvPr/>
          </p:nvPicPr>
          <p:blipFill>
            <a:blip r:embed="rId3"/>
            <a:stretch>
              <a:fillRect/>
            </a:stretch>
          </p:blipFill>
          <p:spPr>
            <a:xfrm>
              <a:off x="5352288" y="0"/>
              <a:ext cx="4797753" cy="2461466"/>
            </a:xfrm>
            <a:prstGeom prst="rect">
              <a:avLst/>
            </a:prstGeom>
          </p:spPr>
        </p:pic>
      </p:grpSp>
      <p:pic>
        <p:nvPicPr>
          <p:cNvPr id="7" name="Picture 6">
            <a:extLst>
              <a:ext uri="{FF2B5EF4-FFF2-40B4-BE49-F238E27FC236}">
                <a16:creationId xmlns:a16="http://schemas.microsoft.com/office/drawing/2014/main" id="{67B717AC-1C5B-487B-947B-43B3E69A3DB0}"/>
              </a:ext>
            </a:extLst>
          </p:cNvPr>
          <p:cNvPicPr/>
          <p:nvPr/>
        </p:nvPicPr>
        <p:blipFill>
          <a:blip r:embed="rId4"/>
          <a:stretch>
            <a:fillRect/>
          </a:stretch>
        </p:blipFill>
        <p:spPr>
          <a:xfrm>
            <a:off x="2449443" y="4314189"/>
            <a:ext cx="6604000" cy="1706245"/>
          </a:xfrm>
          <a:prstGeom prst="rect">
            <a:avLst/>
          </a:prstGeom>
        </p:spPr>
      </p:pic>
    </p:spTree>
    <p:extLst>
      <p:ext uri="{BB962C8B-B14F-4D97-AF65-F5344CB8AC3E}">
        <p14:creationId xmlns:p14="http://schemas.microsoft.com/office/powerpoint/2010/main" val="35533074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28D2E-0AD3-4B02-97ED-9DB15F2B5845}"/>
              </a:ext>
            </a:extLst>
          </p:cNvPr>
          <p:cNvSpPr>
            <a:spLocks noGrp="1"/>
          </p:cNvSpPr>
          <p:nvPr>
            <p:ph type="title"/>
          </p:nvPr>
        </p:nvSpPr>
        <p:spPr>
          <a:xfrm>
            <a:off x="838200" y="0"/>
            <a:ext cx="10515600" cy="1325563"/>
          </a:xfrm>
        </p:spPr>
        <p:txBody>
          <a:bodyPr/>
          <a:lstStyle/>
          <a:p>
            <a:r>
              <a:rPr lang="en-US" b="1" dirty="0"/>
              <a:t>Range</a:t>
            </a:r>
            <a:endParaRPr lang="en-IN" b="1" dirty="0"/>
          </a:p>
        </p:txBody>
      </p:sp>
      <p:sp>
        <p:nvSpPr>
          <p:cNvPr id="3" name="Content Placeholder 2">
            <a:extLst>
              <a:ext uri="{FF2B5EF4-FFF2-40B4-BE49-F238E27FC236}">
                <a16:creationId xmlns:a16="http://schemas.microsoft.com/office/drawing/2014/main" id="{B302CF8C-201B-4CA8-BF3F-28EFE7DE587B}"/>
              </a:ext>
            </a:extLst>
          </p:cNvPr>
          <p:cNvSpPr>
            <a:spLocks noGrp="1"/>
          </p:cNvSpPr>
          <p:nvPr>
            <p:ph idx="1"/>
          </p:nvPr>
        </p:nvSpPr>
        <p:spPr>
          <a:xfrm>
            <a:off x="838200" y="1311965"/>
            <a:ext cx="10515600" cy="5274365"/>
          </a:xfrm>
        </p:spPr>
        <p:txBody>
          <a:bodyPr>
            <a:normAutofit fontScale="85000" lnSpcReduction="20000"/>
          </a:bodyPr>
          <a:lstStyle/>
          <a:p>
            <a:pPr algn="just"/>
            <a:r>
              <a:rPr lang="en-US" dirty="0"/>
              <a:t>A range in Excel refers to a group of one or more selected cells in a worksheet. Ranges can be horizontal, vertical, or rectangular (rows × columns).</a:t>
            </a:r>
          </a:p>
          <a:p>
            <a:pPr marL="0" indent="0" algn="just">
              <a:buNone/>
            </a:pPr>
            <a:r>
              <a:rPr lang="en-IN" b="1" dirty="0"/>
              <a:t>Relative ,Absolute and Mixed Cell Addresses</a:t>
            </a:r>
          </a:p>
          <a:p>
            <a:pPr algn="just" fontAlgn="base"/>
            <a:r>
              <a:rPr lang="en-IN" dirty="0"/>
              <a:t>As you move and copy formulas, Excel automatically adjusts the part of the cell reference in the formula that changes as you move down or to the right. For example, when you copy a formula from a cell to columns to the right, Excel changes the column letters in the formula without touching the row numbers. Excel assumes that everything is </a:t>
            </a:r>
            <a:r>
              <a:rPr lang="en-IN" b="1" dirty="0"/>
              <a:t>relative addressing</a:t>
            </a:r>
            <a:r>
              <a:rPr lang="en-IN" dirty="0"/>
              <a:t>; that is, relocated and copied formulas will reference information according to the number of columns and rows they have moved(e.g. =A1+B1</a:t>
            </a:r>
            <a:r>
              <a:rPr lang="en-US" altLang="en-US" dirty="0"/>
              <a:t> copied to next row becomes =A2+B2).</a:t>
            </a:r>
            <a:endParaRPr lang="en-IN" dirty="0"/>
          </a:p>
          <a:p>
            <a:pPr algn="just"/>
            <a:r>
              <a:rPr lang="en-IN" dirty="0"/>
              <a:t>There are situations where automatic adjustment of the cell references does not calculate correctly. This is especially true with percentage formulas where the denominator should remain constant. A dollar sign ($) placed before the column letter and row number (e.g. $B$6) will lock the address or make it </a:t>
            </a:r>
            <a:r>
              <a:rPr lang="en-IN" b="1" dirty="0"/>
              <a:t>absolute addressing</a:t>
            </a:r>
            <a:r>
              <a:rPr lang="en-IN" dirty="0"/>
              <a:t>.</a:t>
            </a:r>
          </a:p>
          <a:p>
            <a:pPr eaLnBrk="0" fontAlgn="base" hangingPunct="0">
              <a:lnSpc>
                <a:spcPct val="100000"/>
              </a:lnSpc>
              <a:spcBef>
                <a:spcPct val="0"/>
              </a:spcBef>
              <a:spcAft>
                <a:spcPct val="0"/>
              </a:spcAft>
            </a:pPr>
            <a:r>
              <a:rPr lang="en-US" dirty="0"/>
              <a:t>Either row or column is fixed this is referred as </a:t>
            </a:r>
            <a:r>
              <a:rPr lang="en-US" b="1" dirty="0"/>
              <a:t>mixed addressing</a:t>
            </a:r>
          </a:p>
          <a:p>
            <a:pPr marL="0" indent="0" eaLnBrk="0" fontAlgn="base" hangingPunct="0">
              <a:lnSpc>
                <a:spcPct val="100000"/>
              </a:lnSpc>
              <a:spcBef>
                <a:spcPct val="0"/>
              </a:spcBef>
              <a:spcAft>
                <a:spcPct val="0"/>
              </a:spcAft>
              <a:buNone/>
            </a:pPr>
            <a:r>
              <a:rPr lang="en-US" dirty="0"/>
              <a:t>   (e.g.</a:t>
            </a:r>
            <a:r>
              <a:rPr lang="en-US" altLang="en-US" sz="2000" dirty="0">
                <a:latin typeface="Arial Unicode MS"/>
              </a:rPr>
              <a:t> =$A1</a:t>
            </a:r>
            <a:r>
              <a:rPr lang="en-US" altLang="en-US" dirty="0"/>
              <a:t> → Column fixed, row changes, </a:t>
            </a:r>
            <a:r>
              <a:rPr lang="en-US" altLang="en-US" sz="2000" dirty="0">
                <a:latin typeface="Arial Unicode MS"/>
              </a:rPr>
              <a:t>=A$1</a:t>
            </a:r>
            <a:r>
              <a:rPr lang="en-US" altLang="en-US" dirty="0"/>
              <a:t> → Row fixed, column changes).</a:t>
            </a:r>
            <a:endParaRPr lang="en-IN" dirty="0"/>
          </a:p>
          <a:p>
            <a:pPr algn="just"/>
            <a:endParaRPr lang="en-IN" dirty="0"/>
          </a:p>
        </p:txBody>
      </p:sp>
    </p:spTree>
    <p:extLst>
      <p:ext uri="{BB962C8B-B14F-4D97-AF65-F5344CB8AC3E}">
        <p14:creationId xmlns:p14="http://schemas.microsoft.com/office/powerpoint/2010/main" val="3608812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92A6EFC3-466C-4BA4-A473-A1688791A23C}"/>
              </a:ext>
            </a:extLst>
          </p:cNvPr>
          <p:cNvSpPr>
            <a:spLocks noGrp="1"/>
          </p:cNvSpPr>
          <p:nvPr>
            <p:ph sz="half" idx="2"/>
          </p:nvPr>
        </p:nvSpPr>
        <p:spPr>
          <a:xfrm>
            <a:off x="6172200" y="689113"/>
            <a:ext cx="5181600" cy="5487850"/>
          </a:xfrm>
        </p:spPr>
        <p:txBody>
          <a:bodyPr>
            <a:normAutofit/>
          </a:bodyPr>
          <a:lstStyle/>
          <a:p>
            <a:pPr algn="just"/>
            <a:r>
              <a:rPr lang="en-IN" sz="2400" dirty="0"/>
              <a:t>Click in cell C2, and then type =B2/B6 to create a formula to calculate the percentage of Office Supplies costs out of the total cost. </a:t>
            </a:r>
            <a:r>
              <a:rPr lang="en-US" sz="2400" dirty="0"/>
              <a:t>Auto Fill this formula down through the cell range C3:C6. The sheet should appear as shown above. Notice the errors in cells C3:C6.</a:t>
            </a:r>
          </a:p>
          <a:p>
            <a:pPr algn="just"/>
            <a:r>
              <a:rPr lang="en-US" sz="2400" dirty="0"/>
              <a:t>Click on each cell individually to read the formula in the formula bar. The reason that the copied formula resulted in errors is that Excel copied this formula assuming relative references for each formula (adjusting the denominator in each cell). Make sure that formulas are not displaying.</a:t>
            </a:r>
            <a:endParaRPr lang="en-IN" sz="2400" dirty="0"/>
          </a:p>
          <a:p>
            <a:pPr algn="just"/>
            <a:endParaRPr lang="en-IN" sz="2400" dirty="0"/>
          </a:p>
        </p:txBody>
      </p:sp>
      <p:pic>
        <p:nvPicPr>
          <p:cNvPr id="10" name="Content Placeholder 9">
            <a:extLst>
              <a:ext uri="{FF2B5EF4-FFF2-40B4-BE49-F238E27FC236}">
                <a16:creationId xmlns:a16="http://schemas.microsoft.com/office/drawing/2014/main" id="{5734F406-D87F-4AAC-BA8F-CA128A409ECB}"/>
              </a:ext>
            </a:extLst>
          </p:cNvPr>
          <p:cNvPicPr>
            <a:picLocks noGrp="1"/>
          </p:cNvPicPr>
          <p:nvPr>
            <p:ph sz="half" idx="1"/>
          </p:nvPr>
        </p:nvPicPr>
        <p:blipFill>
          <a:blip r:embed="rId2"/>
          <a:stretch>
            <a:fillRect/>
          </a:stretch>
        </p:blipFill>
        <p:spPr>
          <a:xfrm>
            <a:off x="838200" y="689113"/>
            <a:ext cx="4359910" cy="2186609"/>
          </a:xfrm>
          <a:prstGeom prst="rect">
            <a:avLst/>
          </a:prstGeom>
        </p:spPr>
      </p:pic>
      <p:pic>
        <p:nvPicPr>
          <p:cNvPr id="11" name="Picture 10">
            <a:extLst>
              <a:ext uri="{FF2B5EF4-FFF2-40B4-BE49-F238E27FC236}">
                <a16:creationId xmlns:a16="http://schemas.microsoft.com/office/drawing/2014/main" id="{3D4CD79E-2D2C-406B-861C-006B7B6A04F7}"/>
              </a:ext>
            </a:extLst>
          </p:cNvPr>
          <p:cNvPicPr/>
          <p:nvPr/>
        </p:nvPicPr>
        <p:blipFill>
          <a:blip r:embed="rId3"/>
          <a:stretch>
            <a:fillRect/>
          </a:stretch>
        </p:blipFill>
        <p:spPr>
          <a:xfrm>
            <a:off x="838200" y="3429001"/>
            <a:ext cx="4359910" cy="2186609"/>
          </a:xfrm>
          <a:prstGeom prst="rect">
            <a:avLst/>
          </a:prstGeom>
        </p:spPr>
      </p:pic>
    </p:spTree>
    <p:extLst>
      <p:ext uri="{BB962C8B-B14F-4D97-AF65-F5344CB8AC3E}">
        <p14:creationId xmlns:p14="http://schemas.microsoft.com/office/powerpoint/2010/main" val="9922012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31166-F363-4586-BB8F-82AAC6168441}"/>
              </a:ext>
            </a:extLst>
          </p:cNvPr>
          <p:cNvSpPr>
            <a:spLocks noGrp="1"/>
          </p:cNvSpPr>
          <p:nvPr>
            <p:ph type="title"/>
          </p:nvPr>
        </p:nvSpPr>
        <p:spPr/>
        <p:txBody>
          <a:bodyPr/>
          <a:lstStyle/>
          <a:p>
            <a:endParaRPr lang="en-IN"/>
          </a:p>
        </p:txBody>
      </p:sp>
      <p:sp>
        <p:nvSpPr>
          <p:cNvPr id="4" name="Content Placeholder 3">
            <a:extLst>
              <a:ext uri="{FF2B5EF4-FFF2-40B4-BE49-F238E27FC236}">
                <a16:creationId xmlns:a16="http://schemas.microsoft.com/office/drawing/2014/main" id="{22923524-402D-4D68-83F1-DE2CE5B4DE3C}"/>
              </a:ext>
            </a:extLst>
          </p:cNvPr>
          <p:cNvSpPr>
            <a:spLocks noGrp="1"/>
          </p:cNvSpPr>
          <p:nvPr>
            <p:ph sz="half" idx="2"/>
          </p:nvPr>
        </p:nvSpPr>
        <p:spPr/>
        <p:txBody>
          <a:bodyPr>
            <a:normAutofit/>
          </a:bodyPr>
          <a:lstStyle/>
          <a:p>
            <a:pPr algn="just"/>
            <a:r>
              <a:rPr lang="en-US" sz="2400" dirty="0"/>
              <a:t>Click in cell C2, and then type =B2/$B$6 to create the formula to calculate the percentage again. The $ sign locks the address or make it absolute. Auto Fill this formula down through the cell range C3:C6.</a:t>
            </a:r>
            <a:endParaRPr lang="en-IN" sz="2400" dirty="0"/>
          </a:p>
        </p:txBody>
      </p:sp>
      <p:pic>
        <p:nvPicPr>
          <p:cNvPr id="5" name="Content Placeholder 4">
            <a:extLst>
              <a:ext uri="{FF2B5EF4-FFF2-40B4-BE49-F238E27FC236}">
                <a16:creationId xmlns:a16="http://schemas.microsoft.com/office/drawing/2014/main" id="{161EAA04-47CA-4848-B751-C9224DA9697D}"/>
              </a:ext>
            </a:extLst>
          </p:cNvPr>
          <p:cNvPicPr>
            <a:picLocks noGrp="1"/>
          </p:cNvPicPr>
          <p:nvPr>
            <p:ph sz="half" idx="1"/>
          </p:nvPr>
        </p:nvPicPr>
        <p:blipFill>
          <a:blip r:embed="rId2"/>
          <a:stretch>
            <a:fillRect/>
          </a:stretch>
        </p:blipFill>
        <p:spPr>
          <a:xfrm>
            <a:off x="838200" y="2266123"/>
            <a:ext cx="4369904" cy="2411894"/>
          </a:xfrm>
          <a:prstGeom prst="rect">
            <a:avLst/>
          </a:prstGeom>
        </p:spPr>
      </p:pic>
    </p:spTree>
    <p:extLst>
      <p:ext uri="{BB962C8B-B14F-4D97-AF65-F5344CB8AC3E}">
        <p14:creationId xmlns:p14="http://schemas.microsoft.com/office/powerpoint/2010/main" val="37197130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C622150-680B-4B2C-BA1D-0ACC73E6A505}"/>
              </a:ext>
            </a:extLst>
          </p:cNvPr>
          <p:cNvSpPr>
            <a:spLocks noGrp="1"/>
          </p:cNvSpPr>
          <p:nvPr>
            <p:ph type="title"/>
          </p:nvPr>
        </p:nvSpPr>
        <p:spPr/>
        <p:txBody>
          <a:bodyPr/>
          <a:lstStyle/>
          <a:p>
            <a:r>
              <a:rPr lang="en-IN" b="1" dirty="0"/>
              <a:t>RANGE NAMES</a:t>
            </a:r>
          </a:p>
        </p:txBody>
      </p:sp>
      <p:sp>
        <p:nvSpPr>
          <p:cNvPr id="6" name="Content Placeholder 5">
            <a:extLst>
              <a:ext uri="{FF2B5EF4-FFF2-40B4-BE49-F238E27FC236}">
                <a16:creationId xmlns:a16="http://schemas.microsoft.com/office/drawing/2014/main" id="{09314089-0441-440D-8223-A4A8AB42CAB6}"/>
              </a:ext>
            </a:extLst>
          </p:cNvPr>
          <p:cNvSpPr>
            <a:spLocks noGrp="1"/>
          </p:cNvSpPr>
          <p:nvPr>
            <p:ph idx="1"/>
          </p:nvPr>
        </p:nvSpPr>
        <p:spPr>
          <a:xfrm>
            <a:off x="838200" y="1690688"/>
            <a:ext cx="10515600" cy="4351338"/>
          </a:xfrm>
        </p:spPr>
        <p:txBody>
          <a:bodyPr/>
          <a:lstStyle/>
          <a:p>
            <a:r>
              <a:rPr lang="en-US" b="1" dirty="0"/>
              <a:t>Named Ranges </a:t>
            </a:r>
          </a:p>
          <a:p>
            <a:pPr marL="0" indent="0" algn="just">
              <a:buNone/>
            </a:pPr>
            <a:r>
              <a:rPr lang="en-US" dirty="0"/>
              <a:t>When cell or range names become tedious to memorize in a spreadsheet, use the Named Ranges feature. Named Ranges provide a word method of referring to cell addresses. For example, you may frequently need to print a range that is difficult to type or remember. Use the Name Box to create a name for a range.</a:t>
            </a:r>
          </a:p>
          <a:p>
            <a:pPr marL="0" indent="0" algn="just">
              <a:buNone/>
            </a:pPr>
            <a:endParaRPr lang="en-IN" dirty="0"/>
          </a:p>
        </p:txBody>
      </p:sp>
      <p:grpSp>
        <p:nvGrpSpPr>
          <p:cNvPr id="7" name="Group 6">
            <a:extLst>
              <a:ext uri="{FF2B5EF4-FFF2-40B4-BE49-F238E27FC236}">
                <a16:creationId xmlns:a16="http://schemas.microsoft.com/office/drawing/2014/main" id="{3B48ABCF-7D41-4D4D-B356-6B3B1A587B38}"/>
              </a:ext>
            </a:extLst>
          </p:cNvPr>
          <p:cNvGrpSpPr/>
          <p:nvPr/>
        </p:nvGrpSpPr>
        <p:grpSpPr>
          <a:xfrm>
            <a:off x="1214355" y="4236362"/>
            <a:ext cx="6339384" cy="2360930"/>
            <a:chOff x="0" y="0"/>
            <a:chExt cx="5523048" cy="2361484"/>
          </a:xfrm>
        </p:grpSpPr>
        <p:pic>
          <p:nvPicPr>
            <p:cNvPr id="8" name="Picture 7">
              <a:extLst>
                <a:ext uri="{FF2B5EF4-FFF2-40B4-BE49-F238E27FC236}">
                  <a16:creationId xmlns:a16="http://schemas.microsoft.com/office/drawing/2014/main" id="{5013E660-089A-4117-A154-D86A24C542A9}"/>
                </a:ext>
              </a:extLst>
            </p:cNvPr>
            <p:cNvPicPr/>
            <p:nvPr/>
          </p:nvPicPr>
          <p:blipFill>
            <a:blip r:embed="rId2"/>
            <a:stretch>
              <a:fillRect/>
            </a:stretch>
          </p:blipFill>
          <p:spPr>
            <a:xfrm>
              <a:off x="0" y="18976"/>
              <a:ext cx="5523048" cy="2342508"/>
            </a:xfrm>
            <a:prstGeom prst="rect">
              <a:avLst/>
            </a:prstGeom>
          </p:spPr>
        </p:pic>
        <p:sp>
          <p:nvSpPr>
            <p:cNvPr id="9" name="Shape 2964">
              <a:extLst>
                <a:ext uri="{FF2B5EF4-FFF2-40B4-BE49-F238E27FC236}">
                  <a16:creationId xmlns:a16="http://schemas.microsoft.com/office/drawing/2014/main" id="{711BB924-832F-45E1-9529-A966C6742D14}"/>
                </a:ext>
              </a:extLst>
            </p:cNvPr>
            <p:cNvSpPr/>
            <p:nvPr/>
          </p:nvSpPr>
          <p:spPr>
            <a:xfrm>
              <a:off x="336042" y="0"/>
              <a:ext cx="914400" cy="327660"/>
            </a:xfrm>
            <a:custGeom>
              <a:avLst/>
              <a:gdLst/>
              <a:ahLst/>
              <a:cxnLst/>
              <a:rect l="0" t="0" r="0" b="0"/>
              <a:pathLst>
                <a:path w="914400" h="327660">
                  <a:moveTo>
                    <a:pt x="0" y="327660"/>
                  </a:moveTo>
                  <a:lnTo>
                    <a:pt x="914400" y="327660"/>
                  </a:lnTo>
                  <a:lnTo>
                    <a:pt x="914400" y="0"/>
                  </a:lnTo>
                  <a:lnTo>
                    <a:pt x="0" y="0"/>
                  </a:lnTo>
                  <a:close/>
                </a:path>
              </a:pathLst>
            </a:custGeom>
            <a:ln w="22225" cap="flat">
              <a:miter lim="127000"/>
            </a:ln>
          </p:spPr>
          <p:style>
            <a:lnRef idx="1">
              <a:srgbClr val="FF0000"/>
            </a:lnRef>
            <a:fillRef idx="0">
              <a:srgbClr val="000000">
                <a:alpha val="0"/>
              </a:srgbClr>
            </a:fillRef>
            <a:effectRef idx="0">
              <a:scrgbClr r="0" g="0" b="0"/>
            </a:effectRef>
            <a:fontRef idx="none"/>
          </p:style>
          <p:txBody>
            <a:bodyPr/>
            <a:lstStyle/>
            <a:p>
              <a:endParaRPr lang="en-IN"/>
            </a:p>
          </p:txBody>
        </p:sp>
      </p:grpSp>
    </p:spTree>
    <p:extLst>
      <p:ext uri="{BB962C8B-B14F-4D97-AF65-F5344CB8AC3E}">
        <p14:creationId xmlns:p14="http://schemas.microsoft.com/office/powerpoint/2010/main" val="31857966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B397E1-72AB-4927-BDF0-4A60FCF49935}"/>
              </a:ext>
            </a:extLst>
          </p:cNvPr>
          <p:cNvSpPr>
            <a:spLocks noGrp="1"/>
          </p:cNvSpPr>
          <p:nvPr>
            <p:ph idx="1"/>
          </p:nvPr>
        </p:nvSpPr>
        <p:spPr>
          <a:xfrm>
            <a:off x="838200" y="927652"/>
            <a:ext cx="10515600" cy="5249311"/>
          </a:xfrm>
        </p:spPr>
        <p:txBody>
          <a:bodyPr>
            <a:normAutofit fontScale="85000" lnSpcReduction="20000"/>
          </a:bodyPr>
          <a:lstStyle/>
          <a:p>
            <a:pPr algn="just"/>
            <a:r>
              <a:rPr lang="en-US" dirty="0"/>
              <a:t>Type your desired name, example: Supply and press the Enter key.</a:t>
            </a:r>
          </a:p>
          <a:p>
            <a:pPr algn="just"/>
            <a:r>
              <a:rPr lang="en-US" dirty="0"/>
              <a:t>Select a cell anywhere on spreadsheet.</a:t>
            </a:r>
          </a:p>
          <a:p>
            <a:pPr algn="just"/>
            <a:r>
              <a:rPr lang="en-US" dirty="0"/>
              <a:t>Click on the Name box drop down arrow, the name you entered will appear on a menu list. Select your desired name and the cell range associated with the name will appear. </a:t>
            </a:r>
          </a:p>
          <a:p>
            <a:pPr marL="0" indent="0" algn="just">
              <a:buNone/>
            </a:pPr>
            <a:r>
              <a:rPr lang="en-US" b="1" dirty="0"/>
              <a:t>Guidelines for naming ranges </a:t>
            </a:r>
          </a:p>
          <a:p>
            <a:pPr algn="just"/>
            <a:r>
              <a:rPr lang="en-US" dirty="0"/>
              <a:t>The first character of a name must be a letter or an underscore character. Remaining characters in the name can be letters, numbers, periods, and underscore characters.</a:t>
            </a:r>
          </a:p>
          <a:p>
            <a:pPr algn="just"/>
            <a:r>
              <a:rPr lang="en-US" dirty="0"/>
              <a:t>Names cannot be the same as a cell reference, such as FY99, Z$100 or R1C1.</a:t>
            </a:r>
          </a:p>
          <a:p>
            <a:pPr algn="just"/>
            <a:r>
              <a:rPr lang="en-US" dirty="0"/>
              <a:t>Spaces are not allowed. Underscore characters and periods may be used as word separators; for example, </a:t>
            </a:r>
            <a:r>
              <a:rPr lang="en-US" dirty="0" err="1"/>
              <a:t>First.Quarter</a:t>
            </a:r>
            <a:r>
              <a:rPr lang="en-US" dirty="0"/>
              <a:t> or </a:t>
            </a:r>
            <a:r>
              <a:rPr lang="en-US" dirty="0" err="1"/>
              <a:t>Sales_Tax</a:t>
            </a:r>
            <a:r>
              <a:rPr lang="en-US" dirty="0"/>
              <a:t>.</a:t>
            </a:r>
          </a:p>
          <a:p>
            <a:pPr algn="just"/>
            <a:r>
              <a:rPr lang="en-US" dirty="0"/>
              <a:t>A name can contain up to 255 characters.</a:t>
            </a:r>
          </a:p>
          <a:p>
            <a:pPr algn="just"/>
            <a:r>
              <a:rPr lang="en-US" dirty="0"/>
              <a:t>Names are not case sensitive in Excel. For example, if you have created the name Sales and then create another name called SALES in the same workbook, the second name will replace the first one. </a:t>
            </a:r>
            <a:endParaRPr lang="en-IN" dirty="0"/>
          </a:p>
        </p:txBody>
      </p:sp>
    </p:spTree>
    <p:extLst>
      <p:ext uri="{BB962C8B-B14F-4D97-AF65-F5344CB8AC3E}">
        <p14:creationId xmlns:p14="http://schemas.microsoft.com/office/powerpoint/2010/main" val="1691370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0322E-A301-4F25-A846-B03DE7CFF51E}"/>
              </a:ext>
            </a:extLst>
          </p:cNvPr>
          <p:cNvSpPr>
            <a:spLocks noGrp="1"/>
          </p:cNvSpPr>
          <p:nvPr>
            <p:ph type="title"/>
          </p:nvPr>
        </p:nvSpPr>
        <p:spPr/>
        <p:txBody>
          <a:bodyPr/>
          <a:lstStyle/>
          <a:p>
            <a:r>
              <a:rPr lang="en-IN" b="1" dirty="0"/>
              <a:t>RANGE NAMES (Another Approach)</a:t>
            </a:r>
          </a:p>
        </p:txBody>
      </p:sp>
      <p:sp>
        <p:nvSpPr>
          <p:cNvPr id="3" name="Content Placeholder 2">
            <a:extLst>
              <a:ext uri="{FF2B5EF4-FFF2-40B4-BE49-F238E27FC236}">
                <a16:creationId xmlns:a16="http://schemas.microsoft.com/office/drawing/2014/main" id="{08CAE2B5-8497-4C2B-8A1B-97AB1159FB1C}"/>
              </a:ext>
            </a:extLst>
          </p:cNvPr>
          <p:cNvSpPr>
            <a:spLocks noGrp="1"/>
          </p:cNvSpPr>
          <p:nvPr>
            <p:ph idx="1"/>
          </p:nvPr>
        </p:nvSpPr>
        <p:spPr>
          <a:xfrm>
            <a:off x="838200" y="1590261"/>
            <a:ext cx="10515600" cy="4586702"/>
          </a:xfrm>
        </p:spPr>
        <p:txBody>
          <a:bodyPr>
            <a:normAutofit lnSpcReduction="10000"/>
          </a:bodyPr>
          <a:lstStyle/>
          <a:p>
            <a:pPr algn="just"/>
            <a:r>
              <a:rPr lang="en-US" sz="2400" dirty="0"/>
              <a:t>You can define names for often-used formulas. The formula doesn’t physically have to appear in a cell.</a:t>
            </a:r>
          </a:p>
          <a:p>
            <a:pPr algn="just"/>
            <a:r>
              <a:rPr lang="en-US" sz="2400" dirty="0"/>
              <a:t>This not only saves memory but often makes your worksheets easier to read. Follow these steps to name a formula: </a:t>
            </a:r>
          </a:p>
          <a:p>
            <a:pPr marL="514350" indent="-514350" algn="just">
              <a:buAutoNum type="arabicPeriod"/>
            </a:pPr>
            <a:r>
              <a:rPr lang="en-US" sz="2400" dirty="0"/>
              <a:t>Select Formulas &gt; Define Name to display the New Name dialog box. </a:t>
            </a:r>
          </a:p>
          <a:p>
            <a:pPr marL="514350" indent="-514350" algn="just">
              <a:buAutoNum type="arabicPeriod"/>
            </a:pPr>
            <a:r>
              <a:rPr lang="en-US" sz="2400" dirty="0"/>
              <a:t>Enter the name you want to use for the formula in the Name text box. </a:t>
            </a:r>
          </a:p>
          <a:p>
            <a:pPr marL="514350" indent="-514350" algn="just">
              <a:buAutoNum type="arabicPeriod"/>
            </a:pPr>
            <a:r>
              <a:rPr lang="en-US" sz="2400" dirty="0"/>
              <a:t>In the Refers To box, enter the formula exactly as you would if you were entering it in a worksheet.</a:t>
            </a:r>
          </a:p>
          <a:p>
            <a:pPr marL="514350" indent="-514350" algn="just">
              <a:buAutoNum type="arabicPeriod"/>
            </a:pPr>
            <a:r>
              <a:rPr lang="en-US" sz="2400" dirty="0"/>
              <a:t>Select OK</a:t>
            </a:r>
          </a:p>
          <a:p>
            <a:pPr algn="just"/>
            <a:r>
              <a:rPr lang="en-US" sz="2400" dirty="0"/>
              <a:t>Now you can enter the formula name in your worksheet cells (instead of the formula itself). For example, the following is the formula for the volume of a sphere (r is the radius of the sphere): 4πr3/3</a:t>
            </a:r>
          </a:p>
        </p:txBody>
      </p:sp>
    </p:spTree>
    <p:extLst>
      <p:ext uri="{BB962C8B-B14F-4D97-AF65-F5344CB8AC3E}">
        <p14:creationId xmlns:p14="http://schemas.microsoft.com/office/powerpoint/2010/main" val="14505166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83873F-43FA-4C20-895D-DC5471EAF8A0}"/>
              </a:ext>
            </a:extLst>
          </p:cNvPr>
          <p:cNvSpPr>
            <a:spLocks noGrp="1"/>
          </p:cNvSpPr>
          <p:nvPr>
            <p:ph idx="1"/>
          </p:nvPr>
        </p:nvSpPr>
        <p:spPr>
          <a:xfrm>
            <a:off x="838200" y="681037"/>
            <a:ext cx="10515600" cy="5495926"/>
          </a:xfrm>
        </p:spPr>
        <p:txBody>
          <a:bodyPr>
            <a:normAutofit/>
          </a:bodyPr>
          <a:lstStyle/>
          <a:p>
            <a:pPr algn="just"/>
            <a:r>
              <a:rPr lang="en-US" sz="2400" dirty="0"/>
              <a:t>So, assuming that you have a cell named Radius somewhere in the workbook, you could create a formula named, say, Sphere Volume. Then you could make the following entry in the Refers To box of the New Name dialog box (where PI is the Excel worksheet function that returns the value of pi): =4 * PI() * Radius ^ 3 / 3</a:t>
            </a:r>
          </a:p>
          <a:p>
            <a:pPr marL="0" indent="0">
              <a:buNone/>
            </a:pPr>
            <a:endParaRPr lang="en-IN" sz="2400" dirty="0"/>
          </a:p>
        </p:txBody>
      </p:sp>
      <p:pic>
        <p:nvPicPr>
          <p:cNvPr id="4" name="Picture 3">
            <a:extLst>
              <a:ext uri="{FF2B5EF4-FFF2-40B4-BE49-F238E27FC236}">
                <a16:creationId xmlns:a16="http://schemas.microsoft.com/office/drawing/2014/main" id="{254EC5F5-0C15-4EA1-835D-EEC6E3E35F67}"/>
              </a:ext>
            </a:extLst>
          </p:cNvPr>
          <p:cNvPicPr/>
          <p:nvPr/>
        </p:nvPicPr>
        <p:blipFill>
          <a:blip r:embed="rId2"/>
          <a:stretch>
            <a:fillRect/>
          </a:stretch>
        </p:blipFill>
        <p:spPr>
          <a:xfrm>
            <a:off x="1152939" y="2319130"/>
            <a:ext cx="10200862" cy="3857833"/>
          </a:xfrm>
          <a:prstGeom prst="rect">
            <a:avLst/>
          </a:prstGeom>
        </p:spPr>
      </p:pic>
    </p:spTree>
    <p:extLst>
      <p:ext uri="{BB962C8B-B14F-4D97-AF65-F5344CB8AC3E}">
        <p14:creationId xmlns:p14="http://schemas.microsoft.com/office/powerpoint/2010/main" val="28940141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54B95-1657-4351-8FA3-DBD002C939FB}"/>
              </a:ext>
            </a:extLst>
          </p:cNvPr>
          <p:cNvSpPr>
            <a:spLocks noGrp="1"/>
          </p:cNvSpPr>
          <p:nvPr>
            <p:ph type="title"/>
          </p:nvPr>
        </p:nvSpPr>
        <p:spPr>
          <a:xfrm>
            <a:off x="930965" y="0"/>
            <a:ext cx="10515600" cy="1325563"/>
          </a:xfrm>
        </p:spPr>
        <p:txBody>
          <a:bodyPr/>
          <a:lstStyle/>
          <a:p>
            <a:r>
              <a:rPr lang="en-IN" b="1" dirty="0"/>
              <a:t>Freeze Panes</a:t>
            </a:r>
          </a:p>
        </p:txBody>
      </p:sp>
      <p:sp>
        <p:nvSpPr>
          <p:cNvPr id="3" name="Content Placeholder 2">
            <a:extLst>
              <a:ext uri="{FF2B5EF4-FFF2-40B4-BE49-F238E27FC236}">
                <a16:creationId xmlns:a16="http://schemas.microsoft.com/office/drawing/2014/main" id="{16C65557-15B2-4EB9-8D7B-9953CB928B7B}"/>
              </a:ext>
            </a:extLst>
          </p:cNvPr>
          <p:cNvSpPr>
            <a:spLocks noGrp="1"/>
          </p:cNvSpPr>
          <p:nvPr>
            <p:ph idx="1"/>
          </p:nvPr>
        </p:nvSpPr>
        <p:spPr>
          <a:xfrm>
            <a:off x="838200" y="1245704"/>
            <a:ext cx="10515600" cy="5009322"/>
          </a:xfrm>
        </p:spPr>
        <p:txBody>
          <a:bodyPr>
            <a:normAutofit lnSpcReduction="10000"/>
          </a:bodyPr>
          <a:lstStyle/>
          <a:p>
            <a:pPr algn="just"/>
            <a:r>
              <a:rPr lang="en-US" sz="2400" dirty="0"/>
              <a:t>Freeze Panes is an Excel feature that allows you to keep row or column titles on the screen while you scroll through long lists on a worksheet. Freezing panes on a worksheet does not affect printing.</a:t>
            </a:r>
          </a:p>
          <a:p>
            <a:pPr algn="just"/>
            <a:endParaRPr lang="en-US" sz="2400" dirty="0"/>
          </a:p>
          <a:p>
            <a:pPr algn="just"/>
            <a:endParaRPr lang="en-US" sz="2400" dirty="0"/>
          </a:p>
          <a:p>
            <a:pPr algn="just"/>
            <a:endParaRPr lang="en-US" sz="2400" dirty="0"/>
          </a:p>
          <a:p>
            <a:pPr algn="just"/>
            <a:endParaRPr lang="en-US" sz="2400" dirty="0"/>
          </a:p>
          <a:p>
            <a:pPr algn="just"/>
            <a:r>
              <a:rPr lang="en-US" sz="2400" dirty="0"/>
              <a:t>To freeze panes, click the cell where you want to freeze the rows and/or columns (to the immediate right of the desired column and/or below the desired row).</a:t>
            </a:r>
          </a:p>
          <a:p>
            <a:pPr algn="just"/>
            <a:r>
              <a:rPr lang="en-US" sz="2400" dirty="0"/>
              <a:t>Select the View tab, click on the drop-down arrow next to the Freeze Panes button, and then select the Freeze Panes option.</a:t>
            </a:r>
          </a:p>
          <a:p>
            <a:pPr algn="just"/>
            <a:r>
              <a:rPr lang="en-US" sz="2400" dirty="0"/>
              <a:t>To remove these panes, Select the View tab, click on the drop-down arrow next To the Freeze Panes button, and then select the Unfreeze Panes option.</a:t>
            </a:r>
            <a:endParaRPr lang="en-IN"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marL="0" indent="0" algn="just">
              <a:buNone/>
            </a:pPr>
            <a:endParaRPr lang="en-US" sz="2400" dirty="0"/>
          </a:p>
          <a:p>
            <a:pPr marL="0" indent="0" algn="just">
              <a:buNone/>
            </a:pPr>
            <a:endParaRPr lang="en-US" sz="2400" dirty="0"/>
          </a:p>
          <a:p>
            <a:pPr algn="just"/>
            <a:endParaRPr lang="en-IN" sz="2400" dirty="0"/>
          </a:p>
        </p:txBody>
      </p:sp>
      <p:pic>
        <p:nvPicPr>
          <p:cNvPr id="4" name="Picture 3">
            <a:extLst>
              <a:ext uri="{FF2B5EF4-FFF2-40B4-BE49-F238E27FC236}">
                <a16:creationId xmlns:a16="http://schemas.microsoft.com/office/drawing/2014/main" id="{210C8D19-23E4-4652-9A9C-464B8CB77AF9}"/>
              </a:ext>
            </a:extLst>
          </p:cNvPr>
          <p:cNvPicPr/>
          <p:nvPr/>
        </p:nvPicPr>
        <p:blipFill>
          <a:blip r:embed="rId2"/>
          <a:stretch>
            <a:fillRect/>
          </a:stretch>
        </p:blipFill>
        <p:spPr>
          <a:xfrm>
            <a:off x="1033669" y="2214541"/>
            <a:ext cx="10124661" cy="1758315"/>
          </a:xfrm>
          <a:prstGeom prst="rect">
            <a:avLst/>
          </a:prstGeom>
        </p:spPr>
      </p:pic>
    </p:spTree>
    <p:extLst>
      <p:ext uri="{BB962C8B-B14F-4D97-AF65-F5344CB8AC3E}">
        <p14:creationId xmlns:p14="http://schemas.microsoft.com/office/powerpoint/2010/main" val="41091406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FC124-DB5A-4F53-B451-D34DE1051D2A}"/>
              </a:ext>
            </a:extLst>
          </p:cNvPr>
          <p:cNvSpPr>
            <a:spLocks noGrp="1"/>
          </p:cNvSpPr>
          <p:nvPr>
            <p:ph type="title"/>
          </p:nvPr>
        </p:nvSpPr>
        <p:spPr/>
        <p:txBody>
          <a:bodyPr/>
          <a:lstStyle/>
          <a:p>
            <a:r>
              <a:rPr lang="en-IN" b="1" dirty="0"/>
              <a:t>Table</a:t>
            </a:r>
          </a:p>
        </p:txBody>
      </p:sp>
      <p:sp>
        <p:nvSpPr>
          <p:cNvPr id="3" name="Content Placeholder 2">
            <a:extLst>
              <a:ext uri="{FF2B5EF4-FFF2-40B4-BE49-F238E27FC236}">
                <a16:creationId xmlns:a16="http://schemas.microsoft.com/office/drawing/2014/main" id="{68A72844-F980-4801-83B5-F53FB0DA8AF0}"/>
              </a:ext>
            </a:extLst>
          </p:cNvPr>
          <p:cNvSpPr>
            <a:spLocks noGrp="1"/>
          </p:cNvSpPr>
          <p:nvPr>
            <p:ph idx="1"/>
          </p:nvPr>
        </p:nvSpPr>
        <p:spPr/>
        <p:txBody>
          <a:bodyPr/>
          <a:lstStyle/>
          <a:p>
            <a:pPr algn="just"/>
            <a:r>
              <a:rPr lang="en-US" sz="2400" dirty="0"/>
              <a:t>A Table is a rectangular range of structured data. </a:t>
            </a:r>
          </a:p>
          <a:p>
            <a:pPr algn="just"/>
            <a:r>
              <a:rPr lang="en-US" sz="2400" dirty="0"/>
              <a:t>The key features are </a:t>
            </a:r>
          </a:p>
          <a:p>
            <a:pPr algn="just">
              <a:buFont typeface="Courier New" panose="02070309020205020404" pitchFamily="49" charset="0"/>
              <a:buChar char="o"/>
            </a:pPr>
            <a:r>
              <a:rPr lang="en-US" sz="2400" dirty="0"/>
              <a:t> Each row in the table corresponds to a single record of the data. Example Employee information.</a:t>
            </a:r>
          </a:p>
          <a:p>
            <a:pPr algn="just">
              <a:buFont typeface="Courier New" panose="02070309020205020404" pitchFamily="49" charset="0"/>
              <a:buChar char="o"/>
            </a:pPr>
            <a:r>
              <a:rPr lang="en-US" sz="2400" dirty="0"/>
              <a:t>Each column contains a specific piece of information. Example- The columns can contain data such as name, employee number, hire date, salary, department, etc. The top row describes the information contained in each column and is referred to as header row.</a:t>
            </a:r>
          </a:p>
          <a:p>
            <a:pPr algn="just">
              <a:buFont typeface="Courier New" panose="02070309020205020404" pitchFamily="49" charset="0"/>
              <a:buChar char="o"/>
            </a:pPr>
            <a:r>
              <a:rPr lang="en-US" sz="2400" dirty="0"/>
              <a:t>Each entry in the top row is referred to as column header.</a:t>
            </a:r>
          </a:p>
          <a:p>
            <a:pPr algn="just">
              <a:buFont typeface="Courier New" panose="02070309020205020404" pitchFamily="49" charset="0"/>
              <a:buChar char="o"/>
            </a:pPr>
            <a:r>
              <a:rPr lang="en-US" sz="2400" dirty="0"/>
              <a:t>Select the Range of Cells that you want to include in the Table.</a:t>
            </a:r>
            <a:endParaRPr lang="en-IN" sz="2400" dirty="0"/>
          </a:p>
        </p:txBody>
      </p:sp>
    </p:spTree>
    <p:extLst>
      <p:ext uri="{BB962C8B-B14F-4D97-AF65-F5344CB8AC3E}">
        <p14:creationId xmlns:p14="http://schemas.microsoft.com/office/powerpoint/2010/main" val="31106660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5AAE6-9340-4D6B-88E4-070A7FE59AA5}"/>
              </a:ext>
            </a:extLst>
          </p:cNvPr>
          <p:cNvSpPr>
            <a:spLocks noGrp="1"/>
          </p:cNvSpPr>
          <p:nvPr>
            <p:ph type="title"/>
          </p:nvPr>
        </p:nvSpPr>
        <p:spPr>
          <a:xfrm>
            <a:off x="838200" y="410472"/>
            <a:ext cx="10515600" cy="1325563"/>
          </a:xfrm>
        </p:spPr>
        <p:txBody>
          <a:bodyPr/>
          <a:lstStyle/>
          <a:p>
            <a:r>
              <a:rPr lang="en-US" b="1" dirty="0"/>
              <a:t>Difference between Tables and Ranges</a:t>
            </a:r>
            <a:endParaRPr lang="en-IN" b="1" dirty="0"/>
          </a:p>
        </p:txBody>
      </p:sp>
      <p:sp>
        <p:nvSpPr>
          <p:cNvPr id="3" name="Content Placeholder 2">
            <a:extLst>
              <a:ext uri="{FF2B5EF4-FFF2-40B4-BE49-F238E27FC236}">
                <a16:creationId xmlns:a16="http://schemas.microsoft.com/office/drawing/2014/main" id="{6F7491B3-200B-4625-A25B-5F22BBF0276E}"/>
              </a:ext>
            </a:extLst>
          </p:cNvPr>
          <p:cNvSpPr>
            <a:spLocks noGrp="1"/>
          </p:cNvSpPr>
          <p:nvPr>
            <p:ph idx="1"/>
          </p:nvPr>
        </p:nvSpPr>
        <p:spPr>
          <a:xfrm>
            <a:off x="838200" y="1736035"/>
            <a:ext cx="10515600" cy="4227443"/>
          </a:xfrm>
        </p:spPr>
        <p:txBody>
          <a:bodyPr>
            <a:noAutofit/>
          </a:bodyPr>
          <a:lstStyle/>
          <a:p>
            <a:pPr algn="just"/>
            <a:r>
              <a:rPr lang="en-US" sz="2400" dirty="0"/>
              <a:t>A table is a more structured way of working with data than a range. You can convert a range into a table. </a:t>
            </a:r>
          </a:p>
          <a:p>
            <a:pPr algn="just"/>
            <a:r>
              <a:rPr lang="en-US" sz="2400" dirty="0"/>
              <a:t>Excel provides table tools in the ribbon ranging from properties to styles. </a:t>
            </a:r>
          </a:p>
          <a:p>
            <a:pPr algn="just"/>
            <a:r>
              <a:rPr lang="en-US" sz="2400" dirty="0"/>
              <a:t>Excel automatically provides a Filter button in each column header to sort the data or filter the table such that only rows that meet your defined criteria are displayed. </a:t>
            </a:r>
          </a:p>
          <a:p>
            <a:pPr algn="just"/>
            <a:r>
              <a:rPr lang="en-US" sz="2400" dirty="0"/>
              <a:t>If you have multiple rows in a table, and you scroll down the sheet so that the header row disappears, the column letters in the worksheet are replaced by the table headers.</a:t>
            </a:r>
          </a:p>
          <a:p>
            <a:pPr algn="just"/>
            <a:r>
              <a:rPr lang="en-US" sz="2400" dirty="0"/>
              <a:t>When you place a formula in any cell in a column of the table, it gets propagated to all the cells in that column. </a:t>
            </a:r>
          </a:p>
        </p:txBody>
      </p:sp>
    </p:spTree>
    <p:extLst>
      <p:ext uri="{BB962C8B-B14F-4D97-AF65-F5344CB8AC3E}">
        <p14:creationId xmlns:p14="http://schemas.microsoft.com/office/powerpoint/2010/main" val="20228332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501CC-71E5-4699-83D2-F8008C0F36A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5ABF162-DEC5-4D80-8ADA-D6F5AC797A57}"/>
              </a:ext>
            </a:extLst>
          </p:cNvPr>
          <p:cNvSpPr>
            <a:spLocks noGrp="1"/>
          </p:cNvSpPr>
          <p:nvPr>
            <p:ph idx="1"/>
          </p:nvPr>
        </p:nvSpPr>
        <p:spPr/>
        <p:txBody>
          <a:bodyPr>
            <a:normAutofit/>
          </a:bodyPr>
          <a:lstStyle/>
          <a:p>
            <a:pPr algn="just"/>
            <a:r>
              <a:rPr lang="en-US" sz="2400" dirty="0"/>
              <a:t>You can use table name and column header names in the formulas, without having to use cell references or creating range names. </a:t>
            </a:r>
          </a:p>
          <a:p>
            <a:pPr algn="just"/>
            <a:r>
              <a:rPr lang="en-US" sz="2400" dirty="0"/>
              <a:t>You can extend the table size by adding more rows or more columns by clicking and dragging the small triangular control at the lower-right corner of the lower-right cell.</a:t>
            </a:r>
          </a:p>
          <a:p>
            <a:pPr algn="just"/>
            <a:r>
              <a:rPr lang="en-US" sz="2400" dirty="0"/>
              <a:t>You can create and use slicers for a table for filtering data.</a:t>
            </a:r>
            <a:endParaRPr lang="en-IN" sz="2400" dirty="0"/>
          </a:p>
          <a:p>
            <a:pPr algn="just"/>
            <a:endParaRPr lang="en-IN" sz="2400" dirty="0"/>
          </a:p>
        </p:txBody>
      </p:sp>
    </p:spTree>
    <p:extLst>
      <p:ext uri="{BB962C8B-B14F-4D97-AF65-F5344CB8AC3E}">
        <p14:creationId xmlns:p14="http://schemas.microsoft.com/office/powerpoint/2010/main" val="11774026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483D2-CEB8-442A-B1CB-0921FAF5723A}"/>
              </a:ext>
            </a:extLst>
          </p:cNvPr>
          <p:cNvSpPr>
            <a:spLocks noGrp="1"/>
          </p:cNvSpPr>
          <p:nvPr>
            <p:ph type="title"/>
          </p:nvPr>
        </p:nvSpPr>
        <p:spPr/>
        <p:txBody>
          <a:bodyPr/>
          <a:lstStyle/>
          <a:p>
            <a:r>
              <a:rPr lang="en-US" b="1" dirty="0"/>
              <a:t>Formatting Tables with the Quick Analysis Tool</a:t>
            </a:r>
            <a:endParaRPr lang="en-IN" b="1" dirty="0"/>
          </a:p>
        </p:txBody>
      </p:sp>
      <p:sp>
        <p:nvSpPr>
          <p:cNvPr id="6" name="Content Placeholder 5">
            <a:extLst>
              <a:ext uri="{FF2B5EF4-FFF2-40B4-BE49-F238E27FC236}">
                <a16:creationId xmlns:a16="http://schemas.microsoft.com/office/drawing/2014/main" id="{8BD0B395-804F-4DD0-82BD-277B1AD1626D}"/>
              </a:ext>
            </a:extLst>
          </p:cNvPr>
          <p:cNvSpPr>
            <a:spLocks noGrp="1"/>
          </p:cNvSpPr>
          <p:nvPr>
            <p:ph sz="half" idx="1"/>
          </p:nvPr>
        </p:nvSpPr>
        <p:spPr/>
        <p:txBody>
          <a:bodyPr>
            <a:normAutofit/>
          </a:bodyPr>
          <a:lstStyle/>
          <a:p>
            <a:pPr algn="just"/>
            <a:r>
              <a:rPr lang="en-US" sz="2400" dirty="0"/>
              <a:t>Click the Tables tab in the </a:t>
            </a:r>
            <a:r>
              <a:rPr lang="en-US" sz="2400" b="1" dirty="0"/>
              <a:t>Quick Analysis tool’s</a:t>
            </a:r>
            <a:r>
              <a:rPr lang="en-US" sz="2400" dirty="0"/>
              <a:t> option palette to display its Table and Pivot Table buttons. When you highlight the Table button on the Tables tab, Excel’s Live Preview shows you how the selected data will appear formatted as a table.</a:t>
            </a:r>
          </a:p>
          <a:p>
            <a:pPr algn="just"/>
            <a:r>
              <a:rPr lang="en-US" sz="2400" dirty="0"/>
              <a:t>To apply this previewed formatting and format the selected cell range as a table, you have only to click the Table button.</a:t>
            </a:r>
            <a:endParaRPr lang="en-IN" sz="2400" dirty="0"/>
          </a:p>
        </p:txBody>
      </p:sp>
      <p:pic>
        <p:nvPicPr>
          <p:cNvPr id="8" name="Content Placeholder 7">
            <a:extLst>
              <a:ext uri="{FF2B5EF4-FFF2-40B4-BE49-F238E27FC236}">
                <a16:creationId xmlns:a16="http://schemas.microsoft.com/office/drawing/2014/main" id="{5DCC886D-12BA-42E9-8352-327517490E57}"/>
              </a:ext>
            </a:extLst>
          </p:cNvPr>
          <p:cNvPicPr>
            <a:picLocks noGrp="1"/>
          </p:cNvPicPr>
          <p:nvPr>
            <p:ph sz="half" idx="2"/>
          </p:nvPr>
        </p:nvPicPr>
        <p:blipFill>
          <a:blip r:embed="rId2"/>
          <a:stretch>
            <a:fillRect/>
          </a:stretch>
        </p:blipFill>
        <p:spPr>
          <a:xfrm>
            <a:off x="6172200" y="1825625"/>
            <a:ext cx="5181600" cy="4118769"/>
          </a:xfrm>
          <a:prstGeom prst="rect">
            <a:avLst/>
          </a:prstGeom>
        </p:spPr>
      </p:pic>
    </p:spTree>
    <p:extLst>
      <p:ext uri="{BB962C8B-B14F-4D97-AF65-F5344CB8AC3E}">
        <p14:creationId xmlns:p14="http://schemas.microsoft.com/office/powerpoint/2010/main" val="36831313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0365010-3FBD-4D4B-8AC8-BC6DA28F73C7}"/>
              </a:ext>
            </a:extLst>
          </p:cNvPr>
          <p:cNvSpPr>
            <a:spLocks noGrp="1"/>
          </p:cNvSpPr>
          <p:nvPr>
            <p:ph type="title"/>
          </p:nvPr>
        </p:nvSpPr>
        <p:spPr/>
        <p:txBody>
          <a:bodyPr/>
          <a:lstStyle/>
          <a:p>
            <a:r>
              <a:rPr lang="en-IN" b="1" dirty="0"/>
              <a:t>Understanding formula basics</a:t>
            </a:r>
          </a:p>
        </p:txBody>
      </p:sp>
      <p:sp>
        <p:nvSpPr>
          <p:cNvPr id="6" name="Content Placeholder 5">
            <a:extLst>
              <a:ext uri="{FF2B5EF4-FFF2-40B4-BE49-F238E27FC236}">
                <a16:creationId xmlns:a16="http://schemas.microsoft.com/office/drawing/2014/main" id="{E2100198-D02A-46EA-B91D-4FE84922EF09}"/>
              </a:ext>
            </a:extLst>
          </p:cNvPr>
          <p:cNvSpPr>
            <a:spLocks noGrp="1"/>
          </p:cNvSpPr>
          <p:nvPr>
            <p:ph idx="1"/>
          </p:nvPr>
        </p:nvSpPr>
        <p:spPr/>
        <p:txBody>
          <a:bodyPr>
            <a:normAutofit/>
          </a:bodyPr>
          <a:lstStyle/>
          <a:p>
            <a:pPr algn="just"/>
            <a:r>
              <a:rPr lang="en-US" sz="2400" dirty="0"/>
              <a:t>All Excel formulas have the same general structure: an equal sign (=) followed by one or more operands—which can be values, cell references, ranges, range names, or function names—separated by one or more operators—which are symbols that combine the operands in some way, such as the plus sign (+) and the greater-than sign (&gt;).</a:t>
            </a:r>
          </a:p>
          <a:p>
            <a:pPr algn="just"/>
            <a:r>
              <a:rPr lang="en-US" sz="2400" dirty="0"/>
              <a:t>Entering a new formula into a worksheet appears to be a straightforward process:</a:t>
            </a:r>
          </a:p>
          <a:p>
            <a:pPr marL="457200" indent="-457200" algn="just">
              <a:buFont typeface="+mj-lt"/>
              <a:buAutoNum type="arabicPeriod"/>
            </a:pPr>
            <a:r>
              <a:rPr lang="en-US" sz="2400" dirty="0"/>
              <a:t>Select the cell in which you want to enter the formula.</a:t>
            </a:r>
          </a:p>
          <a:p>
            <a:pPr marL="457200" indent="-457200" algn="just">
              <a:buFont typeface="+mj-lt"/>
              <a:buAutoNum type="arabicPeriod"/>
            </a:pPr>
            <a:r>
              <a:rPr lang="en-US" sz="2400" dirty="0"/>
              <a:t>Type an equal sign (=) to tell Excel that you’re entering a formula.</a:t>
            </a:r>
          </a:p>
          <a:p>
            <a:pPr marL="457200" indent="-457200" algn="just">
              <a:buFont typeface="+mj-lt"/>
              <a:buAutoNum type="arabicPeriod"/>
            </a:pPr>
            <a:r>
              <a:rPr lang="en-US" sz="2400" dirty="0"/>
              <a:t>Type the formula’s operands and operators.</a:t>
            </a:r>
          </a:p>
          <a:p>
            <a:pPr marL="457200" indent="-457200" algn="just">
              <a:buFont typeface="+mj-lt"/>
              <a:buAutoNum type="arabicPeriod"/>
            </a:pPr>
            <a:r>
              <a:rPr lang="en-US" sz="2400" dirty="0"/>
              <a:t>Select Enter to confirm the formula.</a:t>
            </a:r>
            <a:endParaRPr lang="en-IN" sz="2400" dirty="0"/>
          </a:p>
        </p:txBody>
      </p:sp>
    </p:spTree>
    <p:extLst>
      <p:ext uri="{BB962C8B-B14F-4D97-AF65-F5344CB8AC3E}">
        <p14:creationId xmlns:p14="http://schemas.microsoft.com/office/powerpoint/2010/main" val="803066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0CC229-63AA-4EB6-95A2-2BE339D12FE1}"/>
              </a:ext>
            </a:extLst>
          </p:cNvPr>
          <p:cNvSpPr>
            <a:spLocks noGrp="1"/>
          </p:cNvSpPr>
          <p:nvPr>
            <p:ph idx="1"/>
          </p:nvPr>
        </p:nvSpPr>
        <p:spPr>
          <a:xfrm>
            <a:off x="838200" y="503584"/>
            <a:ext cx="10515600" cy="5817704"/>
          </a:xfrm>
        </p:spPr>
        <p:txBody>
          <a:bodyPr>
            <a:normAutofit fontScale="70000" lnSpcReduction="20000"/>
          </a:bodyPr>
          <a:lstStyle/>
          <a:p>
            <a:pPr algn="just"/>
            <a:r>
              <a:rPr lang="en-US" sz="3100" dirty="0"/>
              <a:t>=10+5 Result is 15 //arithmetic</a:t>
            </a:r>
          </a:p>
          <a:p>
            <a:pPr algn="just"/>
            <a:r>
              <a:rPr lang="en-US" sz="3100" dirty="0"/>
              <a:t>=10=5 Result is FALSE //comparison</a:t>
            </a:r>
          </a:p>
          <a:p>
            <a:pPr algn="just"/>
            <a:r>
              <a:rPr lang="en-US" sz="3100" dirty="0"/>
              <a:t>Using reference formulas- The reference operators combine two cell references or ranges to create a single joint reference.</a:t>
            </a:r>
          </a:p>
          <a:p>
            <a:pPr algn="just"/>
            <a:r>
              <a:rPr lang="en-US" sz="3100" b="1" dirty="0"/>
              <a:t>Reference formula operators</a:t>
            </a:r>
          </a:p>
          <a:p>
            <a:pPr marL="0" indent="0" algn="just">
              <a:buNone/>
            </a:pPr>
            <a:r>
              <a:rPr lang="en-IN" sz="3100" b="1" dirty="0"/>
              <a:t>Operator		Name		Description</a:t>
            </a:r>
          </a:p>
          <a:p>
            <a:pPr marL="0" indent="0" algn="just">
              <a:buNone/>
            </a:pPr>
            <a:r>
              <a:rPr lang="en-IN" sz="3100" dirty="0"/>
              <a:t>: (colon)		Range		</a:t>
            </a:r>
            <a:r>
              <a:rPr lang="en-US" sz="3100" dirty="0"/>
              <a:t>Produces a range from two cell references (for 						example, A1:C5).</a:t>
            </a:r>
            <a:endParaRPr lang="en-IN" sz="3100" dirty="0"/>
          </a:p>
          <a:p>
            <a:pPr marL="0" indent="0" algn="just">
              <a:buNone/>
            </a:pPr>
            <a:r>
              <a:rPr lang="en-IN" sz="3100" dirty="0"/>
              <a:t>(space) B2:E8) 	               Intersection	</a:t>
            </a:r>
            <a:r>
              <a:rPr lang="en-US" sz="3100" dirty="0"/>
              <a:t>Produces a range that is the intersection of two 				    </a:t>
            </a:r>
            <a:r>
              <a:rPr lang="en-US" sz="3100"/>
              <a:t>	               ranges </a:t>
            </a:r>
            <a:r>
              <a:rPr lang="en-US" sz="3100" dirty="0"/>
              <a:t>(for example, A1:C5</a:t>
            </a:r>
          </a:p>
          <a:p>
            <a:pPr marL="0" indent="0" algn="just">
              <a:buNone/>
            </a:pPr>
            <a:r>
              <a:rPr lang="en-IN" sz="3100" dirty="0"/>
              <a:t>, (comma) 		Union		</a:t>
            </a:r>
            <a:r>
              <a:rPr lang="en-US" sz="3100" dirty="0"/>
              <a:t>Produces a range that is the union of two 						ranges (for example, A1:C5,B2:E8).</a:t>
            </a:r>
          </a:p>
          <a:p>
            <a:pPr algn="just"/>
            <a:r>
              <a:rPr lang="en-US" sz="3100" dirty="0"/>
              <a:t>The power of formulas comes from using cell references (similar to variable names in programming).</a:t>
            </a:r>
          </a:p>
          <a:p>
            <a:pPr algn="just"/>
            <a:r>
              <a:rPr lang="en-IN" sz="3100" dirty="0"/>
              <a:t>Cell reference examples: </a:t>
            </a:r>
          </a:p>
          <a:p>
            <a:pPr marL="0" indent="0" algn="just">
              <a:buNone/>
            </a:pPr>
            <a:r>
              <a:rPr lang="en-IN" sz="3100" dirty="0"/>
              <a:t>= A1 + A2 </a:t>
            </a:r>
          </a:p>
          <a:p>
            <a:pPr marL="0" indent="0" algn="just">
              <a:buNone/>
            </a:pPr>
            <a:r>
              <a:rPr lang="en-IN" sz="3100" dirty="0"/>
              <a:t>= B1 + A3 - A4</a:t>
            </a:r>
            <a:endParaRPr lang="en-US" sz="3100" dirty="0"/>
          </a:p>
          <a:p>
            <a:pPr marL="0" indent="0" algn="just">
              <a:buNone/>
            </a:pPr>
            <a:r>
              <a:rPr lang="en-IN" sz="2400" b="1" dirty="0"/>
              <a:t>	</a:t>
            </a:r>
            <a:r>
              <a:rPr lang="en-IN" sz="2400" dirty="0"/>
              <a:t>	          </a:t>
            </a:r>
            <a:endParaRPr lang="en-US" sz="2400" dirty="0"/>
          </a:p>
        </p:txBody>
      </p:sp>
    </p:spTree>
    <p:extLst>
      <p:ext uri="{BB962C8B-B14F-4D97-AF65-F5344CB8AC3E}">
        <p14:creationId xmlns:p14="http://schemas.microsoft.com/office/powerpoint/2010/main" val="31926843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D7A71-702C-4AFF-AD84-77248D541443}"/>
              </a:ext>
            </a:extLst>
          </p:cNvPr>
          <p:cNvSpPr>
            <a:spLocks noGrp="1"/>
          </p:cNvSpPr>
          <p:nvPr>
            <p:ph type="title"/>
          </p:nvPr>
        </p:nvSpPr>
        <p:spPr/>
        <p:txBody>
          <a:bodyPr/>
          <a:lstStyle/>
          <a:p>
            <a:r>
              <a:rPr lang="en-IN" b="1" dirty="0"/>
              <a:t>Calculate your net income</a:t>
            </a:r>
          </a:p>
        </p:txBody>
      </p:sp>
      <p:pic>
        <p:nvPicPr>
          <p:cNvPr id="4" name="Content Placeholder 3">
            <a:extLst>
              <a:ext uri="{FF2B5EF4-FFF2-40B4-BE49-F238E27FC236}">
                <a16:creationId xmlns:a16="http://schemas.microsoft.com/office/drawing/2014/main" id="{95134ACB-F6BD-4B2A-914B-BFCAE0036493}"/>
              </a:ext>
            </a:extLst>
          </p:cNvPr>
          <p:cNvPicPr>
            <a:picLocks noGrp="1"/>
          </p:cNvPicPr>
          <p:nvPr>
            <p:ph sz="half" idx="1"/>
          </p:nvPr>
        </p:nvPicPr>
        <p:blipFill>
          <a:blip r:embed="rId2"/>
          <a:stretch>
            <a:fillRect/>
          </a:stretch>
        </p:blipFill>
        <p:spPr>
          <a:xfrm>
            <a:off x="838200" y="1825625"/>
            <a:ext cx="5181600" cy="4351337"/>
          </a:xfrm>
          <a:prstGeom prst="rect">
            <a:avLst/>
          </a:prstGeom>
        </p:spPr>
      </p:pic>
      <p:sp>
        <p:nvSpPr>
          <p:cNvPr id="5" name="Content Placeholder 4">
            <a:extLst>
              <a:ext uri="{FF2B5EF4-FFF2-40B4-BE49-F238E27FC236}">
                <a16:creationId xmlns:a16="http://schemas.microsoft.com/office/drawing/2014/main" id="{B02CC12E-2B56-446C-9DDA-CD77AD25EEBA}"/>
              </a:ext>
            </a:extLst>
          </p:cNvPr>
          <p:cNvSpPr>
            <a:spLocks noGrp="1"/>
          </p:cNvSpPr>
          <p:nvPr>
            <p:ph sz="half" idx="2"/>
          </p:nvPr>
        </p:nvSpPr>
        <p:spPr>
          <a:xfrm>
            <a:off x="6172200" y="1825625"/>
            <a:ext cx="5181600" cy="4351337"/>
          </a:xfrm>
        </p:spPr>
        <p:txBody>
          <a:bodyPr>
            <a:normAutofit lnSpcReduction="10000"/>
          </a:bodyPr>
          <a:lstStyle/>
          <a:p>
            <a:pPr algn="just"/>
            <a:r>
              <a:rPr lang="en-US" sz="2400" dirty="0"/>
              <a:t>To calculate net income, it is necessary to consider the tax percentage, using the following calculation.</a:t>
            </a:r>
          </a:p>
          <a:p>
            <a:pPr marL="457200" indent="-457200" algn="just">
              <a:buFont typeface="+mj-lt"/>
              <a:buAutoNum type="arabicPeriod"/>
            </a:pPr>
            <a:r>
              <a:rPr lang="en-US" sz="2400" dirty="0"/>
              <a:t>Select cell B1 and enter the tax as a percentage: 33%.</a:t>
            </a:r>
          </a:p>
          <a:p>
            <a:pPr marL="457200" indent="-457200" algn="just">
              <a:buFont typeface="+mj-lt"/>
              <a:buAutoNum type="arabicPeriod"/>
            </a:pPr>
            <a:r>
              <a:rPr lang="en-US" sz="2400" dirty="0"/>
              <a:t>In cell B2, enter the gross income: $3500.</a:t>
            </a:r>
          </a:p>
          <a:p>
            <a:pPr marL="457200" indent="-457200" algn="just">
              <a:buFont typeface="+mj-lt"/>
              <a:buAutoNum type="arabicPeriod"/>
            </a:pPr>
            <a:r>
              <a:rPr lang="en-US" sz="2400" dirty="0"/>
              <a:t>Select cell B3 and type the formula =B2*B1 to calculate the tax amount.</a:t>
            </a:r>
          </a:p>
          <a:p>
            <a:pPr marL="457200" indent="-457200" algn="just">
              <a:buFont typeface="+mj-lt"/>
              <a:buAutoNum type="arabicPeriod"/>
            </a:pPr>
            <a:r>
              <a:rPr lang="en-US" sz="2400" dirty="0"/>
              <a:t>Determine the net income in cell B4 with the formula =B2-B3.</a:t>
            </a:r>
          </a:p>
          <a:p>
            <a:pPr marL="457200" indent="-457200" algn="just">
              <a:buFont typeface="+mj-lt"/>
              <a:buAutoNum type="arabicPeriod"/>
            </a:pPr>
            <a:endParaRPr lang="en-IN" dirty="0"/>
          </a:p>
        </p:txBody>
      </p:sp>
    </p:spTree>
    <p:extLst>
      <p:ext uri="{BB962C8B-B14F-4D97-AF65-F5344CB8AC3E}">
        <p14:creationId xmlns:p14="http://schemas.microsoft.com/office/powerpoint/2010/main" val="16795687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9C850-60A9-4ADD-9EC5-03A446DF0C4E}"/>
              </a:ext>
            </a:extLst>
          </p:cNvPr>
          <p:cNvSpPr>
            <a:spLocks noGrp="1"/>
          </p:cNvSpPr>
          <p:nvPr>
            <p:ph type="title"/>
          </p:nvPr>
        </p:nvSpPr>
        <p:spPr>
          <a:xfrm>
            <a:off x="838200" y="198437"/>
            <a:ext cx="10515600" cy="1325563"/>
          </a:xfrm>
        </p:spPr>
        <p:txBody>
          <a:bodyPr/>
          <a:lstStyle/>
          <a:p>
            <a:r>
              <a:rPr lang="en-IN" b="1" dirty="0"/>
              <a:t>Using Excel Functions</a:t>
            </a:r>
          </a:p>
        </p:txBody>
      </p:sp>
      <p:sp>
        <p:nvSpPr>
          <p:cNvPr id="3" name="Content Placeholder 2">
            <a:extLst>
              <a:ext uri="{FF2B5EF4-FFF2-40B4-BE49-F238E27FC236}">
                <a16:creationId xmlns:a16="http://schemas.microsoft.com/office/drawing/2014/main" id="{0ECF11A5-2714-4679-A4B0-EA13042452E0}"/>
              </a:ext>
            </a:extLst>
          </p:cNvPr>
          <p:cNvSpPr>
            <a:spLocks noGrp="1"/>
          </p:cNvSpPr>
          <p:nvPr>
            <p:ph idx="1"/>
          </p:nvPr>
        </p:nvSpPr>
        <p:spPr>
          <a:xfrm>
            <a:off x="838200" y="1524000"/>
            <a:ext cx="10515600" cy="4652963"/>
          </a:xfrm>
        </p:spPr>
        <p:txBody>
          <a:bodyPr>
            <a:normAutofit lnSpcReduction="10000"/>
          </a:bodyPr>
          <a:lstStyle/>
          <a:p>
            <a:pPr algn="just"/>
            <a:r>
              <a:rPr lang="en-US" sz="2400" dirty="0"/>
              <a:t>Excel has a large number of built‐in functions to use.</a:t>
            </a:r>
          </a:p>
          <a:p>
            <a:pPr algn="just"/>
            <a:r>
              <a:rPr lang="en-US" sz="2400" dirty="0"/>
              <a:t>A function takes arguments as input and produces an output.</a:t>
            </a:r>
          </a:p>
          <a:p>
            <a:pPr algn="just"/>
            <a:r>
              <a:rPr lang="en-US" sz="2400" dirty="0"/>
              <a:t>Arithmetic, Statistical and Logical Functions.</a:t>
            </a:r>
          </a:p>
          <a:p>
            <a:pPr algn="just"/>
            <a:r>
              <a:rPr lang="en-US" sz="2400" dirty="0"/>
              <a:t>Arithmetic- SUM(number1, number2, ... Or range), SUMIF(range, criteria, </a:t>
            </a:r>
            <a:r>
              <a:rPr lang="en-US" sz="2400" dirty="0" err="1"/>
              <a:t>sum_range</a:t>
            </a:r>
            <a:r>
              <a:rPr lang="en-US" sz="2400" dirty="0"/>
              <a:t>), SUMPRODUCT, ROUND, PRODUCT, POWER, GCD, LCM, SUMIFS, SUMSQ,……(Math and trigonometry functions) </a:t>
            </a:r>
          </a:p>
          <a:p>
            <a:pPr marL="457200" indent="-457200" algn="just">
              <a:buAutoNum type="arabicPeriod"/>
            </a:pPr>
            <a:r>
              <a:rPr lang="en-US" sz="2400" dirty="0"/>
              <a:t>In cells A2:A11, enter the different phases. </a:t>
            </a:r>
          </a:p>
          <a:p>
            <a:pPr marL="457200" indent="-457200" algn="just">
              <a:buAutoNum type="arabicPeriod"/>
            </a:pPr>
            <a:r>
              <a:rPr lang="en-US" sz="2400" dirty="0"/>
              <a:t>Enter the cost of each phase in cells B2:B11. </a:t>
            </a:r>
          </a:p>
          <a:p>
            <a:pPr marL="457200" indent="-457200" algn="just">
              <a:buAutoNum type="arabicPeriod"/>
            </a:pPr>
            <a:r>
              <a:rPr lang="en-US" sz="2400" dirty="0"/>
              <a:t>In cell D1, enter 1000 as the given criterion. </a:t>
            </a:r>
          </a:p>
          <a:p>
            <a:pPr marL="457200" indent="-457200" algn="just">
              <a:buAutoNum type="arabicPeriod"/>
            </a:pPr>
            <a:r>
              <a:rPr lang="en-US" sz="2400" dirty="0"/>
              <a:t>Select cell D2 and type the following formula: =SUMIF(B2:B11,"&gt;" &amp; D1). </a:t>
            </a:r>
          </a:p>
          <a:p>
            <a:pPr marL="457200" indent="-457200" algn="just">
              <a:buAutoNum type="arabicPeriod"/>
            </a:pPr>
            <a:r>
              <a:rPr lang="en-US" sz="2400" dirty="0"/>
              <a:t>Press </a:t>
            </a:r>
            <a:r>
              <a:rPr lang="en-IN" sz="2400" dirty="0"/>
              <a:t>&lt;Enter&gt;.</a:t>
            </a:r>
          </a:p>
        </p:txBody>
      </p:sp>
    </p:spTree>
    <p:extLst>
      <p:ext uri="{BB962C8B-B14F-4D97-AF65-F5344CB8AC3E}">
        <p14:creationId xmlns:p14="http://schemas.microsoft.com/office/powerpoint/2010/main" val="12556953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B3A0462-5174-4B96-A1AF-7EFF3DEE6A97}"/>
              </a:ext>
            </a:extLst>
          </p:cNvPr>
          <p:cNvPicPr>
            <a:picLocks noGrp="1"/>
          </p:cNvPicPr>
          <p:nvPr>
            <p:ph idx="1"/>
          </p:nvPr>
        </p:nvPicPr>
        <p:blipFill>
          <a:blip r:embed="rId2"/>
          <a:stretch>
            <a:fillRect/>
          </a:stretch>
        </p:blipFill>
        <p:spPr>
          <a:xfrm>
            <a:off x="838200" y="848139"/>
            <a:ext cx="9445487" cy="5328824"/>
          </a:xfrm>
          <a:prstGeom prst="rect">
            <a:avLst/>
          </a:prstGeom>
        </p:spPr>
      </p:pic>
    </p:spTree>
    <p:extLst>
      <p:ext uri="{BB962C8B-B14F-4D97-AF65-F5344CB8AC3E}">
        <p14:creationId xmlns:p14="http://schemas.microsoft.com/office/powerpoint/2010/main" val="25291129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ABF2534-8581-433E-8CAB-737778549A07}"/>
              </a:ext>
            </a:extLst>
          </p:cNvPr>
          <p:cNvSpPr>
            <a:spLocks noGrp="1"/>
          </p:cNvSpPr>
          <p:nvPr>
            <p:ph idx="1"/>
          </p:nvPr>
        </p:nvSpPr>
        <p:spPr>
          <a:xfrm>
            <a:off x="838200" y="768350"/>
            <a:ext cx="10515600" cy="5408613"/>
          </a:xfrm>
        </p:spPr>
        <p:txBody>
          <a:bodyPr>
            <a:normAutofit/>
          </a:bodyPr>
          <a:lstStyle/>
          <a:p>
            <a:pPr algn="just"/>
            <a:r>
              <a:rPr lang="en-US" sz="2400" dirty="0"/>
              <a:t>The table not only sums the sales of different teams but also sums the sales of each team by the gender of each member.</a:t>
            </a:r>
          </a:p>
          <a:p>
            <a:pPr marL="0" indent="0" algn="just">
              <a:buNone/>
            </a:pPr>
            <a:endParaRPr lang="en-IN" sz="2400" dirty="0"/>
          </a:p>
        </p:txBody>
      </p:sp>
      <p:pic>
        <p:nvPicPr>
          <p:cNvPr id="5" name="Picture 4">
            <a:extLst>
              <a:ext uri="{FF2B5EF4-FFF2-40B4-BE49-F238E27FC236}">
                <a16:creationId xmlns:a16="http://schemas.microsoft.com/office/drawing/2014/main" id="{FA0F47E7-6703-416D-AAA1-878641AEFEC5}"/>
              </a:ext>
            </a:extLst>
          </p:cNvPr>
          <p:cNvPicPr/>
          <p:nvPr/>
        </p:nvPicPr>
        <p:blipFill>
          <a:blip r:embed="rId2"/>
          <a:stretch>
            <a:fillRect/>
          </a:stretch>
        </p:blipFill>
        <p:spPr>
          <a:xfrm>
            <a:off x="1118235" y="1656522"/>
            <a:ext cx="9955530" cy="4842385"/>
          </a:xfrm>
          <a:prstGeom prst="rect">
            <a:avLst/>
          </a:prstGeom>
        </p:spPr>
      </p:pic>
    </p:spTree>
    <p:extLst>
      <p:ext uri="{BB962C8B-B14F-4D97-AF65-F5344CB8AC3E}">
        <p14:creationId xmlns:p14="http://schemas.microsoft.com/office/powerpoint/2010/main" val="936050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9DFD0-4D7C-4E9E-82E8-35986A93DB07}"/>
              </a:ext>
            </a:extLst>
          </p:cNvPr>
          <p:cNvSpPr>
            <a:spLocks noGrp="1"/>
          </p:cNvSpPr>
          <p:nvPr>
            <p:ph type="title"/>
          </p:nvPr>
        </p:nvSpPr>
        <p:spPr>
          <a:xfrm>
            <a:off x="914400" y="0"/>
            <a:ext cx="10515600" cy="1325563"/>
          </a:xfrm>
        </p:spPr>
        <p:txBody>
          <a:bodyPr/>
          <a:lstStyle/>
          <a:p>
            <a:r>
              <a:rPr lang="en-IN" b="1" dirty="0"/>
              <a:t>SUMPRODUCT function</a:t>
            </a:r>
          </a:p>
        </p:txBody>
      </p:sp>
      <p:sp>
        <p:nvSpPr>
          <p:cNvPr id="5" name="Content Placeholder 4">
            <a:extLst>
              <a:ext uri="{FF2B5EF4-FFF2-40B4-BE49-F238E27FC236}">
                <a16:creationId xmlns:a16="http://schemas.microsoft.com/office/drawing/2014/main" id="{1F9249BA-FA46-4696-B679-5BC4F60E7005}"/>
              </a:ext>
            </a:extLst>
          </p:cNvPr>
          <p:cNvSpPr>
            <a:spLocks noGrp="1"/>
          </p:cNvSpPr>
          <p:nvPr>
            <p:ph sz="half" idx="2"/>
          </p:nvPr>
        </p:nvSpPr>
        <p:spPr>
          <a:xfrm>
            <a:off x="6096000" y="1325563"/>
            <a:ext cx="5181600" cy="5156200"/>
          </a:xfrm>
        </p:spPr>
        <p:txBody>
          <a:bodyPr>
            <a:noAutofit/>
          </a:bodyPr>
          <a:lstStyle/>
          <a:p>
            <a:pPr algn="just"/>
            <a:r>
              <a:rPr lang="en-US" sz="2000" dirty="0"/>
              <a:t>The </a:t>
            </a:r>
            <a:r>
              <a:rPr lang="en-US" sz="2000" b="1" dirty="0"/>
              <a:t>SUMPRODUCT</a:t>
            </a:r>
            <a:r>
              <a:rPr lang="en-US" sz="2000" dirty="0"/>
              <a:t> function returns the sum of the products of corresponding ranges or arrays. The default operation is multiplication, but addition, subtraction, and division are also possible.</a:t>
            </a:r>
          </a:p>
          <a:p>
            <a:pPr algn="just"/>
            <a:r>
              <a:rPr lang="en-US" sz="2000" dirty="0"/>
              <a:t>In this example, we'll use </a:t>
            </a:r>
            <a:r>
              <a:rPr lang="en-US" sz="2000" b="1" dirty="0"/>
              <a:t>SUMPRODUCT</a:t>
            </a:r>
            <a:r>
              <a:rPr lang="en-US" sz="2000" dirty="0"/>
              <a:t> to return the total sales for a given item and size:</a:t>
            </a:r>
          </a:p>
          <a:p>
            <a:pPr algn="just"/>
            <a:r>
              <a:rPr lang="en-US" sz="2000" b="1" dirty="0"/>
              <a:t>SUMPRODUCT</a:t>
            </a:r>
            <a:r>
              <a:rPr lang="en-US" sz="2000" dirty="0"/>
              <a:t> matches all instances of Item Y/Size M and sums them, so for this example 21 plus 41 equals 62.</a:t>
            </a:r>
          </a:p>
          <a:p>
            <a:pPr algn="just"/>
            <a:r>
              <a:rPr lang="en-US" sz="2000" b="1" dirty="0"/>
              <a:t>To perform other arithmetic operations</a:t>
            </a:r>
          </a:p>
          <a:p>
            <a:pPr algn="just"/>
            <a:r>
              <a:rPr lang="en-US" sz="2000" dirty="0"/>
              <a:t>Use </a:t>
            </a:r>
            <a:r>
              <a:rPr lang="en-US" sz="2000" b="1" dirty="0"/>
              <a:t>SUMPRODUCT</a:t>
            </a:r>
            <a:r>
              <a:rPr lang="en-US" sz="2000" dirty="0"/>
              <a:t> as usual, but replace the commas separating the array arguments with the arithmetic operators you want (*, /, +,-). After all the operations are performed, the results are summed as usual.</a:t>
            </a:r>
            <a:endParaRPr lang="en-IN" sz="2000" dirty="0"/>
          </a:p>
        </p:txBody>
      </p:sp>
      <p:pic>
        <p:nvPicPr>
          <p:cNvPr id="6" name="Content Placeholder 5">
            <a:extLst>
              <a:ext uri="{FF2B5EF4-FFF2-40B4-BE49-F238E27FC236}">
                <a16:creationId xmlns:a16="http://schemas.microsoft.com/office/drawing/2014/main" id="{4ECF8F5F-95A2-469E-B99C-E678DA35E834}"/>
              </a:ext>
            </a:extLst>
          </p:cNvPr>
          <p:cNvPicPr>
            <a:picLocks noGrp="1"/>
          </p:cNvPicPr>
          <p:nvPr>
            <p:ph sz="half" idx="1"/>
          </p:nvPr>
        </p:nvPicPr>
        <p:blipFill>
          <a:blip r:embed="rId2"/>
          <a:stretch>
            <a:fillRect/>
          </a:stretch>
        </p:blipFill>
        <p:spPr>
          <a:xfrm>
            <a:off x="914400" y="1325564"/>
            <a:ext cx="4662487" cy="5156200"/>
          </a:xfrm>
          <a:prstGeom prst="rect">
            <a:avLst/>
          </a:prstGeom>
        </p:spPr>
      </p:pic>
    </p:spTree>
    <p:extLst>
      <p:ext uri="{BB962C8B-B14F-4D97-AF65-F5344CB8AC3E}">
        <p14:creationId xmlns:p14="http://schemas.microsoft.com/office/powerpoint/2010/main" val="29792113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A48D6E0-9156-4D8F-A245-849BDE605814}"/>
              </a:ext>
            </a:extLst>
          </p:cNvPr>
          <p:cNvSpPr>
            <a:spLocks noGrp="1"/>
          </p:cNvSpPr>
          <p:nvPr>
            <p:ph type="title"/>
          </p:nvPr>
        </p:nvSpPr>
        <p:spPr>
          <a:xfrm>
            <a:off x="838200" y="224941"/>
            <a:ext cx="10515600" cy="1325563"/>
          </a:xfrm>
        </p:spPr>
        <p:txBody>
          <a:bodyPr/>
          <a:lstStyle/>
          <a:p>
            <a:r>
              <a:rPr lang="en-IN" b="1" dirty="0"/>
              <a:t>Statistical Functions</a:t>
            </a:r>
          </a:p>
        </p:txBody>
      </p:sp>
      <p:sp>
        <p:nvSpPr>
          <p:cNvPr id="6" name="Content Placeholder 5">
            <a:extLst>
              <a:ext uri="{FF2B5EF4-FFF2-40B4-BE49-F238E27FC236}">
                <a16:creationId xmlns:a16="http://schemas.microsoft.com/office/drawing/2014/main" id="{82178D87-FE1E-437E-8E74-B8087D8630A4}"/>
              </a:ext>
            </a:extLst>
          </p:cNvPr>
          <p:cNvSpPr>
            <a:spLocks noGrp="1"/>
          </p:cNvSpPr>
          <p:nvPr>
            <p:ph idx="1"/>
          </p:nvPr>
        </p:nvSpPr>
        <p:spPr>
          <a:xfrm>
            <a:off x="838200" y="1550504"/>
            <a:ext cx="10515600" cy="4626459"/>
          </a:xfrm>
        </p:spPr>
        <p:txBody>
          <a:bodyPr>
            <a:normAutofit lnSpcReduction="10000"/>
          </a:bodyPr>
          <a:lstStyle/>
          <a:p>
            <a:pPr marL="514350" indent="-514350" algn="just">
              <a:buAutoNum type="arabicPeriod"/>
            </a:pPr>
            <a:r>
              <a:rPr lang="en-US" sz="2400" dirty="0"/>
              <a:t>COUNT function</a:t>
            </a:r>
          </a:p>
          <a:p>
            <a:pPr algn="just"/>
            <a:r>
              <a:rPr lang="en-US" sz="2400" dirty="0"/>
              <a:t>The COUNT function is used to count the number of cells containing a number. Always remember one thing that it will only count the number.</a:t>
            </a:r>
          </a:p>
          <a:p>
            <a:pPr algn="just"/>
            <a:r>
              <a:rPr lang="en-US" sz="2400" dirty="0"/>
              <a:t>Formula for COUNT function = COUNT(value1, [value2], …)</a:t>
            </a:r>
          </a:p>
          <a:p>
            <a:pPr marL="0" indent="0" algn="just">
              <a:buNone/>
            </a:pPr>
            <a:r>
              <a:rPr lang="en-US" sz="2400" dirty="0"/>
              <a:t>2.    COUNTA function </a:t>
            </a:r>
          </a:p>
          <a:p>
            <a:pPr algn="just"/>
            <a:r>
              <a:rPr lang="en-US" sz="2400" dirty="0"/>
              <a:t>This function will count everything, it will count the number of the cell containing any kind of information, including numbers, error values, empty text.</a:t>
            </a:r>
          </a:p>
          <a:p>
            <a:pPr algn="just"/>
            <a:r>
              <a:rPr lang="en-US" sz="2400" dirty="0"/>
              <a:t>Formula for COUNTA function = COUNTA(value1, [value2], …)</a:t>
            </a:r>
          </a:p>
          <a:p>
            <a:pPr marL="457200" indent="-457200" algn="just">
              <a:buAutoNum type="arabicPeriod" startAt="3"/>
            </a:pPr>
            <a:r>
              <a:rPr lang="en-US" sz="2400" dirty="0"/>
              <a:t>COUNTBLANK function</a:t>
            </a:r>
          </a:p>
          <a:p>
            <a:pPr algn="just"/>
            <a:r>
              <a:rPr lang="en-US" sz="2400" dirty="0"/>
              <a:t>COUNTBLANK function, as the term, suggest it will only count blank or empty cells.</a:t>
            </a:r>
          </a:p>
          <a:p>
            <a:pPr algn="just"/>
            <a:r>
              <a:rPr lang="en-US" sz="2400" dirty="0"/>
              <a:t>Formula for COUNTBLANK function = COUNTBLANK(range)</a:t>
            </a:r>
            <a:endParaRPr lang="en-IN" sz="2400" dirty="0"/>
          </a:p>
        </p:txBody>
      </p:sp>
    </p:spTree>
    <p:extLst>
      <p:ext uri="{BB962C8B-B14F-4D97-AF65-F5344CB8AC3E}">
        <p14:creationId xmlns:p14="http://schemas.microsoft.com/office/powerpoint/2010/main" val="25591403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C0192-621C-4300-8E29-BBBC810F6AD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10342C3-AA7E-4B1C-8287-9634F31EB603}"/>
              </a:ext>
            </a:extLst>
          </p:cNvPr>
          <p:cNvSpPr>
            <a:spLocks noGrp="1"/>
          </p:cNvSpPr>
          <p:nvPr>
            <p:ph idx="1"/>
          </p:nvPr>
        </p:nvSpPr>
        <p:spPr/>
        <p:txBody>
          <a:bodyPr>
            <a:normAutofit/>
          </a:bodyPr>
          <a:lstStyle/>
          <a:p>
            <a:pPr marL="457200" indent="-457200" algn="just">
              <a:buAutoNum type="arabicPeriod" startAt="4"/>
            </a:pPr>
            <a:r>
              <a:rPr lang="en-US" sz="2400" dirty="0"/>
              <a:t>COUNTIFS function</a:t>
            </a:r>
          </a:p>
          <a:p>
            <a:pPr algn="just"/>
            <a:r>
              <a:rPr lang="en-US" sz="2400" dirty="0"/>
              <a:t>COUNTIFS function is the most used function in Excel. The function will work on one or more than one condition in a given range and counts the cell that meets the condition.</a:t>
            </a:r>
          </a:p>
          <a:p>
            <a:pPr algn="just"/>
            <a:r>
              <a:rPr lang="en-US" sz="2400" dirty="0"/>
              <a:t>Formula for COUNTIFS function = COUNTIFS (range1, criteria1, [range2], [criteria2], ...)</a:t>
            </a:r>
          </a:p>
          <a:p>
            <a:pPr marL="457200" indent="-457200" algn="just">
              <a:buAutoNum type="arabicPeriod" startAt="5"/>
            </a:pPr>
            <a:r>
              <a:rPr lang="en-US" sz="2400" dirty="0"/>
              <a:t>MAX function</a:t>
            </a:r>
          </a:p>
          <a:p>
            <a:pPr algn="just"/>
            <a:r>
              <a:rPr lang="en-US" sz="2400" dirty="0"/>
              <a:t>The MAX function will return the largest numeric value within a given set of data or an array.</a:t>
            </a:r>
          </a:p>
          <a:p>
            <a:pPr algn="just"/>
            <a:r>
              <a:rPr lang="en-US" sz="2400" dirty="0"/>
              <a:t>Formula for MAX function = MAX (number1, [number2], ...)</a:t>
            </a:r>
            <a:endParaRPr lang="en-IN" sz="2400" dirty="0"/>
          </a:p>
        </p:txBody>
      </p:sp>
    </p:spTree>
    <p:extLst>
      <p:ext uri="{BB962C8B-B14F-4D97-AF65-F5344CB8AC3E}">
        <p14:creationId xmlns:p14="http://schemas.microsoft.com/office/powerpoint/2010/main" val="35990090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9E7AC-F1AC-48EC-B08C-8C3D1951EFC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D2A0F12-17FB-4207-8021-6C3B105D78C4}"/>
              </a:ext>
            </a:extLst>
          </p:cNvPr>
          <p:cNvSpPr>
            <a:spLocks noGrp="1"/>
          </p:cNvSpPr>
          <p:nvPr>
            <p:ph idx="1"/>
          </p:nvPr>
        </p:nvSpPr>
        <p:spPr/>
        <p:txBody>
          <a:bodyPr>
            <a:normAutofit/>
          </a:bodyPr>
          <a:lstStyle/>
          <a:p>
            <a:pPr marL="457200" indent="-457200" algn="just">
              <a:buAutoNum type="arabicPeriod" startAt="6"/>
            </a:pPr>
            <a:r>
              <a:rPr lang="en-US" sz="2400" dirty="0"/>
              <a:t>LARGE function</a:t>
            </a:r>
          </a:p>
          <a:p>
            <a:pPr algn="just"/>
            <a:r>
              <a:rPr lang="en-US" sz="2400" dirty="0"/>
              <a:t>The LARGE function is similar to the MAX function but the only difference is it returns the nth largest value within a given set of data or an array.</a:t>
            </a:r>
          </a:p>
          <a:p>
            <a:pPr algn="just"/>
            <a:r>
              <a:rPr lang="en-US" sz="2400" dirty="0"/>
              <a:t>Formula for LARGE function = LARGE (array, k)</a:t>
            </a:r>
          </a:p>
          <a:p>
            <a:pPr algn="just"/>
            <a:r>
              <a:rPr lang="en-US" sz="2400" dirty="0"/>
              <a:t>Other functions are COUNTIF, SUMIF, SUMIFS, AVERAGE, AVERAGEIF, MEDIAN, MODE etc..</a:t>
            </a:r>
            <a:endParaRPr lang="en-IN" sz="2400" dirty="0"/>
          </a:p>
        </p:txBody>
      </p:sp>
    </p:spTree>
    <p:extLst>
      <p:ext uri="{BB962C8B-B14F-4D97-AF65-F5344CB8AC3E}">
        <p14:creationId xmlns:p14="http://schemas.microsoft.com/office/powerpoint/2010/main" val="28721272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0A9D6-0244-483C-95A1-9F4C5E3C707A}"/>
              </a:ext>
            </a:extLst>
          </p:cNvPr>
          <p:cNvSpPr>
            <a:spLocks noGrp="1"/>
          </p:cNvSpPr>
          <p:nvPr>
            <p:ph type="title"/>
          </p:nvPr>
        </p:nvSpPr>
        <p:spPr/>
        <p:txBody>
          <a:bodyPr/>
          <a:lstStyle/>
          <a:p>
            <a:r>
              <a:rPr lang="en-US" b="1" dirty="0"/>
              <a:t>Logical Functions (AND, OR, NOT, XOR, IF, IFS…)</a:t>
            </a:r>
            <a:endParaRPr lang="en-IN" b="1" dirty="0"/>
          </a:p>
        </p:txBody>
      </p:sp>
      <p:sp>
        <p:nvSpPr>
          <p:cNvPr id="3" name="Content Placeholder 2">
            <a:extLst>
              <a:ext uri="{FF2B5EF4-FFF2-40B4-BE49-F238E27FC236}">
                <a16:creationId xmlns:a16="http://schemas.microsoft.com/office/drawing/2014/main" id="{3E557C3B-550B-4248-9476-F91D0DF9CCFF}"/>
              </a:ext>
            </a:extLst>
          </p:cNvPr>
          <p:cNvSpPr>
            <a:spLocks noGrp="1"/>
          </p:cNvSpPr>
          <p:nvPr>
            <p:ph idx="1"/>
          </p:nvPr>
        </p:nvSpPr>
        <p:spPr>
          <a:xfrm>
            <a:off x="838200" y="1825625"/>
            <a:ext cx="10515600" cy="4667250"/>
          </a:xfrm>
        </p:spPr>
        <p:txBody>
          <a:bodyPr>
            <a:normAutofit/>
          </a:bodyPr>
          <a:lstStyle/>
          <a:p>
            <a:pPr marL="0" indent="0" algn="just">
              <a:buNone/>
            </a:pPr>
            <a:r>
              <a:rPr lang="en-US" sz="2400" b="1" dirty="0"/>
              <a:t>     AND                                                                 NOT                                                          </a:t>
            </a:r>
          </a:p>
          <a:p>
            <a:pPr marL="0" indent="0" algn="just">
              <a:buNone/>
            </a:pPr>
            <a:endParaRPr lang="en-US" sz="2400" b="1" dirty="0"/>
          </a:p>
          <a:p>
            <a:pPr marL="0" indent="0" algn="just">
              <a:buNone/>
            </a:pPr>
            <a:endParaRPr lang="en-US" sz="2400" b="1" dirty="0"/>
          </a:p>
          <a:p>
            <a:pPr marL="0" indent="0" algn="just">
              <a:buNone/>
            </a:pPr>
            <a:endParaRPr lang="en-US" sz="2400" b="1" dirty="0"/>
          </a:p>
          <a:p>
            <a:pPr marL="0" indent="0" algn="just">
              <a:buNone/>
            </a:pPr>
            <a:endParaRPr lang="en-US" sz="2400" b="1" dirty="0"/>
          </a:p>
          <a:p>
            <a:pPr marL="0" indent="0" algn="just">
              <a:buNone/>
            </a:pPr>
            <a:r>
              <a:rPr lang="en-US" sz="2400" b="1" dirty="0"/>
              <a:t>     OR                                                                     IFS</a:t>
            </a:r>
            <a:endParaRPr lang="en-IN" sz="2400" b="1" dirty="0"/>
          </a:p>
        </p:txBody>
      </p:sp>
      <p:grpSp>
        <p:nvGrpSpPr>
          <p:cNvPr id="4" name="Group 3">
            <a:extLst>
              <a:ext uri="{FF2B5EF4-FFF2-40B4-BE49-F238E27FC236}">
                <a16:creationId xmlns:a16="http://schemas.microsoft.com/office/drawing/2014/main" id="{9E14E939-868B-474F-A6C9-C31D7A9E4D55}"/>
              </a:ext>
            </a:extLst>
          </p:cNvPr>
          <p:cNvGrpSpPr/>
          <p:nvPr/>
        </p:nvGrpSpPr>
        <p:grpSpPr>
          <a:xfrm>
            <a:off x="2232715" y="1922918"/>
            <a:ext cx="8521699" cy="1951990"/>
            <a:chOff x="0" y="0"/>
            <a:chExt cx="8522208" cy="1952244"/>
          </a:xfrm>
        </p:grpSpPr>
        <p:pic>
          <p:nvPicPr>
            <p:cNvPr id="5" name="Picture 4">
              <a:extLst>
                <a:ext uri="{FF2B5EF4-FFF2-40B4-BE49-F238E27FC236}">
                  <a16:creationId xmlns:a16="http://schemas.microsoft.com/office/drawing/2014/main" id="{D9B8E55E-AECF-474D-B4E2-76714A02E4DC}"/>
                </a:ext>
              </a:extLst>
            </p:cNvPr>
            <p:cNvPicPr/>
            <p:nvPr/>
          </p:nvPicPr>
          <p:blipFill>
            <a:blip r:embed="rId2"/>
            <a:stretch>
              <a:fillRect/>
            </a:stretch>
          </p:blipFill>
          <p:spPr>
            <a:xfrm>
              <a:off x="0" y="0"/>
              <a:ext cx="3870960" cy="1952244"/>
            </a:xfrm>
            <a:prstGeom prst="rect">
              <a:avLst/>
            </a:prstGeom>
          </p:spPr>
        </p:pic>
        <p:pic>
          <p:nvPicPr>
            <p:cNvPr id="6" name="Picture 5">
              <a:extLst>
                <a:ext uri="{FF2B5EF4-FFF2-40B4-BE49-F238E27FC236}">
                  <a16:creationId xmlns:a16="http://schemas.microsoft.com/office/drawing/2014/main" id="{40B16303-EAA3-4777-B5D6-E0D5EE9B0851}"/>
                </a:ext>
              </a:extLst>
            </p:cNvPr>
            <p:cNvPicPr/>
            <p:nvPr/>
          </p:nvPicPr>
          <p:blipFill>
            <a:blip r:embed="rId3"/>
            <a:stretch>
              <a:fillRect/>
            </a:stretch>
          </p:blipFill>
          <p:spPr>
            <a:xfrm>
              <a:off x="4651248" y="0"/>
              <a:ext cx="3870960" cy="1952244"/>
            </a:xfrm>
            <a:prstGeom prst="rect">
              <a:avLst/>
            </a:prstGeom>
          </p:spPr>
        </p:pic>
      </p:grpSp>
      <p:pic>
        <p:nvPicPr>
          <p:cNvPr id="7" name="Picture 6">
            <a:extLst>
              <a:ext uri="{FF2B5EF4-FFF2-40B4-BE49-F238E27FC236}">
                <a16:creationId xmlns:a16="http://schemas.microsoft.com/office/drawing/2014/main" id="{F13ACD9F-521A-4A12-8C64-634FE5C8AEBB}"/>
              </a:ext>
            </a:extLst>
          </p:cNvPr>
          <p:cNvPicPr/>
          <p:nvPr/>
        </p:nvPicPr>
        <p:blipFill>
          <a:blip r:embed="rId4"/>
          <a:stretch>
            <a:fillRect/>
          </a:stretch>
        </p:blipFill>
        <p:spPr>
          <a:xfrm>
            <a:off x="2232715" y="4120073"/>
            <a:ext cx="3870960" cy="2197100"/>
          </a:xfrm>
          <a:prstGeom prst="rect">
            <a:avLst/>
          </a:prstGeom>
        </p:spPr>
      </p:pic>
      <p:pic>
        <p:nvPicPr>
          <p:cNvPr id="8" name="Picture 7">
            <a:extLst>
              <a:ext uri="{FF2B5EF4-FFF2-40B4-BE49-F238E27FC236}">
                <a16:creationId xmlns:a16="http://schemas.microsoft.com/office/drawing/2014/main" id="{CE2533FA-574F-43C5-95F4-E9F6DF62152C}"/>
              </a:ext>
            </a:extLst>
          </p:cNvPr>
          <p:cNvPicPr/>
          <p:nvPr/>
        </p:nvPicPr>
        <p:blipFill>
          <a:blip r:embed="rId5"/>
          <a:stretch>
            <a:fillRect/>
          </a:stretch>
        </p:blipFill>
        <p:spPr>
          <a:xfrm>
            <a:off x="6883685" y="4120073"/>
            <a:ext cx="3890645" cy="2197100"/>
          </a:xfrm>
          <a:prstGeom prst="rect">
            <a:avLst/>
          </a:prstGeom>
        </p:spPr>
      </p:pic>
    </p:spTree>
    <p:extLst>
      <p:ext uri="{BB962C8B-B14F-4D97-AF65-F5344CB8AC3E}">
        <p14:creationId xmlns:p14="http://schemas.microsoft.com/office/powerpoint/2010/main" val="34557286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A6C72-1086-49F5-B9EF-385EFC45411F}"/>
              </a:ext>
            </a:extLst>
          </p:cNvPr>
          <p:cNvSpPr>
            <a:spLocks noGrp="1"/>
          </p:cNvSpPr>
          <p:nvPr>
            <p:ph type="title"/>
          </p:nvPr>
        </p:nvSpPr>
        <p:spPr/>
        <p:txBody>
          <a:bodyPr/>
          <a:lstStyle/>
          <a:p>
            <a:r>
              <a:rPr lang="en-US" b="1" dirty="0"/>
              <a:t>Data Cleaning with Text Functions</a:t>
            </a:r>
            <a:endParaRPr lang="en-IN" b="1" dirty="0"/>
          </a:p>
        </p:txBody>
      </p:sp>
      <p:sp>
        <p:nvSpPr>
          <p:cNvPr id="3" name="Content Placeholder 2">
            <a:extLst>
              <a:ext uri="{FF2B5EF4-FFF2-40B4-BE49-F238E27FC236}">
                <a16:creationId xmlns:a16="http://schemas.microsoft.com/office/drawing/2014/main" id="{39B4A80E-0FA6-484E-B911-26BAB4A43838}"/>
              </a:ext>
            </a:extLst>
          </p:cNvPr>
          <p:cNvSpPr>
            <a:spLocks noGrp="1"/>
          </p:cNvSpPr>
          <p:nvPr>
            <p:ph idx="1"/>
          </p:nvPr>
        </p:nvSpPr>
        <p:spPr>
          <a:xfrm>
            <a:off x="838200" y="1834503"/>
            <a:ext cx="10515600" cy="4351338"/>
          </a:xfrm>
        </p:spPr>
        <p:txBody>
          <a:bodyPr>
            <a:normAutofit/>
          </a:bodyPr>
          <a:lstStyle/>
          <a:p>
            <a:pPr algn="just"/>
            <a:r>
              <a:rPr lang="en-US" sz="2400" dirty="0"/>
              <a:t>The data that you obtain from different sources many not be in a form ready for analysis.</a:t>
            </a:r>
          </a:p>
          <a:p>
            <a:pPr algn="just"/>
            <a:r>
              <a:rPr lang="en-US" sz="2400" dirty="0"/>
              <a:t>Initially, you need to clean the data. Data cleaning includes removing unwanted characters from text. Next, you need to structure the data in the form you require for further analysis.</a:t>
            </a:r>
          </a:p>
          <a:p>
            <a:pPr marL="0" indent="0" algn="just">
              <a:buNone/>
            </a:pPr>
            <a:endParaRPr lang="en-IN" sz="2400" dirty="0"/>
          </a:p>
        </p:txBody>
      </p:sp>
      <p:graphicFrame>
        <p:nvGraphicFramePr>
          <p:cNvPr id="4" name="Table 3">
            <a:extLst>
              <a:ext uri="{FF2B5EF4-FFF2-40B4-BE49-F238E27FC236}">
                <a16:creationId xmlns:a16="http://schemas.microsoft.com/office/drawing/2014/main" id="{973708B8-B980-4E8C-9312-A0A519D89CF7}"/>
              </a:ext>
            </a:extLst>
          </p:cNvPr>
          <p:cNvGraphicFramePr>
            <a:graphicFrameLocks noGrp="1"/>
          </p:cNvGraphicFramePr>
          <p:nvPr>
            <p:extLst>
              <p:ext uri="{D42A27DB-BD31-4B8C-83A1-F6EECF244321}">
                <p14:modId xmlns:p14="http://schemas.microsoft.com/office/powerpoint/2010/main" val="3303831014"/>
              </p:ext>
            </p:extLst>
          </p:nvPr>
        </p:nvGraphicFramePr>
        <p:xfrm>
          <a:off x="4002156" y="3531987"/>
          <a:ext cx="5936976" cy="3085466"/>
        </p:xfrm>
        <a:graphic>
          <a:graphicData uri="http://schemas.openxmlformats.org/drawingml/2006/table">
            <a:tbl>
              <a:tblPr firstRow="1" firstCol="1" bandRow="1">
                <a:tableStyleId>{5C22544A-7EE6-4342-B048-85BDC9FD1C3A}</a:tableStyleId>
              </a:tblPr>
              <a:tblGrid>
                <a:gridCol w="2968488">
                  <a:extLst>
                    <a:ext uri="{9D8B030D-6E8A-4147-A177-3AD203B41FA5}">
                      <a16:colId xmlns:a16="http://schemas.microsoft.com/office/drawing/2014/main" val="380140752"/>
                    </a:ext>
                  </a:extLst>
                </a:gridCol>
                <a:gridCol w="2968488">
                  <a:extLst>
                    <a:ext uri="{9D8B030D-6E8A-4147-A177-3AD203B41FA5}">
                      <a16:colId xmlns:a16="http://schemas.microsoft.com/office/drawing/2014/main" val="2346021868"/>
                    </a:ext>
                  </a:extLst>
                </a:gridCol>
              </a:tblGrid>
              <a:tr h="355523">
                <a:tc>
                  <a:txBody>
                    <a:bodyPr/>
                    <a:lstStyle/>
                    <a:p>
                      <a:pPr algn="r">
                        <a:lnSpc>
                          <a:spcPct val="107000"/>
                        </a:lnSpc>
                        <a:spcAft>
                          <a:spcPts val="0"/>
                        </a:spcAft>
                      </a:pPr>
                      <a:r>
                        <a:rPr lang="en-IN" sz="1800" dirty="0">
                          <a:effectLst/>
                        </a:rPr>
                        <a:t>Text Fu</a:t>
                      </a:r>
                      <a:endParaRPr lang="en-IN"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10795" marT="88265" marB="0"/>
                </a:tc>
                <a:tc>
                  <a:txBody>
                    <a:bodyPr/>
                    <a:lstStyle/>
                    <a:p>
                      <a:pPr algn="l">
                        <a:lnSpc>
                          <a:spcPct val="107000"/>
                        </a:lnSpc>
                        <a:spcAft>
                          <a:spcPts val="0"/>
                        </a:spcAft>
                      </a:pPr>
                      <a:r>
                        <a:rPr lang="en-IN" sz="1800" dirty="0" err="1">
                          <a:effectLst/>
                        </a:rPr>
                        <a:t>nctions</a:t>
                      </a:r>
                      <a:endParaRPr lang="en-IN"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10795" marT="88265" marB="0"/>
                </a:tc>
                <a:extLst>
                  <a:ext uri="{0D108BD9-81ED-4DB2-BD59-A6C34878D82A}">
                    <a16:rowId xmlns:a16="http://schemas.microsoft.com/office/drawing/2014/main" val="192842241"/>
                  </a:ext>
                </a:extLst>
              </a:tr>
              <a:tr h="2619308">
                <a:tc>
                  <a:txBody>
                    <a:bodyPr/>
                    <a:lstStyle/>
                    <a:p>
                      <a:pPr marL="91440" algn="l">
                        <a:lnSpc>
                          <a:spcPct val="107000"/>
                        </a:lnSpc>
                        <a:spcAft>
                          <a:spcPts val="0"/>
                        </a:spcAft>
                      </a:pPr>
                      <a:r>
                        <a:rPr lang="en-IN" sz="1800" dirty="0">
                          <a:effectLst/>
                        </a:rPr>
                        <a:t>LEFT </a:t>
                      </a:r>
                      <a:endParaRPr lang="en-IN" sz="1100" dirty="0">
                        <a:effectLst/>
                      </a:endParaRPr>
                    </a:p>
                    <a:p>
                      <a:pPr marL="91440" algn="l">
                        <a:lnSpc>
                          <a:spcPct val="107000"/>
                        </a:lnSpc>
                        <a:spcAft>
                          <a:spcPts val="0"/>
                        </a:spcAft>
                      </a:pPr>
                      <a:r>
                        <a:rPr lang="en-IN" sz="1800" dirty="0">
                          <a:effectLst/>
                        </a:rPr>
                        <a:t>RIGHT </a:t>
                      </a:r>
                      <a:endParaRPr lang="en-IN" sz="1100" dirty="0">
                        <a:effectLst/>
                      </a:endParaRPr>
                    </a:p>
                    <a:p>
                      <a:pPr marL="91440" algn="l">
                        <a:lnSpc>
                          <a:spcPct val="107000"/>
                        </a:lnSpc>
                        <a:spcAft>
                          <a:spcPts val="0"/>
                        </a:spcAft>
                      </a:pPr>
                      <a:r>
                        <a:rPr lang="en-IN" sz="1800" dirty="0">
                          <a:effectLst/>
                        </a:rPr>
                        <a:t>MID </a:t>
                      </a:r>
                      <a:endParaRPr lang="en-IN" sz="1100" dirty="0">
                        <a:effectLst/>
                      </a:endParaRPr>
                    </a:p>
                    <a:p>
                      <a:pPr marL="91440" algn="l">
                        <a:lnSpc>
                          <a:spcPct val="107000"/>
                        </a:lnSpc>
                        <a:spcAft>
                          <a:spcPts val="0"/>
                        </a:spcAft>
                      </a:pPr>
                      <a:r>
                        <a:rPr lang="en-IN" sz="1800" dirty="0">
                          <a:effectLst/>
                        </a:rPr>
                        <a:t>TRIM </a:t>
                      </a:r>
                      <a:endParaRPr lang="en-IN" sz="1100" dirty="0">
                        <a:effectLst/>
                      </a:endParaRPr>
                    </a:p>
                    <a:p>
                      <a:pPr marL="91440" algn="l">
                        <a:lnSpc>
                          <a:spcPct val="107000"/>
                        </a:lnSpc>
                        <a:spcAft>
                          <a:spcPts val="0"/>
                        </a:spcAft>
                      </a:pPr>
                      <a:r>
                        <a:rPr lang="en-IN" sz="1800" dirty="0">
                          <a:effectLst/>
                        </a:rPr>
                        <a:t>LEN </a:t>
                      </a:r>
                      <a:endParaRPr lang="en-IN" sz="1100" dirty="0">
                        <a:effectLst/>
                      </a:endParaRPr>
                    </a:p>
                    <a:p>
                      <a:pPr marL="91440" algn="l">
                        <a:lnSpc>
                          <a:spcPct val="107000"/>
                        </a:lnSpc>
                        <a:spcAft>
                          <a:spcPts val="0"/>
                        </a:spcAft>
                      </a:pPr>
                      <a:r>
                        <a:rPr lang="en-IN" sz="1800" dirty="0">
                          <a:effectLst/>
                        </a:rPr>
                        <a:t>FIND</a:t>
                      </a:r>
                      <a:endParaRPr lang="en-IN" sz="1100" dirty="0">
                        <a:effectLst/>
                      </a:endParaRPr>
                    </a:p>
                    <a:p>
                      <a:pPr marL="91440" algn="l">
                        <a:lnSpc>
                          <a:spcPct val="107000"/>
                        </a:lnSpc>
                        <a:spcAft>
                          <a:spcPts val="0"/>
                        </a:spcAft>
                      </a:pPr>
                      <a:r>
                        <a:rPr lang="en-IN" sz="1800" dirty="0">
                          <a:effectLst/>
                        </a:rPr>
                        <a:t>SEARCH</a:t>
                      </a:r>
                      <a:endParaRPr lang="en-IN" sz="1100" dirty="0">
                        <a:effectLst/>
                      </a:endParaRPr>
                    </a:p>
                    <a:p>
                      <a:pPr marL="91440" algn="l">
                        <a:lnSpc>
                          <a:spcPct val="107000"/>
                        </a:lnSpc>
                        <a:spcAft>
                          <a:spcPts val="0"/>
                        </a:spcAft>
                      </a:pPr>
                      <a:r>
                        <a:rPr lang="en-IN" sz="1800" dirty="0">
                          <a:effectLst/>
                        </a:rPr>
                        <a:t>REPT</a:t>
                      </a:r>
                      <a:endParaRPr lang="en-IN" sz="1100" dirty="0">
                        <a:effectLst/>
                      </a:endParaRPr>
                    </a:p>
                    <a:p>
                      <a:pPr marL="91440" algn="l">
                        <a:lnSpc>
                          <a:spcPct val="107000"/>
                        </a:lnSpc>
                        <a:spcAft>
                          <a:spcPts val="0"/>
                        </a:spcAft>
                      </a:pPr>
                      <a:r>
                        <a:rPr lang="en-IN" sz="1800" dirty="0">
                          <a:effectLst/>
                        </a:rPr>
                        <a:t>CONCATENATE</a:t>
                      </a:r>
                      <a:endParaRPr lang="en-IN"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10795" marT="88265" marB="0"/>
                </a:tc>
                <a:tc>
                  <a:txBody>
                    <a:bodyPr/>
                    <a:lstStyle/>
                    <a:p>
                      <a:pPr marL="92075" algn="l">
                        <a:lnSpc>
                          <a:spcPct val="107000"/>
                        </a:lnSpc>
                        <a:spcAft>
                          <a:spcPts val="0"/>
                        </a:spcAft>
                      </a:pPr>
                      <a:r>
                        <a:rPr lang="en-IN" sz="1800" dirty="0">
                          <a:effectLst/>
                        </a:rPr>
                        <a:t>REPLACE</a:t>
                      </a:r>
                      <a:endParaRPr lang="en-IN" sz="1100" dirty="0">
                        <a:effectLst/>
                      </a:endParaRPr>
                    </a:p>
                    <a:p>
                      <a:pPr marL="92075" algn="l">
                        <a:lnSpc>
                          <a:spcPct val="107000"/>
                        </a:lnSpc>
                        <a:spcAft>
                          <a:spcPts val="0"/>
                        </a:spcAft>
                      </a:pPr>
                      <a:r>
                        <a:rPr lang="en-IN" sz="1800" dirty="0">
                          <a:effectLst/>
                        </a:rPr>
                        <a:t>VALUE</a:t>
                      </a:r>
                      <a:endParaRPr lang="en-IN" sz="1100" dirty="0">
                        <a:effectLst/>
                      </a:endParaRPr>
                    </a:p>
                    <a:p>
                      <a:pPr marL="92075" algn="l">
                        <a:lnSpc>
                          <a:spcPct val="107000"/>
                        </a:lnSpc>
                        <a:spcAft>
                          <a:spcPts val="0"/>
                        </a:spcAft>
                      </a:pPr>
                      <a:r>
                        <a:rPr lang="en-IN" sz="1800" dirty="0">
                          <a:effectLst/>
                        </a:rPr>
                        <a:t>UPPER</a:t>
                      </a:r>
                      <a:endParaRPr lang="en-IN" sz="1100" dirty="0">
                        <a:effectLst/>
                      </a:endParaRPr>
                    </a:p>
                    <a:p>
                      <a:pPr marL="92075" algn="l">
                        <a:lnSpc>
                          <a:spcPct val="107000"/>
                        </a:lnSpc>
                        <a:spcAft>
                          <a:spcPts val="0"/>
                        </a:spcAft>
                      </a:pPr>
                      <a:r>
                        <a:rPr lang="en-IN" sz="1800" dirty="0">
                          <a:effectLst/>
                        </a:rPr>
                        <a:t>LOWER</a:t>
                      </a:r>
                      <a:endParaRPr lang="en-IN" sz="1100" dirty="0">
                        <a:effectLst/>
                      </a:endParaRPr>
                    </a:p>
                    <a:p>
                      <a:pPr marL="92075" algn="l">
                        <a:lnSpc>
                          <a:spcPct val="107000"/>
                        </a:lnSpc>
                        <a:spcAft>
                          <a:spcPts val="0"/>
                        </a:spcAft>
                      </a:pPr>
                      <a:r>
                        <a:rPr lang="en-IN" sz="1800" dirty="0">
                          <a:effectLst/>
                        </a:rPr>
                        <a:t>PROPER</a:t>
                      </a:r>
                      <a:endParaRPr lang="en-IN" sz="1100" dirty="0">
                        <a:effectLst/>
                      </a:endParaRPr>
                    </a:p>
                    <a:p>
                      <a:pPr marL="92075" algn="l">
                        <a:lnSpc>
                          <a:spcPct val="107000"/>
                        </a:lnSpc>
                        <a:spcAft>
                          <a:spcPts val="0"/>
                        </a:spcAft>
                      </a:pPr>
                      <a:r>
                        <a:rPr lang="en-IN" sz="1800" dirty="0">
                          <a:effectLst/>
                        </a:rPr>
                        <a:t>CHAR</a:t>
                      </a:r>
                      <a:endParaRPr lang="en-IN" sz="1100" dirty="0">
                        <a:effectLst/>
                      </a:endParaRPr>
                    </a:p>
                    <a:p>
                      <a:pPr marL="92075" algn="l">
                        <a:lnSpc>
                          <a:spcPct val="107000"/>
                        </a:lnSpc>
                        <a:spcAft>
                          <a:spcPts val="0"/>
                        </a:spcAft>
                      </a:pPr>
                      <a:r>
                        <a:rPr lang="en-IN" sz="1800" dirty="0">
                          <a:effectLst/>
                        </a:rPr>
                        <a:t>CLEAN</a:t>
                      </a:r>
                      <a:endParaRPr lang="en-IN" sz="1100" dirty="0">
                        <a:effectLst/>
                      </a:endParaRPr>
                    </a:p>
                    <a:p>
                      <a:pPr marL="92075" algn="l">
                        <a:lnSpc>
                          <a:spcPct val="107000"/>
                        </a:lnSpc>
                        <a:spcAft>
                          <a:spcPts val="0"/>
                        </a:spcAft>
                      </a:pPr>
                      <a:r>
                        <a:rPr lang="en-IN" sz="1800" dirty="0">
                          <a:effectLst/>
                        </a:rPr>
                        <a:t>SUBSTITUTE</a:t>
                      </a:r>
                      <a:endParaRPr lang="en-IN"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10795" marT="88265" marB="0"/>
                </a:tc>
                <a:extLst>
                  <a:ext uri="{0D108BD9-81ED-4DB2-BD59-A6C34878D82A}">
                    <a16:rowId xmlns:a16="http://schemas.microsoft.com/office/drawing/2014/main" val="1144681346"/>
                  </a:ext>
                </a:extLst>
              </a:tr>
            </a:tbl>
          </a:graphicData>
        </a:graphic>
      </p:graphicFrame>
      <p:sp>
        <p:nvSpPr>
          <p:cNvPr id="5" name="Rectangle 1">
            <a:extLst>
              <a:ext uri="{FF2B5EF4-FFF2-40B4-BE49-F238E27FC236}">
                <a16:creationId xmlns:a16="http://schemas.microsoft.com/office/drawing/2014/main" id="{67B4B1BD-8446-4F11-9D5F-14C2375574F8}"/>
              </a:ext>
            </a:extLst>
          </p:cNvPr>
          <p:cNvSpPr>
            <a:spLocks noChangeArrowheads="1"/>
          </p:cNvSpPr>
          <p:nvPr/>
        </p:nvSpPr>
        <p:spPr bwMode="auto">
          <a:xfrm>
            <a:off x="4172170" y="3532464"/>
            <a:ext cx="950074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25349764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EB86E-5739-4FBE-98AE-415887757211}"/>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27332213-8BFB-4267-95C9-F8E2EE9F8463}"/>
              </a:ext>
            </a:extLst>
          </p:cNvPr>
          <p:cNvGraphicFramePr>
            <a:graphicFrameLocks noGrp="1"/>
          </p:cNvGraphicFramePr>
          <p:nvPr>
            <p:ph idx="1"/>
            <p:extLst>
              <p:ext uri="{D42A27DB-BD31-4B8C-83A1-F6EECF244321}">
                <p14:modId xmlns:p14="http://schemas.microsoft.com/office/powerpoint/2010/main" val="1965078798"/>
              </p:ext>
            </p:extLst>
          </p:nvPr>
        </p:nvGraphicFramePr>
        <p:xfrm>
          <a:off x="1190080" y="1803794"/>
          <a:ext cx="9811840" cy="4395000"/>
        </p:xfrm>
        <a:graphic>
          <a:graphicData uri="http://schemas.openxmlformats.org/drawingml/2006/table">
            <a:tbl>
              <a:tblPr firstRow="1">
                <a:tableStyleId>{F5AB1C69-6EDB-4FF4-983F-18BD219EF322}</a:tableStyleId>
              </a:tblPr>
              <a:tblGrid>
                <a:gridCol w="2452960">
                  <a:extLst>
                    <a:ext uri="{9D8B030D-6E8A-4147-A177-3AD203B41FA5}">
                      <a16:colId xmlns:a16="http://schemas.microsoft.com/office/drawing/2014/main" val="2987482646"/>
                    </a:ext>
                  </a:extLst>
                </a:gridCol>
                <a:gridCol w="2452960">
                  <a:extLst>
                    <a:ext uri="{9D8B030D-6E8A-4147-A177-3AD203B41FA5}">
                      <a16:colId xmlns:a16="http://schemas.microsoft.com/office/drawing/2014/main" val="2996497928"/>
                    </a:ext>
                  </a:extLst>
                </a:gridCol>
                <a:gridCol w="2452960">
                  <a:extLst>
                    <a:ext uri="{9D8B030D-6E8A-4147-A177-3AD203B41FA5}">
                      <a16:colId xmlns:a16="http://schemas.microsoft.com/office/drawing/2014/main" val="1523461589"/>
                    </a:ext>
                  </a:extLst>
                </a:gridCol>
                <a:gridCol w="2452960">
                  <a:extLst>
                    <a:ext uri="{9D8B030D-6E8A-4147-A177-3AD203B41FA5}">
                      <a16:colId xmlns:a16="http://schemas.microsoft.com/office/drawing/2014/main" val="1781386884"/>
                    </a:ext>
                  </a:extLst>
                </a:gridCol>
              </a:tblGrid>
              <a:tr h="341281">
                <a:tc>
                  <a:txBody>
                    <a:bodyPr/>
                    <a:lstStyle/>
                    <a:p>
                      <a:r>
                        <a:rPr lang="en-IN" sz="1700"/>
                        <a:t>Original Data</a:t>
                      </a:r>
                    </a:p>
                  </a:txBody>
                  <a:tcPr marL="85320" marR="85320" marT="42660" marB="42660" anchor="ctr"/>
                </a:tc>
                <a:tc>
                  <a:txBody>
                    <a:bodyPr/>
                    <a:lstStyle/>
                    <a:p>
                      <a:r>
                        <a:rPr lang="en-IN" sz="1700"/>
                        <a:t>Function</a:t>
                      </a:r>
                    </a:p>
                  </a:txBody>
                  <a:tcPr marL="85320" marR="85320" marT="42660" marB="42660" anchor="ctr"/>
                </a:tc>
                <a:tc>
                  <a:txBody>
                    <a:bodyPr/>
                    <a:lstStyle/>
                    <a:p>
                      <a:r>
                        <a:rPr lang="en-IN" sz="1700"/>
                        <a:t>Cleaned Data</a:t>
                      </a:r>
                    </a:p>
                  </a:txBody>
                  <a:tcPr marL="85320" marR="85320" marT="42660" marB="42660" anchor="ctr"/>
                </a:tc>
                <a:tc>
                  <a:txBody>
                    <a:bodyPr/>
                    <a:lstStyle/>
                    <a:p>
                      <a:r>
                        <a:rPr lang="en-IN" sz="1700"/>
                        <a:t>Description</a:t>
                      </a:r>
                    </a:p>
                  </a:txBody>
                  <a:tcPr marL="85320" marR="85320" marT="42660" marB="42660" anchor="ctr"/>
                </a:tc>
                <a:extLst>
                  <a:ext uri="{0D108BD9-81ED-4DB2-BD59-A6C34878D82A}">
                    <a16:rowId xmlns:a16="http://schemas.microsoft.com/office/drawing/2014/main" val="211567619"/>
                  </a:ext>
                </a:extLst>
              </a:tr>
              <a:tr h="597242">
                <a:tc>
                  <a:txBody>
                    <a:bodyPr/>
                    <a:lstStyle/>
                    <a:p>
                      <a:r>
                        <a:rPr lang="en-IN" sz="1700" dirty="0"/>
                        <a:t>" john doe "</a:t>
                      </a:r>
                    </a:p>
                  </a:txBody>
                  <a:tcPr marL="85320" marR="85320" marT="42660" marB="42660" anchor="ctr"/>
                </a:tc>
                <a:tc>
                  <a:txBody>
                    <a:bodyPr/>
                    <a:lstStyle/>
                    <a:p>
                      <a:r>
                        <a:rPr lang="en-IN" sz="1700"/>
                        <a:t>=PROPER(TRIM(A2))</a:t>
                      </a:r>
                    </a:p>
                  </a:txBody>
                  <a:tcPr marL="85320" marR="85320" marT="42660" marB="42660" anchor="ctr"/>
                </a:tc>
                <a:tc>
                  <a:txBody>
                    <a:bodyPr/>
                    <a:lstStyle/>
                    <a:p>
                      <a:r>
                        <a:rPr lang="en-IN" sz="1700"/>
                        <a:t>John Doe</a:t>
                      </a:r>
                    </a:p>
                  </a:txBody>
                  <a:tcPr marL="85320" marR="85320" marT="42660" marB="42660" anchor="ctr"/>
                </a:tc>
                <a:tc>
                  <a:txBody>
                    <a:bodyPr/>
                    <a:lstStyle/>
                    <a:p>
                      <a:r>
                        <a:rPr lang="en-US" sz="1700"/>
                        <a:t>Trim spaces and proper case</a:t>
                      </a:r>
                    </a:p>
                  </a:txBody>
                  <a:tcPr marL="85320" marR="85320" marT="42660" marB="42660" anchor="ctr"/>
                </a:tc>
                <a:extLst>
                  <a:ext uri="{0D108BD9-81ED-4DB2-BD59-A6C34878D82A}">
                    <a16:rowId xmlns:a16="http://schemas.microsoft.com/office/drawing/2014/main" val="1486664558"/>
                  </a:ext>
                </a:extLst>
              </a:tr>
              <a:tr h="341281">
                <a:tc>
                  <a:txBody>
                    <a:bodyPr/>
                    <a:lstStyle/>
                    <a:p>
                      <a:r>
                        <a:rPr lang="en-IN" sz="1700" dirty="0"/>
                        <a:t>"HELLO WORLD"</a:t>
                      </a:r>
                    </a:p>
                  </a:txBody>
                  <a:tcPr marL="85320" marR="85320" marT="42660" marB="42660" anchor="ctr"/>
                </a:tc>
                <a:tc>
                  <a:txBody>
                    <a:bodyPr/>
                    <a:lstStyle/>
                    <a:p>
                      <a:r>
                        <a:rPr lang="en-IN" sz="1700"/>
                        <a:t>=LOWER(A3)</a:t>
                      </a:r>
                    </a:p>
                  </a:txBody>
                  <a:tcPr marL="85320" marR="85320" marT="42660" marB="42660" anchor="ctr"/>
                </a:tc>
                <a:tc>
                  <a:txBody>
                    <a:bodyPr/>
                    <a:lstStyle/>
                    <a:p>
                      <a:r>
                        <a:rPr lang="en-IN" sz="1700"/>
                        <a:t>hello world</a:t>
                      </a:r>
                    </a:p>
                  </a:txBody>
                  <a:tcPr marL="85320" marR="85320" marT="42660" marB="42660" anchor="ctr"/>
                </a:tc>
                <a:tc>
                  <a:txBody>
                    <a:bodyPr/>
                    <a:lstStyle/>
                    <a:p>
                      <a:r>
                        <a:rPr lang="en-IN" sz="1700"/>
                        <a:t>Convert to lowercase</a:t>
                      </a:r>
                    </a:p>
                  </a:txBody>
                  <a:tcPr marL="85320" marR="85320" marT="42660" marB="42660" anchor="ctr"/>
                </a:tc>
                <a:extLst>
                  <a:ext uri="{0D108BD9-81ED-4DB2-BD59-A6C34878D82A}">
                    <a16:rowId xmlns:a16="http://schemas.microsoft.com/office/drawing/2014/main" val="1349212010"/>
                  </a:ext>
                </a:extLst>
              </a:tr>
              <a:tr h="597242">
                <a:tc>
                  <a:txBody>
                    <a:bodyPr/>
                    <a:lstStyle/>
                    <a:p>
                      <a:r>
                        <a:rPr lang="en-IN" sz="1700" dirty="0"/>
                        <a:t>"apple, banana, apple"</a:t>
                      </a:r>
                    </a:p>
                  </a:txBody>
                  <a:tcPr marL="85320" marR="85320" marT="42660" marB="42660" anchor="ctr"/>
                </a:tc>
                <a:tc>
                  <a:txBody>
                    <a:bodyPr/>
                    <a:lstStyle/>
                    <a:p>
                      <a:r>
                        <a:rPr lang="en-IN" sz="1700"/>
                        <a:t>=SUBSTITUTE(A4, "apple", "orange")</a:t>
                      </a:r>
                    </a:p>
                  </a:txBody>
                  <a:tcPr marL="85320" marR="85320" marT="42660" marB="42660" anchor="ctr"/>
                </a:tc>
                <a:tc>
                  <a:txBody>
                    <a:bodyPr/>
                    <a:lstStyle/>
                    <a:p>
                      <a:r>
                        <a:rPr lang="en-IN" sz="1700"/>
                        <a:t>orange,banana,orange</a:t>
                      </a:r>
                    </a:p>
                  </a:txBody>
                  <a:tcPr marL="85320" marR="85320" marT="42660" marB="42660" anchor="ctr"/>
                </a:tc>
                <a:tc>
                  <a:txBody>
                    <a:bodyPr/>
                    <a:lstStyle/>
                    <a:p>
                      <a:r>
                        <a:rPr lang="en-IN" sz="1700"/>
                        <a:t>Replace text</a:t>
                      </a:r>
                    </a:p>
                  </a:txBody>
                  <a:tcPr marL="85320" marR="85320" marT="42660" marB="42660" anchor="ctr"/>
                </a:tc>
                <a:extLst>
                  <a:ext uri="{0D108BD9-81ED-4DB2-BD59-A6C34878D82A}">
                    <a16:rowId xmlns:a16="http://schemas.microsoft.com/office/drawing/2014/main" val="1906387977"/>
                  </a:ext>
                </a:extLst>
              </a:tr>
              <a:tr h="341281">
                <a:tc>
                  <a:txBody>
                    <a:bodyPr/>
                    <a:lstStyle/>
                    <a:p>
                      <a:r>
                        <a:rPr lang="en-IN" sz="1700"/>
                        <a:t>"Excel"</a:t>
                      </a:r>
                    </a:p>
                  </a:txBody>
                  <a:tcPr marL="85320" marR="85320" marT="42660" marB="42660" anchor="ctr"/>
                </a:tc>
                <a:tc>
                  <a:txBody>
                    <a:bodyPr/>
                    <a:lstStyle/>
                    <a:p>
                      <a:r>
                        <a:rPr lang="en-IN" sz="1700"/>
                        <a:t>=LEFT(A5, 2)</a:t>
                      </a:r>
                    </a:p>
                  </a:txBody>
                  <a:tcPr marL="85320" marR="85320" marT="42660" marB="42660" anchor="ctr"/>
                </a:tc>
                <a:tc>
                  <a:txBody>
                    <a:bodyPr/>
                    <a:lstStyle/>
                    <a:p>
                      <a:r>
                        <a:rPr lang="en-IN" sz="1700"/>
                        <a:t>Ex</a:t>
                      </a:r>
                    </a:p>
                  </a:txBody>
                  <a:tcPr marL="85320" marR="85320" marT="42660" marB="42660" anchor="ctr"/>
                </a:tc>
                <a:tc>
                  <a:txBody>
                    <a:bodyPr/>
                    <a:lstStyle/>
                    <a:p>
                      <a:r>
                        <a:rPr lang="en-IN" sz="1700"/>
                        <a:t>First 2 characters</a:t>
                      </a:r>
                    </a:p>
                  </a:txBody>
                  <a:tcPr marL="85320" marR="85320" marT="42660" marB="42660" anchor="ctr"/>
                </a:tc>
                <a:extLst>
                  <a:ext uri="{0D108BD9-81ED-4DB2-BD59-A6C34878D82A}">
                    <a16:rowId xmlns:a16="http://schemas.microsoft.com/office/drawing/2014/main" val="2075689821"/>
                  </a:ext>
                </a:extLst>
              </a:tr>
              <a:tr h="341281">
                <a:tc>
                  <a:txBody>
                    <a:bodyPr/>
                    <a:lstStyle/>
                    <a:p>
                      <a:r>
                        <a:rPr lang="en-IN" sz="1700"/>
                        <a:t>"Excel"</a:t>
                      </a:r>
                    </a:p>
                  </a:txBody>
                  <a:tcPr marL="85320" marR="85320" marT="42660" marB="42660" anchor="ctr"/>
                </a:tc>
                <a:tc>
                  <a:txBody>
                    <a:bodyPr/>
                    <a:lstStyle/>
                    <a:p>
                      <a:r>
                        <a:rPr lang="en-IN" sz="1700"/>
                        <a:t>=RIGHT(A6, 3)</a:t>
                      </a:r>
                    </a:p>
                  </a:txBody>
                  <a:tcPr marL="85320" marR="85320" marT="42660" marB="42660" anchor="ctr"/>
                </a:tc>
                <a:tc>
                  <a:txBody>
                    <a:bodyPr/>
                    <a:lstStyle/>
                    <a:p>
                      <a:r>
                        <a:rPr lang="en-IN" sz="1700"/>
                        <a:t>cel</a:t>
                      </a:r>
                    </a:p>
                  </a:txBody>
                  <a:tcPr marL="85320" marR="85320" marT="42660" marB="42660" anchor="ctr"/>
                </a:tc>
                <a:tc>
                  <a:txBody>
                    <a:bodyPr/>
                    <a:lstStyle/>
                    <a:p>
                      <a:r>
                        <a:rPr lang="en-IN" sz="1700"/>
                        <a:t>Last 3 characters</a:t>
                      </a:r>
                    </a:p>
                  </a:txBody>
                  <a:tcPr marL="85320" marR="85320" marT="42660" marB="42660" anchor="ctr"/>
                </a:tc>
                <a:extLst>
                  <a:ext uri="{0D108BD9-81ED-4DB2-BD59-A6C34878D82A}">
                    <a16:rowId xmlns:a16="http://schemas.microsoft.com/office/drawing/2014/main" val="3589213692"/>
                  </a:ext>
                </a:extLst>
              </a:tr>
              <a:tr h="597242">
                <a:tc>
                  <a:txBody>
                    <a:bodyPr/>
                    <a:lstStyle/>
                    <a:p>
                      <a:r>
                        <a:rPr lang="en-IN" sz="1700"/>
                        <a:t>"Excel"</a:t>
                      </a:r>
                    </a:p>
                  </a:txBody>
                  <a:tcPr marL="85320" marR="85320" marT="42660" marB="42660" anchor="ctr"/>
                </a:tc>
                <a:tc>
                  <a:txBody>
                    <a:bodyPr/>
                    <a:lstStyle/>
                    <a:p>
                      <a:r>
                        <a:rPr lang="en-IN" sz="1700"/>
                        <a:t>=MID(A7, 2, 3)</a:t>
                      </a:r>
                    </a:p>
                  </a:txBody>
                  <a:tcPr marL="85320" marR="85320" marT="42660" marB="42660" anchor="ctr"/>
                </a:tc>
                <a:tc>
                  <a:txBody>
                    <a:bodyPr/>
                    <a:lstStyle/>
                    <a:p>
                      <a:r>
                        <a:rPr lang="en-IN" sz="1700"/>
                        <a:t>xce</a:t>
                      </a:r>
                    </a:p>
                  </a:txBody>
                  <a:tcPr marL="85320" marR="85320" marT="42660" marB="42660" anchor="ctr"/>
                </a:tc>
                <a:tc>
                  <a:txBody>
                    <a:bodyPr/>
                    <a:lstStyle/>
                    <a:p>
                      <a:r>
                        <a:rPr lang="en-US" sz="1700"/>
                        <a:t>3 characters starting from position 2</a:t>
                      </a:r>
                    </a:p>
                  </a:txBody>
                  <a:tcPr marL="85320" marR="85320" marT="42660" marB="42660" anchor="ctr"/>
                </a:tc>
                <a:extLst>
                  <a:ext uri="{0D108BD9-81ED-4DB2-BD59-A6C34878D82A}">
                    <a16:rowId xmlns:a16="http://schemas.microsoft.com/office/drawing/2014/main" val="1886552691"/>
                  </a:ext>
                </a:extLst>
              </a:tr>
              <a:tr h="597242">
                <a:tc>
                  <a:txBody>
                    <a:bodyPr/>
                    <a:lstStyle/>
                    <a:p>
                      <a:r>
                        <a:rPr lang="en-IN" sz="1700"/>
                        <a:t>"John"&amp;CHAR(10)&amp;"Doe"</a:t>
                      </a:r>
                    </a:p>
                  </a:txBody>
                  <a:tcPr marL="85320" marR="85320" marT="42660" marB="42660" anchor="ctr"/>
                </a:tc>
                <a:tc>
                  <a:txBody>
                    <a:bodyPr/>
                    <a:lstStyle/>
                    <a:p>
                      <a:r>
                        <a:rPr lang="en-IN" sz="1700"/>
                        <a:t>=CLEAN(A8)</a:t>
                      </a:r>
                    </a:p>
                  </a:txBody>
                  <a:tcPr marL="85320" marR="85320" marT="42660" marB="42660" anchor="ctr"/>
                </a:tc>
                <a:tc>
                  <a:txBody>
                    <a:bodyPr/>
                    <a:lstStyle/>
                    <a:p>
                      <a:r>
                        <a:rPr lang="en-IN" sz="1700"/>
                        <a:t>JohnDoe</a:t>
                      </a:r>
                    </a:p>
                  </a:txBody>
                  <a:tcPr marL="85320" marR="85320" marT="42660" marB="42660" anchor="ctr"/>
                </a:tc>
                <a:tc>
                  <a:txBody>
                    <a:bodyPr/>
                    <a:lstStyle/>
                    <a:p>
                      <a:r>
                        <a:rPr lang="en-IN" sz="1700"/>
                        <a:t>Remove non-printing characters</a:t>
                      </a:r>
                    </a:p>
                  </a:txBody>
                  <a:tcPr marL="85320" marR="85320" marT="42660" marB="42660" anchor="ctr"/>
                </a:tc>
                <a:extLst>
                  <a:ext uri="{0D108BD9-81ED-4DB2-BD59-A6C34878D82A}">
                    <a16:rowId xmlns:a16="http://schemas.microsoft.com/office/drawing/2014/main" val="897335854"/>
                  </a:ext>
                </a:extLst>
              </a:tr>
              <a:tr h="597242">
                <a:tc>
                  <a:txBody>
                    <a:bodyPr/>
                    <a:lstStyle/>
                    <a:p>
                      <a:r>
                        <a:rPr lang="en-IN" sz="1700"/>
                        <a:t>" 123 "</a:t>
                      </a:r>
                    </a:p>
                  </a:txBody>
                  <a:tcPr marL="85320" marR="85320" marT="42660" marB="42660" anchor="ctr"/>
                </a:tc>
                <a:tc>
                  <a:txBody>
                    <a:bodyPr/>
                    <a:lstStyle/>
                    <a:p>
                      <a:r>
                        <a:rPr lang="en-IN" sz="1700"/>
                        <a:t>=VALUE(TRIM(A9))</a:t>
                      </a:r>
                    </a:p>
                  </a:txBody>
                  <a:tcPr marL="85320" marR="85320" marT="42660" marB="42660" anchor="ctr"/>
                </a:tc>
                <a:tc>
                  <a:txBody>
                    <a:bodyPr/>
                    <a:lstStyle/>
                    <a:p>
                      <a:r>
                        <a:rPr lang="en-IN" sz="1700"/>
                        <a:t>123</a:t>
                      </a:r>
                    </a:p>
                  </a:txBody>
                  <a:tcPr marL="85320" marR="85320" marT="42660" marB="42660" anchor="ctr"/>
                </a:tc>
                <a:tc>
                  <a:txBody>
                    <a:bodyPr/>
                    <a:lstStyle/>
                    <a:p>
                      <a:r>
                        <a:rPr lang="en-US" sz="1700" dirty="0"/>
                        <a:t>Convert text number to actual number</a:t>
                      </a:r>
                    </a:p>
                  </a:txBody>
                  <a:tcPr marL="85320" marR="85320" marT="42660" marB="42660" anchor="ctr"/>
                </a:tc>
                <a:extLst>
                  <a:ext uri="{0D108BD9-81ED-4DB2-BD59-A6C34878D82A}">
                    <a16:rowId xmlns:a16="http://schemas.microsoft.com/office/drawing/2014/main" val="1438317950"/>
                  </a:ext>
                </a:extLst>
              </a:tr>
            </a:tbl>
          </a:graphicData>
        </a:graphic>
      </p:graphicFrame>
    </p:spTree>
    <p:extLst>
      <p:ext uri="{BB962C8B-B14F-4D97-AF65-F5344CB8AC3E}">
        <p14:creationId xmlns:p14="http://schemas.microsoft.com/office/powerpoint/2010/main" val="27265301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3318560B-345E-4966-9A96-CB94C9EBF4C7}"/>
              </a:ext>
            </a:extLst>
          </p:cNvPr>
          <p:cNvGraphicFramePr>
            <a:graphicFrameLocks noGrp="1"/>
          </p:cNvGraphicFramePr>
          <p:nvPr>
            <p:ph idx="1"/>
            <p:extLst>
              <p:ext uri="{D42A27DB-BD31-4B8C-83A1-F6EECF244321}">
                <p14:modId xmlns:p14="http://schemas.microsoft.com/office/powerpoint/2010/main" val="1757569506"/>
              </p:ext>
            </p:extLst>
          </p:nvPr>
        </p:nvGraphicFramePr>
        <p:xfrm>
          <a:off x="496957" y="129596"/>
          <a:ext cx="11198086" cy="6598808"/>
        </p:xfrm>
        <a:graphic>
          <a:graphicData uri="http://schemas.openxmlformats.org/drawingml/2006/table">
            <a:tbl>
              <a:tblPr firstRow="1">
                <a:tableStyleId>{F5AB1C69-6EDB-4FF4-983F-18BD219EF322}</a:tableStyleId>
              </a:tblPr>
              <a:tblGrid>
                <a:gridCol w="2799522">
                  <a:extLst>
                    <a:ext uri="{9D8B030D-6E8A-4147-A177-3AD203B41FA5}">
                      <a16:colId xmlns:a16="http://schemas.microsoft.com/office/drawing/2014/main" val="1456641795"/>
                    </a:ext>
                  </a:extLst>
                </a:gridCol>
                <a:gridCol w="3488634">
                  <a:extLst>
                    <a:ext uri="{9D8B030D-6E8A-4147-A177-3AD203B41FA5}">
                      <a16:colId xmlns:a16="http://schemas.microsoft.com/office/drawing/2014/main" val="2763681571"/>
                    </a:ext>
                  </a:extLst>
                </a:gridCol>
                <a:gridCol w="2316801">
                  <a:extLst>
                    <a:ext uri="{9D8B030D-6E8A-4147-A177-3AD203B41FA5}">
                      <a16:colId xmlns:a16="http://schemas.microsoft.com/office/drawing/2014/main" val="613174281"/>
                    </a:ext>
                  </a:extLst>
                </a:gridCol>
                <a:gridCol w="2593129">
                  <a:extLst>
                    <a:ext uri="{9D8B030D-6E8A-4147-A177-3AD203B41FA5}">
                      <a16:colId xmlns:a16="http://schemas.microsoft.com/office/drawing/2014/main" val="708202550"/>
                    </a:ext>
                  </a:extLst>
                </a:gridCol>
              </a:tblGrid>
              <a:tr h="157563">
                <a:tc>
                  <a:txBody>
                    <a:bodyPr/>
                    <a:lstStyle/>
                    <a:p>
                      <a:r>
                        <a:rPr lang="en-IN" sz="1600" dirty="0"/>
                        <a:t>Function</a:t>
                      </a:r>
                      <a:endParaRPr lang="en-IN" sz="1600" b="1" dirty="0"/>
                    </a:p>
                  </a:txBody>
                  <a:tcPr marL="30861" marR="30861" marT="15430" marB="15430" anchor="ctr"/>
                </a:tc>
                <a:tc>
                  <a:txBody>
                    <a:bodyPr/>
                    <a:lstStyle/>
                    <a:p>
                      <a:r>
                        <a:rPr lang="en-IN" sz="1600" dirty="0"/>
                        <a:t>Description</a:t>
                      </a:r>
                      <a:endParaRPr lang="en-IN" sz="1600" b="1" dirty="0"/>
                    </a:p>
                  </a:txBody>
                  <a:tcPr marL="30861" marR="30861" marT="15430" marB="15430" anchor="ctr"/>
                </a:tc>
                <a:tc>
                  <a:txBody>
                    <a:bodyPr/>
                    <a:lstStyle/>
                    <a:p>
                      <a:r>
                        <a:rPr lang="en-IN" sz="1600" dirty="0"/>
                        <a:t>Example</a:t>
                      </a:r>
                      <a:endParaRPr lang="en-IN" sz="1600" b="1" dirty="0"/>
                    </a:p>
                  </a:txBody>
                  <a:tcPr marL="30861" marR="30861" marT="15430" marB="15430" anchor="ctr"/>
                </a:tc>
                <a:tc>
                  <a:txBody>
                    <a:bodyPr/>
                    <a:lstStyle/>
                    <a:p>
                      <a:r>
                        <a:rPr lang="en-IN" sz="1600" dirty="0"/>
                        <a:t>Result</a:t>
                      </a:r>
                      <a:endParaRPr lang="en-IN" sz="1600" b="1" dirty="0"/>
                    </a:p>
                  </a:txBody>
                  <a:tcPr marL="30861" marR="30861" marT="15430" marB="15430" anchor="ctr"/>
                </a:tc>
                <a:extLst>
                  <a:ext uri="{0D108BD9-81ED-4DB2-BD59-A6C34878D82A}">
                    <a16:rowId xmlns:a16="http://schemas.microsoft.com/office/drawing/2014/main" val="607373887"/>
                  </a:ext>
                </a:extLst>
              </a:tr>
              <a:tr h="275736">
                <a:tc>
                  <a:txBody>
                    <a:bodyPr/>
                    <a:lstStyle/>
                    <a:p>
                      <a:r>
                        <a:rPr lang="en-IN" sz="1400" b="1" dirty="0"/>
                        <a:t>LEFT</a:t>
                      </a:r>
                    </a:p>
                  </a:txBody>
                  <a:tcPr marL="30861" marR="30861" marT="15430" marB="15430" anchor="ctr"/>
                </a:tc>
                <a:tc>
                  <a:txBody>
                    <a:bodyPr/>
                    <a:lstStyle/>
                    <a:p>
                      <a:r>
                        <a:rPr lang="en-US" sz="1400" dirty="0"/>
                        <a:t>Extracts characters from the start of a text string.</a:t>
                      </a:r>
                    </a:p>
                  </a:txBody>
                  <a:tcPr marL="30861" marR="30861" marT="15430" marB="15430" anchor="ctr"/>
                </a:tc>
                <a:tc>
                  <a:txBody>
                    <a:bodyPr/>
                    <a:lstStyle/>
                    <a:p>
                      <a:r>
                        <a:rPr lang="en-IN" sz="1400" dirty="0"/>
                        <a:t>=LEFT("Excel", 2)</a:t>
                      </a:r>
                    </a:p>
                  </a:txBody>
                  <a:tcPr marL="30861" marR="30861" marT="15430" marB="15430" anchor="ctr"/>
                </a:tc>
                <a:tc>
                  <a:txBody>
                    <a:bodyPr/>
                    <a:lstStyle/>
                    <a:p>
                      <a:r>
                        <a:rPr lang="en-IN" sz="1400" dirty="0"/>
                        <a:t>"Ex"</a:t>
                      </a:r>
                    </a:p>
                  </a:txBody>
                  <a:tcPr marL="30861" marR="30861" marT="15430" marB="15430" anchor="ctr"/>
                </a:tc>
                <a:extLst>
                  <a:ext uri="{0D108BD9-81ED-4DB2-BD59-A6C34878D82A}">
                    <a16:rowId xmlns:a16="http://schemas.microsoft.com/office/drawing/2014/main" val="2139369568"/>
                  </a:ext>
                </a:extLst>
              </a:tr>
              <a:tr h="275736">
                <a:tc>
                  <a:txBody>
                    <a:bodyPr/>
                    <a:lstStyle/>
                    <a:p>
                      <a:r>
                        <a:rPr lang="en-IN" sz="1400" b="1" dirty="0"/>
                        <a:t>RIGHT</a:t>
                      </a:r>
                    </a:p>
                  </a:txBody>
                  <a:tcPr marL="30861" marR="30861" marT="15430" marB="15430" anchor="ctr"/>
                </a:tc>
                <a:tc>
                  <a:txBody>
                    <a:bodyPr/>
                    <a:lstStyle/>
                    <a:p>
                      <a:r>
                        <a:rPr lang="en-US" sz="1400" dirty="0"/>
                        <a:t>Extracts characters from the end of a text string.</a:t>
                      </a:r>
                    </a:p>
                  </a:txBody>
                  <a:tcPr marL="30861" marR="30861" marT="15430" marB="15430" anchor="ctr"/>
                </a:tc>
                <a:tc>
                  <a:txBody>
                    <a:bodyPr/>
                    <a:lstStyle/>
                    <a:p>
                      <a:r>
                        <a:rPr lang="en-IN" sz="1400" dirty="0"/>
                        <a:t>=RIGHT("Excel", 3)</a:t>
                      </a:r>
                    </a:p>
                  </a:txBody>
                  <a:tcPr marL="30861" marR="30861" marT="15430" marB="15430" anchor="ctr"/>
                </a:tc>
                <a:tc>
                  <a:txBody>
                    <a:bodyPr/>
                    <a:lstStyle/>
                    <a:p>
                      <a:r>
                        <a:rPr lang="en-IN" sz="1400" dirty="0"/>
                        <a:t>"</a:t>
                      </a:r>
                      <a:r>
                        <a:rPr lang="en-IN" sz="1400" dirty="0" err="1"/>
                        <a:t>cel</a:t>
                      </a:r>
                      <a:r>
                        <a:rPr lang="en-IN" sz="1400" dirty="0"/>
                        <a:t>"</a:t>
                      </a:r>
                    </a:p>
                  </a:txBody>
                  <a:tcPr marL="30861" marR="30861" marT="15430" marB="15430" anchor="ctr"/>
                </a:tc>
                <a:extLst>
                  <a:ext uri="{0D108BD9-81ED-4DB2-BD59-A6C34878D82A}">
                    <a16:rowId xmlns:a16="http://schemas.microsoft.com/office/drawing/2014/main" val="3212668687"/>
                  </a:ext>
                </a:extLst>
              </a:tr>
              <a:tr h="393909">
                <a:tc>
                  <a:txBody>
                    <a:bodyPr/>
                    <a:lstStyle/>
                    <a:p>
                      <a:r>
                        <a:rPr lang="en-IN" sz="1400" b="1" dirty="0"/>
                        <a:t>MID</a:t>
                      </a:r>
                    </a:p>
                  </a:txBody>
                  <a:tcPr marL="30861" marR="30861" marT="15430" marB="15430" anchor="ctr"/>
                </a:tc>
                <a:tc>
                  <a:txBody>
                    <a:bodyPr/>
                    <a:lstStyle/>
                    <a:p>
                      <a:r>
                        <a:rPr lang="en-US" sz="1400" dirty="0"/>
                        <a:t>Extracts characters from middle, given start position and length.</a:t>
                      </a:r>
                    </a:p>
                  </a:txBody>
                  <a:tcPr marL="30861" marR="30861" marT="15430" marB="15430" anchor="ctr"/>
                </a:tc>
                <a:tc>
                  <a:txBody>
                    <a:bodyPr/>
                    <a:lstStyle/>
                    <a:p>
                      <a:r>
                        <a:rPr lang="en-IN" sz="1400" dirty="0"/>
                        <a:t>=MID("Excel", 2, 3)</a:t>
                      </a:r>
                    </a:p>
                  </a:txBody>
                  <a:tcPr marL="30861" marR="30861" marT="15430" marB="15430" anchor="ctr"/>
                </a:tc>
                <a:tc>
                  <a:txBody>
                    <a:bodyPr/>
                    <a:lstStyle/>
                    <a:p>
                      <a:r>
                        <a:rPr lang="en-IN" sz="1400" dirty="0"/>
                        <a:t>"</a:t>
                      </a:r>
                      <a:r>
                        <a:rPr lang="en-IN" sz="1400" dirty="0" err="1"/>
                        <a:t>xce</a:t>
                      </a:r>
                      <a:r>
                        <a:rPr lang="en-IN" sz="1400" dirty="0"/>
                        <a:t>"</a:t>
                      </a:r>
                    </a:p>
                  </a:txBody>
                  <a:tcPr marL="30861" marR="30861" marT="15430" marB="15430" anchor="ctr"/>
                </a:tc>
                <a:extLst>
                  <a:ext uri="{0D108BD9-81ED-4DB2-BD59-A6C34878D82A}">
                    <a16:rowId xmlns:a16="http://schemas.microsoft.com/office/drawing/2014/main" val="2472564397"/>
                  </a:ext>
                </a:extLst>
              </a:tr>
              <a:tr h="393909">
                <a:tc>
                  <a:txBody>
                    <a:bodyPr/>
                    <a:lstStyle/>
                    <a:p>
                      <a:r>
                        <a:rPr lang="en-IN" sz="1400" b="1" dirty="0"/>
                        <a:t>TRIM</a:t>
                      </a:r>
                    </a:p>
                  </a:txBody>
                  <a:tcPr marL="30861" marR="30861" marT="15430" marB="15430" anchor="ctr"/>
                </a:tc>
                <a:tc>
                  <a:txBody>
                    <a:bodyPr/>
                    <a:lstStyle/>
                    <a:p>
                      <a:r>
                        <a:rPr lang="en-US" sz="1400" dirty="0"/>
                        <a:t>Removes all extra spaces, leaving only single spaces between words.</a:t>
                      </a:r>
                    </a:p>
                  </a:txBody>
                  <a:tcPr marL="30861" marR="30861" marT="15430" marB="15430" anchor="ctr"/>
                </a:tc>
                <a:tc>
                  <a:txBody>
                    <a:bodyPr/>
                    <a:lstStyle/>
                    <a:p>
                      <a:r>
                        <a:rPr lang="en-IN" sz="1400" dirty="0"/>
                        <a:t>=TRIM(" Hello World ")</a:t>
                      </a:r>
                    </a:p>
                  </a:txBody>
                  <a:tcPr marL="30861" marR="30861" marT="15430" marB="15430" anchor="ctr"/>
                </a:tc>
                <a:tc>
                  <a:txBody>
                    <a:bodyPr/>
                    <a:lstStyle/>
                    <a:p>
                      <a:r>
                        <a:rPr lang="en-IN" sz="1400" dirty="0"/>
                        <a:t>"Hello World"</a:t>
                      </a:r>
                    </a:p>
                  </a:txBody>
                  <a:tcPr marL="30861" marR="30861" marT="15430" marB="15430" anchor="ctr"/>
                </a:tc>
                <a:extLst>
                  <a:ext uri="{0D108BD9-81ED-4DB2-BD59-A6C34878D82A}">
                    <a16:rowId xmlns:a16="http://schemas.microsoft.com/office/drawing/2014/main" val="1955373534"/>
                  </a:ext>
                </a:extLst>
              </a:tr>
              <a:tr h="393909">
                <a:tc>
                  <a:txBody>
                    <a:bodyPr/>
                    <a:lstStyle/>
                    <a:p>
                      <a:r>
                        <a:rPr lang="en-IN" sz="1400" b="1" dirty="0"/>
                        <a:t>LEN</a:t>
                      </a:r>
                    </a:p>
                  </a:txBody>
                  <a:tcPr marL="30861" marR="30861" marT="15430" marB="15430" anchor="ctr"/>
                </a:tc>
                <a:tc>
                  <a:txBody>
                    <a:bodyPr/>
                    <a:lstStyle/>
                    <a:p>
                      <a:r>
                        <a:rPr lang="en-US" sz="1400" dirty="0"/>
                        <a:t>Returns the number of characters (including spaces) in a string.</a:t>
                      </a:r>
                    </a:p>
                  </a:txBody>
                  <a:tcPr marL="30861" marR="30861" marT="15430" marB="15430" anchor="ctr"/>
                </a:tc>
                <a:tc>
                  <a:txBody>
                    <a:bodyPr/>
                    <a:lstStyle/>
                    <a:p>
                      <a:r>
                        <a:rPr lang="en-IN" sz="1400" dirty="0"/>
                        <a:t>=LEN("Hello")</a:t>
                      </a:r>
                    </a:p>
                  </a:txBody>
                  <a:tcPr marL="30861" marR="30861" marT="15430" marB="15430" anchor="ctr"/>
                </a:tc>
                <a:tc>
                  <a:txBody>
                    <a:bodyPr/>
                    <a:lstStyle/>
                    <a:p>
                      <a:r>
                        <a:rPr lang="en-IN" sz="1400" dirty="0"/>
                        <a:t>5</a:t>
                      </a:r>
                    </a:p>
                  </a:txBody>
                  <a:tcPr marL="30861" marR="30861" marT="15430" marB="15430" anchor="ctr"/>
                </a:tc>
                <a:extLst>
                  <a:ext uri="{0D108BD9-81ED-4DB2-BD59-A6C34878D82A}">
                    <a16:rowId xmlns:a16="http://schemas.microsoft.com/office/drawing/2014/main" val="2641870453"/>
                  </a:ext>
                </a:extLst>
              </a:tr>
              <a:tr h="393909">
                <a:tc>
                  <a:txBody>
                    <a:bodyPr/>
                    <a:lstStyle/>
                    <a:p>
                      <a:r>
                        <a:rPr lang="en-IN" sz="1400" b="1" dirty="0"/>
                        <a:t>FIND</a:t>
                      </a:r>
                    </a:p>
                  </a:txBody>
                  <a:tcPr marL="30861" marR="30861" marT="15430" marB="15430" anchor="ctr"/>
                </a:tc>
                <a:tc>
                  <a:txBody>
                    <a:bodyPr/>
                    <a:lstStyle/>
                    <a:p>
                      <a:r>
                        <a:rPr lang="en-US" sz="1400" dirty="0"/>
                        <a:t>Finds the position of a substring in a text (case-sensitive).</a:t>
                      </a:r>
                    </a:p>
                  </a:txBody>
                  <a:tcPr marL="30861" marR="30861" marT="15430" marB="15430" anchor="ctr"/>
                </a:tc>
                <a:tc>
                  <a:txBody>
                    <a:bodyPr/>
                    <a:lstStyle/>
                    <a:p>
                      <a:r>
                        <a:rPr lang="en-IN" sz="1400" dirty="0"/>
                        <a:t>=FIND("c", "Excel")</a:t>
                      </a:r>
                    </a:p>
                  </a:txBody>
                  <a:tcPr marL="30861" marR="30861" marT="15430" marB="15430" anchor="ctr"/>
                </a:tc>
                <a:tc>
                  <a:txBody>
                    <a:bodyPr/>
                    <a:lstStyle/>
                    <a:p>
                      <a:r>
                        <a:rPr lang="en-IN" sz="1400" dirty="0"/>
                        <a:t>3</a:t>
                      </a:r>
                    </a:p>
                  </a:txBody>
                  <a:tcPr marL="30861" marR="30861" marT="15430" marB="15430" anchor="ctr"/>
                </a:tc>
                <a:extLst>
                  <a:ext uri="{0D108BD9-81ED-4DB2-BD59-A6C34878D82A}">
                    <a16:rowId xmlns:a16="http://schemas.microsoft.com/office/drawing/2014/main" val="508496887"/>
                  </a:ext>
                </a:extLst>
              </a:tr>
              <a:tr h="275736">
                <a:tc>
                  <a:txBody>
                    <a:bodyPr/>
                    <a:lstStyle/>
                    <a:p>
                      <a:r>
                        <a:rPr lang="en-IN" sz="1400" b="1" dirty="0"/>
                        <a:t>SEARCH</a:t>
                      </a:r>
                    </a:p>
                  </a:txBody>
                  <a:tcPr marL="30861" marR="30861" marT="15430" marB="15430" anchor="ctr"/>
                </a:tc>
                <a:tc>
                  <a:txBody>
                    <a:bodyPr/>
                    <a:lstStyle/>
                    <a:p>
                      <a:r>
                        <a:rPr lang="en-US" sz="1400" dirty="0"/>
                        <a:t>Like FIND, but not case-sensitive.</a:t>
                      </a:r>
                    </a:p>
                  </a:txBody>
                  <a:tcPr marL="30861" marR="30861" marT="15430" marB="15430" anchor="ctr"/>
                </a:tc>
                <a:tc>
                  <a:txBody>
                    <a:bodyPr/>
                    <a:lstStyle/>
                    <a:p>
                      <a:r>
                        <a:rPr lang="en-IN" sz="1400" dirty="0"/>
                        <a:t>=SEARCH("C", "Excel")</a:t>
                      </a:r>
                    </a:p>
                  </a:txBody>
                  <a:tcPr marL="30861" marR="30861" marT="15430" marB="15430" anchor="ctr"/>
                </a:tc>
                <a:tc>
                  <a:txBody>
                    <a:bodyPr/>
                    <a:lstStyle/>
                    <a:p>
                      <a:r>
                        <a:rPr lang="en-IN" sz="1400" dirty="0"/>
                        <a:t>3</a:t>
                      </a:r>
                    </a:p>
                  </a:txBody>
                  <a:tcPr marL="30861" marR="30861" marT="15430" marB="15430" anchor="ctr"/>
                </a:tc>
                <a:extLst>
                  <a:ext uri="{0D108BD9-81ED-4DB2-BD59-A6C34878D82A}">
                    <a16:rowId xmlns:a16="http://schemas.microsoft.com/office/drawing/2014/main" val="3302470523"/>
                  </a:ext>
                </a:extLst>
              </a:tr>
              <a:tr h="275736">
                <a:tc>
                  <a:txBody>
                    <a:bodyPr/>
                    <a:lstStyle/>
                    <a:p>
                      <a:r>
                        <a:rPr lang="en-IN" sz="1400" b="1" dirty="0"/>
                        <a:t>REPT</a:t>
                      </a:r>
                    </a:p>
                  </a:txBody>
                  <a:tcPr marL="30861" marR="30861" marT="15430" marB="15430" anchor="ctr"/>
                </a:tc>
                <a:tc>
                  <a:txBody>
                    <a:bodyPr/>
                    <a:lstStyle/>
                    <a:p>
                      <a:r>
                        <a:rPr lang="en-US" sz="1400" dirty="0"/>
                        <a:t>Repeats text a specific number of times.</a:t>
                      </a:r>
                    </a:p>
                  </a:txBody>
                  <a:tcPr marL="30861" marR="30861" marT="15430" marB="15430" anchor="ctr"/>
                </a:tc>
                <a:tc>
                  <a:txBody>
                    <a:bodyPr/>
                    <a:lstStyle/>
                    <a:p>
                      <a:r>
                        <a:rPr lang="en-IN" sz="1400" dirty="0"/>
                        <a:t>=REPT("Hi", 3)</a:t>
                      </a:r>
                    </a:p>
                  </a:txBody>
                  <a:tcPr marL="30861" marR="30861" marT="15430" marB="15430" anchor="ctr"/>
                </a:tc>
                <a:tc>
                  <a:txBody>
                    <a:bodyPr/>
                    <a:lstStyle/>
                    <a:p>
                      <a:r>
                        <a:rPr lang="en-IN" sz="1400" dirty="0"/>
                        <a:t>"</a:t>
                      </a:r>
                      <a:r>
                        <a:rPr lang="en-IN" sz="1400" dirty="0" err="1"/>
                        <a:t>HiHiHi</a:t>
                      </a:r>
                      <a:r>
                        <a:rPr lang="en-IN" sz="1400" dirty="0"/>
                        <a:t>"</a:t>
                      </a:r>
                    </a:p>
                  </a:txBody>
                  <a:tcPr marL="30861" marR="30861" marT="15430" marB="15430" anchor="ctr"/>
                </a:tc>
                <a:extLst>
                  <a:ext uri="{0D108BD9-81ED-4DB2-BD59-A6C34878D82A}">
                    <a16:rowId xmlns:a16="http://schemas.microsoft.com/office/drawing/2014/main" val="2818037382"/>
                  </a:ext>
                </a:extLst>
              </a:tr>
              <a:tr h="393909">
                <a:tc>
                  <a:txBody>
                    <a:bodyPr/>
                    <a:lstStyle/>
                    <a:p>
                      <a:r>
                        <a:rPr lang="en-IN" sz="1400" b="1" dirty="0"/>
                        <a:t>CONCATENATE / &amp;</a:t>
                      </a:r>
                    </a:p>
                  </a:txBody>
                  <a:tcPr marL="30861" marR="30861" marT="15430" marB="15430" anchor="ctr"/>
                </a:tc>
                <a:tc>
                  <a:txBody>
                    <a:bodyPr/>
                    <a:lstStyle/>
                    <a:p>
                      <a:r>
                        <a:rPr lang="en-US" sz="1400" dirty="0"/>
                        <a:t>Joins multiple text strings together.</a:t>
                      </a:r>
                    </a:p>
                  </a:txBody>
                  <a:tcPr marL="30861" marR="30861" marT="15430" marB="15430" anchor="ctr"/>
                </a:tc>
                <a:tc>
                  <a:txBody>
                    <a:bodyPr/>
                    <a:lstStyle/>
                    <a:p>
                      <a:r>
                        <a:rPr lang="en-US" sz="1400" dirty="0"/>
                        <a:t>=CONCATENATE("Good", " ", "Day")="Good" &amp; " " &amp; "Day"</a:t>
                      </a:r>
                    </a:p>
                  </a:txBody>
                  <a:tcPr marL="30861" marR="30861" marT="15430" marB="15430" anchor="ctr"/>
                </a:tc>
                <a:tc>
                  <a:txBody>
                    <a:bodyPr/>
                    <a:lstStyle/>
                    <a:p>
                      <a:r>
                        <a:rPr lang="en-IN" sz="1400" dirty="0"/>
                        <a:t>"Good Day"</a:t>
                      </a:r>
                    </a:p>
                  </a:txBody>
                  <a:tcPr marL="30861" marR="30861" marT="15430" marB="15430" anchor="ctr"/>
                </a:tc>
                <a:extLst>
                  <a:ext uri="{0D108BD9-81ED-4DB2-BD59-A6C34878D82A}">
                    <a16:rowId xmlns:a16="http://schemas.microsoft.com/office/drawing/2014/main" val="558764497"/>
                  </a:ext>
                </a:extLst>
              </a:tr>
              <a:tr h="275736">
                <a:tc>
                  <a:txBody>
                    <a:bodyPr/>
                    <a:lstStyle/>
                    <a:p>
                      <a:r>
                        <a:rPr lang="en-IN" sz="1400" b="1" dirty="0"/>
                        <a:t>REPLACE</a:t>
                      </a:r>
                    </a:p>
                  </a:txBody>
                  <a:tcPr marL="30861" marR="30861" marT="15430" marB="15430" anchor="ctr"/>
                </a:tc>
                <a:tc>
                  <a:txBody>
                    <a:bodyPr/>
                    <a:lstStyle/>
                    <a:p>
                      <a:r>
                        <a:rPr lang="en-US" sz="1400" dirty="0"/>
                        <a:t>Replaces part of a string based on position.</a:t>
                      </a:r>
                    </a:p>
                  </a:txBody>
                  <a:tcPr marL="30861" marR="30861" marT="15430" marB="15430" anchor="ctr"/>
                </a:tc>
                <a:tc>
                  <a:txBody>
                    <a:bodyPr/>
                    <a:lstStyle/>
                    <a:p>
                      <a:r>
                        <a:rPr lang="en-IN" sz="1400" dirty="0"/>
                        <a:t>=REPLACE("Excel", 2, 3, "123")</a:t>
                      </a:r>
                    </a:p>
                  </a:txBody>
                  <a:tcPr marL="30861" marR="30861" marT="15430" marB="15430" anchor="ctr"/>
                </a:tc>
                <a:tc>
                  <a:txBody>
                    <a:bodyPr/>
                    <a:lstStyle/>
                    <a:p>
                      <a:r>
                        <a:rPr lang="en-IN" sz="1400" dirty="0"/>
                        <a:t>"E123l"</a:t>
                      </a:r>
                    </a:p>
                  </a:txBody>
                  <a:tcPr marL="30861" marR="30861" marT="15430" marB="15430" anchor="ctr"/>
                </a:tc>
                <a:extLst>
                  <a:ext uri="{0D108BD9-81ED-4DB2-BD59-A6C34878D82A}">
                    <a16:rowId xmlns:a16="http://schemas.microsoft.com/office/drawing/2014/main" val="1787658348"/>
                  </a:ext>
                </a:extLst>
              </a:tr>
              <a:tr h="275736">
                <a:tc>
                  <a:txBody>
                    <a:bodyPr/>
                    <a:lstStyle/>
                    <a:p>
                      <a:r>
                        <a:rPr lang="en-IN" sz="1400" b="1" dirty="0"/>
                        <a:t>VALUE</a:t>
                      </a:r>
                    </a:p>
                  </a:txBody>
                  <a:tcPr marL="30861" marR="30861" marT="15430" marB="15430" anchor="ctr"/>
                </a:tc>
                <a:tc>
                  <a:txBody>
                    <a:bodyPr/>
                    <a:lstStyle/>
                    <a:p>
                      <a:r>
                        <a:rPr lang="en-US" sz="1400" dirty="0"/>
                        <a:t>Converts a text number into a numeric value.</a:t>
                      </a:r>
                    </a:p>
                  </a:txBody>
                  <a:tcPr marL="30861" marR="30861" marT="15430" marB="15430" anchor="ctr"/>
                </a:tc>
                <a:tc>
                  <a:txBody>
                    <a:bodyPr/>
                    <a:lstStyle/>
                    <a:p>
                      <a:r>
                        <a:rPr lang="en-IN" sz="1400" dirty="0"/>
                        <a:t>=VALUE("123")</a:t>
                      </a:r>
                    </a:p>
                  </a:txBody>
                  <a:tcPr marL="30861" marR="30861" marT="15430" marB="15430" anchor="ctr"/>
                </a:tc>
                <a:tc>
                  <a:txBody>
                    <a:bodyPr/>
                    <a:lstStyle/>
                    <a:p>
                      <a:r>
                        <a:rPr lang="en-IN" sz="1400" dirty="0"/>
                        <a:t>123 (as number)</a:t>
                      </a:r>
                    </a:p>
                  </a:txBody>
                  <a:tcPr marL="30861" marR="30861" marT="15430" marB="15430" anchor="ctr"/>
                </a:tc>
                <a:extLst>
                  <a:ext uri="{0D108BD9-81ED-4DB2-BD59-A6C34878D82A}">
                    <a16:rowId xmlns:a16="http://schemas.microsoft.com/office/drawing/2014/main" val="3519430858"/>
                  </a:ext>
                </a:extLst>
              </a:tr>
              <a:tr h="275736">
                <a:tc>
                  <a:txBody>
                    <a:bodyPr/>
                    <a:lstStyle/>
                    <a:p>
                      <a:r>
                        <a:rPr lang="en-IN" sz="1400" b="1" dirty="0"/>
                        <a:t>UPPER</a:t>
                      </a:r>
                    </a:p>
                  </a:txBody>
                  <a:tcPr marL="30861" marR="30861" marT="15430" marB="15430" anchor="ctr"/>
                </a:tc>
                <a:tc>
                  <a:txBody>
                    <a:bodyPr/>
                    <a:lstStyle/>
                    <a:p>
                      <a:r>
                        <a:rPr lang="en-US" sz="1400" dirty="0"/>
                        <a:t>Converts all text to uppercase.</a:t>
                      </a:r>
                    </a:p>
                  </a:txBody>
                  <a:tcPr marL="30861" marR="30861" marT="15430" marB="15430" anchor="ctr"/>
                </a:tc>
                <a:tc>
                  <a:txBody>
                    <a:bodyPr/>
                    <a:lstStyle/>
                    <a:p>
                      <a:r>
                        <a:rPr lang="en-IN" sz="1400" dirty="0"/>
                        <a:t>=UPPER("excel")</a:t>
                      </a:r>
                    </a:p>
                  </a:txBody>
                  <a:tcPr marL="30861" marR="30861" marT="15430" marB="15430" anchor="ctr"/>
                </a:tc>
                <a:tc>
                  <a:txBody>
                    <a:bodyPr/>
                    <a:lstStyle/>
                    <a:p>
                      <a:r>
                        <a:rPr lang="en-IN" sz="1400" dirty="0"/>
                        <a:t>"EXCEL"</a:t>
                      </a:r>
                    </a:p>
                  </a:txBody>
                  <a:tcPr marL="30861" marR="30861" marT="15430" marB="15430" anchor="ctr"/>
                </a:tc>
                <a:extLst>
                  <a:ext uri="{0D108BD9-81ED-4DB2-BD59-A6C34878D82A}">
                    <a16:rowId xmlns:a16="http://schemas.microsoft.com/office/drawing/2014/main" val="2774641799"/>
                  </a:ext>
                </a:extLst>
              </a:tr>
              <a:tr h="275736">
                <a:tc>
                  <a:txBody>
                    <a:bodyPr/>
                    <a:lstStyle/>
                    <a:p>
                      <a:r>
                        <a:rPr lang="en-IN" sz="1400" b="1" dirty="0"/>
                        <a:t>LOWER</a:t>
                      </a:r>
                    </a:p>
                  </a:txBody>
                  <a:tcPr marL="30861" marR="30861" marT="15430" marB="15430" anchor="ctr"/>
                </a:tc>
                <a:tc>
                  <a:txBody>
                    <a:bodyPr/>
                    <a:lstStyle/>
                    <a:p>
                      <a:r>
                        <a:rPr lang="en-US" sz="1400" dirty="0"/>
                        <a:t>Converts all text to lowercase.</a:t>
                      </a:r>
                    </a:p>
                  </a:txBody>
                  <a:tcPr marL="30861" marR="30861" marT="15430" marB="15430" anchor="ctr"/>
                </a:tc>
                <a:tc>
                  <a:txBody>
                    <a:bodyPr/>
                    <a:lstStyle/>
                    <a:p>
                      <a:r>
                        <a:rPr lang="en-IN" sz="1400" dirty="0"/>
                        <a:t>=LOWER("EXCEL")</a:t>
                      </a:r>
                    </a:p>
                  </a:txBody>
                  <a:tcPr marL="30861" marR="30861" marT="15430" marB="15430" anchor="ctr"/>
                </a:tc>
                <a:tc>
                  <a:txBody>
                    <a:bodyPr/>
                    <a:lstStyle/>
                    <a:p>
                      <a:r>
                        <a:rPr lang="en-IN" sz="1400" dirty="0"/>
                        <a:t>"excel"</a:t>
                      </a:r>
                    </a:p>
                  </a:txBody>
                  <a:tcPr marL="30861" marR="30861" marT="15430" marB="15430" anchor="ctr"/>
                </a:tc>
                <a:extLst>
                  <a:ext uri="{0D108BD9-81ED-4DB2-BD59-A6C34878D82A}">
                    <a16:rowId xmlns:a16="http://schemas.microsoft.com/office/drawing/2014/main" val="3482092260"/>
                  </a:ext>
                </a:extLst>
              </a:tr>
              <a:tr h="275736">
                <a:tc>
                  <a:txBody>
                    <a:bodyPr/>
                    <a:lstStyle/>
                    <a:p>
                      <a:r>
                        <a:rPr lang="en-IN" sz="1400" b="1" dirty="0"/>
                        <a:t>PROPER</a:t>
                      </a:r>
                    </a:p>
                  </a:txBody>
                  <a:tcPr marL="30861" marR="30861" marT="15430" marB="15430" anchor="ctr"/>
                </a:tc>
                <a:tc>
                  <a:txBody>
                    <a:bodyPr/>
                    <a:lstStyle/>
                    <a:p>
                      <a:r>
                        <a:rPr lang="en-US" sz="1400" dirty="0"/>
                        <a:t>Capitalizes the first letter of each word.</a:t>
                      </a:r>
                    </a:p>
                  </a:txBody>
                  <a:tcPr marL="30861" marR="30861" marT="15430" marB="15430" anchor="ctr"/>
                </a:tc>
                <a:tc>
                  <a:txBody>
                    <a:bodyPr/>
                    <a:lstStyle/>
                    <a:p>
                      <a:r>
                        <a:rPr lang="en-IN" sz="1400" dirty="0"/>
                        <a:t>=PROPER("john doe")</a:t>
                      </a:r>
                    </a:p>
                  </a:txBody>
                  <a:tcPr marL="30861" marR="30861" marT="15430" marB="15430" anchor="ctr"/>
                </a:tc>
                <a:tc>
                  <a:txBody>
                    <a:bodyPr/>
                    <a:lstStyle/>
                    <a:p>
                      <a:r>
                        <a:rPr lang="en-IN" sz="1400" dirty="0"/>
                        <a:t>"John Doe"</a:t>
                      </a:r>
                    </a:p>
                  </a:txBody>
                  <a:tcPr marL="30861" marR="30861" marT="15430" marB="15430" anchor="ctr"/>
                </a:tc>
                <a:extLst>
                  <a:ext uri="{0D108BD9-81ED-4DB2-BD59-A6C34878D82A}">
                    <a16:rowId xmlns:a16="http://schemas.microsoft.com/office/drawing/2014/main" val="1313349845"/>
                  </a:ext>
                </a:extLst>
              </a:tr>
              <a:tr h="275736">
                <a:tc>
                  <a:txBody>
                    <a:bodyPr/>
                    <a:lstStyle/>
                    <a:p>
                      <a:r>
                        <a:rPr lang="en-IN" sz="1400" b="1" dirty="0"/>
                        <a:t>CHAR</a:t>
                      </a:r>
                    </a:p>
                  </a:txBody>
                  <a:tcPr marL="30861" marR="30861" marT="15430" marB="15430" anchor="ctr"/>
                </a:tc>
                <a:tc>
                  <a:txBody>
                    <a:bodyPr/>
                    <a:lstStyle/>
                    <a:p>
                      <a:r>
                        <a:rPr lang="en-US" sz="1400" dirty="0"/>
                        <a:t>Returns a character based on a ASCII code.</a:t>
                      </a:r>
                    </a:p>
                  </a:txBody>
                  <a:tcPr marL="30861" marR="30861" marT="15430" marB="15430" anchor="ctr"/>
                </a:tc>
                <a:tc>
                  <a:txBody>
                    <a:bodyPr/>
                    <a:lstStyle/>
                    <a:p>
                      <a:r>
                        <a:rPr lang="en-IN" sz="1400" dirty="0"/>
                        <a:t>=CHAR(10)</a:t>
                      </a:r>
                    </a:p>
                  </a:txBody>
                  <a:tcPr marL="30861" marR="30861" marT="15430" marB="15430" anchor="ctr"/>
                </a:tc>
                <a:tc>
                  <a:txBody>
                    <a:bodyPr/>
                    <a:lstStyle/>
                    <a:p>
                      <a:r>
                        <a:rPr lang="en-US" sz="1400" dirty="0"/>
                        <a:t>Line break (used in formulas like CLEAN)</a:t>
                      </a:r>
                    </a:p>
                  </a:txBody>
                  <a:tcPr marL="30861" marR="30861" marT="15430" marB="15430" anchor="ctr"/>
                </a:tc>
                <a:extLst>
                  <a:ext uri="{0D108BD9-81ED-4DB2-BD59-A6C34878D82A}">
                    <a16:rowId xmlns:a16="http://schemas.microsoft.com/office/drawing/2014/main" val="2909619322"/>
                  </a:ext>
                </a:extLst>
              </a:tr>
              <a:tr h="393909">
                <a:tc>
                  <a:txBody>
                    <a:bodyPr/>
                    <a:lstStyle/>
                    <a:p>
                      <a:r>
                        <a:rPr lang="en-IN" sz="1400" b="1" dirty="0"/>
                        <a:t>CLEAN</a:t>
                      </a:r>
                    </a:p>
                  </a:txBody>
                  <a:tcPr marL="30861" marR="30861" marT="15430" marB="15430" anchor="ctr"/>
                </a:tc>
                <a:tc>
                  <a:txBody>
                    <a:bodyPr/>
                    <a:lstStyle/>
                    <a:p>
                      <a:r>
                        <a:rPr lang="en-US" sz="1400" dirty="0"/>
                        <a:t>Removes non-printable characters (e.g. line breaks).</a:t>
                      </a:r>
                    </a:p>
                  </a:txBody>
                  <a:tcPr marL="30861" marR="30861" marT="15430" marB="15430" anchor="ctr"/>
                </a:tc>
                <a:tc>
                  <a:txBody>
                    <a:bodyPr/>
                    <a:lstStyle/>
                    <a:p>
                      <a:r>
                        <a:rPr lang="en-US" sz="1400" dirty="0"/>
                        <a:t>=CLEAN("</a:t>
                      </a:r>
                      <a:r>
                        <a:rPr lang="en-US" sz="1400" dirty="0" err="1"/>
                        <a:t>Hello"&amp;CHAR</a:t>
                      </a:r>
                      <a:r>
                        <a:rPr lang="en-US" sz="1400" dirty="0"/>
                        <a:t>(10)&amp;"World")</a:t>
                      </a:r>
                    </a:p>
                  </a:txBody>
                  <a:tcPr marL="30861" marR="30861" marT="15430" marB="15430" anchor="ctr"/>
                </a:tc>
                <a:tc>
                  <a:txBody>
                    <a:bodyPr/>
                    <a:lstStyle/>
                    <a:p>
                      <a:r>
                        <a:rPr lang="en-IN" sz="1400" dirty="0"/>
                        <a:t>"HelloWorld"</a:t>
                      </a:r>
                    </a:p>
                  </a:txBody>
                  <a:tcPr marL="30861" marR="30861" marT="15430" marB="15430" anchor="ctr"/>
                </a:tc>
                <a:extLst>
                  <a:ext uri="{0D108BD9-81ED-4DB2-BD59-A6C34878D82A}">
                    <a16:rowId xmlns:a16="http://schemas.microsoft.com/office/drawing/2014/main" val="2684782127"/>
                  </a:ext>
                </a:extLst>
              </a:tr>
              <a:tr h="275736">
                <a:tc>
                  <a:txBody>
                    <a:bodyPr/>
                    <a:lstStyle/>
                    <a:p>
                      <a:r>
                        <a:rPr lang="en-IN" sz="1400" b="1" dirty="0"/>
                        <a:t>SUBSTITUTE</a:t>
                      </a:r>
                    </a:p>
                  </a:txBody>
                  <a:tcPr marL="30861" marR="30861" marT="15430" marB="15430" anchor="ctr"/>
                </a:tc>
                <a:tc>
                  <a:txBody>
                    <a:bodyPr/>
                    <a:lstStyle/>
                    <a:p>
                      <a:r>
                        <a:rPr lang="en-US" sz="1400" dirty="0"/>
                        <a:t>Replaces specific text in a string.</a:t>
                      </a:r>
                    </a:p>
                  </a:txBody>
                  <a:tcPr marL="30861" marR="30861" marT="15430" marB="15430" anchor="ctr"/>
                </a:tc>
                <a:tc>
                  <a:txBody>
                    <a:bodyPr/>
                    <a:lstStyle/>
                    <a:p>
                      <a:r>
                        <a:rPr lang="pt-BR" sz="1400" dirty="0"/>
                        <a:t>=SUBSTITUTE("a,b,a", "a", "x")</a:t>
                      </a:r>
                    </a:p>
                  </a:txBody>
                  <a:tcPr marL="30861" marR="30861" marT="15430" marB="15430" anchor="ctr"/>
                </a:tc>
                <a:tc>
                  <a:txBody>
                    <a:bodyPr/>
                    <a:lstStyle/>
                    <a:p>
                      <a:r>
                        <a:rPr lang="en-IN" sz="1400" dirty="0"/>
                        <a:t>"</a:t>
                      </a:r>
                      <a:r>
                        <a:rPr lang="en-IN" sz="1400" dirty="0" err="1"/>
                        <a:t>x,b,x</a:t>
                      </a:r>
                      <a:r>
                        <a:rPr lang="en-IN" sz="1400" dirty="0"/>
                        <a:t>"</a:t>
                      </a:r>
                    </a:p>
                  </a:txBody>
                  <a:tcPr marL="30861" marR="30861" marT="15430" marB="15430" anchor="ctr"/>
                </a:tc>
                <a:extLst>
                  <a:ext uri="{0D108BD9-81ED-4DB2-BD59-A6C34878D82A}">
                    <a16:rowId xmlns:a16="http://schemas.microsoft.com/office/drawing/2014/main" val="1722937879"/>
                  </a:ext>
                </a:extLst>
              </a:tr>
            </a:tbl>
          </a:graphicData>
        </a:graphic>
      </p:graphicFrame>
    </p:spTree>
    <p:extLst>
      <p:ext uri="{BB962C8B-B14F-4D97-AF65-F5344CB8AC3E}">
        <p14:creationId xmlns:p14="http://schemas.microsoft.com/office/powerpoint/2010/main" val="15400164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AE1B8-D752-410A-9E21-A5E3298BA3C0}"/>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DDF2227C-7405-499C-9ABF-9CB00CFC7BC3}"/>
              </a:ext>
            </a:extLst>
          </p:cNvPr>
          <p:cNvSpPr>
            <a:spLocks noGrp="1"/>
          </p:cNvSpPr>
          <p:nvPr>
            <p:ph idx="1"/>
          </p:nvPr>
        </p:nvSpPr>
        <p:spPr/>
        <p:txBody>
          <a:bodyPr>
            <a:normAutofit/>
          </a:bodyPr>
          <a:lstStyle/>
          <a:p>
            <a:pPr marL="0" indent="0" algn="just">
              <a:buNone/>
            </a:pPr>
            <a:r>
              <a:rPr lang="en-US" sz="2400" dirty="0"/>
              <a:t>There are various ways to extract first name, Middle name and Last name:</a:t>
            </a:r>
          </a:p>
          <a:p>
            <a:pPr algn="just"/>
            <a:r>
              <a:rPr lang="en-IN" sz="2400" b="1" dirty="0"/>
              <a:t>Using Excel Formulas(Text Function): </a:t>
            </a:r>
            <a:r>
              <a:rPr lang="en-IN" sz="2400" dirty="0"/>
              <a:t>Ex-A1=&gt; Alice Claire Ben</a:t>
            </a:r>
          </a:p>
          <a:p>
            <a:pPr algn="just">
              <a:buFont typeface="Wingdings" panose="05000000000000000000" pitchFamily="2" charset="2"/>
              <a:buChar char="ü"/>
            </a:pPr>
            <a:r>
              <a:rPr lang="en-US" sz="2400" b="1" dirty="0"/>
              <a:t> </a:t>
            </a:r>
            <a:r>
              <a:rPr lang="en-IN" sz="2400" b="1" dirty="0"/>
              <a:t>   </a:t>
            </a:r>
            <a:r>
              <a:rPr lang="en-US" sz="2400" dirty="0"/>
              <a:t>=LEFT(A1, FIND(" ", A1)-1)</a:t>
            </a:r>
          </a:p>
          <a:p>
            <a:pPr algn="just">
              <a:buFont typeface="Wingdings" panose="05000000000000000000" pitchFamily="2" charset="2"/>
              <a:buChar char="ü"/>
            </a:pPr>
            <a:r>
              <a:rPr lang="en-US" sz="2400" dirty="0"/>
              <a:t>    =MID(A1, FIND(" ", A1)+1, FIND(" ",A1,FIND(" ",A1)+1)-FIND(" ",A1)-1)</a:t>
            </a:r>
          </a:p>
          <a:p>
            <a:pPr algn="just">
              <a:buFont typeface="Wingdings" panose="05000000000000000000" pitchFamily="2" charset="2"/>
              <a:buChar char="ü"/>
            </a:pPr>
            <a:r>
              <a:rPr lang="en-US" sz="2400" dirty="0"/>
              <a:t>    =RIGHT(A1, LEN(A1)- FIND(" ",A1,FIND(" ",A1)+1))</a:t>
            </a:r>
          </a:p>
          <a:p>
            <a:pPr algn="just"/>
            <a:r>
              <a:rPr lang="en-US" sz="2400" b="1" dirty="0"/>
              <a:t>Using Text to Columns (Wizard Method):</a:t>
            </a:r>
          </a:p>
          <a:p>
            <a:pPr marL="0" indent="0" algn="just">
              <a:buNone/>
            </a:pPr>
            <a:r>
              <a:rPr lang="en-US" sz="2400" dirty="0"/>
              <a:t>The Text to Columns Wizard is a tool in Excel that splits the content of one column into multiple columns based on a delimiter (like space, comma, tab) or fixed width.</a:t>
            </a:r>
          </a:p>
          <a:p>
            <a:pPr marL="0" indent="0" algn="just">
              <a:buNone/>
            </a:pPr>
            <a:endParaRPr lang="en-IN" sz="2400" b="1" dirty="0"/>
          </a:p>
          <a:p>
            <a:pPr marL="0" indent="0">
              <a:buNone/>
            </a:pPr>
            <a:endParaRPr lang="en-IN" sz="2400" dirty="0"/>
          </a:p>
        </p:txBody>
      </p:sp>
    </p:spTree>
    <p:extLst>
      <p:ext uri="{BB962C8B-B14F-4D97-AF65-F5344CB8AC3E}">
        <p14:creationId xmlns:p14="http://schemas.microsoft.com/office/powerpoint/2010/main" val="19788489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C7C15-7342-43D4-9C4A-69E534CEC9F7}"/>
              </a:ext>
            </a:extLst>
          </p:cNvPr>
          <p:cNvSpPr>
            <a:spLocks noGrp="1"/>
          </p:cNvSpPr>
          <p:nvPr>
            <p:ph type="title"/>
          </p:nvPr>
        </p:nvSpPr>
        <p:spPr/>
        <p:txBody>
          <a:bodyPr/>
          <a:lstStyle/>
          <a:p>
            <a:r>
              <a:rPr lang="en-US" b="1" dirty="0"/>
              <a:t>Text to Column Wizard in Excel</a:t>
            </a:r>
            <a:endParaRPr lang="en-IN" b="1" dirty="0"/>
          </a:p>
        </p:txBody>
      </p:sp>
      <p:sp>
        <p:nvSpPr>
          <p:cNvPr id="3" name="Content Placeholder 2">
            <a:extLst>
              <a:ext uri="{FF2B5EF4-FFF2-40B4-BE49-F238E27FC236}">
                <a16:creationId xmlns:a16="http://schemas.microsoft.com/office/drawing/2014/main" id="{DACFBCA4-3687-4700-8F79-C3A1904976D9}"/>
              </a:ext>
            </a:extLst>
          </p:cNvPr>
          <p:cNvSpPr>
            <a:spLocks noGrp="1"/>
          </p:cNvSpPr>
          <p:nvPr>
            <p:ph idx="1"/>
          </p:nvPr>
        </p:nvSpPr>
        <p:spPr/>
        <p:txBody>
          <a:bodyPr>
            <a:normAutofit/>
          </a:bodyPr>
          <a:lstStyle/>
          <a:p>
            <a:pPr marL="0" indent="0">
              <a:buNone/>
            </a:pPr>
            <a:r>
              <a:rPr lang="en-US" sz="2400" b="1" dirty="0"/>
              <a:t>Steps to Use Text to Columns Wizard:</a:t>
            </a:r>
          </a:p>
          <a:p>
            <a:r>
              <a:rPr lang="en-US" sz="2400" b="1" dirty="0"/>
              <a:t>Select the Column</a:t>
            </a:r>
            <a:endParaRPr lang="en-US" sz="2400" dirty="0"/>
          </a:p>
          <a:p>
            <a:pPr lvl="1"/>
            <a:r>
              <a:rPr lang="en-US" dirty="0"/>
              <a:t>Highlight the column that contains the text you want to split.</a:t>
            </a:r>
          </a:p>
          <a:p>
            <a:r>
              <a:rPr lang="en-US" sz="2400" b="1" dirty="0"/>
              <a:t>Go to Ribbon</a:t>
            </a:r>
            <a:endParaRPr lang="en-US" sz="2400" dirty="0"/>
          </a:p>
          <a:p>
            <a:pPr lvl="1"/>
            <a:r>
              <a:rPr lang="en-US" dirty="0"/>
              <a:t>Click on </a:t>
            </a:r>
            <a:r>
              <a:rPr lang="en-US" b="1" dirty="0"/>
              <a:t>Data</a:t>
            </a:r>
            <a:r>
              <a:rPr lang="en-US" dirty="0"/>
              <a:t> tab → choose </a:t>
            </a:r>
            <a:r>
              <a:rPr lang="en-US" b="1" dirty="0"/>
              <a:t>Text to Columns</a:t>
            </a:r>
            <a:r>
              <a:rPr lang="en-US" dirty="0"/>
              <a:t>.</a:t>
            </a:r>
          </a:p>
          <a:p>
            <a:r>
              <a:rPr lang="en-US" sz="2400" b="1" dirty="0"/>
              <a:t>Choose the File Type</a:t>
            </a:r>
            <a:endParaRPr lang="en-US" sz="2400" dirty="0"/>
          </a:p>
          <a:p>
            <a:pPr lvl="1"/>
            <a:r>
              <a:rPr lang="en-US" b="1" dirty="0"/>
              <a:t>Delimited</a:t>
            </a:r>
            <a:r>
              <a:rPr lang="en-US" dirty="0"/>
              <a:t> → if data is separated by commas, spaces, tabs, semicolons, etc.</a:t>
            </a:r>
          </a:p>
          <a:p>
            <a:pPr lvl="1"/>
            <a:r>
              <a:rPr lang="en-US" b="1" dirty="0"/>
              <a:t>Fixed Width</a:t>
            </a:r>
            <a:r>
              <a:rPr lang="en-US" dirty="0"/>
              <a:t> → if data is aligned in columns with spaces at fixed positions.</a:t>
            </a:r>
          </a:p>
          <a:p>
            <a:pPr marL="457200" lvl="1" indent="0">
              <a:buNone/>
            </a:pPr>
            <a:endParaRPr lang="en-US" dirty="0"/>
          </a:p>
          <a:p>
            <a:pPr algn="just"/>
            <a:endParaRPr lang="en-IN" sz="2400" dirty="0"/>
          </a:p>
        </p:txBody>
      </p:sp>
    </p:spTree>
    <p:extLst>
      <p:ext uri="{BB962C8B-B14F-4D97-AF65-F5344CB8AC3E}">
        <p14:creationId xmlns:p14="http://schemas.microsoft.com/office/powerpoint/2010/main" val="6858896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8D6DA-819D-48D7-9D6D-79E8AE90FB4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3433BF9-F526-4519-B019-31AB1F917A3E}"/>
              </a:ext>
            </a:extLst>
          </p:cNvPr>
          <p:cNvSpPr>
            <a:spLocks noGrp="1"/>
          </p:cNvSpPr>
          <p:nvPr>
            <p:ph idx="1"/>
          </p:nvPr>
        </p:nvSpPr>
        <p:spPr/>
        <p:txBody>
          <a:bodyPr>
            <a:normAutofit/>
          </a:bodyPr>
          <a:lstStyle/>
          <a:p>
            <a:r>
              <a:rPr lang="en-US" sz="2400" b="1" dirty="0"/>
              <a:t>Set Delimiters / Column Breaks</a:t>
            </a:r>
            <a:endParaRPr lang="en-US" sz="2400" dirty="0"/>
          </a:p>
          <a:p>
            <a:pPr lvl="1"/>
            <a:r>
              <a:rPr lang="en-US" dirty="0"/>
              <a:t>If </a:t>
            </a:r>
            <a:r>
              <a:rPr lang="en-US" b="1" dirty="0"/>
              <a:t>Delimited</a:t>
            </a:r>
            <a:r>
              <a:rPr lang="en-US" dirty="0"/>
              <a:t>: check the delimiter(s) (comma, tab, space, semicolon, or custom).</a:t>
            </a:r>
          </a:p>
          <a:p>
            <a:pPr lvl="1"/>
            <a:r>
              <a:rPr lang="en-US" dirty="0"/>
              <a:t>If </a:t>
            </a:r>
            <a:r>
              <a:rPr lang="en-US" b="1" dirty="0"/>
              <a:t>Fixed Width</a:t>
            </a:r>
            <a:r>
              <a:rPr lang="en-US" dirty="0"/>
              <a:t>: set vertical lines where you want to split.</a:t>
            </a:r>
          </a:p>
          <a:p>
            <a:r>
              <a:rPr lang="en-US" sz="2400" b="1" dirty="0"/>
              <a:t>Preview the Result</a:t>
            </a:r>
            <a:endParaRPr lang="en-US" sz="2400" dirty="0"/>
          </a:p>
          <a:p>
            <a:pPr lvl="1"/>
            <a:r>
              <a:rPr lang="en-US" dirty="0"/>
              <a:t>Excel shows how data will be split in the preview box.</a:t>
            </a:r>
          </a:p>
          <a:p>
            <a:r>
              <a:rPr lang="en-US" sz="2400" b="1" dirty="0"/>
              <a:t>Choose Destination</a:t>
            </a:r>
            <a:endParaRPr lang="en-US" sz="2400" dirty="0"/>
          </a:p>
          <a:p>
            <a:pPr lvl="1"/>
            <a:r>
              <a:rPr lang="en-US" dirty="0"/>
              <a:t>Select where the split data should appear (default replaces original column).</a:t>
            </a:r>
          </a:p>
          <a:p>
            <a:r>
              <a:rPr lang="en-US" sz="2400" b="1" dirty="0"/>
              <a:t>Finish</a:t>
            </a:r>
            <a:endParaRPr lang="en-US" sz="2400" dirty="0"/>
          </a:p>
          <a:p>
            <a:pPr lvl="1"/>
            <a:r>
              <a:rPr lang="en-US" dirty="0"/>
              <a:t>Click </a:t>
            </a:r>
            <a:r>
              <a:rPr lang="en-US" b="1" dirty="0"/>
              <a:t>Finish</a:t>
            </a:r>
            <a:r>
              <a:rPr lang="en-US" dirty="0"/>
              <a:t> → your data is split into multiple columns.</a:t>
            </a:r>
          </a:p>
          <a:p>
            <a:pPr algn="just"/>
            <a:endParaRPr lang="en-IN" sz="2400" dirty="0"/>
          </a:p>
        </p:txBody>
      </p:sp>
    </p:spTree>
    <p:extLst>
      <p:ext uri="{BB962C8B-B14F-4D97-AF65-F5344CB8AC3E}">
        <p14:creationId xmlns:p14="http://schemas.microsoft.com/office/powerpoint/2010/main" val="36424919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61B96-F262-4952-9998-D257863DD18F}"/>
              </a:ext>
            </a:extLst>
          </p:cNvPr>
          <p:cNvSpPr>
            <a:spLocks noGrp="1"/>
          </p:cNvSpPr>
          <p:nvPr>
            <p:ph type="title"/>
          </p:nvPr>
        </p:nvSpPr>
        <p:spPr>
          <a:xfrm>
            <a:off x="838200" y="118924"/>
            <a:ext cx="10515600" cy="1325563"/>
          </a:xfrm>
        </p:spPr>
        <p:txBody>
          <a:bodyPr/>
          <a:lstStyle/>
          <a:p>
            <a:r>
              <a:rPr lang="en-IN" b="1" dirty="0"/>
              <a:t>Date Handling</a:t>
            </a:r>
          </a:p>
        </p:txBody>
      </p:sp>
      <p:sp>
        <p:nvSpPr>
          <p:cNvPr id="3" name="Content Placeholder 2">
            <a:extLst>
              <a:ext uri="{FF2B5EF4-FFF2-40B4-BE49-F238E27FC236}">
                <a16:creationId xmlns:a16="http://schemas.microsoft.com/office/drawing/2014/main" id="{2C7605C4-D1E2-4E04-8959-FDBA48B14953}"/>
              </a:ext>
            </a:extLst>
          </p:cNvPr>
          <p:cNvSpPr>
            <a:spLocks noGrp="1"/>
          </p:cNvSpPr>
          <p:nvPr>
            <p:ph idx="1"/>
          </p:nvPr>
        </p:nvSpPr>
        <p:spPr>
          <a:xfrm>
            <a:off x="838200" y="1444487"/>
            <a:ext cx="10515600" cy="4732476"/>
          </a:xfrm>
        </p:spPr>
        <p:txBody>
          <a:bodyPr>
            <a:normAutofit lnSpcReduction="10000"/>
          </a:bodyPr>
          <a:lstStyle/>
          <a:p>
            <a:pPr algn="just"/>
            <a:r>
              <a:rPr lang="en-US" sz="2400" dirty="0"/>
              <a:t>The dates are referred to as serial numbers in Excel.</a:t>
            </a:r>
          </a:p>
          <a:p>
            <a:pPr algn="just"/>
            <a:r>
              <a:rPr lang="en-US" sz="2400" dirty="0"/>
              <a:t>The dates in Excel are actually stored as numbers, and then formatted to display the date.</a:t>
            </a:r>
          </a:p>
          <a:p>
            <a:pPr algn="just"/>
            <a:r>
              <a:rPr lang="en-US" sz="2400" dirty="0"/>
              <a:t>The DATE function returns the sequential serial number that represents a particular date.</a:t>
            </a:r>
          </a:p>
          <a:p>
            <a:pPr algn="just"/>
            <a:r>
              <a:rPr lang="en-US" sz="2400" dirty="0"/>
              <a:t>Syntax: DATE(</a:t>
            </a:r>
            <a:r>
              <a:rPr lang="en-US" sz="2400" dirty="0" err="1"/>
              <a:t>year,month,day</a:t>
            </a:r>
            <a:r>
              <a:rPr lang="en-US" sz="2400" dirty="0"/>
              <a:t>)</a:t>
            </a:r>
          </a:p>
          <a:p>
            <a:pPr algn="just"/>
            <a:r>
              <a:rPr lang="en-US" sz="2400" dirty="0"/>
              <a:t>By default, Microsoft Excel for Windows uses the 1900 date system, which means the first date is January 1, 1900.</a:t>
            </a:r>
          </a:p>
          <a:p>
            <a:pPr algn="just"/>
            <a:r>
              <a:rPr lang="en-US" sz="2400" dirty="0"/>
              <a:t>Excel stores dates as sequential serial numbers so that they can be used in calculations. January 1, 1900 is serial number 1, and January 1, 2008 is serial number 39448 because it is 39,447 days after January 1, 1900. You will need to change the number format (Format Cells) in order to display a proper date.</a:t>
            </a:r>
          </a:p>
          <a:p>
            <a:pPr algn="just"/>
            <a:r>
              <a:rPr lang="en-US" sz="2400" dirty="0"/>
              <a:t>The default date format for US dates is “m/d/</a:t>
            </a:r>
            <a:r>
              <a:rPr lang="en-US" sz="2400" dirty="0" err="1"/>
              <a:t>yyyy</a:t>
            </a:r>
            <a:r>
              <a:rPr lang="en-US" sz="2400" dirty="0"/>
              <a:t>” (1/27/2016).</a:t>
            </a:r>
            <a:endParaRPr lang="en-IN" sz="2400" dirty="0"/>
          </a:p>
        </p:txBody>
      </p:sp>
    </p:spTree>
    <p:extLst>
      <p:ext uri="{BB962C8B-B14F-4D97-AF65-F5344CB8AC3E}">
        <p14:creationId xmlns:p14="http://schemas.microsoft.com/office/powerpoint/2010/main" val="17352116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48CC891-8E1D-4617-963E-E088829C4FFF}"/>
              </a:ext>
            </a:extLst>
          </p:cNvPr>
          <p:cNvGraphicFramePr>
            <a:graphicFrameLocks noGrp="1"/>
          </p:cNvGraphicFramePr>
          <p:nvPr>
            <p:ph idx="1"/>
            <p:extLst>
              <p:ext uri="{D42A27DB-BD31-4B8C-83A1-F6EECF244321}">
                <p14:modId xmlns:p14="http://schemas.microsoft.com/office/powerpoint/2010/main" val="3455520121"/>
              </p:ext>
            </p:extLst>
          </p:nvPr>
        </p:nvGraphicFramePr>
        <p:xfrm>
          <a:off x="675861" y="437323"/>
          <a:ext cx="10906539" cy="6024641"/>
        </p:xfrm>
        <a:graphic>
          <a:graphicData uri="http://schemas.openxmlformats.org/drawingml/2006/table">
            <a:tbl>
              <a:tblPr firstRow="1">
                <a:tableStyleId>{F5AB1C69-6EDB-4FF4-983F-18BD219EF322}</a:tableStyleId>
              </a:tblPr>
              <a:tblGrid>
                <a:gridCol w="3635513">
                  <a:extLst>
                    <a:ext uri="{9D8B030D-6E8A-4147-A177-3AD203B41FA5}">
                      <a16:colId xmlns:a16="http://schemas.microsoft.com/office/drawing/2014/main" val="3232435071"/>
                    </a:ext>
                  </a:extLst>
                </a:gridCol>
                <a:gridCol w="4090504">
                  <a:extLst>
                    <a:ext uri="{9D8B030D-6E8A-4147-A177-3AD203B41FA5}">
                      <a16:colId xmlns:a16="http://schemas.microsoft.com/office/drawing/2014/main" val="4121166104"/>
                    </a:ext>
                  </a:extLst>
                </a:gridCol>
                <a:gridCol w="3180522">
                  <a:extLst>
                    <a:ext uri="{9D8B030D-6E8A-4147-A177-3AD203B41FA5}">
                      <a16:colId xmlns:a16="http://schemas.microsoft.com/office/drawing/2014/main" val="2418570332"/>
                    </a:ext>
                  </a:extLst>
                </a:gridCol>
              </a:tblGrid>
              <a:tr h="369430">
                <a:tc>
                  <a:txBody>
                    <a:bodyPr/>
                    <a:lstStyle/>
                    <a:p>
                      <a:r>
                        <a:rPr lang="en-IN" sz="1600" dirty="0"/>
                        <a:t>Description</a:t>
                      </a:r>
                      <a:endParaRPr lang="en-IN" sz="1600" b="1" dirty="0"/>
                    </a:p>
                  </a:txBody>
                  <a:tcPr marL="66944" marR="66944" marT="33472" marB="33472" anchor="ctr"/>
                </a:tc>
                <a:tc>
                  <a:txBody>
                    <a:bodyPr/>
                    <a:lstStyle/>
                    <a:p>
                      <a:r>
                        <a:rPr lang="en-IN" sz="1600" dirty="0"/>
                        <a:t>Formula in Excel </a:t>
                      </a:r>
                      <a:endParaRPr lang="en-IN" sz="1600" b="1" dirty="0"/>
                    </a:p>
                  </a:txBody>
                  <a:tcPr marL="66944" marR="66944" marT="33472" marB="33472" anchor="ctr"/>
                </a:tc>
                <a:tc>
                  <a:txBody>
                    <a:bodyPr/>
                    <a:lstStyle/>
                    <a:p>
                      <a:r>
                        <a:rPr lang="en-IN" sz="1600" dirty="0"/>
                        <a:t>Example Result</a:t>
                      </a:r>
                      <a:endParaRPr lang="en-IN" sz="1600" b="1" dirty="0"/>
                    </a:p>
                  </a:txBody>
                  <a:tcPr marL="66944" marR="66944" marT="33472" marB="33472" anchor="ctr"/>
                </a:tc>
                <a:extLst>
                  <a:ext uri="{0D108BD9-81ED-4DB2-BD59-A6C34878D82A}">
                    <a16:rowId xmlns:a16="http://schemas.microsoft.com/office/drawing/2014/main" val="3562044794"/>
                  </a:ext>
                </a:extLst>
              </a:tr>
              <a:tr h="369430">
                <a:tc>
                  <a:txBody>
                    <a:bodyPr/>
                    <a:lstStyle/>
                    <a:p>
                      <a:r>
                        <a:rPr lang="en-IN" sz="1600" dirty="0"/>
                        <a:t>Original Date</a:t>
                      </a:r>
                    </a:p>
                  </a:txBody>
                  <a:tcPr marL="66944" marR="66944" marT="33472" marB="33472" anchor="ctr"/>
                </a:tc>
                <a:tc>
                  <a:txBody>
                    <a:bodyPr/>
                    <a:lstStyle/>
                    <a:p>
                      <a:r>
                        <a:rPr lang="en-IN" sz="1600"/>
                        <a:t>12-Aug-2025</a:t>
                      </a:r>
                    </a:p>
                  </a:txBody>
                  <a:tcPr marL="66944" marR="66944" marT="33472" marB="33472" anchor="ctr"/>
                </a:tc>
                <a:tc>
                  <a:txBody>
                    <a:bodyPr/>
                    <a:lstStyle/>
                    <a:p>
                      <a:r>
                        <a:rPr lang="en-IN" sz="1600"/>
                        <a:t>12-Aug-2025</a:t>
                      </a:r>
                    </a:p>
                  </a:txBody>
                  <a:tcPr marL="66944" marR="66944" marT="33472" marB="33472" anchor="ctr"/>
                </a:tc>
                <a:extLst>
                  <a:ext uri="{0D108BD9-81ED-4DB2-BD59-A6C34878D82A}">
                    <a16:rowId xmlns:a16="http://schemas.microsoft.com/office/drawing/2014/main" val="2681544837"/>
                  </a:ext>
                </a:extLst>
              </a:tr>
              <a:tr h="369430">
                <a:tc>
                  <a:txBody>
                    <a:bodyPr/>
                    <a:lstStyle/>
                    <a:p>
                      <a:r>
                        <a:rPr lang="en-IN" sz="1600" dirty="0"/>
                        <a:t>Serial Number of Date</a:t>
                      </a:r>
                    </a:p>
                  </a:txBody>
                  <a:tcPr marL="66944" marR="66944" marT="33472" marB="33472" anchor="ctr"/>
                </a:tc>
                <a:tc>
                  <a:txBody>
                    <a:bodyPr/>
                    <a:lstStyle/>
                    <a:p>
                      <a:r>
                        <a:rPr lang="en-IN" sz="1600" dirty="0"/>
                        <a:t>Format 12-Aug-2025 as Number</a:t>
                      </a:r>
                      <a:endParaRPr lang="en-IN" sz="1600" b="0" dirty="0"/>
                    </a:p>
                  </a:txBody>
                  <a:tcPr marL="66944" marR="66944" marT="33472" marB="33472" anchor="ctr"/>
                </a:tc>
                <a:tc>
                  <a:txBody>
                    <a:bodyPr/>
                    <a:lstStyle/>
                    <a:p>
                      <a:r>
                        <a:rPr lang="en-IN" sz="1600" dirty="0"/>
                        <a:t>45881</a:t>
                      </a:r>
                    </a:p>
                  </a:txBody>
                  <a:tcPr marL="66944" marR="66944" marT="33472" marB="33472" anchor="ctr"/>
                </a:tc>
                <a:extLst>
                  <a:ext uri="{0D108BD9-81ED-4DB2-BD59-A6C34878D82A}">
                    <a16:rowId xmlns:a16="http://schemas.microsoft.com/office/drawing/2014/main" val="1511964701"/>
                  </a:ext>
                </a:extLst>
              </a:tr>
              <a:tr h="369430">
                <a:tc>
                  <a:txBody>
                    <a:bodyPr/>
                    <a:lstStyle/>
                    <a:p>
                      <a:r>
                        <a:rPr lang="en-IN" sz="1600" dirty="0"/>
                        <a:t>Date + 7 days</a:t>
                      </a:r>
                    </a:p>
                  </a:txBody>
                  <a:tcPr marL="66944" marR="66944" marT="33472" marB="33472" anchor="ctr"/>
                </a:tc>
                <a:tc>
                  <a:txBody>
                    <a:bodyPr/>
                    <a:lstStyle/>
                    <a:p>
                      <a:r>
                        <a:rPr lang="en-IN" sz="1600" dirty="0"/>
                        <a:t>=A1+7</a:t>
                      </a:r>
                    </a:p>
                  </a:txBody>
                  <a:tcPr marL="66944" marR="66944" marT="33472" marB="33472" anchor="ctr"/>
                </a:tc>
                <a:tc>
                  <a:txBody>
                    <a:bodyPr/>
                    <a:lstStyle/>
                    <a:p>
                      <a:r>
                        <a:rPr lang="en-IN" sz="1600"/>
                        <a:t>19-Aug-2025</a:t>
                      </a:r>
                    </a:p>
                  </a:txBody>
                  <a:tcPr marL="66944" marR="66944" marT="33472" marB="33472" anchor="ctr"/>
                </a:tc>
                <a:extLst>
                  <a:ext uri="{0D108BD9-81ED-4DB2-BD59-A6C34878D82A}">
                    <a16:rowId xmlns:a16="http://schemas.microsoft.com/office/drawing/2014/main" val="1033763501"/>
                  </a:ext>
                </a:extLst>
              </a:tr>
              <a:tr h="390835">
                <a:tc>
                  <a:txBody>
                    <a:bodyPr/>
                    <a:lstStyle/>
                    <a:p>
                      <a:r>
                        <a:rPr lang="en-US" sz="1600" dirty="0"/>
                        <a:t>Difference in Days (End - Start)</a:t>
                      </a:r>
                    </a:p>
                  </a:txBody>
                  <a:tcPr marL="66944" marR="66944" marT="33472" marB="33472" anchor="ctr"/>
                </a:tc>
                <a:tc>
                  <a:txBody>
                    <a:bodyPr/>
                    <a:lstStyle/>
                    <a:p>
                      <a:r>
                        <a:rPr lang="en-IN" sz="1600"/>
                        <a:t>=A3-A1</a:t>
                      </a:r>
                    </a:p>
                  </a:txBody>
                  <a:tcPr marL="66944" marR="66944" marT="33472" marB="33472" anchor="ctr"/>
                </a:tc>
                <a:tc>
                  <a:txBody>
                    <a:bodyPr/>
                    <a:lstStyle/>
                    <a:p>
                      <a:r>
                        <a:rPr lang="en-IN" sz="1600"/>
                        <a:t>7</a:t>
                      </a:r>
                    </a:p>
                  </a:txBody>
                  <a:tcPr marL="66944" marR="66944" marT="33472" marB="33472" anchor="ctr"/>
                </a:tc>
                <a:extLst>
                  <a:ext uri="{0D108BD9-81ED-4DB2-BD59-A6C34878D82A}">
                    <a16:rowId xmlns:a16="http://schemas.microsoft.com/office/drawing/2014/main" val="373335657"/>
                  </a:ext>
                </a:extLst>
              </a:tr>
              <a:tr h="369430">
                <a:tc>
                  <a:txBody>
                    <a:bodyPr/>
                    <a:lstStyle/>
                    <a:p>
                      <a:r>
                        <a:rPr lang="en-IN" sz="1600"/>
                        <a:t>Current Date</a:t>
                      </a:r>
                    </a:p>
                  </a:txBody>
                  <a:tcPr marL="66944" marR="66944" marT="33472" marB="33472" anchor="ctr"/>
                </a:tc>
                <a:tc>
                  <a:txBody>
                    <a:bodyPr/>
                    <a:lstStyle/>
                    <a:p>
                      <a:r>
                        <a:rPr lang="en-IN" sz="1600"/>
                        <a:t>=TODAY()</a:t>
                      </a:r>
                    </a:p>
                  </a:txBody>
                  <a:tcPr marL="66944" marR="66944" marT="33472" marB="33472" anchor="ctr"/>
                </a:tc>
                <a:tc>
                  <a:txBody>
                    <a:bodyPr/>
                    <a:lstStyle/>
                    <a:p>
                      <a:r>
                        <a:rPr lang="en-IN" sz="1600"/>
                        <a:t>09-Aug-2025</a:t>
                      </a:r>
                    </a:p>
                  </a:txBody>
                  <a:tcPr marL="66944" marR="66944" marT="33472" marB="33472" anchor="ctr"/>
                </a:tc>
                <a:extLst>
                  <a:ext uri="{0D108BD9-81ED-4DB2-BD59-A6C34878D82A}">
                    <a16:rowId xmlns:a16="http://schemas.microsoft.com/office/drawing/2014/main" val="3774571943"/>
                  </a:ext>
                </a:extLst>
              </a:tr>
              <a:tr h="369430">
                <a:tc>
                  <a:txBody>
                    <a:bodyPr/>
                    <a:lstStyle/>
                    <a:p>
                      <a:r>
                        <a:rPr lang="en-IN" sz="1600"/>
                        <a:t>Current Date &amp; Time</a:t>
                      </a:r>
                    </a:p>
                  </a:txBody>
                  <a:tcPr marL="66944" marR="66944" marT="33472" marB="33472" anchor="ctr"/>
                </a:tc>
                <a:tc>
                  <a:txBody>
                    <a:bodyPr/>
                    <a:lstStyle/>
                    <a:p>
                      <a:r>
                        <a:rPr lang="en-IN" sz="1600"/>
                        <a:t>=NOW()</a:t>
                      </a:r>
                    </a:p>
                  </a:txBody>
                  <a:tcPr marL="66944" marR="66944" marT="33472" marB="33472" anchor="ctr"/>
                </a:tc>
                <a:tc>
                  <a:txBody>
                    <a:bodyPr/>
                    <a:lstStyle/>
                    <a:p>
                      <a:r>
                        <a:rPr lang="en-IN" sz="1600"/>
                        <a:t>09-Aug-2025 10:30 AM</a:t>
                      </a:r>
                    </a:p>
                  </a:txBody>
                  <a:tcPr marL="66944" marR="66944" marT="33472" marB="33472" anchor="ctr"/>
                </a:tc>
                <a:extLst>
                  <a:ext uri="{0D108BD9-81ED-4DB2-BD59-A6C34878D82A}">
                    <a16:rowId xmlns:a16="http://schemas.microsoft.com/office/drawing/2014/main" val="1300005885"/>
                  </a:ext>
                </a:extLst>
              </a:tr>
              <a:tr h="369430">
                <a:tc>
                  <a:txBody>
                    <a:bodyPr/>
                    <a:lstStyle/>
                    <a:p>
                      <a:r>
                        <a:rPr lang="en-IN" sz="1600" dirty="0"/>
                        <a:t>Day from Date</a:t>
                      </a:r>
                    </a:p>
                  </a:txBody>
                  <a:tcPr marL="66944" marR="66944" marT="33472" marB="33472" anchor="ctr"/>
                </a:tc>
                <a:tc>
                  <a:txBody>
                    <a:bodyPr/>
                    <a:lstStyle/>
                    <a:p>
                      <a:r>
                        <a:rPr lang="en-IN" sz="1600" dirty="0"/>
                        <a:t>=DAY(A1)</a:t>
                      </a:r>
                    </a:p>
                  </a:txBody>
                  <a:tcPr marL="66944" marR="66944" marT="33472" marB="33472" anchor="ctr"/>
                </a:tc>
                <a:tc>
                  <a:txBody>
                    <a:bodyPr/>
                    <a:lstStyle/>
                    <a:p>
                      <a:r>
                        <a:rPr lang="en-IN" sz="1600"/>
                        <a:t>12</a:t>
                      </a:r>
                    </a:p>
                  </a:txBody>
                  <a:tcPr marL="66944" marR="66944" marT="33472" marB="33472" anchor="ctr"/>
                </a:tc>
                <a:extLst>
                  <a:ext uri="{0D108BD9-81ED-4DB2-BD59-A6C34878D82A}">
                    <a16:rowId xmlns:a16="http://schemas.microsoft.com/office/drawing/2014/main" val="4041160470"/>
                  </a:ext>
                </a:extLst>
              </a:tr>
              <a:tr h="369430">
                <a:tc>
                  <a:txBody>
                    <a:bodyPr/>
                    <a:lstStyle/>
                    <a:p>
                      <a:r>
                        <a:rPr lang="en-IN" sz="1600"/>
                        <a:t>Month from Date</a:t>
                      </a:r>
                    </a:p>
                  </a:txBody>
                  <a:tcPr marL="66944" marR="66944" marT="33472" marB="33472" anchor="ctr"/>
                </a:tc>
                <a:tc>
                  <a:txBody>
                    <a:bodyPr/>
                    <a:lstStyle/>
                    <a:p>
                      <a:r>
                        <a:rPr lang="en-IN" sz="1600"/>
                        <a:t>=MONTH(A1)</a:t>
                      </a:r>
                    </a:p>
                  </a:txBody>
                  <a:tcPr marL="66944" marR="66944" marT="33472" marB="33472" anchor="ctr"/>
                </a:tc>
                <a:tc>
                  <a:txBody>
                    <a:bodyPr/>
                    <a:lstStyle/>
                    <a:p>
                      <a:r>
                        <a:rPr lang="en-IN" sz="1600"/>
                        <a:t>8</a:t>
                      </a:r>
                    </a:p>
                  </a:txBody>
                  <a:tcPr marL="66944" marR="66944" marT="33472" marB="33472" anchor="ctr"/>
                </a:tc>
                <a:extLst>
                  <a:ext uri="{0D108BD9-81ED-4DB2-BD59-A6C34878D82A}">
                    <a16:rowId xmlns:a16="http://schemas.microsoft.com/office/drawing/2014/main" val="2670252288"/>
                  </a:ext>
                </a:extLst>
              </a:tr>
              <a:tr h="369430">
                <a:tc>
                  <a:txBody>
                    <a:bodyPr/>
                    <a:lstStyle/>
                    <a:p>
                      <a:r>
                        <a:rPr lang="en-IN" sz="1600"/>
                        <a:t>Year from Date</a:t>
                      </a:r>
                    </a:p>
                  </a:txBody>
                  <a:tcPr marL="66944" marR="66944" marT="33472" marB="33472" anchor="ctr"/>
                </a:tc>
                <a:tc>
                  <a:txBody>
                    <a:bodyPr/>
                    <a:lstStyle/>
                    <a:p>
                      <a:r>
                        <a:rPr lang="en-IN" sz="1600"/>
                        <a:t>=YEAR(A1)</a:t>
                      </a:r>
                    </a:p>
                  </a:txBody>
                  <a:tcPr marL="66944" marR="66944" marT="33472" marB="33472" anchor="ctr"/>
                </a:tc>
                <a:tc>
                  <a:txBody>
                    <a:bodyPr/>
                    <a:lstStyle/>
                    <a:p>
                      <a:r>
                        <a:rPr lang="en-IN" sz="1600"/>
                        <a:t>2025</a:t>
                      </a:r>
                    </a:p>
                  </a:txBody>
                  <a:tcPr marL="66944" marR="66944" marT="33472" marB="33472" anchor="ctr"/>
                </a:tc>
                <a:extLst>
                  <a:ext uri="{0D108BD9-81ED-4DB2-BD59-A6C34878D82A}">
                    <a16:rowId xmlns:a16="http://schemas.microsoft.com/office/drawing/2014/main" val="813717647"/>
                  </a:ext>
                </a:extLst>
              </a:tr>
              <a:tr h="369430">
                <a:tc>
                  <a:txBody>
                    <a:bodyPr/>
                    <a:lstStyle/>
                    <a:p>
                      <a:r>
                        <a:rPr lang="en-IN" sz="1600"/>
                        <a:t>Create Date using DATE()</a:t>
                      </a:r>
                    </a:p>
                  </a:txBody>
                  <a:tcPr marL="66944" marR="66944" marT="33472" marB="33472" anchor="ctr"/>
                </a:tc>
                <a:tc>
                  <a:txBody>
                    <a:bodyPr/>
                    <a:lstStyle/>
                    <a:p>
                      <a:r>
                        <a:rPr lang="en-IN" sz="1600"/>
                        <a:t>=DATE(2025,8,12)</a:t>
                      </a:r>
                    </a:p>
                  </a:txBody>
                  <a:tcPr marL="66944" marR="66944" marT="33472" marB="33472" anchor="ctr"/>
                </a:tc>
                <a:tc>
                  <a:txBody>
                    <a:bodyPr/>
                    <a:lstStyle/>
                    <a:p>
                      <a:r>
                        <a:rPr lang="en-IN" sz="1600"/>
                        <a:t>12-Aug-2025</a:t>
                      </a:r>
                    </a:p>
                  </a:txBody>
                  <a:tcPr marL="66944" marR="66944" marT="33472" marB="33472" anchor="ctr"/>
                </a:tc>
                <a:extLst>
                  <a:ext uri="{0D108BD9-81ED-4DB2-BD59-A6C34878D82A}">
                    <a16:rowId xmlns:a16="http://schemas.microsoft.com/office/drawing/2014/main" val="678988092"/>
                  </a:ext>
                </a:extLst>
              </a:tr>
              <a:tr h="646502">
                <a:tc>
                  <a:txBody>
                    <a:bodyPr/>
                    <a:lstStyle/>
                    <a:p>
                      <a:r>
                        <a:rPr lang="en-IN" sz="1600"/>
                        <a:t>Years Between Two Dates</a:t>
                      </a:r>
                    </a:p>
                  </a:txBody>
                  <a:tcPr marL="66944" marR="66944" marT="33472" marB="33472" anchor="ctr"/>
                </a:tc>
                <a:tc>
                  <a:txBody>
                    <a:bodyPr/>
                    <a:lstStyle/>
                    <a:p>
                      <a:r>
                        <a:rPr lang="en-IN" sz="1600" dirty="0"/>
                        <a:t>=DATEDIF("1-Jan-2020", "1-Jan-2025", "y")</a:t>
                      </a:r>
                    </a:p>
                  </a:txBody>
                  <a:tcPr marL="66944" marR="66944" marT="33472" marB="33472" anchor="ctr"/>
                </a:tc>
                <a:tc>
                  <a:txBody>
                    <a:bodyPr/>
                    <a:lstStyle/>
                    <a:p>
                      <a:r>
                        <a:rPr lang="en-IN" sz="1600"/>
                        <a:t>5</a:t>
                      </a:r>
                    </a:p>
                  </a:txBody>
                  <a:tcPr marL="66944" marR="66944" marT="33472" marB="33472" anchor="ctr"/>
                </a:tc>
                <a:extLst>
                  <a:ext uri="{0D108BD9-81ED-4DB2-BD59-A6C34878D82A}">
                    <a16:rowId xmlns:a16="http://schemas.microsoft.com/office/drawing/2014/main" val="1302456398"/>
                  </a:ext>
                </a:extLst>
              </a:tr>
              <a:tr h="646502">
                <a:tc>
                  <a:txBody>
                    <a:bodyPr/>
                    <a:lstStyle/>
                    <a:p>
                      <a:r>
                        <a:rPr lang="en-IN" sz="1600"/>
                        <a:t>Months Between Two Dates</a:t>
                      </a:r>
                    </a:p>
                  </a:txBody>
                  <a:tcPr marL="66944" marR="66944" marT="33472" marB="33472" anchor="ctr"/>
                </a:tc>
                <a:tc>
                  <a:txBody>
                    <a:bodyPr/>
                    <a:lstStyle/>
                    <a:p>
                      <a:r>
                        <a:rPr lang="en-IN" sz="1600" dirty="0"/>
                        <a:t>=DATEDIF("1-Jan-2020", "1-Jan-2025", "m")</a:t>
                      </a:r>
                    </a:p>
                  </a:txBody>
                  <a:tcPr marL="66944" marR="66944" marT="33472" marB="33472" anchor="ctr"/>
                </a:tc>
                <a:tc>
                  <a:txBody>
                    <a:bodyPr/>
                    <a:lstStyle/>
                    <a:p>
                      <a:r>
                        <a:rPr lang="en-IN" sz="1600"/>
                        <a:t>60</a:t>
                      </a:r>
                    </a:p>
                  </a:txBody>
                  <a:tcPr marL="66944" marR="66944" marT="33472" marB="33472" anchor="ctr"/>
                </a:tc>
                <a:extLst>
                  <a:ext uri="{0D108BD9-81ED-4DB2-BD59-A6C34878D82A}">
                    <a16:rowId xmlns:a16="http://schemas.microsoft.com/office/drawing/2014/main" val="3090106289"/>
                  </a:ext>
                </a:extLst>
              </a:tr>
              <a:tr h="646502">
                <a:tc>
                  <a:txBody>
                    <a:bodyPr/>
                    <a:lstStyle/>
                    <a:p>
                      <a:r>
                        <a:rPr lang="en-IN" sz="1600" dirty="0"/>
                        <a:t>Days Between Two Dates</a:t>
                      </a:r>
                    </a:p>
                  </a:txBody>
                  <a:tcPr marL="66944" marR="66944" marT="33472" marB="33472" anchor="ctr"/>
                </a:tc>
                <a:tc>
                  <a:txBody>
                    <a:bodyPr/>
                    <a:lstStyle/>
                    <a:p>
                      <a:r>
                        <a:rPr lang="en-IN" sz="1600" dirty="0"/>
                        <a:t>=DATEDIF("1-Jan-2020", "1-Jan-2025", "d")</a:t>
                      </a:r>
                    </a:p>
                  </a:txBody>
                  <a:tcPr marL="66944" marR="66944" marT="33472" marB="33472" anchor="ctr"/>
                </a:tc>
                <a:tc>
                  <a:txBody>
                    <a:bodyPr/>
                    <a:lstStyle/>
                    <a:p>
                      <a:r>
                        <a:rPr lang="en-IN" sz="1600" dirty="0"/>
                        <a:t>1826</a:t>
                      </a:r>
                    </a:p>
                  </a:txBody>
                  <a:tcPr marL="66944" marR="66944" marT="33472" marB="33472" anchor="ctr"/>
                </a:tc>
                <a:extLst>
                  <a:ext uri="{0D108BD9-81ED-4DB2-BD59-A6C34878D82A}">
                    <a16:rowId xmlns:a16="http://schemas.microsoft.com/office/drawing/2014/main" val="4278985097"/>
                  </a:ext>
                </a:extLst>
              </a:tr>
            </a:tbl>
          </a:graphicData>
        </a:graphic>
      </p:graphicFrame>
    </p:spTree>
    <p:extLst>
      <p:ext uri="{BB962C8B-B14F-4D97-AF65-F5344CB8AC3E}">
        <p14:creationId xmlns:p14="http://schemas.microsoft.com/office/powerpoint/2010/main" val="17722438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44A47B-112F-4ED4-83B1-3960E203EC59}"/>
              </a:ext>
            </a:extLst>
          </p:cNvPr>
          <p:cNvSpPr>
            <a:spLocks noGrp="1"/>
          </p:cNvSpPr>
          <p:nvPr>
            <p:ph idx="1"/>
          </p:nvPr>
        </p:nvSpPr>
        <p:spPr>
          <a:xfrm>
            <a:off x="838200" y="623991"/>
            <a:ext cx="10515600" cy="5867069"/>
          </a:xfrm>
        </p:spPr>
        <p:txBody>
          <a:bodyPr/>
          <a:lstStyle/>
          <a:p>
            <a:endParaRPr lang="en-US" dirty="0"/>
          </a:p>
          <a:p>
            <a:endParaRPr lang="en-US" dirty="0"/>
          </a:p>
          <a:p>
            <a:endParaRPr lang="en-US" dirty="0"/>
          </a:p>
          <a:p>
            <a:endParaRPr lang="en-US" dirty="0"/>
          </a:p>
          <a:p>
            <a:endParaRPr lang="en-US" dirty="0"/>
          </a:p>
          <a:p>
            <a:endParaRPr lang="en-IN" dirty="0"/>
          </a:p>
        </p:txBody>
      </p:sp>
      <p:grpSp>
        <p:nvGrpSpPr>
          <p:cNvPr id="4" name="Group 3">
            <a:extLst>
              <a:ext uri="{FF2B5EF4-FFF2-40B4-BE49-F238E27FC236}">
                <a16:creationId xmlns:a16="http://schemas.microsoft.com/office/drawing/2014/main" id="{5EED14FA-1C22-4C74-AE85-5707BF349DF3}"/>
              </a:ext>
            </a:extLst>
          </p:cNvPr>
          <p:cNvGrpSpPr/>
          <p:nvPr/>
        </p:nvGrpSpPr>
        <p:grpSpPr>
          <a:xfrm>
            <a:off x="954156" y="623991"/>
            <a:ext cx="9766852" cy="2747963"/>
            <a:chOff x="0" y="0"/>
            <a:chExt cx="10692385" cy="3419856"/>
          </a:xfrm>
        </p:grpSpPr>
        <p:pic>
          <p:nvPicPr>
            <p:cNvPr id="5" name="Picture 4">
              <a:extLst>
                <a:ext uri="{FF2B5EF4-FFF2-40B4-BE49-F238E27FC236}">
                  <a16:creationId xmlns:a16="http://schemas.microsoft.com/office/drawing/2014/main" id="{1050EBEA-562E-4D43-80AB-7F9E02C69D16}"/>
                </a:ext>
              </a:extLst>
            </p:cNvPr>
            <p:cNvPicPr/>
            <p:nvPr/>
          </p:nvPicPr>
          <p:blipFill>
            <a:blip r:embed="rId2"/>
            <a:stretch>
              <a:fillRect/>
            </a:stretch>
          </p:blipFill>
          <p:spPr>
            <a:xfrm>
              <a:off x="0" y="0"/>
              <a:ext cx="5340096" cy="3419856"/>
            </a:xfrm>
            <a:prstGeom prst="rect">
              <a:avLst/>
            </a:prstGeom>
          </p:spPr>
        </p:pic>
        <p:pic>
          <p:nvPicPr>
            <p:cNvPr id="6" name="Picture 5">
              <a:extLst>
                <a:ext uri="{FF2B5EF4-FFF2-40B4-BE49-F238E27FC236}">
                  <a16:creationId xmlns:a16="http://schemas.microsoft.com/office/drawing/2014/main" id="{886E6832-C8D6-4431-B2A2-C019ECEAA7A2}"/>
                </a:ext>
              </a:extLst>
            </p:cNvPr>
            <p:cNvPicPr/>
            <p:nvPr/>
          </p:nvPicPr>
          <p:blipFill>
            <a:blip r:embed="rId3"/>
            <a:stretch>
              <a:fillRect/>
            </a:stretch>
          </p:blipFill>
          <p:spPr>
            <a:xfrm>
              <a:off x="5542788" y="368808"/>
              <a:ext cx="5149597" cy="3051048"/>
            </a:xfrm>
            <a:prstGeom prst="rect">
              <a:avLst/>
            </a:prstGeom>
          </p:spPr>
        </p:pic>
      </p:grpSp>
      <p:graphicFrame>
        <p:nvGraphicFramePr>
          <p:cNvPr id="7" name="Table 6">
            <a:extLst>
              <a:ext uri="{FF2B5EF4-FFF2-40B4-BE49-F238E27FC236}">
                <a16:creationId xmlns:a16="http://schemas.microsoft.com/office/drawing/2014/main" id="{4E443724-9770-4006-92AF-BDF11FEFC577}"/>
              </a:ext>
            </a:extLst>
          </p:cNvPr>
          <p:cNvGraphicFramePr>
            <a:graphicFrameLocks noGrp="1"/>
          </p:cNvGraphicFramePr>
          <p:nvPr>
            <p:extLst>
              <p:ext uri="{D42A27DB-BD31-4B8C-83A1-F6EECF244321}">
                <p14:modId xmlns:p14="http://schemas.microsoft.com/office/powerpoint/2010/main" val="1735895255"/>
              </p:ext>
            </p:extLst>
          </p:nvPr>
        </p:nvGraphicFramePr>
        <p:xfrm>
          <a:off x="954156" y="3486046"/>
          <a:ext cx="8141970" cy="3005014"/>
        </p:xfrm>
        <a:graphic>
          <a:graphicData uri="http://schemas.openxmlformats.org/drawingml/2006/table">
            <a:tbl>
              <a:tblPr firstRow="1" firstCol="1" bandRow="1">
                <a:tableStyleId>{5C22544A-7EE6-4342-B048-85BDC9FD1C3A}</a:tableStyleId>
              </a:tblPr>
              <a:tblGrid>
                <a:gridCol w="2357571">
                  <a:extLst>
                    <a:ext uri="{9D8B030D-6E8A-4147-A177-3AD203B41FA5}">
                      <a16:colId xmlns:a16="http://schemas.microsoft.com/office/drawing/2014/main" val="506753147"/>
                    </a:ext>
                  </a:extLst>
                </a:gridCol>
                <a:gridCol w="1758178">
                  <a:extLst>
                    <a:ext uri="{9D8B030D-6E8A-4147-A177-3AD203B41FA5}">
                      <a16:colId xmlns:a16="http://schemas.microsoft.com/office/drawing/2014/main" val="2320220221"/>
                    </a:ext>
                  </a:extLst>
                </a:gridCol>
                <a:gridCol w="2313760">
                  <a:extLst>
                    <a:ext uri="{9D8B030D-6E8A-4147-A177-3AD203B41FA5}">
                      <a16:colId xmlns:a16="http://schemas.microsoft.com/office/drawing/2014/main" val="2620731957"/>
                    </a:ext>
                  </a:extLst>
                </a:gridCol>
                <a:gridCol w="1712461">
                  <a:extLst>
                    <a:ext uri="{9D8B030D-6E8A-4147-A177-3AD203B41FA5}">
                      <a16:colId xmlns:a16="http://schemas.microsoft.com/office/drawing/2014/main" val="1046224433"/>
                    </a:ext>
                  </a:extLst>
                </a:gridCol>
              </a:tblGrid>
              <a:tr h="311785">
                <a:tc>
                  <a:txBody>
                    <a:bodyPr/>
                    <a:lstStyle/>
                    <a:p>
                      <a:pPr marL="43815">
                        <a:lnSpc>
                          <a:spcPct val="107000"/>
                        </a:lnSpc>
                        <a:spcAft>
                          <a:spcPts val="0"/>
                        </a:spcAft>
                      </a:pPr>
                      <a:r>
                        <a:rPr lang="en-IN" sz="1700">
                          <a:effectLst/>
                        </a:rPr>
                        <a:t>To display</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80010" marB="5080"/>
                </a:tc>
                <a:tc>
                  <a:txBody>
                    <a:bodyPr/>
                    <a:lstStyle/>
                    <a:p>
                      <a:pPr>
                        <a:lnSpc>
                          <a:spcPct val="107000"/>
                        </a:lnSpc>
                        <a:spcAft>
                          <a:spcPts val="0"/>
                        </a:spcAft>
                      </a:pPr>
                      <a:r>
                        <a:rPr lang="en-IN" sz="1700">
                          <a:effectLst/>
                        </a:rPr>
                        <a:t>Use this code</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80010" marB="5080"/>
                </a:tc>
                <a:tc>
                  <a:txBody>
                    <a:bodyPr/>
                    <a:lstStyle/>
                    <a:p>
                      <a:pPr>
                        <a:lnSpc>
                          <a:spcPct val="107000"/>
                        </a:lnSpc>
                        <a:spcAft>
                          <a:spcPts val="0"/>
                        </a:spcAft>
                      </a:pPr>
                      <a:r>
                        <a:rPr lang="en-IN" sz="1700">
                          <a:effectLst/>
                        </a:rPr>
                        <a:t>To display</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80010" marB="5080"/>
                </a:tc>
                <a:tc>
                  <a:txBody>
                    <a:bodyPr/>
                    <a:lstStyle/>
                    <a:p>
                      <a:pPr>
                        <a:lnSpc>
                          <a:spcPct val="107000"/>
                        </a:lnSpc>
                        <a:spcAft>
                          <a:spcPts val="0"/>
                        </a:spcAft>
                      </a:pPr>
                      <a:r>
                        <a:rPr lang="en-IN" sz="1700">
                          <a:effectLst/>
                        </a:rPr>
                        <a:t>Use this code</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80010" marB="5080"/>
                </a:tc>
                <a:extLst>
                  <a:ext uri="{0D108BD9-81ED-4DB2-BD59-A6C34878D82A}">
                    <a16:rowId xmlns:a16="http://schemas.microsoft.com/office/drawing/2014/main" val="2356846300"/>
                  </a:ext>
                </a:extLst>
              </a:tr>
              <a:tr h="328930">
                <a:tc>
                  <a:txBody>
                    <a:bodyPr/>
                    <a:lstStyle/>
                    <a:p>
                      <a:pPr marL="87630">
                        <a:lnSpc>
                          <a:spcPct val="107000"/>
                        </a:lnSpc>
                        <a:spcAft>
                          <a:spcPts val="0"/>
                        </a:spcAft>
                      </a:pPr>
                      <a:r>
                        <a:rPr lang="en-IN" sz="1700">
                          <a:effectLst/>
                        </a:rPr>
                        <a:t>Months as 1–12</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80010" marB="5080" anchor="b"/>
                </a:tc>
                <a:tc>
                  <a:txBody>
                    <a:bodyPr/>
                    <a:lstStyle/>
                    <a:p>
                      <a:pPr marL="603250">
                        <a:lnSpc>
                          <a:spcPct val="107000"/>
                        </a:lnSpc>
                        <a:spcAft>
                          <a:spcPts val="0"/>
                        </a:spcAft>
                      </a:pPr>
                      <a:r>
                        <a:rPr lang="en-IN" sz="1700">
                          <a:effectLst/>
                        </a:rPr>
                        <a:t>m</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80010" marB="5080" anchor="b"/>
                </a:tc>
                <a:tc>
                  <a:txBody>
                    <a:bodyPr/>
                    <a:lstStyle/>
                    <a:p>
                      <a:pPr marL="43815">
                        <a:lnSpc>
                          <a:spcPct val="107000"/>
                        </a:lnSpc>
                        <a:spcAft>
                          <a:spcPts val="0"/>
                        </a:spcAft>
                      </a:pPr>
                      <a:r>
                        <a:rPr lang="en-IN" sz="1700">
                          <a:effectLst/>
                        </a:rPr>
                        <a:t>Days as 1–31</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80010" marB="5080" anchor="b"/>
                </a:tc>
                <a:tc>
                  <a:txBody>
                    <a:bodyPr/>
                    <a:lstStyle/>
                    <a:p>
                      <a:pPr marL="632460">
                        <a:lnSpc>
                          <a:spcPct val="107000"/>
                        </a:lnSpc>
                        <a:spcAft>
                          <a:spcPts val="0"/>
                        </a:spcAft>
                      </a:pPr>
                      <a:r>
                        <a:rPr lang="en-IN" sz="1700">
                          <a:effectLst/>
                        </a:rPr>
                        <a:t>d</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80010" marB="5080" anchor="b"/>
                </a:tc>
                <a:extLst>
                  <a:ext uri="{0D108BD9-81ED-4DB2-BD59-A6C34878D82A}">
                    <a16:rowId xmlns:a16="http://schemas.microsoft.com/office/drawing/2014/main" val="3344855621"/>
                  </a:ext>
                </a:extLst>
              </a:tr>
              <a:tr h="328930">
                <a:tc>
                  <a:txBody>
                    <a:bodyPr/>
                    <a:lstStyle/>
                    <a:p>
                      <a:pPr marL="87630">
                        <a:lnSpc>
                          <a:spcPct val="107000"/>
                        </a:lnSpc>
                        <a:spcAft>
                          <a:spcPts val="0"/>
                        </a:spcAft>
                      </a:pPr>
                      <a:r>
                        <a:rPr lang="en-IN" sz="1700">
                          <a:effectLst/>
                        </a:rPr>
                        <a:t>Months as 01–12</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80010" marB="5080" anchor="b"/>
                </a:tc>
                <a:tc>
                  <a:txBody>
                    <a:bodyPr/>
                    <a:lstStyle/>
                    <a:p>
                      <a:pPr marL="510540">
                        <a:lnSpc>
                          <a:spcPct val="107000"/>
                        </a:lnSpc>
                        <a:spcAft>
                          <a:spcPts val="0"/>
                        </a:spcAft>
                      </a:pPr>
                      <a:r>
                        <a:rPr lang="en-IN" sz="1700">
                          <a:effectLst/>
                        </a:rPr>
                        <a:t>mm</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80010" marB="5080" anchor="b"/>
                </a:tc>
                <a:tc>
                  <a:txBody>
                    <a:bodyPr/>
                    <a:lstStyle/>
                    <a:p>
                      <a:pPr marL="43815">
                        <a:lnSpc>
                          <a:spcPct val="107000"/>
                        </a:lnSpc>
                        <a:spcAft>
                          <a:spcPts val="0"/>
                        </a:spcAft>
                      </a:pPr>
                      <a:r>
                        <a:rPr lang="en-IN" sz="1700" dirty="0">
                          <a:effectLst/>
                        </a:rPr>
                        <a:t>Days as 01–31</a:t>
                      </a:r>
                      <a:endParaRPr lang="en-IN"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80010" marB="5080" anchor="b"/>
                </a:tc>
                <a:tc>
                  <a:txBody>
                    <a:bodyPr/>
                    <a:lstStyle/>
                    <a:p>
                      <a:pPr marL="568325">
                        <a:lnSpc>
                          <a:spcPct val="107000"/>
                        </a:lnSpc>
                        <a:spcAft>
                          <a:spcPts val="0"/>
                        </a:spcAft>
                      </a:pPr>
                      <a:r>
                        <a:rPr lang="en-IN" sz="1700">
                          <a:effectLst/>
                        </a:rPr>
                        <a:t>dd</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80010" marB="5080" anchor="b"/>
                </a:tc>
                <a:extLst>
                  <a:ext uri="{0D108BD9-81ED-4DB2-BD59-A6C34878D82A}">
                    <a16:rowId xmlns:a16="http://schemas.microsoft.com/office/drawing/2014/main" val="2182788301"/>
                  </a:ext>
                </a:extLst>
              </a:tr>
              <a:tr h="328930">
                <a:tc>
                  <a:txBody>
                    <a:bodyPr/>
                    <a:lstStyle/>
                    <a:p>
                      <a:pPr marL="87630">
                        <a:lnSpc>
                          <a:spcPct val="107000"/>
                        </a:lnSpc>
                        <a:spcAft>
                          <a:spcPts val="0"/>
                        </a:spcAft>
                      </a:pPr>
                      <a:r>
                        <a:rPr lang="en-IN" sz="1700">
                          <a:effectLst/>
                        </a:rPr>
                        <a:t>Months as Jan–Dec</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80010" marB="5080" anchor="b"/>
                </a:tc>
                <a:tc>
                  <a:txBody>
                    <a:bodyPr/>
                    <a:lstStyle/>
                    <a:p>
                      <a:pPr marL="417830">
                        <a:lnSpc>
                          <a:spcPct val="107000"/>
                        </a:lnSpc>
                        <a:spcAft>
                          <a:spcPts val="0"/>
                        </a:spcAft>
                      </a:pPr>
                      <a:r>
                        <a:rPr lang="en-IN" sz="1700">
                          <a:effectLst/>
                        </a:rPr>
                        <a:t>mmm</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80010" marB="5080" anchor="b"/>
                </a:tc>
                <a:tc>
                  <a:txBody>
                    <a:bodyPr/>
                    <a:lstStyle/>
                    <a:p>
                      <a:pPr marL="43815">
                        <a:lnSpc>
                          <a:spcPct val="107000"/>
                        </a:lnSpc>
                        <a:spcAft>
                          <a:spcPts val="0"/>
                        </a:spcAft>
                      </a:pPr>
                      <a:r>
                        <a:rPr lang="en-IN" sz="1700">
                          <a:effectLst/>
                        </a:rPr>
                        <a:t>Days as Sun–Sat</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80010" marB="5080" anchor="b"/>
                </a:tc>
                <a:tc>
                  <a:txBody>
                    <a:bodyPr/>
                    <a:lstStyle/>
                    <a:p>
                      <a:pPr marL="504190">
                        <a:lnSpc>
                          <a:spcPct val="107000"/>
                        </a:lnSpc>
                        <a:spcAft>
                          <a:spcPts val="0"/>
                        </a:spcAft>
                      </a:pPr>
                      <a:r>
                        <a:rPr lang="en-IN" sz="1700">
                          <a:effectLst/>
                        </a:rPr>
                        <a:t>ddd</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80010" marB="5080" anchor="b"/>
                </a:tc>
                <a:extLst>
                  <a:ext uri="{0D108BD9-81ED-4DB2-BD59-A6C34878D82A}">
                    <a16:rowId xmlns:a16="http://schemas.microsoft.com/office/drawing/2014/main" val="65067988"/>
                  </a:ext>
                </a:extLst>
              </a:tr>
              <a:tr h="588010">
                <a:tc>
                  <a:txBody>
                    <a:bodyPr/>
                    <a:lstStyle/>
                    <a:p>
                      <a:pPr marL="87630">
                        <a:lnSpc>
                          <a:spcPct val="107000"/>
                        </a:lnSpc>
                        <a:spcAft>
                          <a:spcPts val="0"/>
                        </a:spcAft>
                      </a:pPr>
                      <a:r>
                        <a:rPr lang="en-IN" sz="1700">
                          <a:effectLst/>
                        </a:rPr>
                        <a:t>Months as </a:t>
                      </a:r>
                      <a:endParaRPr lang="en-IN" sz="1100">
                        <a:effectLst/>
                      </a:endParaRPr>
                    </a:p>
                    <a:p>
                      <a:pPr marL="87630">
                        <a:lnSpc>
                          <a:spcPct val="107000"/>
                        </a:lnSpc>
                        <a:spcAft>
                          <a:spcPts val="0"/>
                        </a:spcAft>
                      </a:pPr>
                      <a:r>
                        <a:rPr lang="en-IN" sz="1700">
                          <a:effectLst/>
                        </a:rPr>
                        <a:t>January–December</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80010" marB="5080" anchor="b"/>
                </a:tc>
                <a:tc>
                  <a:txBody>
                    <a:bodyPr/>
                    <a:lstStyle/>
                    <a:p>
                      <a:pPr marL="324485">
                        <a:lnSpc>
                          <a:spcPct val="107000"/>
                        </a:lnSpc>
                        <a:spcAft>
                          <a:spcPts val="0"/>
                        </a:spcAft>
                      </a:pPr>
                      <a:r>
                        <a:rPr lang="en-IN" sz="1700">
                          <a:effectLst/>
                        </a:rPr>
                        <a:t>mmmm</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80010" marB="5080"/>
                </a:tc>
                <a:tc>
                  <a:txBody>
                    <a:bodyPr/>
                    <a:lstStyle/>
                    <a:p>
                      <a:pPr marL="43815">
                        <a:lnSpc>
                          <a:spcPct val="107000"/>
                        </a:lnSpc>
                        <a:spcAft>
                          <a:spcPts val="0"/>
                        </a:spcAft>
                      </a:pPr>
                      <a:r>
                        <a:rPr lang="en-IN" sz="1700">
                          <a:effectLst/>
                        </a:rPr>
                        <a:t>Days as Sunday– Saturday</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80010" marB="5080" anchor="b"/>
                </a:tc>
                <a:tc>
                  <a:txBody>
                    <a:bodyPr/>
                    <a:lstStyle/>
                    <a:p>
                      <a:pPr marL="440690">
                        <a:lnSpc>
                          <a:spcPct val="107000"/>
                        </a:lnSpc>
                        <a:spcAft>
                          <a:spcPts val="0"/>
                        </a:spcAft>
                      </a:pPr>
                      <a:r>
                        <a:rPr lang="en-IN" sz="1700">
                          <a:effectLst/>
                        </a:rPr>
                        <a:t>dddd</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80010" marB="5080"/>
                </a:tc>
                <a:extLst>
                  <a:ext uri="{0D108BD9-81ED-4DB2-BD59-A6C34878D82A}">
                    <a16:rowId xmlns:a16="http://schemas.microsoft.com/office/drawing/2014/main" val="1348643968"/>
                  </a:ext>
                </a:extLst>
              </a:tr>
              <a:tr h="588010">
                <a:tc>
                  <a:txBody>
                    <a:bodyPr/>
                    <a:lstStyle/>
                    <a:p>
                      <a:pPr marL="87630">
                        <a:lnSpc>
                          <a:spcPct val="107000"/>
                        </a:lnSpc>
                        <a:spcAft>
                          <a:spcPts val="0"/>
                        </a:spcAft>
                      </a:pPr>
                      <a:r>
                        <a:rPr lang="en-IN" sz="1700">
                          <a:effectLst/>
                        </a:rPr>
                        <a:t>Months as the first letter of the month</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80010" marB="5080" anchor="b"/>
                </a:tc>
                <a:tc>
                  <a:txBody>
                    <a:bodyPr/>
                    <a:lstStyle/>
                    <a:p>
                      <a:pPr marL="231775">
                        <a:lnSpc>
                          <a:spcPct val="107000"/>
                        </a:lnSpc>
                        <a:spcAft>
                          <a:spcPts val="0"/>
                        </a:spcAft>
                      </a:pPr>
                      <a:r>
                        <a:rPr lang="en-IN" sz="1700">
                          <a:effectLst/>
                        </a:rPr>
                        <a:t>mmmmm</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80010" marB="5080"/>
                </a:tc>
                <a:tc>
                  <a:txBody>
                    <a:bodyPr/>
                    <a:lstStyle/>
                    <a:p>
                      <a:pPr marL="43815">
                        <a:lnSpc>
                          <a:spcPct val="107000"/>
                        </a:lnSpc>
                        <a:spcAft>
                          <a:spcPts val="0"/>
                        </a:spcAft>
                      </a:pPr>
                      <a:r>
                        <a:rPr lang="en-IN" sz="1700">
                          <a:effectLst/>
                        </a:rPr>
                        <a:t>Years as 00–99</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80010" marB="5080"/>
                </a:tc>
                <a:tc>
                  <a:txBody>
                    <a:bodyPr/>
                    <a:lstStyle/>
                    <a:p>
                      <a:pPr marL="591185">
                        <a:lnSpc>
                          <a:spcPct val="107000"/>
                        </a:lnSpc>
                        <a:spcAft>
                          <a:spcPts val="0"/>
                        </a:spcAft>
                      </a:pPr>
                      <a:r>
                        <a:rPr lang="en-IN" sz="1700">
                          <a:effectLst/>
                        </a:rPr>
                        <a:t>yy</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80010" marB="5080"/>
                </a:tc>
                <a:extLst>
                  <a:ext uri="{0D108BD9-81ED-4DB2-BD59-A6C34878D82A}">
                    <a16:rowId xmlns:a16="http://schemas.microsoft.com/office/drawing/2014/main" val="652256665"/>
                  </a:ext>
                </a:extLst>
              </a:tr>
              <a:tr h="328930">
                <a:tc>
                  <a:txBody>
                    <a:bodyPr/>
                    <a:lstStyle/>
                    <a:p>
                      <a:pPr>
                        <a:lnSpc>
                          <a:spcPct val="107000"/>
                        </a:lnSpc>
                        <a:spcAft>
                          <a:spcPts val="0"/>
                        </a:spcAft>
                      </a:pPr>
                      <a:r>
                        <a:rPr lang="en-IN" sz="1100">
                          <a:effectLst/>
                        </a:rPr>
                        <a:t> </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80010" marB="5080"/>
                </a:tc>
                <a:tc>
                  <a:txBody>
                    <a:bodyPr/>
                    <a:lstStyle/>
                    <a:p>
                      <a:pPr>
                        <a:lnSpc>
                          <a:spcPct val="107000"/>
                        </a:lnSpc>
                        <a:spcAft>
                          <a:spcPts val="0"/>
                        </a:spcAft>
                      </a:pPr>
                      <a:r>
                        <a:rPr lang="en-IN" sz="1100">
                          <a:effectLst/>
                        </a:rPr>
                        <a:t> </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80010" marB="5080"/>
                </a:tc>
                <a:tc>
                  <a:txBody>
                    <a:bodyPr/>
                    <a:lstStyle/>
                    <a:p>
                      <a:pPr marL="43815">
                        <a:lnSpc>
                          <a:spcPct val="107000"/>
                        </a:lnSpc>
                        <a:spcAft>
                          <a:spcPts val="0"/>
                        </a:spcAft>
                      </a:pPr>
                      <a:r>
                        <a:rPr lang="en-IN" sz="1700">
                          <a:effectLst/>
                        </a:rPr>
                        <a:t>Years as 1900–9999</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80010" marB="5080" anchor="b"/>
                </a:tc>
                <a:tc>
                  <a:txBody>
                    <a:bodyPr/>
                    <a:lstStyle/>
                    <a:p>
                      <a:pPr marL="486410">
                        <a:lnSpc>
                          <a:spcPct val="107000"/>
                        </a:lnSpc>
                        <a:spcAft>
                          <a:spcPts val="0"/>
                        </a:spcAft>
                      </a:pPr>
                      <a:r>
                        <a:rPr lang="en-IN" sz="1700" dirty="0" err="1">
                          <a:effectLst/>
                        </a:rPr>
                        <a:t>yyyy</a:t>
                      </a:r>
                      <a:endParaRPr lang="en-IN"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3025" marT="80010" marB="5080" anchor="b"/>
                </a:tc>
                <a:extLst>
                  <a:ext uri="{0D108BD9-81ED-4DB2-BD59-A6C34878D82A}">
                    <a16:rowId xmlns:a16="http://schemas.microsoft.com/office/drawing/2014/main" val="3808639762"/>
                  </a:ext>
                </a:extLst>
              </a:tr>
            </a:tbl>
          </a:graphicData>
        </a:graphic>
      </p:graphicFrame>
    </p:spTree>
    <p:extLst>
      <p:ext uri="{BB962C8B-B14F-4D97-AF65-F5344CB8AC3E}">
        <p14:creationId xmlns:p14="http://schemas.microsoft.com/office/powerpoint/2010/main" val="155831976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94346-077B-4BC8-97BE-0319CFD02F5A}"/>
              </a:ext>
            </a:extLst>
          </p:cNvPr>
          <p:cNvSpPr>
            <a:spLocks noGrp="1"/>
          </p:cNvSpPr>
          <p:nvPr>
            <p:ph type="title"/>
          </p:nvPr>
        </p:nvSpPr>
        <p:spPr>
          <a:xfrm>
            <a:off x="762000" y="166342"/>
            <a:ext cx="10515600" cy="1325563"/>
          </a:xfrm>
        </p:spPr>
        <p:txBody>
          <a:bodyPr/>
          <a:lstStyle/>
          <a:p>
            <a:r>
              <a:rPr lang="en-IN" b="1" dirty="0"/>
              <a:t>Date Conversions</a:t>
            </a:r>
          </a:p>
        </p:txBody>
      </p:sp>
      <p:sp>
        <p:nvSpPr>
          <p:cNvPr id="6" name="Content Placeholder 5">
            <a:extLst>
              <a:ext uri="{FF2B5EF4-FFF2-40B4-BE49-F238E27FC236}">
                <a16:creationId xmlns:a16="http://schemas.microsoft.com/office/drawing/2014/main" id="{C3D2CB4C-6B6F-4E58-94EC-4B7CE36DDE7A}"/>
              </a:ext>
            </a:extLst>
          </p:cNvPr>
          <p:cNvSpPr>
            <a:spLocks noGrp="1"/>
          </p:cNvSpPr>
          <p:nvPr>
            <p:ph sz="half" idx="1"/>
          </p:nvPr>
        </p:nvSpPr>
        <p:spPr>
          <a:xfrm>
            <a:off x="838200" y="1399103"/>
            <a:ext cx="5181600" cy="4777859"/>
          </a:xfrm>
        </p:spPr>
        <p:txBody>
          <a:bodyPr>
            <a:normAutofit lnSpcReduction="10000"/>
          </a:bodyPr>
          <a:lstStyle/>
          <a:p>
            <a:pPr algn="just"/>
            <a:r>
              <a:rPr lang="en-US" sz="2400" dirty="0"/>
              <a:t>You can use the DATE function to convert the information from text into dates. For example, in the following illustration, cell C2 contains a date that is in the format: YYYYMMDD. It is also formatted as text. , MID To convert it into a date, the DATE function was used in conjunction with the LEFT , and RIGHT functions.</a:t>
            </a:r>
          </a:p>
          <a:p>
            <a:pPr algn="just"/>
            <a:r>
              <a:rPr lang="en-US" sz="2400" dirty="0"/>
              <a:t>Try to join text and a number without using the TEXT function. In this case, we’re using the ampersand (&amp;) to concatenate a text string, a space (" "), and a value with =A2&amp;" "&amp;B2.</a:t>
            </a:r>
            <a:endParaRPr lang="en-IN" sz="2400" dirty="0"/>
          </a:p>
        </p:txBody>
      </p:sp>
      <p:sp>
        <p:nvSpPr>
          <p:cNvPr id="7" name="Content Placeholder 6">
            <a:extLst>
              <a:ext uri="{FF2B5EF4-FFF2-40B4-BE49-F238E27FC236}">
                <a16:creationId xmlns:a16="http://schemas.microsoft.com/office/drawing/2014/main" id="{1915C56B-442C-4F61-B842-C666399914A9}"/>
              </a:ext>
            </a:extLst>
          </p:cNvPr>
          <p:cNvSpPr>
            <a:spLocks noGrp="1"/>
          </p:cNvSpPr>
          <p:nvPr>
            <p:ph sz="half" idx="2"/>
          </p:nvPr>
        </p:nvSpPr>
        <p:spPr>
          <a:xfrm>
            <a:off x="6172200" y="1491905"/>
            <a:ext cx="5181600" cy="4685058"/>
          </a:xfrm>
        </p:spPr>
        <p:txBody>
          <a:bodyPr>
            <a:normAutofit lnSpcReduction="10000"/>
          </a:bodyPr>
          <a:lstStyle/>
          <a:p>
            <a:pPr algn="just"/>
            <a:endParaRPr lang="en-IN" sz="2400" dirty="0"/>
          </a:p>
        </p:txBody>
      </p:sp>
      <p:grpSp>
        <p:nvGrpSpPr>
          <p:cNvPr id="8" name="Group 7">
            <a:extLst>
              <a:ext uri="{FF2B5EF4-FFF2-40B4-BE49-F238E27FC236}">
                <a16:creationId xmlns:a16="http://schemas.microsoft.com/office/drawing/2014/main" id="{CEBE3C68-6A71-4573-84CD-9486272613FB}"/>
              </a:ext>
            </a:extLst>
          </p:cNvPr>
          <p:cNvGrpSpPr/>
          <p:nvPr/>
        </p:nvGrpSpPr>
        <p:grpSpPr>
          <a:xfrm>
            <a:off x="6361042" y="1491904"/>
            <a:ext cx="4916557" cy="4685058"/>
            <a:chOff x="0" y="0"/>
            <a:chExt cx="3613404" cy="3087624"/>
          </a:xfrm>
        </p:grpSpPr>
        <p:pic>
          <p:nvPicPr>
            <p:cNvPr id="9" name="Picture 8">
              <a:extLst>
                <a:ext uri="{FF2B5EF4-FFF2-40B4-BE49-F238E27FC236}">
                  <a16:creationId xmlns:a16="http://schemas.microsoft.com/office/drawing/2014/main" id="{37C5D96B-E536-4505-85DB-6463E5BFB472}"/>
                </a:ext>
              </a:extLst>
            </p:cNvPr>
            <p:cNvPicPr/>
            <p:nvPr/>
          </p:nvPicPr>
          <p:blipFill>
            <a:blip r:embed="rId2"/>
            <a:stretch>
              <a:fillRect/>
            </a:stretch>
          </p:blipFill>
          <p:spPr>
            <a:xfrm>
              <a:off x="0" y="0"/>
              <a:ext cx="3613404" cy="1763268"/>
            </a:xfrm>
            <a:prstGeom prst="rect">
              <a:avLst/>
            </a:prstGeom>
          </p:spPr>
        </p:pic>
        <p:pic>
          <p:nvPicPr>
            <p:cNvPr id="10" name="Picture 9">
              <a:extLst>
                <a:ext uri="{FF2B5EF4-FFF2-40B4-BE49-F238E27FC236}">
                  <a16:creationId xmlns:a16="http://schemas.microsoft.com/office/drawing/2014/main" id="{DE1ADEC9-F583-4A0F-9571-848DF6379FE4}"/>
                </a:ext>
              </a:extLst>
            </p:cNvPr>
            <p:cNvPicPr/>
            <p:nvPr/>
          </p:nvPicPr>
          <p:blipFill>
            <a:blip r:embed="rId3"/>
            <a:stretch>
              <a:fillRect/>
            </a:stretch>
          </p:blipFill>
          <p:spPr>
            <a:xfrm>
              <a:off x="0" y="1964436"/>
              <a:ext cx="3613404" cy="1123188"/>
            </a:xfrm>
            <a:prstGeom prst="rect">
              <a:avLst/>
            </a:prstGeom>
          </p:spPr>
        </p:pic>
      </p:grpSp>
    </p:spTree>
    <p:extLst>
      <p:ext uri="{BB962C8B-B14F-4D97-AF65-F5344CB8AC3E}">
        <p14:creationId xmlns:p14="http://schemas.microsoft.com/office/powerpoint/2010/main" val="12547164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1668C-2336-4955-9504-B3B528D071A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7F3CDBC-F05E-4DB9-BCE0-5857468CAFFD}"/>
              </a:ext>
            </a:extLst>
          </p:cNvPr>
          <p:cNvSpPr>
            <a:spLocks noGrp="1"/>
          </p:cNvSpPr>
          <p:nvPr>
            <p:ph sz="half" idx="1"/>
          </p:nvPr>
        </p:nvSpPr>
        <p:spPr/>
        <p:txBody>
          <a:bodyPr>
            <a:normAutofit/>
          </a:bodyPr>
          <a:lstStyle/>
          <a:p>
            <a:pPr algn="just"/>
            <a:r>
              <a:rPr lang="en-US" sz="2400" dirty="0"/>
              <a:t>Excel removed the formatting from the date in cell B2. In the next example, you'll see how the TEXT function lets you apply the format you want.</a:t>
            </a:r>
          </a:p>
          <a:p>
            <a:pPr algn="just"/>
            <a:endParaRPr lang="en-US" sz="2400" dirty="0"/>
          </a:p>
          <a:p>
            <a:pPr algn="just"/>
            <a:endParaRPr lang="en-US" sz="2400" dirty="0"/>
          </a:p>
          <a:p>
            <a:pPr algn="just"/>
            <a:endParaRPr lang="en-US" sz="2400" dirty="0"/>
          </a:p>
          <a:p>
            <a:pPr algn="just"/>
            <a:r>
              <a:rPr lang="en-US" sz="2400" dirty="0"/>
              <a:t>Format cells feature can be used.</a:t>
            </a:r>
          </a:p>
          <a:p>
            <a:pPr algn="just"/>
            <a:endParaRPr lang="en-IN" sz="2400" dirty="0"/>
          </a:p>
        </p:txBody>
      </p:sp>
      <p:graphicFrame>
        <p:nvGraphicFramePr>
          <p:cNvPr id="5" name="Content Placeholder 4">
            <a:extLst>
              <a:ext uri="{FF2B5EF4-FFF2-40B4-BE49-F238E27FC236}">
                <a16:creationId xmlns:a16="http://schemas.microsoft.com/office/drawing/2014/main" id="{D274790F-5EF5-40F6-B5C8-2E57D0ABF6A2}"/>
              </a:ext>
            </a:extLst>
          </p:cNvPr>
          <p:cNvGraphicFramePr>
            <a:graphicFrameLocks noGrp="1"/>
          </p:cNvGraphicFramePr>
          <p:nvPr>
            <p:ph sz="half" idx="2"/>
            <p:extLst>
              <p:ext uri="{D42A27DB-BD31-4B8C-83A1-F6EECF244321}">
                <p14:modId xmlns:p14="http://schemas.microsoft.com/office/powerpoint/2010/main" val="2957773039"/>
              </p:ext>
            </p:extLst>
          </p:nvPr>
        </p:nvGraphicFramePr>
        <p:xfrm>
          <a:off x="838200" y="3664514"/>
          <a:ext cx="5181600" cy="965108"/>
        </p:xfrm>
        <a:graphic>
          <a:graphicData uri="http://schemas.openxmlformats.org/drawingml/2006/table">
            <a:tbl>
              <a:tblPr firstRow="1" firstCol="1" bandRow="1">
                <a:tableStyleId>{5C22544A-7EE6-4342-B048-85BDC9FD1C3A}</a:tableStyleId>
              </a:tblPr>
              <a:tblGrid>
                <a:gridCol w="2673243">
                  <a:extLst>
                    <a:ext uri="{9D8B030D-6E8A-4147-A177-3AD203B41FA5}">
                      <a16:colId xmlns:a16="http://schemas.microsoft.com/office/drawing/2014/main" val="941578545"/>
                    </a:ext>
                  </a:extLst>
                </a:gridCol>
                <a:gridCol w="2508357">
                  <a:extLst>
                    <a:ext uri="{9D8B030D-6E8A-4147-A177-3AD203B41FA5}">
                      <a16:colId xmlns:a16="http://schemas.microsoft.com/office/drawing/2014/main" val="3600577921"/>
                    </a:ext>
                  </a:extLst>
                </a:gridCol>
              </a:tblGrid>
              <a:tr h="482554">
                <a:tc>
                  <a:txBody>
                    <a:bodyPr/>
                    <a:lstStyle/>
                    <a:p>
                      <a:pPr marL="95250" algn="l">
                        <a:lnSpc>
                          <a:spcPct val="107000"/>
                        </a:lnSpc>
                        <a:spcAft>
                          <a:spcPts val="0"/>
                        </a:spcAft>
                      </a:pPr>
                      <a:r>
                        <a:rPr lang="en-IN" sz="1200" dirty="0">
                          <a:effectLst/>
                        </a:rPr>
                        <a:t>=TEXT(TODAY(),"MM/DD/YY")</a:t>
                      </a:r>
                      <a:endParaRPr lang="en-IN" sz="9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62997" marT="87100" marB="11504"/>
                </a:tc>
                <a:tc>
                  <a:txBody>
                    <a:bodyPr/>
                    <a:lstStyle/>
                    <a:p>
                      <a:pPr algn="l">
                        <a:lnSpc>
                          <a:spcPct val="107000"/>
                        </a:lnSpc>
                        <a:spcAft>
                          <a:spcPts val="0"/>
                        </a:spcAft>
                      </a:pPr>
                      <a:r>
                        <a:rPr lang="en-IN" sz="1200" dirty="0">
                          <a:effectLst/>
                        </a:rPr>
                        <a:t>Today’s date in MM/DD/YY format, like 03/14/12</a:t>
                      </a:r>
                      <a:endParaRPr lang="en-IN" sz="9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62997" marT="87100" marB="11504" anchor="b">
                    <a:solidFill>
                      <a:schemeClr val="accent1"/>
                    </a:solidFill>
                  </a:tcPr>
                </a:tc>
                <a:extLst>
                  <a:ext uri="{0D108BD9-81ED-4DB2-BD59-A6C34878D82A}">
                    <a16:rowId xmlns:a16="http://schemas.microsoft.com/office/drawing/2014/main" val="4215777030"/>
                  </a:ext>
                </a:extLst>
              </a:tr>
              <a:tr h="482554">
                <a:tc>
                  <a:txBody>
                    <a:bodyPr/>
                    <a:lstStyle/>
                    <a:p>
                      <a:pPr marL="95250" algn="l">
                        <a:lnSpc>
                          <a:spcPct val="107000"/>
                        </a:lnSpc>
                        <a:spcAft>
                          <a:spcPts val="0"/>
                        </a:spcAft>
                      </a:pPr>
                      <a:r>
                        <a:rPr lang="en-IN" sz="1200" dirty="0">
                          <a:effectLst/>
                        </a:rPr>
                        <a:t>=TEXT(TODAY(),"DDDD")</a:t>
                      </a:r>
                      <a:endParaRPr lang="en-IN" sz="9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62997" marT="87100" marB="11504"/>
                </a:tc>
                <a:tc>
                  <a:txBody>
                    <a:bodyPr/>
                    <a:lstStyle/>
                    <a:p>
                      <a:pPr algn="l">
                        <a:lnSpc>
                          <a:spcPct val="107000"/>
                        </a:lnSpc>
                        <a:spcAft>
                          <a:spcPts val="0"/>
                        </a:spcAft>
                      </a:pPr>
                      <a:r>
                        <a:rPr lang="en-IN" sz="1200" dirty="0">
                          <a:solidFill>
                            <a:schemeClr val="bg1"/>
                          </a:solidFill>
                          <a:effectLst/>
                        </a:rPr>
                        <a:t>Today’s day of the week, like </a:t>
                      </a:r>
                      <a:endParaRPr lang="en-IN" sz="900" dirty="0">
                        <a:solidFill>
                          <a:schemeClr val="bg1"/>
                        </a:solidFill>
                        <a:effectLst/>
                      </a:endParaRPr>
                    </a:p>
                    <a:p>
                      <a:pPr algn="l">
                        <a:lnSpc>
                          <a:spcPct val="107000"/>
                        </a:lnSpc>
                        <a:spcAft>
                          <a:spcPts val="0"/>
                        </a:spcAft>
                      </a:pPr>
                      <a:r>
                        <a:rPr lang="en-IN" sz="1200" dirty="0">
                          <a:solidFill>
                            <a:schemeClr val="bg1"/>
                          </a:solidFill>
                          <a:effectLst/>
                        </a:rPr>
                        <a:t>Monday</a:t>
                      </a:r>
                      <a:endParaRPr lang="en-IN" sz="9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62997" marT="87100" marB="11504" anchor="b">
                    <a:solidFill>
                      <a:schemeClr val="accent1"/>
                    </a:solidFill>
                  </a:tcPr>
                </a:tc>
                <a:extLst>
                  <a:ext uri="{0D108BD9-81ED-4DB2-BD59-A6C34878D82A}">
                    <a16:rowId xmlns:a16="http://schemas.microsoft.com/office/drawing/2014/main" val="461657268"/>
                  </a:ext>
                </a:extLst>
              </a:tr>
            </a:tbl>
          </a:graphicData>
        </a:graphic>
      </p:graphicFrame>
      <p:pic>
        <p:nvPicPr>
          <p:cNvPr id="7" name="Picture 6">
            <a:extLst>
              <a:ext uri="{FF2B5EF4-FFF2-40B4-BE49-F238E27FC236}">
                <a16:creationId xmlns:a16="http://schemas.microsoft.com/office/drawing/2014/main" id="{AA529EA2-F1D5-4A94-9C8F-02A216F86EF4}"/>
              </a:ext>
            </a:extLst>
          </p:cNvPr>
          <p:cNvPicPr/>
          <p:nvPr/>
        </p:nvPicPr>
        <p:blipFill>
          <a:blip r:embed="rId2"/>
          <a:stretch>
            <a:fillRect/>
          </a:stretch>
        </p:blipFill>
        <p:spPr>
          <a:xfrm>
            <a:off x="7165146" y="2358887"/>
            <a:ext cx="4188653" cy="2001078"/>
          </a:xfrm>
          <a:prstGeom prst="rect">
            <a:avLst/>
          </a:prstGeom>
        </p:spPr>
      </p:pic>
    </p:spTree>
    <p:extLst>
      <p:ext uri="{BB962C8B-B14F-4D97-AF65-F5344CB8AC3E}">
        <p14:creationId xmlns:p14="http://schemas.microsoft.com/office/powerpoint/2010/main" val="293740391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8255AB7-B365-4423-BAFF-E0FF0A0E7267}"/>
              </a:ext>
            </a:extLst>
          </p:cNvPr>
          <p:cNvSpPr>
            <a:spLocks noGrp="1"/>
          </p:cNvSpPr>
          <p:nvPr>
            <p:ph type="title"/>
          </p:nvPr>
        </p:nvSpPr>
        <p:spPr>
          <a:xfrm>
            <a:off x="838200" y="410472"/>
            <a:ext cx="10515600" cy="1325563"/>
          </a:xfrm>
        </p:spPr>
        <p:txBody>
          <a:bodyPr/>
          <a:lstStyle/>
          <a:p>
            <a:r>
              <a:rPr lang="en-IN" b="1" dirty="0"/>
              <a:t>Time Handling</a:t>
            </a:r>
          </a:p>
        </p:txBody>
      </p:sp>
      <p:sp>
        <p:nvSpPr>
          <p:cNvPr id="6" name="Content Placeholder 5">
            <a:extLst>
              <a:ext uri="{FF2B5EF4-FFF2-40B4-BE49-F238E27FC236}">
                <a16:creationId xmlns:a16="http://schemas.microsoft.com/office/drawing/2014/main" id="{BB0D6B18-9F98-4883-A7EF-D1D5060E5422}"/>
              </a:ext>
            </a:extLst>
          </p:cNvPr>
          <p:cNvSpPr>
            <a:spLocks noGrp="1"/>
          </p:cNvSpPr>
          <p:nvPr>
            <p:ph idx="1"/>
          </p:nvPr>
        </p:nvSpPr>
        <p:spPr>
          <a:xfrm>
            <a:off x="838200" y="1736035"/>
            <a:ext cx="10515600" cy="4598504"/>
          </a:xfrm>
        </p:spPr>
        <p:txBody>
          <a:bodyPr>
            <a:noAutofit/>
          </a:bodyPr>
          <a:lstStyle/>
          <a:p>
            <a:pPr algn="just"/>
            <a:r>
              <a:rPr lang="en-US" sz="2400" dirty="0"/>
              <a:t>Excel’s time functions, which work with or return time serial numbers.</a:t>
            </a:r>
          </a:p>
          <a:p>
            <a:pPr algn="just"/>
            <a:r>
              <a:rPr lang="en-US" sz="2400" dirty="0"/>
              <a:t>Excel’s time functions function description</a:t>
            </a:r>
          </a:p>
          <a:p>
            <a:pPr algn="just"/>
            <a:r>
              <a:rPr lang="en-US" sz="2400" dirty="0">
                <a:solidFill>
                  <a:srgbClr val="FF0000"/>
                </a:solidFill>
              </a:rPr>
              <a:t>HOUR(time) </a:t>
            </a:r>
            <a:r>
              <a:rPr lang="en-US" sz="2400" dirty="0"/>
              <a:t>Extracts the hour component from the time given by time. </a:t>
            </a:r>
          </a:p>
          <a:p>
            <a:pPr algn="just"/>
            <a:r>
              <a:rPr lang="en-US" sz="2400" dirty="0">
                <a:solidFill>
                  <a:srgbClr val="FF0000"/>
                </a:solidFill>
              </a:rPr>
              <a:t>MINUTE(time) </a:t>
            </a:r>
            <a:r>
              <a:rPr lang="en-US" sz="2400" dirty="0"/>
              <a:t>Extracts the minute component from the time given by time. </a:t>
            </a:r>
          </a:p>
          <a:p>
            <a:pPr algn="just"/>
            <a:r>
              <a:rPr lang="en-US" sz="2400" dirty="0">
                <a:solidFill>
                  <a:srgbClr val="FF0000"/>
                </a:solidFill>
              </a:rPr>
              <a:t>NOW</a:t>
            </a:r>
            <a:r>
              <a:rPr lang="en-US" sz="2400" dirty="0"/>
              <a:t> Returns the serial number of the current date and time. </a:t>
            </a:r>
          </a:p>
          <a:p>
            <a:pPr algn="just"/>
            <a:r>
              <a:rPr lang="en-US" sz="2400" dirty="0">
                <a:solidFill>
                  <a:srgbClr val="FF0000"/>
                </a:solidFill>
              </a:rPr>
              <a:t>SECOND(time) </a:t>
            </a:r>
            <a:r>
              <a:rPr lang="en-US" sz="2400" dirty="0"/>
              <a:t>Extracts the seconds component from the time given by time. </a:t>
            </a:r>
          </a:p>
          <a:p>
            <a:pPr algn="just"/>
            <a:r>
              <a:rPr lang="en-US" sz="2400" dirty="0">
                <a:solidFill>
                  <a:srgbClr val="FF0000"/>
                </a:solidFill>
              </a:rPr>
              <a:t>TIME(hour, minute, second) </a:t>
            </a:r>
            <a:r>
              <a:rPr lang="en-US" sz="2400" dirty="0"/>
              <a:t>Returns the serial number of a time, in which hour is a number between 0 and 23, and minute and second are numbers between 0 and 59. </a:t>
            </a:r>
          </a:p>
          <a:p>
            <a:pPr algn="just"/>
            <a:r>
              <a:rPr lang="en-US" sz="2400" dirty="0">
                <a:solidFill>
                  <a:srgbClr val="FF0000"/>
                </a:solidFill>
              </a:rPr>
              <a:t>TIMEVALUE(</a:t>
            </a:r>
            <a:r>
              <a:rPr lang="en-US" sz="2400" dirty="0" err="1">
                <a:solidFill>
                  <a:srgbClr val="FF0000"/>
                </a:solidFill>
              </a:rPr>
              <a:t>time_text</a:t>
            </a:r>
            <a:r>
              <a:rPr lang="en-US" sz="2400" dirty="0">
                <a:solidFill>
                  <a:srgbClr val="FF0000"/>
                </a:solidFill>
              </a:rPr>
              <a:t>) </a:t>
            </a:r>
            <a:r>
              <a:rPr lang="en-US" sz="2400" dirty="0"/>
              <a:t>Converts a time from text to a serial number. </a:t>
            </a:r>
          </a:p>
        </p:txBody>
      </p:sp>
    </p:spTree>
    <p:extLst>
      <p:ext uri="{BB962C8B-B14F-4D97-AF65-F5344CB8AC3E}">
        <p14:creationId xmlns:p14="http://schemas.microsoft.com/office/powerpoint/2010/main" val="138297134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04A61-590B-4748-A1DF-DDA9704BF6E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426B18A-3FD3-4965-9C43-4990F009A1A1}"/>
              </a:ext>
            </a:extLst>
          </p:cNvPr>
          <p:cNvSpPr>
            <a:spLocks noGrp="1"/>
          </p:cNvSpPr>
          <p:nvPr>
            <p:ph idx="1"/>
          </p:nvPr>
        </p:nvSpPr>
        <p:spPr/>
        <p:txBody>
          <a:bodyPr>
            <a:normAutofit fontScale="92500" lnSpcReduction="10000"/>
          </a:bodyPr>
          <a:lstStyle/>
          <a:p>
            <a:pPr algn="just"/>
            <a:r>
              <a:rPr lang="en-US" sz="2400" dirty="0"/>
              <a:t>For example, if it’s noon and today’s date is December 31, 2022, the NOW function returns the following serial number (although in the cell you see this displayed using the m/d/</a:t>
            </a:r>
            <a:r>
              <a:rPr lang="en-US" sz="2400" dirty="0" err="1"/>
              <a:t>yyyy</a:t>
            </a:r>
            <a:r>
              <a:rPr lang="en-US" sz="2400" dirty="0"/>
              <a:t> h:mm format):</a:t>
            </a:r>
          </a:p>
          <a:p>
            <a:pPr algn="just"/>
            <a:r>
              <a:rPr lang="en-US" sz="2400" dirty="0"/>
              <a:t>44926.5 represents noon on December 31, 2022.</a:t>
            </a:r>
          </a:p>
          <a:p>
            <a:pPr algn="just"/>
            <a:r>
              <a:rPr lang="en-US" sz="2400" dirty="0"/>
              <a:t>If you just want the time component of the serial number, subtract TODAY from NOW: NOW()- TODAY()</a:t>
            </a:r>
          </a:p>
          <a:p>
            <a:pPr algn="just"/>
            <a:r>
              <a:rPr lang="en-US" sz="2400" b="1" dirty="0"/>
              <a:t>Time Serial Numbers in Excel</a:t>
            </a:r>
          </a:p>
          <a:p>
            <a:pPr algn="just">
              <a:buFont typeface="Courier New" panose="02070309020205020404" pitchFamily="49" charset="0"/>
              <a:buChar char="o"/>
            </a:pPr>
            <a:r>
              <a:rPr lang="en-US" sz="2400" dirty="0"/>
              <a:t>In Excel, </a:t>
            </a:r>
            <a:r>
              <a:rPr lang="en-US" sz="2400" b="1" dirty="0"/>
              <a:t>time</a:t>
            </a:r>
            <a:r>
              <a:rPr lang="en-US" sz="2400" dirty="0"/>
              <a:t> is stored as a </a:t>
            </a:r>
            <a:r>
              <a:rPr lang="en-US" sz="2400" b="1" dirty="0"/>
              <a:t>decimal fraction of a 24-hour day</a:t>
            </a:r>
            <a:r>
              <a:rPr lang="en-US" sz="2400" dirty="0"/>
              <a:t>.</a:t>
            </a:r>
          </a:p>
          <a:p>
            <a:pPr algn="just">
              <a:buFont typeface="Courier New" panose="02070309020205020404" pitchFamily="49" charset="0"/>
              <a:buChar char="o"/>
            </a:pPr>
            <a:r>
              <a:rPr lang="en-US" sz="2400" b="1" dirty="0"/>
              <a:t>0</a:t>
            </a:r>
            <a:r>
              <a:rPr lang="en-US" sz="2400" dirty="0"/>
              <a:t> → midnight (start of the day)</a:t>
            </a:r>
          </a:p>
          <a:p>
            <a:pPr algn="just">
              <a:buFont typeface="Courier New" panose="02070309020205020404" pitchFamily="49" charset="0"/>
              <a:buChar char="o"/>
            </a:pPr>
            <a:r>
              <a:rPr lang="en-US" sz="2400" b="1" dirty="0"/>
              <a:t>0.5</a:t>
            </a:r>
            <a:r>
              <a:rPr lang="en-US" sz="2400" dirty="0"/>
              <a:t> → noon (halfway through the day)</a:t>
            </a:r>
          </a:p>
          <a:p>
            <a:pPr algn="just">
              <a:buFont typeface="Courier New" panose="02070309020205020404" pitchFamily="49" charset="0"/>
              <a:buChar char="o"/>
            </a:pPr>
            <a:r>
              <a:rPr lang="en-US" sz="2400" b="1" dirty="0"/>
              <a:t>1</a:t>
            </a:r>
            <a:r>
              <a:rPr lang="en-US" sz="2400" dirty="0"/>
              <a:t> → midnight of the next day</a:t>
            </a:r>
          </a:p>
          <a:p>
            <a:pPr algn="just">
              <a:buFont typeface="Courier New" panose="02070309020205020404" pitchFamily="49" charset="0"/>
              <a:buChar char="o"/>
            </a:pPr>
            <a:r>
              <a:rPr lang="en-US" sz="2400" dirty="0"/>
              <a:t>Values range between </a:t>
            </a:r>
            <a:r>
              <a:rPr lang="en-US" sz="2400" b="1" dirty="0"/>
              <a:t>0 and 1</a:t>
            </a:r>
            <a:r>
              <a:rPr lang="en-US" sz="2400" dirty="0"/>
              <a:t>.</a:t>
            </a:r>
          </a:p>
          <a:p>
            <a:pPr algn="just"/>
            <a:endParaRPr lang="en-IN" sz="2400" dirty="0"/>
          </a:p>
        </p:txBody>
      </p:sp>
    </p:spTree>
    <p:extLst>
      <p:ext uri="{BB962C8B-B14F-4D97-AF65-F5344CB8AC3E}">
        <p14:creationId xmlns:p14="http://schemas.microsoft.com/office/powerpoint/2010/main" val="60212703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BE8104-5960-4021-8427-6D85AF6520C1}"/>
              </a:ext>
            </a:extLst>
          </p:cNvPr>
          <p:cNvSpPr>
            <a:spLocks noGrp="1"/>
          </p:cNvSpPr>
          <p:nvPr>
            <p:ph idx="1"/>
          </p:nvPr>
        </p:nvSpPr>
        <p:spPr>
          <a:xfrm>
            <a:off x="692426" y="820771"/>
            <a:ext cx="10515600" cy="5024887"/>
          </a:xfrm>
        </p:spPr>
        <p:txBody>
          <a:bodyPr>
            <a:normAutofit fontScale="92500" lnSpcReduction="10000"/>
          </a:bodyPr>
          <a:lstStyle/>
          <a:p>
            <a:pPr algn="just"/>
            <a:r>
              <a:rPr lang="en-US" sz="2400" dirty="0"/>
              <a:t>Examples of Time Serial Numbers</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r>
              <a:rPr lang="en-US" sz="2400" dirty="0"/>
              <a:t>For example, the following expression returns the time 2:45:30 p.m.:</a:t>
            </a:r>
          </a:p>
          <a:p>
            <a:pPr algn="just"/>
            <a:r>
              <a:rPr lang="en-US" sz="2400" b="1" dirty="0"/>
              <a:t>TIME(14, 45, 30)</a:t>
            </a:r>
            <a:r>
              <a:rPr lang="en-US" sz="2400" dirty="0"/>
              <a:t> Like the DATE function, TIME adjusts for wrong hour</a:t>
            </a:r>
            <a:r>
              <a:rPr lang="en-US" sz="2400"/>
              <a:t>, minute, </a:t>
            </a:r>
            <a:r>
              <a:rPr lang="en-US" sz="2400" dirty="0"/>
              <a:t>and second values. </a:t>
            </a:r>
          </a:p>
          <a:p>
            <a:pPr algn="just"/>
            <a:r>
              <a:rPr lang="en-US" sz="2400" dirty="0"/>
              <a:t>For example, the following expression returns 3:00:30 p.m.: </a:t>
            </a:r>
            <a:r>
              <a:rPr lang="en-US" sz="2400" b="1" dirty="0"/>
              <a:t>TIME(14, 60, 30) </a:t>
            </a:r>
            <a:r>
              <a:rPr lang="en-US" sz="2400" dirty="0"/>
              <a:t>Here, TIME takes the extra minute and adds 1 to the hour value.</a:t>
            </a:r>
          </a:p>
          <a:p>
            <a:pPr algn="just"/>
            <a:r>
              <a:rPr lang="en-US" sz="2400" dirty="0"/>
              <a:t>For example, the following expression returns the time serial number for the string 2:45:00 PM: </a:t>
            </a:r>
            <a:r>
              <a:rPr lang="en-US" sz="2400" b="1" dirty="0"/>
              <a:t>TIMEVALUE("2:45:00 PM")</a:t>
            </a:r>
          </a:p>
          <a:p>
            <a:pPr marL="0" indent="0" algn="just">
              <a:buNone/>
            </a:pPr>
            <a:endParaRPr lang="en-IN" sz="2400" dirty="0"/>
          </a:p>
        </p:txBody>
      </p:sp>
      <p:graphicFrame>
        <p:nvGraphicFramePr>
          <p:cNvPr id="4" name="Table 3">
            <a:extLst>
              <a:ext uri="{FF2B5EF4-FFF2-40B4-BE49-F238E27FC236}">
                <a16:creationId xmlns:a16="http://schemas.microsoft.com/office/drawing/2014/main" id="{E78F2F42-D144-4990-8505-DD5F829A2A10}"/>
              </a:ext>
            </a:extLst>
          </p:cNvPr>
          <p:cNvGraphicFramePr>
            <a:graphicFrameLocks noGrp="1"/>
          </p:cNvGraphicFramePr>
          <p:nvPr>
            <p:extLst>
              <p:ext uri="{D42A27DB-BD31-4B8C-83A1-F6EECF244321}">
                <p14:modId xmlns:p14="http://schemas.microsoft.com/office/powerpoint/2010/main" val="3381266590"/>
              </p:ext>
            </p:extLst>
          </p:nvPr>
        </p:nvGraphicFramePr>
        <p:xfrm>
          <a:off x="983974" y="1311103"/>
          <a:ext cx="4515678" cy="1828800"/>
        </p:xfrm>
        <a:graphic>
          <a:graphicData uri="http://schemas.openxmlformats.org/drawingml/2006/table">
            <a:tbl>
              <a:tblPr/>
              <a:tblGrid>
                <a:gridCol w="2257839">
                  <a:extLst>
                    <a:ext uri="{9D8B030D-6E8A-4147-A177-3AD203B41FA5}">
                      <a16:colId xmlns:a16="http://schemas.microsoft.com/office/drawing/2014/main" val="376465131"/>
                    </a:ext>
                  </a:extLst>
                </a:gridCol>
                <a:gridCol w="2257839">
                  <a:extLst>
                    <a:ext uri="{9D8B030D-6E8A-4147-A177-3AD203B41FA5}">
                      <a16:colId xmlns:a16="http://schemas.microsoft.com/office/drawing/2014/main" val="848800771"/>
                    </a:ext>
                  </a:extLst>
                </a:gridCol>
              </a:tblGrid>
              <a:tr h="0">
                <a:tc>
                  <a:txBody>
                    <a:bodyPr/>
                    <a:lstStyle/>
                    <a:p>
                      <a:r>
                        <a:rPr lang="en-IN" b="1" dirty="0"/>
                        <a:t>Serial Number</a:t>
                      </a:r>
                    </a:p>
                  </a:txBody>
                  <a:tcPr anchor="ctr">
                    <a:lnL>
                      <a:noFill/>
                    </a:lnL>
                    <a:lnR>
                      <a:noFill/>
                    </a:lnR>
                    <a:lnT>
                      <a:noFill/>
                    </a:lnT>
                    <a:lnB>
                      <a:noFill/>
                    </a:lnB>
                  </a:tcPr>
                </a:tc>
                <a:tc>
                  <a:txBody>
                    <a:bodyPr/>
                    <a:lstStyle/>
                    <a:p>
                      <a:r>
                        <a:rPr lang="en-IN" b="1" dirty="0"/>
                        <a:t>Time</a:t>
                      </a:r>
                    </a:p>
                  </a:txBody>
                  <a:tcPr anchor="ctr">
                    <a:lnL>
                      <a:noFill/>
                    </a:lnL>
                    <a:lnR>
                      <a:noFill/>
                    </a:lnR>
                    <a:lnT>
                      <a:noFill/>
                    </a:lnT>
                    <a:lnB>
                      <a:noFill/>
                    </a:lnB>
                  </a:tcPr>
                </a:tc>
                <a:extLst>
                  <a:ext uri="{0D108BD9-81ED-4DB2-BD59-A6C34878D82A}">
                    <a16:rowId xmlns:a16="http://schemas.microsoft.com/office/drawing/2014/main" val="1384029087"/>
                  </a:ext>
                </a:extLst>
              </a:tr>
              <a:tr h="0">
                <a:tc>
                  <a:txBody>
                    <a:bodyPr/>
                    <a:lstStyle/>
                    <a:p>
                      <a:r>
                        <a:rPr lang="en-IN" dirty="0"/>
                        <a:t>0.25</a:t>
                      </a:r>
                    </a:p>
                  </a:txBody>
                  <a:tcPr anchor="ctr">
                    <a:lnL>
                      <a:noFill/>
                    </a:lnL>
                    <a:lnR>
                      <a:noFill/>
                    </a:lnR>
                    <a:lnT>
                      <a:noFill/>
                    </a:lnT>
                    <a:lnB>
                      <a:noFill/>
                    </a:lnB>
                  </a:tcPr>
                </a:tc>
                <a:tc>
                  <a:txBody>
                    <a:bodyPr/>
                    <a:lstStyle/>
                    <a:p>
                      <a:r>
                        <a:rPr lang="en-IN" dirty="0"/>
                        <a:t>6:00:00 AM</a:t>
                      </a:r>
                    </a:p>
                  </a:txBody>
                  <a:tcPr anchor="ctr">
                    <a:lnL>
                      <a:noFill/>
                    </a:lnL>
                    <a:lnR>
                      <a:noFill/>
                    </a:lnR>
                    <a:lnT>
                      <a:noFill/>
                    </a:lnT>
                    <a:lnB>
                      <a:noFill/>
                    </a:lnB>
                  </a:tcPr>
                </a:tc>
                <a:extLst>
                  <a:ext uri="{0D108BD9-81ED-4DB2-BD59-A6C34878D82A}">
                    <a16:rowId xmlns:a16="http://schemas.microsoft.com/office/drawing/2014/main" val="2042018167"/>
                  </a:ext>
                </a:extLst>
              </a:tr>
              <a:tr h="0">
                <a:tc>
                  <a:txBody>
                    <a:bodyPr/>
                    <a:lstStyle/>
                    <a:p>
                      <a:r>
                        <a:rPr lang="en-IN"/>
                        <a:t>0.375</a:t>
                      </a:r>
                    </a:p>
                  </a:txBody>
                  <a:tcPr anchor="ctr">
                    <a:lnL>
                      <a:noFill/>
                    </a:lnL>
                    <a:lnR>
                      <a:noFill/>
                    </a:lnR>
                    <a:lnT>
                      <a:noFill/>
                    </a:lnT>
                    <a:lnB>
                      <a:noFill/>
                    </a:lnB>
                  </a:tcPr>
                </a:tc>
                <a:tc>
                  <a:txBody>
                    <a:bodyPr/>
                    <a:lstStyle/>
                    <a:p>
                      <a:r>
                        <a:rPr lang="en-IN"/>
                        <a:t>9:00:00 AM</a:t>
                      </a:r>
                    </a:p>
                  </a:txBody>
                  <a:tcPr anchor="ctr">
                    <a:lnL>
                      <a:noFill/>
                    </a:lnL>
                    <a:lnR>
                      <a:noFill/>
                    </a:lnR>
                    <a:lnT>
                      <a:noFill/>
                    </a:lnT>
                    <a:lnB>
                      <a:noFill/>
                    </a:lnB>
                  </a:tcPr>
                </a:tc>
                <a:extLst>
                  <a:ext uri="{0D108BD9-81ED-4DB2-BD59-A6C34878D82A}">
                    <a16:rowId xmlns:a16="http://schemas.microsoft.com/office/drawing/2014/main" val="3503208366"/>
                  </a:ext>
                </a:extLst>
              </a:tr>
              <a:tr h="0">
                <a:tc>
                  <a:txBody>
                    <a:bodyPr/>
                    <a:lstStyle/>
                    <a:p>
                      <a:r>
                        <a:rPr lang="en-IN" dirty="0"/>
                        <a:t>0.70833</a:t>
                      </a:r>
                    </a:p>
                  </a:txBody>
                  <a:tcPr anchor="ctr">
                    <a:lnL>
                      <a:noFill/>
                    </a:lnL>
                    <a:lnR>
                      <a:noFill/>
                    </a:lnR>
                    <a:lnT>
                      <a:noFill/>
                    </a:lnT>
                    <a:lnB>
                      <a:noFill/>
                    </a:lnB>
                  </a:tcPr>
                </a:tc>
                <a:tc>
                  <a:txBody>
                    <a:bodyPr/>
                    <a:lstStyle/>
                    <a:p>
                      <a:r>
                        <a:rPr lang="en-IN" dirty="0"/>
                        <a:t>5:00:00 PM</a:t>
                      </a:r>
                    </a:p>
                  </a:txBody>
                  <a:tcPr anchor="ctr">
                    <a:lnL>
                      <a:noFill/>
                    </a:lnL>
                    <a:lnR>
                      <a:noFill/>
                    </a:lnR>
                    <a:lnT>
                      <a:noFill/>
                    </a:lnT>
                    <a:lnB>
                      <a:noFill/>
                    </a:lnB>
                  </a:tcPr>
                </a:tc>
                <a:extLst>
                  <a:ext uri="{0D108BD9-81ED-4DB2-BD59-A6C34878D82A}">
                    <a16:rowId xmlns:a16="http://schemas.microsoft.com/office/drawing/2014/main" val="525467646"/>
                  </a:ext>
                </a:extLst>
              </a:tr>
              <a:tr h="0">
                <a:tc>
                  <a:txBody>
                    <a:bodyPr/>
                    <a:lstStyle/>
                    <a:p>
                      <a:r>
                        <a:rPr lang="en-IN" dirty="0"/>
                        <a:t>0.99999</a:t>
                      </a:r>
                    </a:p>
                  </a:txBody>
                  <a:tcPr anchor="ctr">
                    <a:lnL>
                      <a:noFill/>
                    </a:lnL>
                    <a:lnR>
                      <a:noFill/>
                    </a:lnR>
                    <a:lnT>
                      <a:noFill/>
                    </a:lnT>
                    <a:lnB>
                      <a:noFill/>
                    </a:lnB>
                  </a:tcPr>
                </a:tc>
                <a:tc>
                  <a:txBody>
                    <a:bodyPr/>
                    <a:lstStyle/>
                    <a:p>
                      <a:r>
                        <a:rPr lang="en-IN" dirty="0"/>
                        <a:t>11:59:59 PM</a:t>
                      </a:r>
                    </a:p>
                  </a:txBody>
                  <a:tcPr anchor="ctr">
                    <a:lnL>
                      <a:noFill/>
                    </a:lnL>
                    <a:lnR>
                      <a:noFill/>
                    </a:lnR>
                    <a:lnT>
                      <a:noFill/>
                    </a:lnT>
                    <a:lnB>
                      <a:noFill/>
                    </a:lnB>
                  </a:tcPr>
                </a:tc>
                <a:extLst>
                  <a:ext uri="{0D108BD9-81ED-4DB2-BD59-A6C34878D82A}">
                    <a16:rowId xmlns:a16="http://schemas.microsoft.com/office/drawing/2014/main" val="3816137346"/>
                  </a:ext>
                </a:extLst>
              </a:tr>
            </a:tbl>
          </a:graphicData>
        </a:graphic>
      </p:graphicFrame>
    </p:spTree>
    <p:extLst>
      <p:ext uri="{BB962C8B-B14F-4D97-AF65-F5344CB8AC3E}">
        <p14:creationId xmlns:p14="http://schemas.microsoft.com/office/powerpoint/2010/main" val="294244232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0CD9F-848B-4943-98FA-BFB666B6099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2317CD3-7649-4A18-AC56-F52FEC443681}"/>
              </a:ext>
            </a:extLst>
          </p:cNvPr>
          <p:cNvSpPr>
            <a:spLocks noGrp="1"/>
          </p:cNvSpPr>
          <p:nvPr>
            <p:ph idx="1"/>
          </p:nvPr>
        </p:nvSpPr>
        <p:spPr/>
        <p:txBody>
          <a:bodyPr>
            <a:normAutofit/>
          </a:bodyPr>
          <a:lstStyle/>
          <a:p>
            <a:pPr algn="just"/>
            <a:r>
              <a:rPr lang="en-US" sz="2400" dirty="0"/>
              <a:t>For example, if it’s currently 3:15 PM, the following expression returns 15: </a:t>
            </a:r>
            <a:r>
              <a:rPr lang="en-US" sz="2400" b="1" dirty="0"/>
              <a:t>MINUTE(NOW()) </a:t>
            </a:r>
          </a:p>
          <a:p>
            <a:pPr algn="just"/>
            <a:r>
              <a:rPr lang="en-US" sz="2400" dirty="0"/>
              <a:t>For example, the following expression returns 30: </a:t>
            </a:r>
            <a:r>
              <a:rPr lang="en-US" sz="2400" b="1" dirty="0"/>
              <a:t>SECOND("2:45:30 PM")</a:t>
            </a:r>
          </a:p>
          <a:p>
            <a:pPr algn="just"/>
            <a:r>
              <a:rPr lang="en-US" sz="2400" dirty="0"/>
              <a:t>Returning a time X hours, minutes, or seconds from now </a:t>
            </a:r>
            <a:r>
              <a:rPr lang="en-US" sz="2400" b="1" dirty="0"/>
              <a:t>TIME(HOUR(NOW()) + 12, MINUTE(NOW()), SECOND(NOW())) </a:t>
            </a:r>
            <a:r>
              <a:rPr lang="en-US" sz="2400" dirty="0"/>
              <a:t>this expression returns the time 12 hours from now.</a:t>
            </a:r>
          </a:p>
          <a:p>
            <a:r>
              <a:rPr lang="en-US" sz="2400" dirty="0"/>
              <a:t>Example: If current time = 09-Aug-2025 03:15:45 PM,</a:t>
            </a:r>
            <a:br>
              <a:rPr lang="en-US" sz="2400" dirty="0"/>
            </a:br>
            <a:r>
              <a:rPr lang="en-US" sz="2400" dirty="0"/>
              <a:t>the formula will return → 10-Aug-2025 03:15:45 AM</a:t>
            </a:r>
            <a:br>
              <a:rPr lang="en-US" sz="2400" dirty="0"/>
            </a:br>
            <a:r>
              <a:rPr lang="en-US" sz="2400" dirty="0"/>
              <a:t>(i.e., exactly 12 hours later).</a:t>
            </a:r>
          </a:p>
          <a:p>
            <a:pPr marL="0" indent="0" algn="just">
              <a:buNone/>
            </a:pPr>
            <a:endParaRPr lang="en-IN" sz="2400" b="1" dirty="0"/>
          </a:p>
        </p:txBody>
      </p:sp>
    </p:spTree>
    <p:extLst>
      <p:ext uri="{BB962C8B-B14F-4D97-AF65-F5344CB8AC3E}">
        <p14:creationId xmlns:p14="http://schemas.microsoft.com/office/powerpoint/2010/main" val="39754370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A8B48-4075-4F0B-9291-95D7FF211E9A}"/>
              </a:ext>
            </a:extLst>
          </p:cNvPr>
          <p:cNvSpPr>
            <a:spLocks noGrp="1"/>
          </p:cNvSpPr>
          <p:nvPr>
            <p:ph type="title"/>
          </p:nvPr>
        </p:nvSpPr>
        <p:spPr/>
        <p:txBody>
          <a:bodyPr/>
          <a:lstStyle/>
          <a:p>
            <a:r>
              <a:rPr lang="en-US" b="1" dirty="0"/>
              <a:t>Adding hours, minutes, and seconds</a:t>
            </a:r>
            <a:endParaRPr lang="en-IN" b="1" dirty="0"/>
          </a:p>
        </p:txBody>
      </p:sp>
      <p:graphicFrame>
        <p:nvGraphicFramePr>
          <p:cNvPr id="4" name="Content Placeholder 3">
            <a:extLst>
              <a:ext uri="{FF2B5EF4-FFF2-40B4-BE49-F238E27FC236}">
                <a16:creationId xmlns:a16="http://schemas.microsoft.com/office/drawing/2014/main" id="{C27BB770-852B-4B81-A761-7E41BFCF8AB5}"/>
              </a:ext>
            </a:extLst>
          </p:cNvPr>
          <p:cNvGraphicFramePr>
            <a:graphicFrameLocks noGrp="1"/>
          </p:cNvGraphicFramePr>
          <p:nvPr>
            <p:ph idx="1"/>
            <p:extLst>
              <p:ext uri="{D42A27DB-BD31-4B8C-83A1-F6EECF244321}">
                <p14:modId xmlns:p14="http://schemas.microsoft.com/office/powerpoint/2010/main" val="2769606123"/>
              </p:ext>
            </p:extLst>
          </p:nvPr>
        </p:nvGraphicFramePr>
        <p:xfrm>
          <a:off x="1086678" y="1811118"/>
          <a:ext cx="10164417" cy="2288350"/>
        </p:xfrm>
        <a:graphic>
          <a:graphicData uri="http://schemas.openxmlformats.org/drawingml/2006/table">
            <a:tbl>
              <a:tblPr firstRow="1" firstCol="1" bandRow="1">
                <a:tableStyleId>{5C22544A-7EE6-4342-B048-85BDC9FD1C3A}</a:tableStyleId>
              </a:tblPr>
              <a:tblGrid>
                <a:gridCol w="2232542">
                  <a:extLst>
                    <a:ext uri="{9D8B030D-6E8A-4147-A177-3AD203B41FA5}">
                      <a16:colId xmlns:a16="http://schemas.microsoft.com/office/drawing/2014/main" val="2248523464"/>
                    </a:ext>
                  </a:extLst>
                </a:gridCol>
                <a:gridCol w="2141928">
                  <a:extLst>
                    <a:ext uri="{9D8B030D-6E8A-4147-A177-3AD203B41FA5}">
                      <a16:colId xmlns:a16="http://schemas.microsoft.com/office/drawing/2014/main" val="1864842663"/>
                    </a:ext>
                  </a:extLst>
                </a:gridCol>
                <a:gridCol w="2295266">
                  <a:extLst>
                    <a:ext uri="{9D8B030D-6E8A-4147-A177-3AD203B41FA5}">
                      <a16:colId xmlns:a16="http://schemas.microsoft.com/office/drawing/2014/main" val="4156548324"/>
                    </a:ext>
                  </a:extLst>
                </a:gridCol>
                <a:gridCol w="3494681">
                  <a:extLst>
                    <a:ext uri="{9D8B030D-6E8A-4147-A177-3AD203B41FA5}">
                      <a16:colId xmlns:a16="http://schemas.microsoft.com/office/drawing/2014/main" val="3184540325"/>
                    </a:ext>
                  </a:extLst>
                </a:gridCol>
              </a:tblGrid>
              <a:tr h="640080">
                <a:tc>
                  <a:txBody>
                    <a:bodyPr/>
                    <a:lstStyle/>
                    <a:p>
                      <a:pPr>
                        <a:lnSpc>
                          <a:spcPct val="107000"/>
                        </a:lnSpc>
                        <a:spcAft>
                          <a:spcPts val="0"/>
                        </a:spcAft>
                      </a:pPr>
                      <a:r>
                        <a:rPr lang="en-IN" sz="1800">
                          <a:effectLst/>
                        </a:rPr>
                        <a:t>Operation</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R="49530" marT="87630" marB="0"/>
                </a:tc>
                <a:tc>
                  <a:txBody>
                    <a:bodyPr/>
                    <a:lstStyle/>
                    <a:p>
                      <a:pPr>
                        <a:lnSpc>
                          <a:spcPct val="107000"/>
                        </a:lnSpc>
                        <a:spcAft>
                          <a:spcPts val="0"/>
                        </a:spcAft>
                      </a:pPr>
                      <a:r>
                        <a:rPr lang="en-IN" sz="1800">
                          <a:effectLst/>
                        </a:rPr>
                        <a:t>Expression</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R="49530" marT="87630" marB="0"/>
                </a:tc>
                <a:tc>
                  <a:txBody>
                    <a:bodyPr/>
                    <a:lstStyle/>
                    <a:p>
                      <a:pPr marL="635">
                        <a:lnSpc>
                          <a:spcPct val="107000"/>
                        </a:lnSpc>
                        <a:spcAft>
                          <a:spcPts val="0"/>
                        </a:spcAft>
                      </a:pPr>
                      <a:r>
                        <a:rPr lang="en-IN" sz="1800">
                          <a:effectLst/>
                        </a:rPr>
                        <a:t>Example</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R="49530" marT="87630" marB="0"/>
                </a:tc>
                <a:tc>
                  <a:txBody>
                    <a:bodyPr/>
                    <a:lstStyle/>
                    <a:p>
                      <a:pPr marL="635">
                        <a:lnSpc>
                          <a:spcPct val="107000"/>
                        </a:lnSpc>
                        <a:spcAft>
                          <a:spcPts val="0"/>
                        </a:spcAft>
                      </a:pPr>
                      <a:r>
                        <a:rPr lang="en-IN" sz="1800">
                          <a:effectLst/>
                        </a:rPr>
                        <a:t>Example Expression</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R="49530" marT="87630" marB="0"/>
                </a:tc>
                <a:extLst>
                  <a:ext uri="{0D108BD9-81ED-4DB2-BD59-A6C34878D82A}">
                    <a16:rowId xmlns:a16="http://schemas.microsoft.com/office/drawing/2014/main" val="2198278083"/>
                  </a:ext>
                </a:extLst>
              </a:tr>
              <a:tr h="365760">
                <a:tc>
                  <a:txBody>
                    <a:bodyPr/>
                    <a:lstStyle/>
                    <a:p>
                      <a:pPr>
                        <a:lnSpc>
                          <a:spcPct val="107000"/>
                        </a:lnSpc>
                        <a:spcAft>
                          <a:spcPts val="0"/>
                        </a:spcAft>
                      </a:pPr>
                      <a:r>
                        <a:rPr lang="en-IN" sz="1800" b="0" dirty="0">
                          <a:solidFill>
                            <a:schemeClr val="tx1"/>
                          </a:solidFill>
                          <a:effectLst/>
                        </a:rPr>
                        <a:t>Add n hours </a:t>
                      </a:r>
                      <a:endParaRPr lang="en-IN" sz="11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R="49530" marT="87630" marB="0">
                    <a:solidFill>
                      <a:schemeClr val="accent5">
                        <a:lumMod val="40000"/>
                        <a:lumOff val="60000"/>
                      </a:schemeClr>
                    </a:solidFill>
                  </a:tcPr>
                </a:tc>
                <a:tc>
                  <a:txBody>
                    <a:bodyPr/>
                    <a:lstStyle/>
                    <a:p>
                      <a:pPr>
                        <a:lnSpc>
                          <a:spcPct val="107000"/>
                        </a:lnSpc>
                        <a:spcAft>
                          <a:spcPts val="0"/>
                        </a:spcAft>
                      </a:pPr>
                      <a:r>
                        <a:rPr lang="en-IN" sz="1800" dirty="0">
                          <a:effectLst/>
                        </a:rPr>
                        <a:t>n*(1/24) </a:t>
                      </a:r>
                      <a:endParaRPr lang="en-IN"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R="49530" marT="87630" marB="0"/>
                </a:tc>
                <a:tc>
                  <a:txBody>
                    <a:bodyPr/>
                    <a:lstStyle/>
                    <a:p>
                      <a:pPr marL="635">
                        <a:lnSpc>
                          <a:spcPct val="107000"/>
                        </a:lnSpc>
                        <a:spcAft>
                          <a:spcPts val="0"/>
                        </a:spcAft>
                      </a:pPr>
                      <a:r>
                        <a:rPr lang="en-IN" sz="1800">
                          <a:effectLst/>
                        </a:rPr>
                        <a:t>Add 6 hours </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R="49530" marT="87630" marB="0"/>
                </a:tc>
                <a:tc>
                  <a:txBody>
                    <a:bodyPr/>
                    <a:lstStyle/>
                    <a:p>
                      <a:pPr marL="635">
                        <a:lnSpc>
                          <a:spcPct val="107000"/>
                        </a:lnSpc>
                        <a:spcAft>
                          <a:spcPts val="0"/>
                        </a:spcAft>
                      </a:pPr>
                      <a:r>
                        <a:rPr lang="en-IN" sz="1800" dirty="0">
                          <a:effectLst/>
                        </a:rPr>
                        <a:t>NOW()+6*(1/24)</a:t>
                      </a:r>
                      <a:endParaRPr lang="en-IN"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R="49530" marT="87630" marB="0"/>
                </a:tc>
                <a:extLst>
                  <a:ext uri="{0D108BD9-81ED-4DB2-BD59-A6C34878D82A}">
                    <a16:rowId xmlns:a16="http://schemas.microsoft.com/office/drawing/2014/main" val="3780820975"/>
                  </a:ext>
                </a:extLst>
              </a:tr>
              <a:tr h="640080">
                <a:tc>
                  <a:txBody>
                    <a:bodyPr/>
                    <a:lstStyle/>
                    <a:p>
                      <a:pPr>
                        <a:lnSpc>
                          <a:spcPct val="107000"/>
                        </a:lnSpc>
                        <a:spcAft>
                          <a:spcPts val="0"/>
                        </a:spcAft>
                      </a:pPr>
                      <a:r>
                        <a:rPr lang="en-IN" sz="1800" b="0" dirty="0">
                          <a:solidFill>
                            <a:schemeClr val="tx1"/>
                          </a:solidFill>
                          <a:effectLst/>
                        </a:rPr>
                        <a:t>Add n minutes </a:t>
                      </a:r>
                      <a:endParaRPr lang="en-IN" sz="11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R="49530" marT="87630" marB="0">
                    <a:solidFill>
                      <a:schemeClr val="accent5">
                        <a:lumMod val="40000"/>
                        <a:lumOff val="60000"/>
                      </a:schemeClr>
                    </a:solidFill>
                  </a:tcPr>
                </a:tc>
                <a:tc>
                  <a:txBody>
                    <a:bodyPr/>
                    <a:lstStyle/>
                    <a:p>
                      <a:pPr>
                        <a:lnSpc>
                          <a:spcPct val="107000"/>
                        </a:lnSpc>
                        <a:spcAft>
                          <a:spcPts val="0"/>
                        </a:spcAft>
                      </a:pPr>
                      <a:r>
                        <a:rPr lang="en-IN" sz="1800">
                          <a:effectLst/>
                        </a:rPr>
                        <a:t>n*(1/24/60) </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R="49530" marT="87630" marB="0"/>
                </a:tc>
                <a:tc>
                  <a:txBody>
                    <a:bodyPr/>
                    <a:lstStyle/>
                    <a:p>
                      <a:pPr marL="635" algn="just">
                        <a:lnSpc>
                          <a:spcPct val="107000"/>
                        </a:lnSpc>
                        <a:spcAft>
                          <a:spcPts val="0"/>
                        </a:spcAft>
                      </a:pPr>
                      <a:r>
                        <a:rPr lang="en-IN" sz="1800" dirty="0">
                          <a:effectLst/>
                        </a:rPr>
                        <a:t>Add 15 minutes </a:t>
                      </a:r>
                      <a:endParaRPr lang="en-IN"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R="49530" marT="87630" marB="0"/>
                </a:tc>
                <a:tc>
                  <a:txBody>
                    <a:bodyPr/>
                    <a:lstStyle/>
                    <a:p>
                      <a:pPr marL="635">
                        <a:lnSpc>
                          <a:spcPct val="107000"/>
                        </a:lnSpc>
                        <a:spcAft>
                          <a:spcPts val="0"/>
                        </a:spcAft>
                      </a:pPr>
                      <a:r>
                        <a:rPr lang="en-IN" sz="1800">
                          <a:effectLst/>
                        </a:rPr>
                        <a:t>NOW()+15*(1/24/60)</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R="49530" marT="87630" marB="0"/>
                </a:tc>
                <a:extLst>
                  <a:ext uri="{0D108BD9-81ED-4DB2-BD59-A6C34878D82A}">
                    <a16:rowId xmlns:a16="http://schemas.microsoft.com/office/drawing/2014/main" val="2559277813"/>
                  </a:ext>
                </a:extLst>
              </a:tr>
              <a:tr h="640080">
                <a:tc>
                  <a:txBody>
                    <a:bodyPr/>
                    <a:lstStyle/>
                    <a:p>
                      <a:pPr>
                        <a:lnSpc>
                          <a:spcPct val="107000"/>
                        </a:lnSpc>
                        <a:spcAft>
                          <a:spcPts val="0"/>
                        </a:spcAft>
                      </a:pPr>
                      <a:r>
                        <a:rPr lang="en-IN" sz="1800" b="0" dirty="0">
                          <a:solidFill>
                            <a:schemeClr val="tx1"/>
                          </a:solidFill>
                          <a:effectLst/>
                        </a:rPr>
                        <a:t>Add n seconds </a:t>
                      </a:r>
                      <a:endParaRPr lang="en-IN" sz="11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R="49530" marT="87630" marB="0">
                    <a:solidFill>
                      <a:schemeClr val="accent5">
                        <a:lumMod val="40000"/>
                        <a:lumOff val="60000"/>
                      </a:schemeClr>
                    </a:solidFill>
                  </a:tcPr>
                </a:tc>
                <a:tc>
                  <a:txBody>
                    <a:bodyPr/>
                    <a:lstStyle/>
                    <a:p>
                      <a:pPr algn="just">
                        <a:lnSpc>
                          <a:spcPct val="107000"/>
                        </a:lnSpc>
                        <a:spcAft>
                          <a:spcPts val="0"/>
                        </a:spcAft>
                      </a:pPr>
                      <a:r>
                        <a:rPr lang="en-IN" sz="1800">
                          <a:effectLst/>
                        </a:rPr>
                        <a:t>n*(1/24/60/60) </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R="49530" marT="87630" marB="0"/>
                </a:tc>
                <a:tc>
                  <a:txBody>
                    <a:bodyPr/>
                    <a:lstStyle/>
                    <a:p>
                      <a:pPr marL="635" algn="just">
                        <a:lnSpc>
                          <a:spcPct val="107000"/>
                        </a:lnSpc>
                        <a:spcAft>
                          <a:spcPts val="0"/>
                        </a:spcAft>
                      </a:pPr>
                      <a:r>
                        <a:rPr lang="en-IN" sz="1800">
                          <a:effectLst/>
                        </a:rPr>
                        <a:t>Add 30 seconds </a:t>
                      </a:r>
                      <a:endParaRPr lang="en-IN"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R="49530" marT="87630" marB="0"/>
                </a:tc>
                <a:tc>
                  <a:txBody>
                    <a:bodyPr/>
                    <a:lstStyle/>
                    <a:p>
                      <a:pPr marL="635">
                        <a:lnSpc>
                          <a:spcPct val="107000"/>
                        </a:lnSpc>
                        <a:spcAft>
                          <a:spcPts val="0"/>
                        </a:spcAft>
                      </a:pPr>
                      <a:r>
                        <a:rPr lang="en-IN" sz="1800" dirty="0">
                          <a:effectLst/>
                        </a:rPr>
                        <a:t>NOW()+30*(1/24/60/60)</a:t>
                      </a:r>
                      <a:endParaRPr lang="en-IN"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R="49530" marT="87630" marB="0"/>
                </a:tc>
                <a:extLst>
                  <a:ext uri="{0D108BD9-81ED-4DB2-BD59-A6C34878D82A}">
                    <a16:rowId xmlns:a16="http://schemas.microsoft.com/office/drawing/2014/main" val="1039670641"/>
                  </a:ext>
                </a:extLst>
              </a:tr>
            </a:tbl>
          </a:graphicData>
        </a:graphic>
      </p:graphicFrame>
      <p:sp>
        <p:nvSpPr>
          <p:cNvPr id="5" name="Rectangle 4">
            <a:extLst>
              <a:ext uri="{FF2B5EF4-FFF2-40B4-BE49-F238E27FC236}">
                <a16:creationId xmlns:a16="http://schemas.microsoft.com/office/drawing/2014/main" id="{EF611D19-E34F-4DC5-8344-17E3AE8E3E68}"/>
              </a:ext>
            </a:extLst>
          </p:cNvPr>
          <p:cNvSpPr/>
          <p:nvPr/>
        </p:nvSpPr>
        <p:spPr>
          <a:xfrm>
            <a:off x="1086678" y="4398570"/>
            <a:ext cx="10164418" cy="830997"/>
          </a:xfrm>
          <a:prstGeom prst="rect">
            <a:avLst/>
          </a:prstGeom>
        </p:spPr>
        <p:txBody>
          <a:bodyPr wrap="square">
            <a:spAutoFit/>
          </a:bodyPr>
          <a:lstStyle/>
          <a:p>
            <a:pPr algn="just"/>
            <a:r>
              <a:rPr lang="en-US" sz="2400" b="1" dirty="0"/>
              <a:t>Note</a:t>
            </a:r>
            <a:r>
              <a:rPr lang="en-US" sz="2400" dirty="0"/>
              <a:t>-Summing time values and Calculating the difference between two times (or two dates) can also be performed using Excel.</a:t>
            </a:r>
            <a:endParaRPr lang="en-IN" sz="2400" dirty="0"/>
          </a:p>
        </p:txBody>
      </p:sp>
    </p:spTree>
    <p:extLst>
      <p:ext uri="{BB962C8B-B14F-4D97-AF65-F5344CB8AC3E}">
        <p14:creationId xmlns:p14="http://schemas.microsoft.com/office/powerpoint/2010/main" val="116899561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787B779C-30DE-4447-AAC8-8338C596997C}"/>
              </a:ext>
            </a:extLst>
          </p:cNvPr>
          <p:cNvGraphicFramePr>
            <a:graphicFrameLocks noGrp="1"/>
          </p:cNvGraphicFramePr>
          <p:nvPr>
            <p:ph idx="1"/>
            <p:extLst>
              <p:ext uri="{D42A27DB-BD31-4B8C-83A1-F6EECF244321}">
                <p14:modId xmlns:p14="http://schemas.microsoft.com/office/powerpoint/2010/main" val="505462305"/>
              </p:ext>
            </p:extLst>
          </p:nvPr>
        </p:nvGraphicFramePr>
        <p:xfrm>
          <a:off x="1255586" y="927654"/>
          <a:ext cx="9680826" cy="4174434"/>
        </p:xfrm>
        <a:graphic>
          <a:graphicData uri="http://schemas.openxmlformats.org/drawingml/2006/table">
            <a:tbl>
              <a:tblPr firstRow="1" firstCol="1" bandRow="1">
                <a:tableStyleId>{1FECB4D8-DB02-4DC6-A0A2-4F2EBAE1DC90}</a:tableStyleId>
              </a:tblPr>
              <a:tblGrid>
                <a:gridCol w="3052223">
                  <a:extLst>
                    <a:ext uri="{9D8B030D-6E8A-4147-A177-3AD203B41FA5}">
                      <a16:colId xmlns:a16="http://schemas.microsoft.com/office/drawing/2014/main" val="2338824829"/>
                    </a:ext>
                  </a:extLst>
                </a:gridCol>
                <a:gridCol w="6628603">
                  <a:extLst>
                    <a:ext uri="{9D8B030D-6E8A-4147-A177-3AD203B41FA5}">
                      <a16:colId xmlns:a16="http://schemas.microsoft.com/office/drawing/2014/main" val="2796846989"/>
                    </a:ext>
                  </a:extLst>
                </a:gridCol>
              </a:tblGrid>
              <a:tr h="458172">
                <a:tc>
                  <a:txBody>
                    <a:bodyPr/>
                    <a:lstStyle/>
                    <a:p>
                      <a:pPr marL="47625">
                        <a:lnSpc>
                          <a:spcPct val="107000"/>
                        </a:lnSpc>
                        <a:spcAft>
                          <a:spcPts val="0"/>
                        </a:spcAft>
                      </a:pPr>
                      <a:r>
                        <a:rPr lang="en-IN" sz="1500">
                          <a:effectLst/>
                        </a:rPr>
                        <a:t>Function (DATE and TIME)</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9691" marT="72153" marB="5923"/>
                </a:tc>
                <a:tc>
                  <a:txBody>
                    <a:bodyPr/>
                    <a:lstStyle/>
                    <a:p>
                      <a:pPr>
                        <a:lnSpc>
                          <a:spcPct val="107000"/>
                        </a:lnSpc>
                        <a:spcAft>
                          <a:spcPts val="0"/>
                        </a:spcAft>
                      </a:pPr>
                      <a:r>
                        <a:rPr lang="en-IN" sz="1500">
                          <a:effectLst/>
                        </a:rPr>
                        <a:t>Description</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9691" marT="72153" marB="5923"/>
                </a:tc>
                <a:extLst>
                  <a:ext uri="{0D108BD9-81ED-4DB2-BD59-A6C34878D82A}">
                    <a16:rowId xmlns:a16="http://schemas.microsoft.com/office/drawing/2014/main" val="3587527953"/>
                  </a:ext>
                </a:extLst>
              </a:tr>
              <a:tr h="366728">
                <a:tc>
                  <a:txBody>
                    <a:bodyPr/>
                    <a:lstStyle/>
                    <a:p>
                      <a:pPr marL="95250">
                        <a:lnSpc>
                          <a:spcPct val="107000"/>
                        </a:lnSpc>
                        <a:spcAft>
                          <a:spcPts val="0"/>
                        </a:spcAft>
                      </a:pPr>
                      <a:r>
                        <a:rPr lang="en-IN" sz="1500" u="sng" dirty="0">
                          <a:effectLst/>
                          <a:hlinkClick r:id="rId2"/>
                        </a:rPr>
                        <a:t>DATE function</a:t>
                      </a:r>
                      <a:endParaRPr lang="en-IN" sz="9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9691" marT="72153" marB="5923"/>
                </a:tc>
                <a:tc>
                  <a:txBody>
                    <a:bodyPr/>
                    <a:lstStyle/>
                    <a:p>
                      <a:pPr marL="47625">
                        <a:lnSpc>
                          <a:spcPct val="107000"/>
                        </a:lnSpc>
                        <a:spcAft>
                          <a:spcPts val="0"/>
                        </a:spcAft>
                      </a:pPr>
                      <a:r>
                        <a:rPr lang="en-IN" sz="1500">
                          <a:effectLst/>
                        </a:rPr>
                        <a:t>Returns the serial number of a particular date</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9691" marT="72153" marB="5923"/>
                </a:tc>
                <a:extLst>
                  <a:ext uri="{0D108BD9-81ED-4DB2-BD59-A6C34878D82A}">
                    <a16:rowId xmlns:a16="http://schemas.microsoft.com/office/drawing/2014/main" val="2355003373"/>
                  </a:ext>
                </a:extLst>
              </a:tr>
              <a:tr h="781123">
                <a:tc>
                  <a:txBody>
                    <a:bodyPr/>
                    <a:lstStyle/>
                    <a:p>
                      <a:pPr marL="95250">
                        <a:lnSpc>
                          <a:spcPct val="107000"/>
                        </a:lnSpc>
                        <a:spcAft>
                          <a:spcPts val="0"/>
                        </a:spcAft>
                      </a:pPr>
                      <a:r>
                        <a:rPr lang="en-IN" sz="1500" u="sng" dirty="0">
                          <a:effectLst/>
                          <a:hlinkClick r:id="rId3"/>
                        </a:rPr>
                        <a:t>DATEDIF function</a:t>
                      </a:r>
                      <a:endParaRPr lang="en-IN" sz="9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9691" marT="72153" marB="5923"/>
                </a:tc>
                <a:tc>
                  <a:txBody>
                    <a:bodyPr/>
                    <a:lstStyle/>
                    <a:p>
                      <a:pPr marL="47625" algn="just">
                        <a:lnSpc>
                          <a:spcPct val="107000"/>
                        </a:lnSpc>
                        <a:spcAft>
                          <a:spcPts val="0"/>
                        </a:spcAft>
                      </a:pPr>
                      <a:r>
                        <a:rPr lang="en-IN" sz="1500">
                          <a:effectLst/>
                        </a:rPr>
                        <a:t>Calculates the number of days, months, or years between two dates. This function is useful in formulas where you need to calculate an age.</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9691" marT="72153" marB="5923" anchor="b"/>
                </a:tc>
                <a:extLst>
                  <a:ext uri="{0D108BD9-81ED-4DB2-BD59-A6C34878D82A}">
                    <a16:rowId xmlns:a16="http://schemas.microsoft.com/office/drawing/2014/main" val="2852181597"/>
                  </a:ext>
                </a:extLst>
              </a:tr>
              <a:tr h="404479">
                <a:tc>
                  <a:txBody>
                    <a:bodyPr/>
                    <a:lstStyle/>
                    <a:p>
                      <a:pPr marL="95250">
                        <a:lnSpc>
                          <a:spcPct val="107000"/>
                        </a:lnSpc>
                        <a:spcAft>
                          <a:spcPts val="0"/>
                        </a:spcAft>
                      </a:pPr>
                      <a:r>
                        <a:rPr lang="en-IN" sz="1500" u="sng" dirty="0">
                          <a:effectLst/>
                          <a:hlinkClick r:id="rId4"/>
                        </a:rPr>
                        <a:t>DATEVALUE function</a:t>
                      </a:r>
                      <a:endParaRPr lang="en-IN" sz="9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9691" marT="72153" marB="5923" anchor="ctr"/>
                </a:tc>
                <a:tc>
                  <a:txBody>
                    <a:bodyPr/>
                    <a:lstStyle/>
                    <a:p>
                      <a:pPr marL="47625">
                        <a:lnSpc>
                          <a:spcPct val="107000"/>
                        </a:lnSpc>
                        <a:spcAft>
                          <a:spcPts val="0"/>
                        </a:spcAft>
                      </a:pPr>
                      <a:r>
                        <a:rPr lang="en-IN" sz="1500">
                          <a:effectLst/>
                        </a:rPr>
                        <a:t>Converts a date in the form of text to a serial number</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9691" marT="72153" marB="5923" anchor="ctr"/>
                </a:tc>
                <a:extLst>
                  <a:ext uri="{0D108BD9-81ED-4DB2-BD59-A6C34878D82A}">
                    <a16:rowId xmlns:a16="http://schemas.microsoft.com/office/drawing/2014/main" val="471666768"/>
                  </a:ext>
                </a:extLst>
              </a:tr>
              <a:tr h="348283">
                <a:tc>
                  <a:txBody>
                    <a:bodyPr/>
                    <a:lstStyle/>
                    <a:p>
                      <a:pPr marL="95250">
                        <a:lnSpc>
                          <a:spcPct val="107000"/>
                        </a:lnSpc>
                        <a:spcAft>
                          <a:spcPts val="0"/>
                        </a:spcAft>
                      </a:pPr>
                      <a:r>
                        <a:rPr lang="en-IN" sz="1500" u="sng" dirty="0">
                          <a:effectLst/>
                          <a:hlinkClick r:id="rId5"/>
                        </a:rPr>
                        <a:t>DAY function</a:t>
                      </a:r>
                      <a:endParaRPr lang="en-IN" sz="9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9691" marT="72153" marB="5923" anchor="b"/>
                </a:tc>
                <a:tc>
                  <a:txBody>
                    <a:bodyPr/>
                    <a:lstStyle/>
                    <a:p>
                      <a:pPr marL="47625">
                        <a:lnSpc>
                          <a:spcPct val="107000"/>
                        </a:lnSpc>
                        <a:spcAft>
                          <a:spcPts val="0"/>
                        </a:spcAft>
                      </a:pPr>
                      <a:r>
                        <a:rPr lang="en-IN" sz="1500">
                          <a:effectLst/>
                        </a:rPr>
                        <a:t>Converts a serial number to a day of the month</a:t>
                      </a:r>
                      <a:endParaRPr lang="en-IN"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9691" marT="72153" marB="5923" anchor="b"/>
                </a:tc>
                <a:extLst>
                  <a:ext uri="{0D108BD9-81ED-4DB2-BD59-A6C34878D82A}">
                    <a16:rowId xmlns:a16="http://schemas.microsoft.com/office/drawing/2014/main" val="1459344010"/>
                  </a:ext>
                </a:extLst>
              </a:tr>
              <a:tr h="373291">
                <a:tc>
                  <a:txBody>
                    <a:bodyPr/>
                    <a:lstStyle/>
                    <a:p>
                      <a:pPr marL="95250">
                        <a:lnSpc>
                          <a:spcPct val="107000"/>
                        </a:lnSpc>
                        <a:spcAft>
                          <a:spcPts val="0"/>
                        </a:spcAft>
                      </a:pPr>
                      <a:r>
                        <a:rPr lang="en-IN" sz="1500" u="sng" dirty="0">
                          <a:effectLst/>
                          <a:hlinkClick r:id="rId6"/>
                        </a:rPr>
                        <a:t>DAYS function</a:t>
                      </a:r>
                      <a:endParaRPr lang="en-IN" sz="9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9691" marT="72153" marB="5923"/>
                </a:tc>
                <a:tc>
                  <a:txBody>
                    <a:bodyPr/>
                    <a:lstStyle/>
                    <a:p>
                      <a:pPr marL="47625">
                        <a:lnSpc>
                          <a:spcPct val="107000"/>
                        </a:lnSpc>
                        <a:spcAft>
                          <a:spcPts val="0"/>
                        </a:spcAft>
                      </a:pPr>
                      <a:r>
                        <a:rPr lang="en-IN" sz="1500" dirty="0">
                          <a:effectLst/>
                        </a:rPr>
                        <a:t>Returns the number of days between two dates</a:t>
                      </a:r>
                      <a:endParaRPr lang="en-IN" sz="9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9691" marT="72153" marB="5923"/>
                </a:tc>
                <a:extLst>
                  <a:ext uri="{0D108BD9-81ED-4DB2-BD59-A6C34878D82A}">
                    <a16:rowId xmlns:a16="http://schemas.microsoft.com/office/drawing/2014/main" val="1427966863"/>
                  </a:ext>
                </a:extLst>
              </a:tr>
              <a:tr h="542598">
                <a:tc>
                  <a:txBody>
                    <a:bodyPr/>
                    <a:lstStyle/>
                    <a:p>
                      <a:pPr marL="95250">
                        <a:lnSpc>
                          <a:spcPct val="107000"/>
                        </a:lnSpc>
                        <a:spcAft>
                          <a:spcPts val="0"/>
                        </a:spcAft>
                      </a:pPr>
                      <a:r>
                        <a:rPr lang="en-IN" sz="1500" u="sng" dirty="0">
                          <a:effectLst/>
                          <a:hlinkClick r:id="rId7"/>
                        </a:rPr>
                        <a:t>DAYS360 function</a:t>
                      </a:r>
                      <a:endParaRPr lang="en-IN" sz="9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9691" marT="72153" marB="5923"/>
                </a:tc>
                <a:tc>
                  <a:txBody>
                    <a:bodyPr/>
                    <a:lstStyle/>
                    <a:p>
                      <a:pPr marL="47625" algn="just">
                        <a:lnSpc>
                          <a:spcPct val="107000"/>
                        </a:lnSpc>
                        <a:spcAft>
                          <a:spcPts val="0"/>
                        </a:spcAft>
                      </a:pPr>
                      <a:r>
                        <a:rPr lang="en-IN" sz="1500" dirty="0">
                          <a:effectLst/>
                        </a:rPr>
                        <a:t>Calculates the number of days between two dates based on a 360-day year</a:t>
                      </a:r>
                      <a:endParaRPr lang="en-IN" sz="9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9691" marT="72153" marB="5923" anchor="b"/>
                </a:tc>
                <a:extLst>
                  <a:ext uri="{0D108BD9-81ED-4DB2-BD59-A6C34878D82A}">
                    <a16:rowId xmlns:a16="http://schemas.microsoft.com/office/drawing/2014/main" val="2044425545"/>
                  </a:ext>
                </a:extLst>
              </a:tr>
              <a:tr h="899760">
                <a:tc>
                  <a:txBody>
                    <a:bodyPr/>
                    <a:lstStyle/>
                    <a:p>
                      <a:pPr marL="95250">
                        <a:lnSpc>
                          <a:spcPct val="107000"/>
                        </a:lnSpc>
                        <a:spcAft>
                          <a:spcPts val="0"/>
                        </a:spcAft>
                      </a:pPr>
                      <a:r>
                        <a:rPr lang="en-IN" sz="1500" u="sng" dirty="0">
                          <a:effectLst/>
                          <a:hlinkClick r:id="rId8"/>
                        </a:rPr>
                        <a:t>EDATE function</a:t>
                      </a:r>
                      <a:endParaRPr lang="en-IN" sz="9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9691" marT="72153" marB="5923"/>
                </a:tc>
                <a:tc>
                  <a:txBody>
                    <a:bodyPr/>
                    <a:lstStyle/>
                    <a:p>
                      <a:pPr marL="47625" algn="just">
                        <a:lnSpc>
                          <a:spcPct val="107000"/>
                        </a:lnSpc>
                        <a:spcAft>
                          <a:spcPts val="0"/>
                        </a:spcAft>
                      </a:pPr>
                      <a:r>
                        <a:rPr lang="en-IN" sz="1500" dirty="0">
                          <a:effectLst/>
                        </a:rPr>
                        <a:t>Returns the serial number of the date that is the indicated number of months before or after the start date</a:t>
                      </a:r>
                      <a:endParaRPr lang="en-IN" sz="9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9691" marT="72153" marB="5923" anchor="b"/>
                </a:tc>
                <a:extLst>
                  <a:ext uri="{0D108BD9-81ED-4DB2-BD59-A6C34878D82A}">
                    <a16:rowId xmlns:a16="http://schemas.microsoft.com/office/drawing/2014/main" val="3911239216"/>
                  </a:ext>
                </a:extLst>
              </a:tr>
            </a:tbl>
          </a:graphicData>
        </a:graphic>
      </p:graphicFrame>
      <p:graphicFrame>
        <p:nvGraphicFramePr>
          <p:cNvPr id="5" name="Table 4">
            <a:extLst>
              <a:ext uri="{FF2B5EF4-FFF2-40B4-BE49-F238E27FC236}">
                <a16:creationId xmlns:a16="http://schemas.microsoft.com/office/drawing/2014/main" id="{B3F22D28-4862-4693-8F22-36423E54B79E}"/>
              </a:ext>
            </a:extLst>
          </p:cNvPr>
          <p:cNvGraphicFramePr>
            <a:graphicFrameLocks noGrp="1"/>
          </p:cNvGraphicFramePr>
          <p:nvPr>
            <p:extLst>
              <p:ext uri="{D42A27DB-BD31-4B8C-83A1-F6EECF244321}">
                <p14:modId xmlns:p14="http://schemas.microsoft.com/office/powerpoint/2010/main" val="2075681840"/>
              </p:ext>
            </p:extLst>
          </p:nvPr>
        </p:nvGraphicFramePr>
        <p:xfrm>
          <a:off x="1255586" y="5135813"/>
          <a:ext cx="9680827" cy="680803"/>
        </p:xfrm>
        <a:graphic>
          <a:graphicData uri="http://schemas.openxmlformats.org/drawingml/2006/table">
            <a:tbl>
              <a:tblPr firstRow="1" firstCol="1" bandRow="1">
                <a:tableStyleId>{1FECB4D8-DB02-4DC6-A0A2-4F2EBAE1DC90}</a:tableStyleId>
              </a:tblPr>
              <a:tblGrid>
                <a:gridCol w="3038118">
                  <a:extLst>
                    <a:ext uri="{9D8B030D-6E8A-4147-A177-3AD203B41FA5}">
                      <a16:colId xmlns:a16="http://schemas.microsoft.com/office/drawing/2014/main" val="3312372906"/>
                    </a:ext>
                  </a:extLst>
                </a:gridCol>
                <a:gridCol w="6642709">
                  <a:extLst>
                    <a:ext uri="{9D8B030D-6E8A-4147-A177-3AD203B41FA5}">
                      <a16:colId xmlns:a16="http://schemas.microsoft.com/office/drawing/2014/main" val="2750148974"/>
                    </a:ext>
                  </a:extLst>
                </a:gridCol>
              </a:tblGrid>
              <a:tr h="680803">
                <a:tc>
                  <a:txBody>
                    <a:bodyPr/>
                    <a:lstStyle/>
                    <a:p>
                      <a:pPr marL="95250">
                        <a:lnSpc>
                          <a:spcPct val="107000"/>
                        </a:lnSpc>
                        <a:spcAft>
                          <a:spcPts val="0"/>
                        </a:spcAft>
                      </a:pPr>
                      <a:r>
                        <a:rPr lang="en-IN" sz="1700" u="sng" dirty="0">
                          <a:effectLst/>
                          <a:hlinkClick r:id="rId9"/>
                        </a:rPr>
                        <a:t>EOMONTH function</a:t>
                      </a:r>
                      <a:endParaRPr lang="en-IN" sz="1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86563" marT="78374" marB="6434">
                    <a:solidFill>
                      <a:schemeClr val="bg1"/>
                    </a:solidFill>
                  </a:tcPr>
                </a:tc>
                <a:tc>
                  <a:txBody>
                    <a:bodyPr/>
                    <a:lstStyle/>
                    <a:p>
                      <a:pPr marL="47625" algn="just">
                        <a:lnSpc>
                          <a:spcPct val="107000"/>
                        </a:lnSpc>
                        <a:spcAft>
                          <a:spcPts val="0"/>
                        </a:spcAft>
                      </a:pPr>
                      <a:r>
                        <a:rPr lang="en-IN" sz="1500" b="0" dirty="0">
                          <a:solidFill>
                            <a:schemeClr val="tx1"/>
                          </a:solidFill>
                          <a:effectLst/>
                        </a:rPr>
                        <a:t>Returns the serial number of the last day of the month before or after a specified number of months</a:t>
                      </a:r>
                      <a:endParaRPr lang="en-IN"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86563" marT="78374" marB="6434" anchor="ctr">
                    <a:solidFill>
                      <a:schemeClr val="bg1"/>
                    </a:solidFill>
                  </a:tcPr>
                </a:tc>
                <a:extLst>
                  <a:ext uri="{0D108BD9-81ED-4DB2-BD59-A6C34878D82A}">
                    <a16:rowId xmlns:a16="http://schemas.microsoft.com/office/drawing/2014/main" val="1026638134"/>
                  </a:ext>
                </a:extLst>
              </a:tr>
            </a:tbl>
          </a:graphicData>
        </a:graphic>
      </p:graphicFrame>
    </p:spTree>
    <p:extLst>
      <p:ext uri="{BB962C8B-B14F-4D97-AF65-F5344CB8AC3E}">
        <p14:creationId xmlns:p14="http://schemas.microsoft.com/office/powerpoint/2010/main" val="388742993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8A3B7321-A640-48C9-9094-CA02DF5169C8}"/>
              </a:ext>
            </a:extLst>
          </p:cNvPr>
          <p:cNvGraphicFramePr>
            <a:graphicFrameLocks noGrp="1"/>
          </p:cNvGraphicFramePr>
          <p:nvPr>
            <p:ph idx="1"/>
            <p:extLst>
              <p:ext uri="{D42A27DB-BD31-4B8C-83A1-F6EECF244321}">
                <p14:modId xmlns:p14="http://schemas.microsoft.com/office/powerpoint/2010/main" val="2144605178"/>
              </p:ext>
            </p:extLst>
          </p:nvPr>
        </p:nvGraphicFramePr>
        <p:xfrm>
          <a:off x="1253388" y="772739"/>
          <a:ext cx="9600142" cy="4925695"/>
        </p:xfrm>
        <a:graphic>
          <a:graphicData uri="http://schemas.openxmlformats.org/drawingml/2006/table">
            <a:tbl>
              <a:tblPr firstRow="1" firstCol="1" bandRow="1">
                <a:tableStyleId>{1FECB4D8-DB02-4DC6-A0A2-4F2EBAE1DC90}</a:tableStyleId>
              </a:tblPr>
              <a:tblGrid>
                <a:gridCol w="4840919">
                  <a:extLst>
                    <a:ext uri="{9D8B030D-6E8A-4147-A177-3AD203B41FA5}">
                      <a16:colId xmlns:a16="http://schemas.microsoft.com/office/drawing/2014/main" val="2570631504"/>
                    </a:ext>
                  </a:extLst>
                </a:gridCol>
                <a:gridCol w="4759223">
                  <a:extLst>
                    <a:ext uri="{9D8B030D-6E8A-4147-A177-3AD203B41FA5}">
                      <a16:colId xmlns:a16="http://schemas.microsoft.com/office/drawing/2014/main" val="66357403"/>
                    </a:ext>
                  </a:extLst>
                </a:gridCol>
              </a:tblGrid>
              <a:tr h="461296">
                <a:tc>
                  <a:txBody>
                    <a:bodyPr/>
                    <a:lstStyle/>
                    <a:p>
                      <a:pPr marL="47625">
                        <a:lnSpc>
                          <a:spcPct val="107000"/>
                        </a:lnSpc>
                        <a:spcAft>
                          <a:spcPts val="0"/>
                        </a:spcAft>
                      </a:pPr>
                      <a:r>
                        <a:rPr lang="en-IN" sz="1400">
                          <a:effectLst/>
                        </a:rPr>
                        <a:t>Function (DATE and TIME)</a:t>
                      </a:r>
                      <a:endParaRPr lang="en-IN"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55508" marT="64679" marB="5309"/>
                </a:tc>
                <a:tc>
                  <a:txBody>
                    <a:bodyPr/>
                    <a:lstStyle/>
                    <a:p>
                      <a:pPr>
                        <a:lnSpc>
                          <a:spcPct val="107000"/>
                        </a:lnSpc>
                        <a:spcAft>
                          <a:spcPts val="0"/>
                        </a:spcAft>
                      </a:pPr>
                      <a:r>
                        <a:rPr lang="en-IN" sz="1400">
                          <a:effectLst/>
                        </a:rPr>
                        <a:t>Description</a:t>
                      </a:r>
                      <a:endParaRPr lang="en-IN"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55508" marT="64679" marB="5309"/>
                </a:tc>
                <a:extLst>
                  <a:ext uri="{0D108BD9-81ED-4DB2-BD59-A6C34878D82A}">
                    <a16:rowId xmlns:a16="http://schemas.microsoft.com/office/drawing/2014/main" val="2267903098"/>
                  </a:ext>
                </a:extLst>
              </a:tr>
              <a:tr h="461296">
                <a:tc>
                  <a:txBody>
                    <a:bodyPr/>
                    <a:lstStyle/>
                    <a:p>
                      <a:pPr marL="95250">
                        <a:lnSpc>
                          <a:spcPct val="107000"/>
                        </a:lnSpc>
                        <a:spcAft>
                          <a:spcPts val="0"/>
                        </a:spcAft>
                      </a:pPr>
                      <a:r>
                        <a:rPr lang="en-IN" sz="1400" u="sng" dirty="0">
                          <a:effectLst/>
                          <a:hlinkClick r:id="rId2"/>
                        </a:rPr>
                        <a:t>HOUR function</a:t>
                      </a:r>
                      <a:endParaRPr lang="en-IN" sz="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55508" marT="64679" marB="5309"/>
                </a:tc>
                <a:tc>
                  <a:txBody>
                    <a:bodyPr/>
                    <a:lstStyle/>
                    <a:p>
                      <a:pPr marL="47625">
                        <a:lnSpc>
                          <a:spcPct val="107000"/>
                        </a:lnSpc>
                        <a:spcAft>
                          <a:spcPts val="0"/>
                        </a:spcAft>
                      </a:pPr>
                      <a:r>
                        <a:rPr lang="en-IN" sz="1400">
                          <a:effectLst/>
                        </a:rPr>
                        <a:t>Converts a serial number to an hour</a:t>
                      </a:r>
                      <a:endParaRPr lang="en-IN"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55508" marT="64679" marB="5309"/>
                </a:tc>
                <a:extLst>
                  <a:ext uri="{0D108BD9-81ED-4DB2-BD59-A6C34878D82A}">
                    <a16:rowId xmlns:a16="http://schemas.microsoft.com/office/drawing/2014/main" val="487836709"/>
                  </a:ext>
                </a:extLst>
              </a:tr>
              <a:tr h="579998">
                <a:tc>
                  <a:txBody>
                    <a:bodyPr/>
                    <a:lstStyle/>
                    <a:p>
                      <a:pPr marL="95250">
                        <a:lnSpc>
                          <a:spcPct val="107000"/>
                        </a:lnSpc>
                        <a:spcAft>
                          <a:spcPts val="0"/>
                        </a:spcAft>
                      </a:pPr>
                      <a:r>
                        <a:rPr lang="en-IN" sz="1400" u="sng" dirty="0">
                          <a:effectLst/>
                          <a:hlinkClick r:id="rId3"/>
                        </a:rPr>
                        <a:t>ISOWEEKNUM function</a:t>
                      </a:r>
                      <a:endParaRPr lang="en-IN" sz="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55508" marT="64679" marB="5309"/>
                </a:tc>
                <a:tc>
                  <a:txBody>
                    <a:bodyPr/>
                    <a:lstStyle/>
                    <a:p>
                      <a:pPr marL="47625">
                        <a:lnSpc>
                          <a:spcPct val="107000"/>
                        </a:lnSpc>
                        <a:spcAft>
                          <a:spcPts val="0"/>
                        </a:spcAft>
                      </a:pPr>
                      <a:r>
                        <a:rPr lang="en-IN" sz="1400">
                          <a:effectLst/>
                        </a:rPr>
                        <a:t>Returns the number of the ISO week number of the year for a given date</a:t>
                      </a:r>
                      <a:endParaRPr lang="en-IN"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55508" marT="64679" marB="5309" anchor="b"/>
                </a:tc>
                <a:extLst>
                  <a:ext uri="{0D108BD9-81ED-4DB2-BD59-A6C34878D82A}">
                    <a16:rowId xmlns:a16="http://schemas.microsoft.com/office/drawing/2014/main" val="4254101527"/>
                  </a:ext>
                </a:extLst>
              </a:tr>
              <a:tr h="342042">
                <a:tc>
                  <a:txBody>
                    <a:bodyPr/>
                    <a:lstStyle/>
                    <a:p>
                      <a:pPr marL="95250">
                        <a:lnSpc>
                          <a:spcPct val="107000"/>
                        </a:lnSpc>
                        <a:spcAft>
                          <a:spcPts val="0"/>
                        </a:spcAft>
                      </a:pPr>
                      <a:r>
                        <a:rPr lang="en-IN" sz="1400" u="sng" dirty="0">
                          <a:effectLst/>
                          <a:hlinkClick r:id="rId4"/>
                        </a:rPr>
                        <a:t>MINUTE function</a:t>
                      </a:r>
                      <a:endParaRPr lang="en-IN" sz="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55508" marT="64679" marB="5309"/>
                </a:tc>
                <a:tc>
                  <a:txBody>
                    <a:bodyPr/>
                    <a:lstStyle/>
                    <a:p>
                      <a:pPr marL="47625">
                        <a:lnSpc>
                          <a:spcPct val="107000"/>
                        </a:lnSpc>
                        <a:spcAft>
                          <a:spcPts val="0"/>
                        </a:spcAft>
                      </a:pPr>
                      <a:r>
                        <a:rPr lang="en-IN" sz="1400">
                          <a:effectLst/>
                        </a:rPr>
                        <a:t>Converts a serial number to a minute</a:t>
                      </a:r>
                      <a:endParaRPr lang="en-IN"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55508" marT="64679" marB="5309"/>
                </a:tc>
                <a:extLst>
                  <a:ext uri="{0D108BD9-81ED-4DB2-BD59-A6C34878D82A}">
                    <a16:rowId xmlns:a16="http://schemas.microsoft.com/office/drawing/2014/main" val="1796632340"/>
                  </a:ext>
                </a:extLst>
              </a:tr>
              <a:tr h="323629">
                <a:tc>
                  <a:txBody>
                    <a:bodyPr/>
                    <a:lstStyle/>
                    <a:p>
                      <a:pPr marL="95250">
                        <a:lnSpc>
                          <a:spcPct val="107000"/>
                        </a:lnSpc>
                        <a:spcAft>
                          <a:spcPts val="0"/>
                        </a:spcAft>
                      </a:pPr>
                      <a:r>
                        <a:rPr lang="en-IN" sz="1400" u="sng" dirty="0">
                          <a:effectLst/>
                          <a:hlinkClick r:id="rId5"/>
                        </a:rPr>
                        <a:t>MONTH function</a:t>
                      </a:r>
                      <a:endParaRPr lang="en-IN" sz="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55508" marT="64679" marB="5309" anchor="b"/>
                </a:tc>
                <a:tc>
                  <a:txBody>
                    <a:bodyPr/>
                    <a:lstStyle/>
                    <a:p>
                      <a:pPr marL="47625">
                        <a:lnSpc>
                          <a:spcPct val="107000"/>
                        </a:lnSpc>
                        <a:spcAft>
                          <a:spcPts val="0"/>
                        </a:spcAft>
                      </a:pPr>
                      <a:r>
                        <a:rPr lang="en-IN" sz="1400">
                          <a:effectLst/>
                        </a:rPr>
                        <a:t>Converts a serial number to a month</a:t>
                      </a:r>
                      <a:endParaRPr lang="en-IN"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55508" marT="64679" marB="5309" anchor="b"/>
                </a:tc>
                <a:extLst>
                  <a:ext uri="{0D108BD9-81ED-4DB2-BD59-A6C34878D82A}">
                    <a16:rowId xmlns:a16="http://schemas.microsoft.com/office/drawing/2014/main" val="1355334384"/>
                  </a:ext>
                </a:extLst>
              </a:tr>
              <a:tr h="836366">
                <a:tc>
                  <a:txBody>
                    <a:bodyPr/>
                    <a:lstStyle/>
                    <a:p>
                      <a:pPr marL="95250">
                        <a:lnSpc>
                          <a:spcPct val="107000"/>
                        </a:lnSpc>
                        <a:spcAft>
                          <a:spcPts val="0"/>
                        </a:spcAft>
                      </a:pPr>
                      <a:r>
                        <a:rPr lang="en-IN" sz="1400" u="sng">
                          <a:effectLst/>
                          <a:hlinkClick r:id="rId6"/>
                        </a:rPr>
                        <a:t>NETWORKDAYS.INTL function</a:t>
                      </a:r>
                      <a:endParaRPr lang="en-IN"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55508" marT="64679" marB="5309"/>
                </a:tc>
                <a:tc>
                  <a:txBody>
                    <a:bodyPr/>
                    <a:lstStyle/>
                    <a:p>
                      <a:pPr marL="47625">
                        <a:lnSpc>
                          <a:spcPct val="107000"/>
                        </a:lnSpc>
                        <a:spcAft>
                          <a:spcPts val="0"/>
                        </a:spcAft>
                      </a:pPr>
                      <a:r>
                        <a:rPr lang="en-IN" sz="1400" dirty="0">
                          <a:effectLst/>
                        </a:rPr>
                        <a:t>Returns the number of whole workdays between two dates using parameters to indicate which and how many days are weekend days</a:t>
                      </a:r>
                      <a:endParaRPr lang="en-IN" sz="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55508" marT="64679" marB="5309" anchor="b"/>
                </a:tc>
                <a:extLst>
                  <a:ext uri="{0D108BD9-81ED-4DB2-BD59-A6C34878D82A}">
                    <a16:rowId xmlns:a16="http://schemas.microsoft.com/office/drawing/2014/main" val="3083204159"/>
                  </a:ext>
                </a:extLst>
              </a:tr>
              <a:tr h="480267">
                <a:tc>
                  <a:txBody>
                    <a:bodyPr/>
                    <a:lstStyle/>
                    <a:p>
                      <a:pPr marL="95250">
                        <a:lnSpc>
                          <a:spcPct val="107000"/>
                        </a:lnSpc>
                        <a:spcAft>
                          <a:spcPts val="0"/>
                        </a:spcAft>
                      </a:pPr>
                      <a:r>
                        <a:rPr lang="en-IN" sz="1400" u="sng">
                          <a:effectLst/>
                          <a:hlinkClick r:id="rId7"/>
                        </a:rPr>
                        <a:t>NOW function</a:t>
                      </a:r>
                      <a:endParaRPr lang="en-IN"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55508" marT="64679" marB="5309"/>
                </a:tc>
                <a:tc>
                  <a:txBody>
                    <a:bodyPr/>
                    <a:lstStyle/>
                    <a:p>
                      <a:pPr marL="47625">
                        <a:lnSpc>
                          <a:spcPct val="107000"/>
                        </a:lnSpc>
                        <a:spcAft>
                          <a:spcPts val="0"/>
                        </a:spcAft>
                      </a:pPr>
                      <a:r>
                        <a:rPr lang="en-IN" sz="1400">
                          <a:effectLst/>
                        </a:rPr>
                        <a:t>Returns the serial number of the current date and time</a:t>
                      </a:r>
                      <a:endParaRPr lang="en-IN"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55508" marT="64679" marB="5309"/>
                </a:tc>
                <a:extLst>
                  <a:ext uri="{0D108BD9-81ED-4DB2-BD59-A6C34878D82A}">
                    <a16:rowId xmlns:a16="http://schemas.microsoft.com/office/drawing/2014/main" val="1121484005"/>
                  </a:ext>
                </a:extLst>
              </a:tr>
              <a:tr h="480267">
                <a:tc>
                  <a:txBody>
                    <a:bodyPr/>
                    <a:lstStyle/>
                    <a:p>
                      <a:pPr marL="95250">
                        <a:lnSpc>
                          <a:spcPct val="107000"/>
                        </a:lnSpc>
                        <a:spcAft>
                          <a:spcPts val="0"/>
                        </a:spcAft>
                      </a:pPr>
                      <a:r>
                        <a:rPr lang="en-IN" sz="1400" u="sng">
                          <a:effectLst/>
                          <a:hlinkClick r:id="rId8"/>
                        </a:rPr>
                        <a:t>SECOND function</a:t>
                      </a:r>
                      <a:endParaRPr lang="en-IN"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55508" marT="64679" marB="5309"/>
                </a:tc>
                <a:tc>
                  <a:txBody>
                    <a:bodyPr/>
                    <a:lstStyle/>
                    <a:p>
                      <a:pPr marL="47625">
                        <a:lnSpc>
                          <a:spcPct val="107000"/>
                        </a:lnSpc>
                        <a:spcAft>
                          <a:spcPts val="0"/>
                        </a:spcAft>
                      </a:pPr>
                      <a:r>
                        <a:rPr lang="en-IN" sz="1400">
                          <a:effectLst/>
                        </a:rPr>
                        <a:t>Converts a serial number to a second</a:t>
                      </a:r>
                      <a:endParaRPr lang="en-IN"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55508" marT="64679" marB="5309"/>
                </a:tc>
                <a:extLst>
                  <a:ext uri="{0D108BD9-81ED-4DB2-BD59-A6C34878D82A}">
                    <a16:rowId xmlns:a16="http://schemas.microsoft.com/office/drawing/2014/main" val="940677544"/>
                  </a:ext>
                </a:extLst>
              </a:tr>
              <a:tr h="480267">
                <a:tc>
                  <a:txBody>
                    <a:bodyPr/>
                    <a:lstStyle/>
                    <a:p>
                      <a:pPr marL="95250">
                        <a:lnSpc>
                          <a:spcPct val="107000"/>
                        </a:lnSpc>
                        <a:spcAft>
                          <a:spcPts val="0"/>
                        </a:spcAft>
                      </a:pPr>
                      <a:r>
                        <a:rPr lang="en-IN" sz="1400" u="sng">
                          <a:effectLst/>
                          <a:hlinkClick r:id="rId9"/>
                        </a:rPr>
                        <a:t>TIME function</a:t>
                      </a:r>
                      <a:endParaRPr lang="en-IN"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55508" marT="64679" marB="5309"/>
                </a:tc>
                <a:tc>
                  <a:txBody>
                    <a:bodyPr/>
                    <a:lstStyle/>
                    <a:p>
                      <a:pPr marL="47625">
                        <a:lnSpc>
                          <a:spcPct val="107000"/>
                        </a:lnSpc>
                        <a:spcAft>
                          <a:spcPts val="0"/>
                        </a:spcAft>
                      </a:pPr>
                      <a:r>
                        <a:rPr lang="en-IN" sz="1400">
                          <a:effectLst/>
                        </a:rPr>
                        <a:t>Returns the serial number of a particular time</a:t>
                      </a:r>
                      <a:endParaRPr lang="en-IN"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55508" marT="64679" marB="5309"/>
                </a:tc>
                <a:extLst>
                  <a:ext uri="{0D108BD9-81ED-4DB2-BD59-A6C34878D82A}">
                    <a16:rowId xmlns:a16="http://schemas.microsoft.com/office/drawing/2014/main" val="3992723073"/>
                  </a:ext>
                </a:extLst>
              </a:tr>
              <a:tr h="480267">
                <a:tc>
                  <a:txBody>
                    <a:bodyPr/>
                    <a:lstStyle/>
                    <a:p>
                      <a:pPr marL="95250">
                        <a:lnSpc>
                          <a:spcPct val="107000"/>
                        </a:lnSpc>
                        <a:spcAft>
                          <a:spcPts val="0"/>
                        </a:spcAft>
                      </a:pPr>
                      <a:r>
                        <a:rPr lang="en-IN" sz="1400" u="sng">
                          <a:effectLst/>
                          <a:hlinkClick r:id="rId10"/>
                        </a:rPr>
                        <a:t>TIMEVALUE function</a:t>
                      </a:r>
                      <a:endParaRPr lang="en-IN" sz="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55508" marT="64679" marB="5309"/>
                </a:tc>
                <a:tc>
                  <a:txBody>
                    <a:bodyPr/>
                    <a:lstStyle/>
                    <a:p>
                      <a:pPr marL="47625">
                        <a:lnSpc>
                          <a:spcPct val="107000"/>
                        </a:lnSpc>
                        <a:spcAft>
                          <a:spcPts val="0"/>
                        </a:spcAft>
                      </a:pPr>
                      <a:r>
                        <a:rPr lang="en-IN" sz="1400" dirty="0">
                          <a:effectLst/>
                        </a:rPr>
                        <a:t>Converts a time in the form of text to a serial number</a:t>
                      </a:r>
                      <a:endParaRPr lang="en-IN" sz="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55508" marT="64679" marB="5309"/>
                </a:tc>
                <a:extLst>
                  <a:ext uri="{0D108BD9-81ED-4DB2-BD59-A6C34878D82A}">
                    <a16:rowId xmlns:a16="http://schemas.microsoft.com/office/drawing/2014/main" val="1763967843"/>
                  </a:ext>
                </a:extLst>
              </a:tr>
            </a:tbl>
          </a:graphicData>
        </a:graphic>
      </p:graphicFrame>
    </p:spTree>
    <p:extLst>
      <p:ext uri="{BB962C8B-B14F-4D97-AF65-F5344CB8AC3E}">
        <p14:creationId xmlns:p14="http://schemas.microsoft.com/office/powerpoint/2010/main" val="337976031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399D3B18-5C1D-4D27-B289-CA3E868171A9}"/>
              </a:ext>
            </a:extLst>
          </p:cNvPr>
          <p:cNvGraphicFramePr>
            <a:graphicFrameLocks noGrp="1"/>
          </p:cNvGraphicFramePr>
          <p:nvPr>
            <p:ph idx="1"/>
            <p:extLst>
              <p:ext uri="{D42A27DB-BD31-4B8C-83A1-F6EECF244321}">
                <p14:modId xmlns:p14="http://schemas.microsoft.com/office/powerpoint/2010/main" val="1845411470"/>
              </p:ext>
            </p:extLst>
          </p:nvPr>
        </p:nvGraphicFramePr>
        <p:xfrm>
          <a:off x="1119808" y="887896"/>
          <a:ext cx="9952384" cy="5075582"/>
        </p:xfrm>
        <a:graphic>
          <a:graphicData uri="http://schemas.openxmlformats.org/drawingml/2006/table">
            <a:tbl>
              <a:tblPr firstRow="1" firstCol="1" bandRow="1">
                <a:tableStyleId>{1FECB4D8-DB02-4DC6-A0A2-4F2EBAE1DC90}</a:tableStyleId>
              </a:tblPr>
              <a:tblGrid>
                <a:gridCol w="5018539">
                  <a:extLst>
                    <a:ext uri="{9D8B030D-6E8A-4147-A177-3AD203B41FA5}">
                      <a16:colId xmlns:a16="http://schemas.microsoft.com/office/drawing/2014/main" val="3634719797"/>
                    </a:ext>
                  </a:extLst>
                </a:gridCol>
                <a:gridCol w="4933845">
                  <a:extLst>
                    <a:ext uri="{9D8B030D-6E8A-4147-A177-3AD203B41FA5}">
                      <a16:colId xmlns:a16="http://schemas.microsoft.com/office/drawing/2014/main" val="3722417477"/>
                    </a:ext>
                  </a:extLst>
                </a:gridCol>
              </a:tblGrid>
              <a:tr h="420857">
                <a:tc>
                  <a:txBody>
                    <a:bodyPr/>
                    <a:lstStyle/>
                    <a:p>
                      <a:pPr marL="47625">
                        <a:lnSpc>
                          <a:spcPct val="107000"/>
                        </a:lnSpc>
                        <a:spcAft>
                          <a:spcPts val="0"/>
                        </a:spcAft>
                      </a:pPr>
                      <a:r>
                        <a:rPr lang="en-IN" sz="1700" dirty="0">
                          <a:effectLst/>
                        </a:rPr>
                        <a:t>Function (DATE and TIME)</a:t>
                      </a:r>
                      <a:endParaRPr lang="en-IN" sz="1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85978" marT="78374" marB="6434"/>
                </a:tc>
                <a:tc>
                  <a:txBody>
                    <a:bodyPr/>
                    <a:lstStyle/>
                    <a:p>
                      <a:pPr>
                        <a:lnSpc>
                          <a:spcPct val="107000"/>
                        </a:lnSpc>
                        <a:spcAft>
                          <a:spcPts val="0"/>
                        </a:spcAft>
                      </a:pPr>
                      <a:r>
                        <a:rPr lang="en-IN" sz="1700">
                          <a:effectLst/>
                        </a:rPr>
                        <a:t>Description</a:t>
                      </a:r>
                      <a:endParaRPr lang="en-IN"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85978" marT="78374" marB="6434"/>
                </a:tc>
                <a:extLst>
                  <a:ext uri="{0D108BD9-81ED-4DB2-BD59-A6C34878D82A}">
                    <a16:rowId xmlns:a16="http://schemas.microsoft.com/office/drawing/2014/main" val="2492949067"/>
                  </a:ext>
                </a:extLst>
              </a:tr>
              <a:tr h="420857">
                <a:tc>
                  <a:txBody>
                    <a:bodyPr/>
                    <a:lstStyle/>
                    <a:p>
                      <a:pPr marL="95250">
                        <a:lnSpc>
                          <a:spcPct val="107000"/>
                        </a:lnSpc>
                        <a:spcAft>
                          <a:spcPts val="0"/>
                        </a:spcAft>
                      </a:pPr>
                      <a:r>
                        <a:rPr lang="en-IN" sz="1700" u="sng">
                          <a:effectLst/>
                          <a:hlinkClick r:id="rId2"/>
                        </a:rPr>
                        <a:t>TODAY function</a:t>
                      </a:r>
                      <a:endParaRPr lang="en-IN"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85978" marT="78374" marB="6434" anchor="b"/>
                </a:tc>
                <a:tc>
                  <a:txBody>
                    <a:bodyPr/>
                    <a:lstStyle/>
                    <a:p>
                      <a:pPr marL="47625">
                        <a:lnSpc>
                          <a:spcPct val="107000"/>
                        </a:lnSpc>
                        <a:spcAft>
                          <a:spcPts val="0"/>
                        </a:spcAft>
                      </a:pPr>
                      <a:r>
                        <a:rPr lang="en-IN" sz="1700">
                          <a:effectLst/>
                        </a:rPr>
                        <a:t>Returns the serial number of today's date</a:t>
                      </a:r>
                      <a:endParaRPr lang="en-IN"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85978" marT="78374" marB="6434" anchor="b"/>
                </a:tc>
                <a:extLst>
                  <a:ext uri="{0D108BD9-81ED-4DB2-BD59-A6C34878D82A}">
                    <a16:rowId xmlns:a16="http://schemas.microsoft.com/office/drawing/2014/main" val="1917812181"/>
                  </a:ext>
                </a:extLst>
              </a:tr>
              <a:tr h="420857">
                <a:tc>
                  <a:txBody>
                    <a:bodyPr/>
                    <a:lstStyle/>
                    <a:p>
                      <a:pPr marL="95250">
                        <a:lnSpc>
                          <a:spcPct val="107000"/>
                        </a:lnSpc>
                        <a:spcAft>
                          <a:spcPts val="0"/>
                        </a:spcAft>
                      </a:pPr>
                      <a:r>
                        <a:rPr lang="en-IN" sz="1700" u="sng" dirty="0">
                          <a:effectLst/>
                          <a:hlinkClick r:id="rId3"/>
                        </a:rPr>
                        <a:t>WEEKDAY function</a:t>
                      </a:r>
                      <a:endParaRPr lang="en-IN" sz="1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85978" marT="78374" marB="6434" anchor="b"/>
                </a:tc>
                <a:tc>
                  <a:txBody>
                    <a:bodyPr/>
                    <a:lstStyle/>
                    <a:p>
                      <a:pPr marL="47625">
                        <a:lnSpc>
                          <a:spcPct val="107000"/>
                        </a:lnSpc>
                        <a:spcAft>
                          <a:spcPts val="0"/>
                        </a:spcAft>
                      </a:pPr>
                      <a:r>
                        <a:rPr lang="en-IN" sz="1700">
                          <a:effectLst/>
                        </a:rPr>
                        <a:t>Converts a serial number to a day of the week</a:t>
                      </a:r>
                      <a:endParaRPr lang="en-IN"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85978" marT="78374" marB="6434" anchor="b"/>
                </a:tc>
                <a:extLst>
                  <a:ext uri="{0D108BD9-81ED-4DB2-BD59-A6C34878D82A}">
                    <a16:rowId xmlns:a16="http://schemas.microsoft.com/office/drawing/2014/main" val="2543296612"/>
                  </a:ext>
                </a:extLst>
              </a:tr>
              <a:tr h="754422">
                <a:tc>
                  <a:txBody>
                    <a:bodyPr/>
                    <a:lstStyle/>
                    <a:p>
                      <a:pPr marL="95250">
                        <a:lnSpc>
                          <a:spcPct val="107000"/>
                        </a:lnSpc>
                        <a:spcAft>
                          <a:spcPts val="0"/>
                        </a:spcAft>
                      </a:pPr>
                      <a:r>
                        <a:rPr lang="en-IN" sz="1700" u="sng" dirty="0">
                          <a:effectLst/>
                          <a:hlinkClick r:id="rId4"/>
                        </a:rPr>
                        <a:t>WEEKNUM function</a:t>
                      </a:r>
                      <a:endParaRPr lang="en-IN" sz="1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85978" marT="78374" marB="6434"/>
                </a:tc>
                <a:tc>
                  <a:txBody>
                    <a:bodyPr/>
                    <a:lstStyle/>
                    <a:p>
                      <a:pPr marL="47625" algn="just">
                        <a:lnSpc>
                          <a:spcPct val="107000"/>
                        </a:lnSpc>
                        <a:spcAft>
                          <a:spcPts val="0"/>
                        </a:spcAft>
                      </a:pPr>
                      <a:r>
                        <a:rPr lang="en-IN" sz="1700" dirty="0">
                          <a:effectLst/>
                        </a:rPr>
                        <a:t>Converts a serial number to a number representing where the week falls numerically with a year</a:t>
                      </a:r>
                      <a:endParaRPr lang="en-IN" sz="1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85978" marT="78374" marB="6434" anchor="b"/>
                </a:tc>
                <a:extLst>
                  <a:ext uri="{0D108BD9-81ED-4DB2-BD59-A6C34878D82A}">
                    <a16:rowId xmlns:a16="http://schemas.microsoft.com/office/drawing/2014/main" val="2407583169"/>
                  </a:ext>
                </a:extLst>
              </a:tr>
              <a:tr h="754422">
                <a:tc>
                  <a:txBody>
                    <a:bodyPr/>
                    <a:lstStyle/>
                    <a:p>
                      <a:pPr marL="95250">
                        <a:lnSpc>
                          <a:spcPct val="107000"/>
                        </a:lnSpc>
                        <a:spcAft>
                          <a:spcPts val="0"/>
                        </a:spcAft>
                      </a:pPr>
                      <a:r>
                        <a:rPr lang="en-IN" sz="1700" u="sng" dirty="0">
                          <a:effectLst/>
                          <a:hlinkClick r:id="rId5"/>
                        </a:rPr>
                        <a:t>WORKDAY function</a:t>
                      </a:r>
                      <a:endParaRPr lang="en-IN" sz="1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85978" marT="78374" marB="6434"/>
                </a:tc>
                <a:tc>
                  <a:txBody>
                    <a:bodyPr/>
                    <a:lstStyle/>
                    <a:p>
                      <a:pPr marL="47625" algn="just">
                        <a:lnSpc>
                          <a:spcPct val="107000"/>
                        </a:lnSpc>
                        <a:spcAft>
                          <a:spcPts val="0"/>
                        </a:spcAft>
                      </a:pPr>
                      <a:r>
                        <a:rPr lang="en-IN" sz="1700">
                          <a:effectLst/>
                        </a:rPr>
                        <a:t>Returns the serial number of the date before or after a specified number of workdays</a:t>
                      </a:r>
                      <a:endParaRPr lang="en-IN"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85978" marT="78374" marB="6434" anchor="b"/>
                </a:tc>
                <a:extLst>
                  <a:ext uri="{0D108BD9-81ED-4DB2-BD59-A6C34878D82A}">
                    <a16:rowId xmlns:a16="http://schemas.microsoft.com/office/drawing/2014/main" val="4176676944"/>
                  </a:ext>
                </a:extLst>
              </a:tr>
              <a:tr h="1087986">
                <a:tc>
                  <a:txBody>
                    <a:bodyPr/>
                    <a:lstStyle/>
                    <a:p>
                      <a:pPr marL="95250">
                        <a:lnSpc>
                          <a:spcPct val="107000"/>
                        </a:lnSpc>
                        <a:spcAft>
                          <a:spcPts val="0"/>
                        </a:spcAft>
                      </a:pPr>
                      <a:r>
                        <a:rPr lang="en-IN" sz="1700" u="sng" dirty="0">
                          <a:effectLst/>
                          <a:hlinkClick r:id="rId6"/>
                        </a:rPr>
                        <a:t>WORKDAY.INTL function</a:t>
                      </a:r>
                      <a:endParaRPr lang="en-IN" sz="1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85978" marT="78374" marB="6434"/>
                </a:tc>
                <a:tc>
                  <a:txBody>
                    <a:bodyPr/>
                    <a:lstStyle/>
                    <a:p>
                      <a:pPr marL="47625" algn="just">
                        <a:lnSpc>
                          <a:spcPct val="107000"/>
                        </a:lnSpc>
                        <a:spcAft>
                          <a:spcPts val="0"/>
                        </a:spcAft>
                      </a:pPr>
                      <a:r>
                        <a:rPr lang="en-IN" sz="1700">
                          <a:effectLst/>
                        </a:rPr>
                        <a:t>Returns the serial number of the date before or after a specified number of workdays using parameters to indicate which and how many days are weekend days</a:t>
                      </a:r>
                      <a:endParaRPr lang="en-IN"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85978" marT="78374" marB="6434" anchor="b"/>
                </a:tc>
                <a:extLst>
                  <a:ext uri="{0D108BD9-81ED-4DB2-BD59-A6C34878D82A}">
                    <a16:rowId xmlns:a16="http://schemas.microsoft.com/office/drawing/2014/main" val="3242159041"/>
                  </a:ext>
                </a:extLst>
              </a:tr>
              <a:tr h="487312">
                <a:tc>
                  <a:txBody>
                    <a:bodyPr/>
                    <a:lstStyle/>
                    <a:p>
                      <a:pPr marL="95250">
                        <a:lnSpc>
                          <a:spcPct val="107000"/>
                        </a:lnSpc>
                        <a:spcAft>
                          <a:spcPts val="0"/>
                        </a:spcAft>
                      </a:pPr>
                      <a:r>
                        <a:rPr lang="en-IN" sz="1700" u="sng">
                          <a:effectLst/>
                          <a:hlinkClick r:id="rId7"/>
                        </a:rPr>
                        <a:t>YEAR function</a:t>
                      </a:r>
                      <a:endParaRPr lang="en-IN"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85978" marT="78374" marB="6434" anchor="b"/>
                </a:tc>
                <a:tc>
                  <a:txBody>
                    <a:bodyPr/>
                    <a:lstStyle/>
                    <a:p>
                      <a:pPr marL="47625">
                        <a:lnSpc>
                          <a:spcPct val="107000"/>
                        </a:lnSpc>
                        <a:spcAft>
                          <a:spcPts val="0"/>
                        </a:spcAft>
                      </a:pPr>
                      <a:r>
                        <a:rPr lang="en-IN" sz="1700">
                          <a:effectLst/>
                        </a:rPr>
                        <a:t>Converts a serial number to a year</a:t>
                      </a:r>
                      <a:endParaRPr lang="en-IN" sz="10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85978" marT="78374" marB="6434" anchor="b"/>
                </a:tc>
                <a:extLst>
                  <a:ext uri="{0D108BD9-81ED-4DB2-BD59-A6C34878D82A}">
                    <a16:rowId xmlns:a16="http://schemas.microsoft.com/office/drawing/2014/main" val="3732922085"/>
                  </a:ext>
                </a:extLst>
              </a:tr>
              <a:tr h="728869">
                <a:tc>
                  <a:txBody>
                    <a:bodyPr/>
                    <a:lstStyle/>
                    <a:p>
                      <a:pPr marL="95250">
                        <a:lnSpc>
                          <a:spcPct val="107000"/>
                        </a:lnSpc>
                        <a:spcAft>
                          <a:spcPts val="0"/>
                        </a:spcAft>
                      </a:pPr>
                      <a:r>
                        <a:rPr lang="en-IN" sz="1700" u="sng" dirty="0">
                          <a:effectLst/>
                          <a:hlinkClick r:id="rId8"/>
                        </a:rPr>
                        <a:t>YEARFRAC function</a:t>
                      </a:r>
                      <a:endParaRPr lang="en-IN" sz="1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85978" marT="78374" marB="6434"/>
                </a:tc>
                <a:tc>
                  <a:txBody>
                    <a:bodyPr/>
                    <a:lstStyle/>
                    <a:p>
                      <a:pPr marL="47625" algn="just">
                        <a:lnSpc>
                          <a:spcPct val="107000"/>
                        </a:lnSpc>
                        <a:spcAft>
                          <a:spcPts val="0"/>
                        </a:spcAft>
                      </a:pPr>
                      <a:r>
                        <a:rPr lang="en-IN" sz="1700" dirty="0">
                          <a:effectLst/>
                        </a:rPr>
                        <a:t>Returns the year fraction representing the number of whole days between </a:t>
                      </a:r>
                      <a:r>
                        <a:rPr lang="en-IN" sz="1700" dirty="0" err="1">
                          <a:effectLst/>
                        </a:rPr>
                        <a:t>start_date</a:t>
                      </a:r>
                      <a:r>
                        <a:rPr lang="en-IN" sz="1700" dirty="0">
                          <a:effectLst/>
                        </a:rPr>
                        <a:t> and </a:t>
                      </a:r>
                      <a:r>
                        <a:rPr lang="en-IN" sz="1700" dirty="0" err="1">
                          <a:effectLst/>
                        </a:rPr>
                        <a:t>end_date</a:t>
                      </a:r>
                      <a:endParaRPr lang="en-IN" sz="10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85978" marT="78374" marB="6434"/>
                </a:tc>
                <a:extLst>
                  <a:ext uri="{0D108BD9-81ED-4DB2-BD59-A6C34878D82A}">
                    <a16:rowId xmlns:a16="http://schemas.microsoft.com/office/drawing/2014/main" val="4005069536"/>
                  </a:ext>
                </a:extLst>
              </a:tr>
            </a:tbl>
          </a:graphicData>
        </a:graphic>
      </p:graphicFrame>
    </p:spTree>
    <p:extLst>
      <p:ext uri="{BB962C8B-B14F-4D97-AF65-F5344CB8AC3E}">
        <p14:creationId xmlns:p14="http://schemas.microsoft.com/office/powerpoint/2010/main" val="183441677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B84CD9E2-C521-4242-8048-6C1DEDD8AC7B}"/>
              </a:ext>
            </a:extLst>
          </p:cNvPr>
          <p:cNvGraphicFramePr>
            <a:graphicFrameLocks noGrp="1"/>
          </p:cNvGraphicFramePr>
          <p:nvPr>
            <p:ph idx="1"/>
            <p:extLst>
              <p:ext uri="{D42A27DB-BD31-4B8C-83A1-F6EECF244321}">
                <p14:modId xmlns:p14="http://schemas.microsoft.com/office/powerpoint/2010/main" val="1155216360"/>
              </p:ext>
            </p:extLst>
          </p:nvPr>
        </p:nvGraphicFramePr>
        <p:xfrm>
          <a:off x="311426" y="238124"/>
          <a:ext cx="11569148" cy="6412274"/>
        </p:xfrm>
        <a:graphic>
          <a:graphicData uri="http://schemas.openxmlformats.org/drawingml/2006/table">
            <a:tbl>
              <a:tblPr firstRow="1">
                <a:tableStyleId>{F5AB1C69-6EDB-4FF4-983F-18BD219EF322}</a:tableStyleId>
              </a:tblPr>
              <a:tblGrid>
                <a:gridCol w="2892287">
                  <a:extLst>
                    <a:ext uri="{9D8B030D-6E8A-4147-A177-3AD203B41FA5}">
                      <a16:colId xmlns:a16="http://schemas.microsoft.com/office/drawing/2014/main" val="1633353562"/>
                    </a:ext>
                  </a:extLst>
                </a:gridCol>
                <a:gridCol w="2892287">
                  <a:extLst>
                    <a:ext uri="{9D8B030D-6E8A-4147-A177-3AD203B41FA5}">
                      <a16:colId xmlns:a16="http://schemas.microsoft.com/office/drawing/2014/main" val="3803327886"/>
                    </a:ext>
                  </a:extLst>
                </a:gridCol>
                <a:gridCol w="2892287">
                  <a:extLst>
                    <a:ext uri="{9D8B030D-6E8A-4147-A177-3AD203B41FA5}">
                      <a16:colId xmlns:a16="http://schemas.microsoft.com/office/drawing/2014/main" val="1082077139"/>
                    </a:ext>
                  </a:extLst>
                </a:gridCol>
                <a:gridCol w="2892287">
                  <a:extLst>
                    <a:ext uri="{9D8B030D-6E8A-4147-A177-3AD203B41FA5}">
                      <a16:colId xmlns:a16="http://schemas.microsoft.com/office/drawing/2014/main" val="1573449087"/>
                    </a:ext>
                  </a:extLst>
                </a:gridCol>
              </a:tblGrid>
              <a:tr h="233736">
                <a:tc>
                  <a:txBody>
                    <a:bodyPr/>
                    <a:lstStyle/>
                    <a:p>
                      <a:r>
                        <a:rPr lang="en-IN" sz="1250" dirty="0"/>
                        <a:t>Function</a:t>
                      </a:r>
                      <a:endParaRPr lang="en-IN" sz="1250" b="1" dirty="0"/>
                    </a:p>
                  </a:txBody>
                  <a:tcPr marL="32104" marR="32104" marT="16052" marB="16052" anchor="ctr"/>
                </a:tc>
                <a:tc>
                  <a:txBody>
                    <a:bodyPr/>
                    <a:lstStyle/>
                    <a:p>
                      <a:r>
                        <a:rPr lang="en-IN" sz="1250" dirty="0"/>
                        <a:t>Description</a:t>
                      </a:r>
                      <a:endParaRPr lang="en-IN" sz="1250" b="1" dirty="0"/>
                    </a:p>
                  </a:txBody>
                  <a:tcPr marL="32104" marR="32104" marT="16052" marB="16052" anchor="ctr"/>
                </a:tc>
                <a:tc>
                  <a:txBody>
                    <a:bodyPr/>
                    <a:lstStyle/>
                    <a:p>
                      <a:r>
                        <a:rPr lang="en-IN" sz="1250" dirty="0"/>
                        <a:t>Example Formula</a:t>
                      </a:r>
                      <a:endParaRPr lang="en-IN" sz="1250" b="1" dirty="0"/>
                    </a:p>
                  </a:txBody>
                  <a:tcPr marL="32104" marR="32104" marT="16052" marB="16052" anchor="ctr"/>
                </a:tc>
                <a:tc>
                  <a:txBody>
                    <a:bodyPr/>
                    <a:lstStyle/>
                    <a:p>
                      <a:r>
                        <a:rPr lang="en-IN" sz="1250" dirty="0"/>
                        <a:t>Example Output</a:t>
                      </a:r>
                      <a:endParaRPr lang="en-IN" sz="1250" b="1" dirty="0"/>
                    </a:p>
                  </a:txBody>
                  <a:tcPr marL="32104" marR="32104" marT="16052" marB="16052" anchor="ctr"/>
                </a:tc>
                <a:extLst>
                  <a:ext uri="{0D108BD9-81ED-4DB2-BD59-A6C34878D82A}">
                    <a16:rowId xmlns:a16="http://schemas.microsoft.com/office/drawing/2014/main" val="3963503166"/>
                  </a:ext>
                </a:extLst>
              </a:tr>
              <a:tr h="244329">
                <a:tc>
                  <a:txBody>
                    <a:bodyPr/>
                    <a:lstStyle/>
                    <a:p>
                      <a:r>
                        <a:rPr lang="en-IN" sz="1250" b="1" dirty="0"/>
                        <a:t>DATE</a:t>
                      </a:r>
                    </a:p>
                  </a:txBody>
                  <a:tcPr marL="32104" marR="32104" marT="16052" marB="16052" anchor="ctr"/>
                </a:tc>
                <a:tc>
                  <a:txBody>
                    <a:bodyPr/>
                    <a:lstStyle/>
                    <a:p>
                      <a:r>
                        <a:rPr lang="en-US" sz="1250" dirty="0"/>
                        <a:t>Returns the serial number of a specific date</a:t>
                      </a:r>
                    </a:p>
                  </a:txBody>
                  <a:tcPr marL="32104" marR="32104" marT="16052" marB="16052" anchor="ctr"/>
                </a:tc>
                <a:tc>
                  <a:txBody>
                    <a:bodyPr/>
                    <a:lstStyle/>
                    <a:p>
                      <a:r>
                        <a:rPr lang="en-IN" sz="1250" dirty="0"/>
                        <a:t>=DATE(2025,8,10)</a:t>
                      </a:r>
                    </a:p>
                  </a:txBody>
                  <a:tcPr marL="32104" marR="32104" marT="16052" marB="16052" anchor="ctr"/>
                </a:tc>
                <a:tc>
                  <a:txBody>
                    <a:bodyPr/>
                    <a:lstStyle/>
                    <a:p>
                      <a:r>
                        <a:rPr lang="en-IN" sz="1250" dirty="0"/>
                        <a:t>10-Aug-2025</a:t>
                      </a:r>
                    </a:p>
                  </a:txBody>
                  <a:tcPr marL="32104" marR="32104" marT="16052" marB="16052" anchor="ctr"/>
                </a:tc>
                <a:extLst>
                  <a:ext uri="{0D108BD9-81ED-4DB2-BD59-A6C34878D82A}">
                    <a16:rowId xmlns:a16="http://schemas.microsoft.com/office/drawing/2014/main" val="2357659595"/>
                  </a:ext>
                </a:extLst>
              </a:tr>
              <a:tr h="244329">
                <a:tc>
                  <a:txBody>
                    <a:bodyPr/>
                    <a:lstStyle/>
                    <a:p>
                      <a:r>
                        <a:rPr lang="en-IN" sz="1250" b="1" dirty="0"/>
                        <a:t>DATEDIF</a:t>
                      </a:r>
                    </a:p>
                  </a:txBody>
                  <a:tcPr marL="32104" marR="32104" marT="16052" marB="16052" anchor="ctr"/>
                </a:tc>
                <a:tc>
                  <a:txBody>
                    <a:bodyPr/>
                    <a:lstStyle/>
                    <a:p>
                      <a:r>
                        <a:rPr lang="en-US" sz="1250" dirty="0"/>
                        <a:t>Days, months, or years between two dates</a:t>
                      </a:r>
                    </a:p>
                  </a:txBody>
                  <a:tcPr marL="32104" marR="32104" marT="16052" marB="16052" anchor="ctr"/>
                </a:tc>
                <a:tc>
                  <a:txBody>
                    <a:bodyPr/>
                    <a:lstStyle/>
                    <a:p>
                      <a:r>
                        <a:rPr lang="en-IN" sz="1250"/>
                        <a:t>=DATEDIF("1-Jan-2020","10-Aug-2025","Y")</a:t>
                      </a:r>
                    </a:p>
                  </a:txBody>
                  <a:tcPr marL="32104" marR="32104" marT="16052" marB="16052" anchor="ctr"/>
                </a:tc>
                <a:tc>
                  <a:txBody>
                    <a:bodyPr/>
                    <a:lstStyle/>
                    <a:p>
                      <a:r>
                        <a:rPr lang="en-IN" sz="1250"/>
                        <a:t>5</a:t>
                      </a:r>
                    </a:p>
                  </a:txBody>
                  <a:tcPr marL="32104" marR="32104" marT="16052" marB="16052" anchor="ctr"/>
                </a:tc>
                <a:extLst>
                  <a:ext uri="{0D108BD9-81ED-4DB2-BD59-A6C34878D82A}">
                    <a16:rowId xmlns:a16="http://schemas.microsoft.com/office/drawing/2014/main" val="1818682343"/>
                  </a:ext>
                </a:extLst>
              </a:tr>
              <a:tr h="244329">
                <a:tc>
                  <a:txBody>
                    <a:bodyPr/>
                    <a:lstStyle/>
                    <a:p>
                      <a:r>
                        <a:rPr lang="en-IN" sz="1250" b="1" dirty="0"/>
                        <a:t>DATEVALUE</a:t>
                      </a:r>
                    </a:p>
                  </a:txBody>
                  <a:tcPr marL="32104" marR="32104" marT="16052" marB="16052" anchor="ctr"/>
                </a:tc>
                <a:tc>
                  <a:txBody>
                    <a:bodyPr/>
                    <a:lstStyle/>
                    <a:p>
                      <a:r>
                        <a:rPr lang="en-US" sz="1250"/>
                        <a:t>Converts date text to serial number</a:t>
                      </a:r>
                    </a:p>
                  </a:txBody>
                  <a:tcPr marL="32104" marR="32104" marT="16052" marB="16052" anchor="ctr"/>
                </a:tc>
                <a:tc>
                  <a:txBody>
                    <a:bodyPr/>
                    <a:lstStyle/>
                    <a:p>
                      <a:r>
                        <a:rPr lang="en-IN" sz="1250"/>
                        <a:t>=DATEVALUE("10-Aug-2025")</a:t>
                      </a:r>
                    </a:p>
                  </a:txBody>
                  <a:tcPr marL="32104" marR="32104" marT="16052" marB="16052" anchor="ctr"/>
                </a:tc>
                <a:tc>
                  <a:txBody>
                    <a:bodyPr/>
                    <a:lstStyle/>
                    <a:p>
                      <a:r>
                        <a:rPr lang="en-IN" sz="1250"/>
                        <a:t>45458</a:t>
                      </a:r>
                    </a:p>
                  </a:txBody>
                  <a:tcPr marL="32104" marR="32104" marT="16052" marB="16052" anchor="ctr"/>
                </a:tc>
                <a:extLst>
                  <a:ext uri="{0D108BD9-81ED-4DB2-BD59-A6C34878D82A}">
                    <a16:rowId xmlns:a16="http://schemas.microsoft.com/office/drawing/2014/main" val="3193897598"/>
                  </a:ext>
                </a:extLst>
              </a:tr>
              <a:tr h="244329">
                <a:tc>
                  <a:txBody>
                    <a:bodyPr/>
                    <a:lstStyle/>
                    <a:p>
                      <a:r>
                        <a:rPr lang="en-IN" sz="1250" b="1" dirty="0"/>
                        <a:t>DAY</a:t>
                      </a:r>
                    </a:p>
                  </a:txBody>
                  <a:tcPr marL="32104" marR="32104" marT="16052" marB="16052" anchor="ctr"/>
                </a:tc>
                <a:tc>
                  <a:txBody>
                    <a:bodyPr/>
                    <a:lstStyle/>
                    <a:p>
                      <a:r>
                        <a:rPr lang="en-US" sz="1250"/>
                        <a:t>Day of the month from a date</a:t>
                      </a:r>
                    </a:p>
                  </a:txBody>
                  <a:tcPr marL="32104" marR="32104" marT="16052" marB="16052" anchor="ctr"/>
                </a:tc>
                <a:tc>
                  <a:txBody>
                    <a:bodyPr/>
                    <a:lstStyle/>
                    <a:p>
                      <a:r>
                        <a:rPr lang="en-IN" sz="1250"/>
                        <a:t>=DAY("10-Aug-2025")</a:t>
                      </a:r>
                    </a:p>
                  </a:txBody>
                  <a:tcPr marL="32104" marR="32104" marT="16052" marB="16052" anchor="ctr"/>
                </a:tc>
                <a:tc>
                  <a:txBody>
                    <a:bodyPr/>
                    <a:lstStyle/>
                    <a:p>
                      <a:r>
                        <a:rPr lang="en-IN" sz="1250"/>
                        <a:t>10</a:t>
                      </a:r>
                    </a:p>
                  </a:txBody>
                  <a:tcPr marL="32104" marR="32104" marT="16052" marB="16052" anchor="ctr"/>
                </a:tc>
                <a:extLst>
                  <a:ext uri="{0D108BD9-81ED-4DB2-BD59-A6C34878D82A}">
                    <a16:rowId xmlns:a16="http://schemas.microsoft.com/office/drawing/2014/main" val="4144216987"/>
                  </a:ext>
                </a:extLst>
              </a:tr>
              <a:tr h="244329">
                <a:tc>
                  <a:txBody>
                    <a:bodyPr/>
                    <a:lstStyle/>
                    <a:p>
                      <a:r>
                        <a:rPr lang="en-IN" sz="1250" b="1" dirty="0"/>
                        <a:t>DAYS</a:t>
                      </a:r>
                    </a:p>
                  </a:txBody>
                  <a:tcPr marL="32104" marR="32104" marT="16052" marB="16052" anchor="ctr"/>
                </a:tc>
                <a:tc>
                  <a:txBody>
                    <a:bodyPr/>
                    <a:lstStyle/>
                    <a:p>
                      <a:r>
                        <a:rPr lang="en-US" sz="1250"/>
                        <a:t>Number of days between two dates</a:t>
                      </a:r>
                    </a:p>
                  </a:txBody>
                  <a:tcPr marL="32104" marR="32104" marT="16052" marB="16052" anchor="ctr"/>
                </a:tc>
                <a:tc>
                  <a:txBody>
                    <a:bodyPr/>
                    <a:lstStyle/>
                    <a:p>
                      <a:r>
                        <a:rPr lang="en-IN" sz="1250"/>
                        <a:t>=DAYS("10-Aug-2025","1-Jan-2025")</a:t>
                      </a:r>
                    </a:p>
                  </a:txBody>
                  <a:tcPr marL="32104" marR="32104" marT="16052" marB="16052" anchor="ctr"/>
                </a:tc>
                <a:tc>
                  <a:txBody>
                    <a:bodyPr/>
                    <a:lstStyle/>
                    <a:p>
                      <a:r>
                        <a:rPr lang="en-IN" sz="1250"/>
                        <a:t>221</a:t>
                      </a:r>
                    </a:p>
                  </a:txBody>
                  <a:tcPr marL="32104" marR="32104" marT="16052" marB="16052" anchor="ctr"/>
                </a:tc>
                <a:extLst>
                  <a:ext uri="{0D108BD9-81ED-4DB2-BD59-A6C34878D82A}">
                    <a16:rowId xmlns:a16="http://schemas.microsoft.com/office/drawing/2014/main" val="2499239547"/>
                  </a:ext>
                </a:extLst>
              </a:tr>
              <a:tr h="244329">
                <a:tc>
                  <a:txBody>
                    <a:bodyPr/>
                    <a:lstStyle/>
                    <a:p>
                      <a:r>
                        <a:rPr lang="en-IN" sz="1250" b="1" dirty="0"/>
                        <a:t>DAYS360</a:t>
                      </a:r>
                    </a:p>
                  </a:txBody>
                  <a:tcPr marL="32104" marR="32104" marT="16052" marB="16052" anchor="ctr"/>
                </a:tc>
                <a:tc>
                  <a:txBody>
                    <a:bodyPr/>
                    <a:lstStyle/>
                    <a:p>
                      <a:r>
                        <a:rPr lang="en-US" sz="1250" dirty="0"/>
                        <a:t>Days between two dates (360-day year)</a:t>
                      </a:r>
                    </a:p>
                  </a:txBody>
                  <a:tcPr marL="32104" marR="32104" marT="16052" marB="16052" anchor="ctr"/>
                </a:tc>
                <a:tc>
                  <a:txBody>
                    <a:bodyPr/>
                    <a:lstStyle/>
                    <a:p>
                      <a:r>
                        <a:rPr lang="en-IN" sz="1250" dirty="0"/>
                        <a:t>=DAYS360("1-Jan-2025","10-Aug-2025")</a:t>
                      </a:r>
                    </a:p>
                  </a:txBody>
                  <a:tcPr marL="32104" marR="32104" marT="16052" marB="16052" anchor="ctr"/>
                </a:tc>
                <a:tc>
                  <a:txBody>
                    <a:bodyPr/>
                    <a:lstStyle/>
                    <a:p>
                      <a:r>
                        <a:rPr lang="en-IN" sz="1250"/>
                        <a:t>219</a:t>
                      </a:r>
                    </a:p>
                  </a:txBody>
                  <a:tcPr marL="32104" marR="32104" marT="16052" marB="16052" anchor="ctr"/>
                </a:tc>
                <a:extLst>
                  <a:ext uri="{0D108BD9-81ED-4DB2-BD59-A6C34878D82A}">
                    <a16:rowId xmlns:a16="http://schemas.microsoft.com/office/drawing/2014/main" val="235963704"/>
                  </a:ext>
                </a:extLst>
              </a:tr>
              <a:tr h="244329">
                <a:tc>
                  <a:txBody>
                    <a:bodyPr/>
                    <a:lstStyle/>
                    <a:p>
                      <a:r>
                        <a:rPr lang="en-IN" sz="1250" b="1" dirty="0"/>
                        <a:t>EDATE</a:t>
                      </a:r>
                    </a:p>
                  </a:txBody>
                  <a:tcPr marL="32104" marR="32104" marT="16052" marB="16052" anchor="ctr"/>
                </a:tc>
                <a:tc>
                  <a:txBody>
                    <a:bodyPr/>
                    <a:lstStyle/>
                    <a:p>
                      <a:r>
                        <a:rPr lang="en-US" sz="1250"/>
                        <a:t>Date before/after given months</a:t>
                      </a:r>
                    </a:p>
                  </a:txBody>
                  <a:tcPr marL="32104" marR="32104" marT="16052" marB="16052" anchor="ctr"/>
                </a:tc>
                <a:tc>
                  <a:txBody>
                    <a:bodyPr/>
                    <a:lstStyle/>
                    <a:p>
                      <a:r>
                        <a:rPr lang="en-IN" sz="1250"/>
                        <a:t>=EDATE("10-Aug-2025",3)</a:t>
                      </a:r>
                    </a:p>
                  </a:txBody>
                  <a:tcPr marL="32104" marR="32104" marT="16052" marB="16052" anchor="ctr"/>
                </a:tc>
                <a:tc>
                  <a:txBody>
                    <a:bodyPr/>
                    <a:lstStyle/>
                    <a:p>
                      <a:r>
                        <a:rPr lang="en-IN" sz="1250"/>
                        <a:t>10-Nov-2025</a:t>
                      </a:r>
                    </a:p>
                  </a:txBody>
                  <a:tcPr marL="32104" marR="32104" marT="16052" marB="16052" anchor="ctr"/>
                </a:tc>
                <a:extLst>
                  <a:ext uri="{0D108BD9-81ED-4DB2-BD59-A6C34878D82A}">
                    <a16:rowId xmlns:a16="http://schemas.microsoft.com/office/drawing/2014/main" val="3630761237"/>
                  </a:ext>
                </a:extLst>
              </a:tr>
              <a:tr h="349040">
                <a:tc>
                  <a:txBody>
                    <a:bodyPr/>
                    <a:lstStyle/>
                    <a:p>
                      <a:r>
                        <a:rPr lang="en-IN" sz="1250" b="1" dirty="0"/>
                        <a:t>EOMONTH</a:t>
                      </a:r>
                    </a:p>
                  </a:txBody>
                  <a:tcPr marL="32104" marR="32104" marT="16052" marB="16052" anchor="ctr"/>
                </a:tc>
                <a:tc>
                  <a:txBody>
                    <a:bodyPr/>
                    <a:lstStyle/>
                    <a:p>
                      <a:r>
                        <a:rPr lang="en-US" sz="1250"/>
                        <a:t>Last day of month before/after given months</a:t>
                      </a:r>
                    </a:p>
                  </a:txBody>
                  <a:tcPr marL="32104" marR="32104" marT="16052" marB="16052" anchor="ctr"/>
                </a:tc>
                <a:tc>
                  <a:txBody>
                    <a:bodyPr/>
                    <a:lstStyle/>
                    <a:p>
                      <a:r>
                        <a:rPr lang="en-IN" sz="1250"/>
                        <a:t>=EOMONTH("10-Aug-2025",1)</a:t>
                      </a:r>
                    </a:p>
                  </a:txBody>
                  <a:tcPr marL="32104" marR="32104" marT="16052" marB="16052" anchor="ctr"/>
                </a:tc>
                <a:tc>
                  <a:txBody>
                    <a:bodyPr/>
                    <a:lstStyle/>
                    <a:p>
                      <a:r>
                        <a:rPr lang="en-IN" sz="1250"/>
                        <a:t>30-Sep-2025</a:t>
                      </a:r>
                    </a:p>
                  </a:txBody>
                  <a:tcPr marL="32104" marR="32104" marT="16052" marB="16052" anchor="ctr"/>
                </a:tc>
                <a:extLst>
                  <a:ext uri="{0D108BD9-81ED-4DB2-BD59-A6C34878D82A}">
                    <a16:rowId xmlns:a16="http://schemas.microsoft.com/office/drawing/2014/main" val="2522826376"/>
                  </a:ext>
                </a:extLst>
              </a:tr>
              <a:tr h="233736">
                <a:tc>
                  <a:txBody>
                    <a:bodyPr/>
                    <a:lstStyle/>
                    <a:p>
                      <a:r>
                        <a:rPr lang="en-IN" sz="1250" b="1" dirty="0"/>
                        <a:t>HOUR</a:t>
                      </a:r>
                    </a:p>
                  </a:txBody>
                  <a:tcPr marL="32104" marR="32104" marT="16052" marB="16052" anchor="ctr"/>
                </a:tc>
                <a:tc>
                  <a:txBody>
                    <a:bodyPr/>
                    <a:lstStyle/>
                    <a:p>
                      <a:r>
                        <a:rPr lang="en-IN" sz="1250"/>
                        <a:t>Extracts hour from time</a:t>
                      </a:r>
                    </a:p>
                  </a:txBody>
                  <a:tcPr marL="32104" marR="32104" marT="16052" marB="16052" anchor="ctr"/>
                </a:tc>
                <a:tc>
                  <a:txBody>
                    <a:bodyPr/>
                    <a:lstStyle/>
                    <a:p>
                      <a:r>
                        <a:rPr lang="en-IN" sz="1250"/>
                        <a:t>=HOUR("14:45")</a:t>
                      </a:r>
                    </a:p>
                  </a:txBody>
                  <a:tcPr marL="32104" marR="32104" marT="16052" marB="16052" anchor="ctr"/>
                </a:tc>
                <a:tc>
                  <a:txBody>
                    <a:bodyPr/>
                    <a:lstStyle/>
                    <a:p>
                      <a:r>
                        <a:rPr lang="en-IN" sz="1250"/>
                        <a:t>14</a:t>
                      </a:r>
                    </a:p>
                  </a:txBody>
                  <a:tcPr marL="32104" marR="32104" marT="16052" marB="16052" anchor="ctr"/>
                </a:tc>
                <a:extLst>
                  <a:ext uri="{0D108BD9-81ED-4DB2-BD59-A6C34878D82A}">
                    <a16:rowId xmlns:a16="http://schemas.microsoft.com/office/drawing/2014/main" val="3896341841"/>
                  </a:ext>
                </a:extLst>
              </a:tr>
              <a:tr h="244329">
                <a:tc>
                  <a:txBody>
                    <a:bodyPr/>
                    <a:lstStyle/>
                    <a:p>
                      <a:r>
                        <a:rPr lang="en-IN" sz="1250" b="1" dirty="0"/>
                        <a:t>ISOWEEKNUM</a:t>
                      </a:r>
                    </a:p>
                  </a:txBody>
                  <a:tcPr marL="32104" marR="32104" marT="16052" marB="16052" anchor="ctr"/>
                </a:tc>
                <a:tc>
                  <a:txBody>
                    <a:bodyPr/>
                    <a:lstStyle/>
                    <a:p>
                      <a:r>
                        <a:rPr lang="en-US" sz="1250"/>
                        <a:t>ISO week number of a date</a:t>
                      </a:r>
                    </a:p>
                  </a:txBody>
                  <a:tcPr marL="32104" marR="32104" marT="16052" marB="16052" anchor="ctr"/>
                </a:tc>
                <a:tc>
                  <a:txBody>
                    <a:bodyPr/>
                    <a:lstStyle/>
                    <a:p>
                      <a:r>
                        <a:rPr lang="en-IN" sz="1250"/>
                        <a:t>=ISOWEEKNUM("10-Aug-2025")</a:t>
                      </a:r>
                    </a:p>
                  </a:txBody>
                  <a:tcPr marL="32104" marR="32104" marT="16052" marB="16052" anchor="ctr"/>
                </a:tc>
                <a:tc>
                  <a:txBody>
                    <a:bodyPr/>
                    <a:lstStyle/>
                    <a:p>
                      <a:r>
                        <a:rPr lang="en-IN" sz="1250"/>
                        <a:t>32</a:t>
                      </a:r>
                    </a:p>
                  </a:txBody>
                  <a:tcPr marL="32104" marR="32104" marT="16052" marB="16052" anchor="ctr"/>
                </a:tc>
                <a:extLst>
                  <a:ext uri="{0D108BD9-81ED-4DB2-BD59-A6C34878D82A}">
                    <a16:rowId xmlns:a16="http://schemas.microsoft.com/office/drawing/2014/main" val="1256983275"/>
                  </a:ext>
                </a:extLst>
              </a:tr>
              <a:tr h="233736">
                <a:tc>
                  <a:txBody>
                    <a:bodyPr/>
                    <a:lstStyle/>
                    <a:p>
                      <a:r>
                        <a:rPr lang="en-IN" sz="1250" b="1" dirty="0"/>
                        <a:t>MINUTE</a:t>
                      </a:r>
                    </a:p>
                  </a:txBody>
                  <a:tcPr marL="32104" marR="32104" marT="16052" marB="16052" anchor="ctr"/>
                </a:tc>
                <a:tc>
                  <a:txBody>
                    <a:bodyPr/>
                    <a:lstStyle/>
                    <a:p>
                      <a:r>
                        <a:rPr lang="en-IN" sz="1250"/>
                        <a:t>Extracts minute from time</a:t>
                      </a:r>
                    </a:p>
                  </a:txBody>
                  <a:tcPr marL="32104" marR="32104" marT="16052" marB="16052" anchor="ctr"/>
                </a:tc>
                <a:tc>
                  <a:txBody>
                    <a:bodyPr/>
                    <a:lstStyle/>
                    <a:p>
                      <a:r>
                        <a:rPr lang="en-IN" sz="1250"/>
                        <a:t>=MINUTE("14:45")</a:t>
                      </a:r>
                    </a:p>
                  </a:txBody>
                  <a:tcPr marL="32104" marR="32104" marT="16052" marB="16052" anchor="ctr"/>
                </a:tc>
                <a:tc>
                  <a:txBody>
                    <a:bodyPr/>
                    <a:lstStyle/>
                    <a:p>
                      <a:r>
                        <a:rPr lang="en-IN" sz="1250"/>
                        <a:t>45</a:t>
                      </a:r>
                    </a:p>
                  </a:txBody>
                  <a:tcPr marL="32104" marR="32104" marT="16052" marB="16052" anchor="ctr"/>
                </a:tc>
                <a:extLst>
                  <a:ext uri="{0D108BD9-81ED-4DB2-BD59-A6C34878D82A}">
                    <a16:rowId xmlns:a16="http://schemas.microsoft.com/office/drawing/2014/main" val="1829698468"/>
                  </a:ext>
                </a:extLst>
              </a:tr>
              <a:tr h="244329">
                <a:tc>
                  <a:txBody>
                    <a:bodyPr/>
                    <a:lstStyle/>
                    <a:p>
                      <a:r>
                        <a:rPr lang="en-IN" sz="1250" b="1" dirty="0"/>
                        <a:t>MONTH</a:t>
                      </a:r>
                    </a:p>
                  </a:txBody>
                  <a:tcPr marL="32104" marR="32104" marT="16052" marB="16052" anchor="ctr"/>
                </a:tc>
                <a:tc>
                  <a:txBody>
                    <a:bodyPr/>
                    <a:lstStyle/>
                    <a:p>
                      <a:r>
                        <a:rPr lang="en-US" sz="1250"/>
                        <a:t>Month number from a date</a:t>
                      </a:r>
                    </a:p>
                  </a:txBody>
                  <a:tcPr marL="32104" marR="32104" marT="16052" marB="16052" anchor="ctr"/>
                </a:tc>
                <a:tc>
                  <a:txBody>
                    <a:bodyPr/>
                    <a:lstStyle/>
                    <a:p>
                      <a:r>
                        <a:rPr lang="en-IN" sz="1250"/>
                        <a:t>=MONTH("10-Aug-2025")</a:t>
                      </a:r>
                    </a:p>
                  </a:txBody>
                  <a:tcPr marL="32104" marR="32104" marT="16052" marB="16052" anchor="ctr"/>
                </a:tc>
                <a:tc>
                  <a:txBody>
                    <a:bodyPr/>
                    <a:lstStyle/>
                    <a:p>
                      <a:r>
                        <a:rPr lang="en-IN" sz="1250"/>
                        <a:t>8</a:t>
                      </a:r>
                    </a:p>
                  </a:txBody>
                  <a:tcPr marL="32104" marR="32104" marT="16052" marB="16052" anchor="ctr"/>
                </a:tc>
                <a:extLst>
                  <a:ext uri="{0D108BD9-81ED-4DB2-BD59-A6C34878D82A}">
                    <a16:rowId xmlns:a16="http://schemas.microsoft.com/office/drawing/2014/main" val="1377807395"/>
                  </a:ext>
                </a:extLst>
              </a:tr>
              <a:tr h="432568">
                <a:tc>
                  <a:txBody>
                    <a:bodyPr/>
                    <a:lstStyle/>
                    <a:p>
                      <a:r>
                        <a:rPr lang="en-IN" sz="1250" b="1" dirty="0"/>
                        <a:t>NETWORKDAYS.INTL</a:t>
                      </a:r>
                    </a:p>
                  </a:txBody>
                  <a:tcPr marL="32104" marR="32104" marT="16052" marB="16052" anchor="ctr"/>
                </a:tc>
                <a:tc>
                  <a:txBody>
                    <a:bodyPr/>
                    <a:lstStyle/>
                    <a:p>
                      <a:r>
                        <a:rPr lang="en-US" sz="1250" dirty="0"/>
                        <a:t>Workdays between dates with custom weekends</a:t>
                      </a:r>
                    </a:p>
                  </a:txBody>
                  <a:tcPr marL="32104" marR="32104" marT="16052" marB="16052" anchor="ctr"/>
                </a:tc>
                <a:tc>
                  <a:txBody>
                    <a:bodyPr/>
                    <a:lstStyle/>
                    <a:p>
                      <a:r>
                        <a:rPr lang="en-IN" sz="1250"/>
                        <a:t>=NETWORKDAYS.INTL("1-Aug-2025","10-Aug-2025",7)</a:t>
                      </a:r>
                    </a:p>
                  </a:txBody>
                  <a:tcPr marL="32104" marR="32104" marT="16052" marB="16052" anchor="ctr"/>
                </a:tc>
                <a:tc>
                  <a:txBody>
                    <a:bodyPr/>
                    <a:lstStyle/>
                    <a:p>
                      <a:r>
                        <a:rPr lang="en-IN" sz="1250"/>
                        <a:t>7</a:t>
                      </a:r>
                    </a:p>
                  </a:txBody>
                  <a:tcPr marL="32104" marR="32104" marT="16052" marB="16052" anchor="ctr"/>
                </a:tc>
                <a:extLst>
                  <a:ext uri="{0D108BD9-81ED-4DB2-BD59-A6C34878D82A}">
                    <a16:rowId xmlns:a16="http://schemas.microsoft.com/office/drawing/2014/main" val="547687894"/>
                  </a:ext>
                </a:extLst>
              </a:tr>
              <a:tr h="244329">
                <a:tc>
                  <a:txBody>
                    <a:bodyPr/>
                    <a:lstStyle/>
                    <a:p>
                      <a:r>
                        <a:rPr lang="en-IN" sz="1250" b="1" dirty="0"/>
                        <a:t>NOW</a:t>
                      </a:r>
                    </a:p>
                  </a:txBody>
                  <a:tcPr marL="32104" marR="32104" marT="16052" marB="16052" anchor="ctr"/>
                </a:tc>
                <a:tc>
                  <a:txBody>
                    <a:bodyPr/>
                    <a:lstStyle/>
                    <a:p>
                      <a:r>
                        <a:rPr lang="en-IN" sz="1250"/>
                        <a:t>Current date and time</a:t>
                      </a:r>
                    </a:p>
                  </a:txBody>
                  <a:tcPr marL="32104" marR="32104" marT="16052" marB="16052" anchor="ctr"/>
                </a:tc>
                <a:tc>
                  <a:txBody>
                    <a:bodyPr/>
                    <a:lstStyle/>
                    <a:p>
                      <a:r>
                        <a:rPr lang="en-IN" sz="1250"/>
                        <a:t>=NOW()</a:t>
                      </a:r>
                    </a:p>
                  </a:txBody>
                  <a:tcPr marL="32104" marR="32104" marT="16052" marB="16052" anchor="ctr"/>
                </a:tc>
                <a:tc>
                  <a:txBody>
                    <a:bodyPr/>
                    <a:lstStyle/>
                    <a:p>
                      <a:r>
                        <a:rPr lang="en-IN" sz="1250"/>
                        <a:t>10-Aug-2025 15:30 (example)</a:t>
                      </a:r>
                    </a:p>
                  </a:txBody>
                  <a:tcPr marL="32104" marR="32104" marT="16052" marB="16052" anchor="ctr"/>
                </a:tc>
                <a:extLst>
                  <a:ext uri="{0D108BD9-81ED-4DB2-BD59-A6C34878D82A}">
                    <a16:rowId xmlns:a16="http://schemas.microsoft.com/office/drawing/2014/main" val="765926953"/>
                  </a:ext>
                </a:extLst>
              </a:tr>
              <a:tr h="244329">
                <a:tc>
                  <a:txBody>
                    <a:bodyPr/>
                    <a:lstStyle/>
                    <a:p>
                      <a:r>
                        <a:rPr lang="en-IN" sz="1250" b="1" dirty="0"/>
                        <a:t>SECOND</a:t>
                      </a:r>
                    </a:p>
                  </a:txBody>
                  <a:tcPr marL="32104" marR="32104" marT="16052" marB="16052" anchor="ctr"/>
                </a:tc>
                <a:tc>
                  <a:txBody>
                    <a:bodyPr/>
                    <a:lstStyle/>
                    <a:p>
                      <a:r>
                        <a:rPr lang="en-IN" sz="1250"/>
                        <a:t>Extracts seconds from time</a:t>
                      </a:r>
                    </a:p>
                  </a:txBody>
                  <a:tcPr marL="32104" marR="32104" marT="16052" marB="16052" anchor="ctr"/>
                </a:tc>
                <a:tc>
                  <a:txBody>
                    <a:bodyPr/>
                    <a:lstStyle/>
                    <a:p>
                      <a:r>
                        <a:rPr lang="en-IN" sz="1250"/>
                        <a:t>=SECOND("14:45:30")</a:t>
                      </a:r>
                    </a:p>
                  </a:txBody>
                  <a:tcPr marL="32104" marR="32104" marT="16052" marB="16052" anchor="ctr"/>
                </a:tc>
                <a:tc>
                  <a:txBody>
                    <a:bodyPr/>
                    <a:lstStyle/>
                    <a:p>
                      <a:r>
                        <a:rPr lang="en-IN" sz="1250"/>
                        <a:t>30</a:t>
                      </a:r>
                    </a:p>
                  </a:txBody>
                  <a:tcPr marL="32104" marR="32104" marT="16052" marB="16052" anchor="ctr"/>
                </a:tc>
                <a:extLst>
                  <a:ext uri="{0D108BD9-81ED-4DB2-BD59-A6C34878D82A}">
                    <a16:rowId xmlns:a16="http://schemas.microsoft.com/office/drawing/2014/main" val="1798458563"/>
                  </a:ext>
                </a:extLst>
              </a:tr>
              <a:tr h="244329">
                <a:tc>
                  <a:txBody>
                    <a:bodyPr/>
                    <a:lstStyle/>
                    <a:p>
                      <a:r>
                        <a:rPr lang="en-IN" sz="1250" b="1" dirty="0"/>
                        <a:t>TIME</a:t>
                      </a:r>
                    </a:p>
                  </a:txBody>
                  <a:tcPr marL="32104" marR="32104" marT="16052" marB="16052" anchor="ctr"/>
                </a:tc>
                <a:tc>
                  <a:txBody>
                    <a:bodyPr/>
                    <a:lstStyle/>
                    <a:p>
                      <a:r>
                        <a:rPr lang="en-US" sz="1250"/>
                        <a:t>Serial number of a specific time</a:t>
                      </a:r>
                    </a:p>
                  </a:txBody>
                  <a:tcPr marL="32104" marR="32104" marT="16052" marB="16052" anchor="ctr"/>
                </a:tc>
                <a:tc>
                  <a:txBody>
                    <a:bodyPr/>
                    <a:lstStyle/>
                    <a:p>
                      <a:r>
                        <a:rPr lang="en-IN" sz="1250"/>
                        <a:t>=TIME(14,30,0)</a:t>
                      </a:r>
                    </a:p>
                  </a:txBody>
                  <a:tcPr marL="32104" marR="32104" marT="16052" marB="16052" anchor="ctr"/>
                </a:tc>
                <a:tc>
                  <a:txBody>
                    <a:bodyPr/>
                    <a:lstStyle/>
                    <a:p>
                      <a:r>
                        <a:rPr lang="en-IN" sz="1250"/>
                        <a:t>14:30</a:t>
                      </a:r>
                    </a:p>
                  </a:txBody>
                  <a:tcPr marL="32104" marR="32104" marT="16052" marB="16052" anchor="ctr"/>
                </a:tc>
                <a:extLst>
                  <a:ext uri="{0D108BD9-81ED-4DB2-BD59-A6C34878D82A}">
                    <a16:rowId xmlns:a16="http://schemas.microsoft.com/office/drawing/2014/main" val="3341686301"/>
                  </a:ext>
                </a:extLst>
              </a:tr>
              <a:tr h="244329">
                <a:tc>
                  <a:txBody>
                    <a:bodyPr/>
                    <a:lstStyle/>
                    <a:p>
                      <a:r>
                        <a:rPr lang="en-IN" sz="1250" b="1" dirty="0"/>
                        <a:t>TIMEVALUE</a:t>
                      </a:r>
                    </a:p>
                  </a:txBody>
                  <a:tcPr marL="32104" marR="32104" marT="16052" marB="16052" anchor="ctr"/>
                </a:tc>
                <a:tc>
                  <a:txBody>
                    <a:bodyPr/>
                    <a:lstStyle/>
                    <a:p>
                      <a:r>
                        <a:rPr lang="en-US" sz="1250" dirty="0"/>
                        <a:t>Converts time text to serial number</a:t>
                      </a:r>
                    </a:p>
                  </a:txBody>
                  <a:tcPr marL="32104" marR="32104" marT="16052" marB="16052" anchor="ctr"/>
                </a:tc>
                <a:tc>
                  <a:txBody>
                    <a:bodyPr/>
                    <a:lstStyle/>
                    <a:p>
                      <a:r>
                        <a:rPr lang="en-IN" sz="1250"/>
                        <a:t>=TIMEVALUE("2:30 PM")</a:t>
                      </a:r>
                    </a:p>
                  </a:txBody>
                  <a:tcPr marL="32104" marR="32104" marT="16052" marB="16052" anchor="ctr"/>
                </a:tc>
                <a:tc>
                  <a:txBody>
                    <a:bodyPr/>
                    <a:lstStyle/>
                    <a:p>
                      <a:r>
                        <a:rPr lang="en-IN" sz="1250"/>
                        <a:t>0.604167</a:t>
                      </a:r>
                    </a:p>
                  </a:txBody>
                  <a:tcPr marL="32104" marR="32104" marT="16052" marB="16052" anchor="ctr"/>
                </a:tc>
                <a:extLst>
                  <a:ext uri="{0D108BD9-81ED-4DB2-BD59-A6C34878D82A}">
                    <a16:rowId xmlns:a16="http://schemas.microsoft.com/office/drawing/2014/main" val="3028304591"/>
                  </a:ext>
                </a:extLst>
              </a:tr>
              <a:tr h="233736">
                <a:tc>
                  <a:txBody>
                    <a:bodyPr/>
                    <a:lstStyle/>
                    <a:p>
                      <a:r>
                        <a:rPr lang="en-IN" sz="1250" b="1"/>
                        <a:t>TODAY</a:t>
                      </a:r>
                    </a:p>
                  </a:txBody>
                  <a:tcPr marL="32104" marR="32104" marT="16052" marB="16052" anchor="ctr"/>
                </a:tc>
                <a:tc>
                  <a:txBody>
                    <a:bodyPr/>
                    <a:lstStyle/>
                    <a:p>
                      <a:r>
                        <a:rPr lang="en-IN" sz="1250"/>
                        <a:t>Current date only</a:t>
                      </a:r>
                    </a:p>
                  </a:txBody>
                  <a:tcPr marL="32104" marR="32104" marT="16052" marB="16052" anchor="ctr"/>
                </a:tc>
                <a:tc>
                  <a:txBody>
                    <a:bodyPr/>
                    <a:lstStyle/>
                    <a:p>
                      <a:r>
                        <a:rPr lang="en-IN" sz="1250"/>
                        <a:t>=TODAY()</a:t>
                      </a:r>
                    </a:p>
                  </a:txBody>
                  <a:tcPr marL="32104" marR="32104" marT="16052" marB="16052" anchor="ctr"/>
                </a:tc>
                <a:tc>
                  <a:txBody>
                    <a:bodyPr/>
                    <a:lstStyle/>
                    <a:p>
                      <a:r>
                        <a:rPr lang="en-IN" sz="1250"/>
                        <a:t>10-Aug-2025</a:t>
                      </a:r>
                    </a:p>
                  </a:txBody>
                  <a:tcPr marL="32104" marR="32104" marT="16052" marB="16052" anchor="ctr"/>
                </a:tc>
                <a:extLst>
                  <a:ext uri="{0D108BD9-81ED-4DB2-BD59-A6C34878D82A}">
                    <a16:rowId xmlns:a16="http://schemas.microsoft.com/office/drawing/2014/main" val="2432484133"/>
                  </a:ext>
                </a:extLst>
              </a:tr>
              <a:tr h="244329">
                <a:tc>
                  <a:txBody>
                    <a:bodyPr/>
                    <a:lstStyle/>
                    <a:p>
                      <a:r>
                        <a:rPr lang="en-IN" sz="1250" b="1" dirty="0"/>
                        <a:t>WEEKDAY</a:t>
                      </a:r>
                    </a:p>
                  </a:txBody>
                  <a:tcPr marL="32104" marR="32104" marT="16052" marB="16052" anchor="ctr"/>
                </a:tc>
                <a:tc>
                  <a:txBody>
                    <a:bodyPr/>
                    <a:lstStyle/>
                    <a:p>
                      <a:r>
                        <a:rPr lang="en-IN" sz="1250"/>
                        <a:t>Day of week number</a:t>
                      </a:r>
                    </a:p>
                  </a:txBody>
                  <a:tcPr marL="32104" marR="32104" marT="16052" marB="16052" anchor="ctr"/>
                </a:tc>
                <a:tc>
                  <a:txBody>
                    <a:bodyPr/>
                    <a:lstStyle/>
                    <a:p>
                      <a:r>
                        <a:rPr lang="en-IN" sz="1250"/>
                        <a:t>=WEEKDAY("10-Aug-2025")</a:t>
                      </a:r>
                    </a:p>
                  </a:txBody>
                  <a:tcPr marL="32104" marR="32104" marT="16052" marB="16052" anchor="ctr"/>
                </a:tc>
                <a:tc>
                  <a:txBody>
                    <a:bodyPr/>
                    <a:lstStyle/>
                    <a:p>
                      <a:r>
                        <a:rPr lang="en-IN" sz="1250"/>
                        <a:t>1 (Sunday)</a:t>
                      </a:r>
                    </a:p>
                  </a:txBody>
                  <a:tcPr marL="32104" marR="32104" marT="16052" marB="16052" anchor="ctr"/>
                </a:tc>
                <a:extLst>
                  <a:ext uri="{0D108BD9-81ED-4DB2-BD59-A6C34878D82A}">
                    <a16:rowId xmlns:a16="http://schemas.microsoft.com/office/drawing/2014/main" val="4248967429"/>
                  </a:ext>
                </a:extLst>
              </a:tr>
              <a:tr h="244329">
                <a:tc>
                  <a:txBody>
                    <a:bodyPr/>
                    <a:lstStyle/>
                    <a:p>
                      <a:r>
                        <a:rPr lang="en-IN" sz="1250" b="1" dirty="0"/>
                        <a:t>WEEKNUM</a:t>
                      </a:r>
                    </a:p>
                  </a:txBody>
                  <a:tcPr marL="32104" marR="32104" marT="16052" marB="16052" anchor="ctr"/>
                </a:tc>
                <a:tc>
                  <a:txBody>
                    <a:bodyPr/>
                    <a:lstStyle/>
                    <a:p>
                      <a:r>
                        <a:rPr lang="en-IN" sz="1250"/>
                        <a:t>Week number in year</a:t>
                      </a:r>
                    </a:p>
                  </a:txBody>
                  <a:tcPr marL="32104" marR="32104" marT="16052" marB="16052" anchor="ctr"/>
                </a:tc>
                <a:tc>
                  <a:txBody>
                    <a:bodyPr/>
                    <a:lstStyle/>
                    <a:p>
                      <a:r>
                        <a:rPr lang="en-IN" sz="1250"/>
                        <a:t>=WEEKNUM("10-Aug-2025")</a:t>
                      </a:r>
                    </a:p>
                  </a:txBody>
                  <a:tcPr marL="32104" marR="32104" marT="16052" marB="16052" anchor="ctr"/>
                </a:tc>
                <a:tc>
                  <a:txBody>
                    <a:bodyPr/>
                    <a:lstStyle/>
                    <a:p>
                      <a:r>
                        <a:rPr lang="en-IN" sz="1250"/>
                        <a:t>32</a:t>
                      </a:r>
                    </a:p>
                  </a:txBody>
                  <a:tcPr marL="32104" marR="32104" marT="16052" marB="16052" anchor="ctr"/>
                </a:tc>
                <a:extLst>
                  <a:ext uri="{0D108BD9-81ED-4DB2-BD59-A6C34878D82A}">
                    <a16:rowId xmlns:a16="http://schemas.microsoft.com/office/drawing/2014/main" val="2286361512"/>
                  </a:ext>
                </a:extLst>
              </a:tr>
              <a:tr h="244329">
                <a:tc>
                  <a:txBody>
                    <a:bodyPr/>
                    <a:lstStyle/>
                    <a:p>
                      <a:r>
                        <a:rPr lang="en-IN" sz="1250" b="1" dirty="0"/>
                        <a:t>WORKDAY</a:t>
                      </a:r>
                    </a:p>
                  </a:txBody>
                  <a:tcPr marL="32104" marR="32104" marT="16052" marB="16052" anchor="ctr"/>
                </a:tc>
                <a:tc>
                  <a:txBody>
                    <a:bodyPr/>
                    <a:lstStyle/>
                    <a:p>
                      <a:r>
                        <a:rPr lang="en-US" sz="1250"/>
                        <a:t>Date after workdays from a start date</a:t>
                      </a:r>
                    </a:p>
                  </a:txBody>
                  <a:tcPr marL="32104" marR="32104" marT="16052" marB="16052" anchor="ctr"/>
                </a:tc>
                <a:tc>
                  <a:txBody>
                    <a:bodyPr/>
                    <a:lstStyle/>
                    <a:p>
                      <a:r>
                        <a:rPr lang="en-IN" sz="1250" dirty="0"/>
                        <a:t>=WORKDAY("1-Aug-2025",5)</a:t>
                      </a:r>
                    </a:p>
                  </a:txBody>
                  <a:tcPr marL="32104" marR="32104" marT="16052" marB="16052" anchor="ctr"/>
                </a:tc>
                <a:tc>
                  <a:txBody>
                    <a:bodyPr/>
                    <a:lstStyle/>
                    <a:p>
                      <a:r>
                        <a:rPr lang="en-IN" sz="1250"/>
                        <a:t>8-Aug-2025</a:t>
                      </a:r>
                    </a:p>
                  </a:txBody>
                  <a:tcPr marL="32104" marR="32104" marT="16052" marB="16052" anchor="ctr"/>
                </a:tc>
                <a:extLst>
                  <a:ext uri="{0D108BD9-81ED-4DB2-BD59-A6C34878D82A}">
                    <a16:rowId xmlns:a16="http://schemas.microsoft.com/office/drawing/2014/main" val="3108445648"/>
                  </a:ext>
                </a:extLst>
              </a:tr>
              <a:tr h="244329">
                <a:tc>
                  <a:txBody>
                    <a:bodyPr/>
                    <a:lstStyle/>
                    <a:p>
                      <a:r>
                        <a:rPr lang="en-IN" sz="1250" b="1" dirty="0"/>
                        <a:t>WORKDAY.INTL</a:t>
                      </a:r>
                    </a:p>
                  </a:txBody>
                  <a:tcPr marL="32104" marR="32104" marT="16052" marB="16052" anchor="ctr"/>
                </a:tc>
                <a:tc>
                  <a:txBody>
                    <a:bodyPr/>
                    <a:lstStyle/>
                    <a:p>
                      <a:r>
                        <a:rPr lang="en-US" sz="1250"/>
                        <a:t>Date after workdays with custom weekends</a:t>
                      </a:r>
                    </a:p>
                  </a:txBody>
                  <a:tcPr marL="32104" marR="32104" marT="16052" marB="16052" anchor="ctr"/>
                </a:tc>
                <a:tc>
                  <a:txBody>
                    <a:bodyPr/>
                    <a:lstStyle/>
                    <a:p>
                      <a:r>
                        <a:rPr lang="en-IN" sz="1250" dirty="0"/>
                        <a:t>=WORKDAY.INTL("1-Aug-2025",5,7)</a:t>
                      </a:r>
                    </a:p>
                  </a:txBody>
                  <a:tcPr marL="32104" marR="32104" marT="16052" marB="16052" anchor="ctr"/>
                </a:tc>
                <a:tc>
                  <a:txBody>
                    <a:bodyPr/>
                    <a:lstStyle/>
                    <a:p>
                      <a:r>
                        <a:rPr lang="en-IN" sz="1250" dirty="0"/>
                        <a:t>8-Aug-2025</a:t>
                      </a:r>
                    </a:p>
                  </a:txBody>
                  <a:tcPr marL="32104" marR="32104" marT="16052" marB="16052" anchor="ctr"/>
                </a:tc>
                <a:extLst>
                  <a:ext uri="{0D108BD9-81ED-4DB2-BD59-A6C34878D82A}">
                    <a16:rowId xmlns:a16="http://schemas.microsoft.com/office/drawing/2014/main" val="4078294623"/>
                  </a:ext>
                </a:extLst>
              </a:tr>
              <a:tr h="233736">
                <a:tc>
                  <a:txBody>
                    <a:bodyPr/>
                    <a:lstStyle/>
                    <a:p>
                      <a:r>
                        <a:rPr lang="en-IN" sz="1250" b="1" dirty="0"/>
                        <a:t>YEAR</a:t>
                      </a:r>
                    </a:p>
                  </a:txBody>
                  <a:tcPr marL="32104" marR="32104" marT="16052" marB="16052" anchor="ctr"/>
                </a:tc>
                <a:tc>
                  <a:txBody>
                    <a:bodyPr/>
                    <a:lstStyle/>
                    <a:p>
                      <a:r>
                        <a:rPr lang="en-IN" sz="1250"/>
                        <a:t>Year from a date</a:t>
                      </a:r>
                    </a:p>
                  </a:txBody>
                  <a:tcPr marL="32104" marR="32104" marT="16052" marB="16052" anchor="ctr"/>
                </a:tc>
                <a:tc>
                  <a:txBody>
                    <a:bodyPr/>
                    <a:lstStyle/>
                    <a:p>
                      <a:r>
                        <a:rPr lang="en-IN" sz="1250"/>
                        <a:t>=YEAR("10-Aug-2025")</a:t>
                      </a:r>
                    </a:p>
                  </a:txBody>
                  <a:tcPr marL="32104" marR="32104" marT="16052" marB="16052" anchor="ctr"/>
                </a:tc>
                <a:tc>
                  <a:txBody>
                    <a:bodyPr/>
                    <a:lstStyle/>
                    <a:p>
                      <a:r>
                        <a:rPr lang="en-IN" sz="1250" dirty="0"/>
                        <a:t>2025</a:t>
                      </a:r>
                    </a:p>
                  </a:txBody>
                  <a:tcPr marL="32104" marR="32104" marT="16052" marB="16052" anchor="ctr"/>
                </a:tc>
                <a:extLst>
                  <a:ext uri="{0D108BD9-81ED-4DB2-BD59-A6C34878D82A}">
                    <a16:rowId xmlns:a16="http://schemas.microsoft.com/office/drawing/2014/main" val="1209959987"/>
                  </a:ext>
                </a:extLst>
              </a:tr>
              <a:tr h="244329">
                <a:tc>
                  <a:txBody>
                    <a:bodyPr/>
                    <a:lstStyle/>
                    <a:p>
                      <a:r>
                        <a:rPr lang="en-IN" sz="1250" b="1" dirty="0"/>
                        <a:t>YEARFRAC</a:t>
                      </a:r>
                    </a:p>
                  </a:txBody>
                  <a:tcPr marL="32104" marR="32104" marT="16052" marB="16052" anchor="ctr"/>
                </a:tc>
                <a:tc>
                  <a:txBody>
                    <a:bodyPr/>
                    <a:lstStyle/>
                    <a:p>
                      <a:r>
                        <a:rPr lang="en-US" sz="1250" dirty="0"/>
                        <a:t>Year fraction between two dates</a:t>
                      </a:r>
                    </a:p>
                  </a:txBody>
                  <a:tcPr marL="32104" marR="32104" marT="16052" marB="16052" anchor="ctr"/>
                </a:tc>
                <a:tc>
                  <a:txBody>
                    <a:bodyPr/>
                    <a:lstStyle/>
                    <a:p>
                      <a:r>
                        <a:rPr lang="en-IN" sz="1250" dirty="0"/>
                        <a:t>=YEARFRAC("1-Jan-2025","10-Aug-2025")</a:t>
                      </a:r>
                    </a:p>
                  </a:txBody>
                  <a:tcPr marL="32104" marR="32104" marT="16052" marB="16052" anchor="ctr"/>
                </a:tc>
                <a:tc>
                  <a:txBody>
                    <a:bodyPr/>
                    <a:lstStyle/>
                    <a:p>
                      <a:r>
                        <a:rPr lang="en-IN" sz="1250" dirty="0"/>
                        <a:t>0.60</a:t>
                      </a:r>
                    </a:p>
                  </a:txBody>
                  <a:tcPr marL="32104" marR="32104" marT="16052" marB="16052" anchor="ctr"/>
                </a:tc>
                <a:extLst>
                  <a:ext uri="{0D108BD9-81ED-4DB2-BD59-A6C34878D82A}">
                    <a16:rowId xmlns:a16="http://schemas.microsoft.com/office/drawing/2014/main" val="3203114105"/>
                  </a:ext>
                </a:extLst>
              </a:tr>
            </a:tbl>
          </a:graphicData>
        </a:graphic>
      </p:graphicFrame>
    </p:spTree>
    <p:extLst>
      <p:ext uri="{BB962C8B-B14F-4D97-AF65-F5344CB8AC3E}">
        <p14:creationId xmlns:p14="http://schemas.microsoft.com/office/powerpoint/2010/main" val="218945931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8FF588CD-6DDB-49BA-8DD0-94C80E0BCF52}"/>
              </a:ext>
            </a:extLst>
          </p:cNvPr>
          <p:cNvGraphicFramePr>
            <a:graphicFrameLocks noGrp="1"/>
          </p:cNvGraphicFramePr>
          <p:nvPr>
            <p:ph idx="1"/>
            <p:extLst>
              <p:ext uri="{D42A27DB-BD31-4B8C-83A1-F6EECF244321}">
                <p14:modId xmlns:p14="http://schemas.microsoft.com/office/powerpoint/2010/main" val="4084843912"/>
              </p:ext>
            </p:extLst>
          </p:nvPr>
        </p:nvGraphicFramePr>
        <p:xfrm>
          <a:off x="1147977" y="748277"/>
          <a:ext cx="9896046" cy="5436060"/>
        </p:xfrm>
        <a:graphic>
          <a:graphicData uri="http://schemas.openxmlformats.org/drawingml/2006/table">
            <a:tbl>
              <a:tblPr firstRow="1">
                <a:tableStyleId>{F5AB1C69-6EDB-4FF4-983F-18BD219EF322}</a:tableStyleId>
              </a:tblPr>
              <a:tblGrid>
                <a:gridCol w="3298682">
                  <a:extLst>
                    <a:ext uri="{9D8B030D-6E8A-4147-A177-3AD203B41FA5}">
                      <a16:colId xmlns:a16="http://schemas.microsoft.com/office/drawing/2014/main" val="1967781309"/>
                    </a:ext>
                  </a:extLst>
                </a:gridCol>
                <a:gridCol w="3298682">
                  <a:extLst>
                    <a:ext uri="{9D8B030D-6E8A-4147-A177-3AD203B41FA5}">
                      <a16:colId xmlns:a16="http://schemas.microsoft.com/office/drawing/2014/main" val="435937999"/>
                    </a:ext>
                  </a:extLst>
                </a:gridCol>
                <a:gridCol w="3298682">
                  <a:extLst>
                    <a:ext uri="{9D8B030D-6E8A-4147-A177-3AD203B41FA5}">
                      <a16:colId xmlns:a16="http://schemas.microsoft.com/office/drawing/2014/main" val="1308296135"/>
                    </a:ext>
                  </a:extLst>
                </a:gridCol>
              </a:tblGrid>
              <a:tr h="344210">
                <a:tc>
                  <a:txBody>
                    <a:bodyPr/>
                    <a:lstStyle/>
                    <a:p>
                      <a:r>
                        <a:rPr lang="en-IN" sz="1700"/>
                        <a:t>Weekend Code</a:t>
                      </a:r>
                    </a:p>
                  </a:txBody>
                  <a:tcPr marL="86053" marR="86053" marT="43026" marB="43026" anchor="ctr"/>
                </a:tc>
                <a:tc>
                  <a:txBody>
                    <a:bodyPr/>
                    <a:lstStyle/>
                    <a:p>
                      <a:r>
                        <a:rPr lang="en-IN" sz="1700"/>
                        <a:t>Weekend Days Off</a:t>
                      </a:r>
                    </a:p>
                  </a:txBody>
                  <a:tcPr marL="86053" marR="86053" marT="43026" marB="43026" anchor="ctr"/>
                </a:tc>
                <a:tc>
                  <a:txBody>
                    <a:bodyPr/>
                    <a:lstStyle/>
                    <a:p>
                      <a:r>
                        <a:rPr lang="en-IN" sz="1700"/>
                        <a:t>Notes</a:t>
                      </a:r>
                    </a:p>
                  </a:txBody>
                  <a:tcPr marL="86053" marR="86053" marT="43026" marB="43026" anchor="ctr"/>
                </a:tc>
                <a:extLst>
                  <a:ext uri="{0D108BD9-81ED-4DB2-BD59-A6C34878D82A}">
                    <a16:rowId xmlns:a16="http://schemas.microsoft.com/office/drawing/2014/main" val="2793792674"/>
                  </a:ext>
                </a:extLst>
              </a:tr>
              <a:tr h="344210">
                <a:tc>
                  <a:txBody>
                    <a:bodyPr/>
                    <a:lstStyle/>
                    <a:p>
                      <a:r>
                        <a:rPr lang="en-IN" sz="1700"/>
                        <a:t>1</a:t>
                      </a:r>
                    </a:p>
                  </a:txBody>
                  <a:tcPr marL="86053" marR="86053" marT="43026" marB="43026" anchor="ctr"/>
                </a:tc>
                <a:tc>
                  <a:txBody>
                    <a:bodyPr/>
                    <a:lstStyle/>
                    <a:p>
                      <a:r>
                        <a:rPr lang="en-IN" sz="1700"/>
                        <a:t>Saturday, Sunday</a:t>
                      </a:r>
                    </a:p>
                  </a:txBody>
                  <a:tcPr marL="86053" marR="86053" marT="43026" marB="43026" anchor="ctr"/>
                </a:tc>
                <a:tc>
                  <a:txBody>
                    <a:bodyPr/>
                    <a:lstStyle/>
                    <a:p>
                      <a:r>
                        <a:rPr lang="en-IN" sz="1700"/>
                        <a:t>Default weekend</a:t>
                      </a:r>
                    </a:p>
                  </a:txBody>
                  <a:tcPr marL="86053" marR="86053" marT="43026" marB="43026" anchor="ctr"/>
                </a:tc>
                <a:extLst>
                  <a:ext uri="{0D108BD9-81ED-4DB2-BD59-A6C34878D82A}">
                    <a16:rowId xmlns:a16="http://schemas.microsoft.com/office/drawing/2014/main" val="1007567702"/>
                  </a:ext>
                </a:extLst>
              </a:tr>
              <a:tr h="602368">
                <a:tc>
                  <a:txBody>
                    <a:bodyPr/>
                    <a:lstStyle/>
                    <a:p>
                      <a:r>
                        <a:rPr lang="en-IN" sz="1700"/>
                        <a:t>2</a:t>
                      </a:r>
                    </a:p>
                  </a:txBody>
                  <a:tcPr marL="86053" marR="86053" marT="43026" marB="43026" anchor="ctr"/>
                </a:tc>
                <a:tc>
                  <a:txBody>
                    <a:bodyPr/>
                    <a:lstStyle/>
                    <a:p>
                      <a:r>
                        <a:rPr lang="en-IN" sz="1700"/>
                        <a:t>Sunday, Monday</a:t>
                      </a:r>
                    </a:p>
                  </a:txBody>
                  <a:tcPr marL="86053" marR="86053" marT="43026" marB="43026" anchor="ctr"/>
                </a:tc>
                <a:tc>
                  <a:txBody>
                    <a:bodyPr/>
                    <a:lstStyle/>
                    <a:p>
                      <a:r>
                        <a:rPr lang="en-US" sz="1700"/>
                        <a:t>Common in some Middle East countries</a:t>
                      </a:r>
                    </a:p>
                  </a:txBody>
                  <a:tcPr marL="86053" marR="86053" marT="43026" marB="43026" anchor="ctr"/>
                </a:tc>
                <a:extLst>
                  <a:ext uri="{0D108BD9-81ED-4DB2-BD59-A6C34878D82A}">
                    <a16:rowId xmlns:a16="http://schemas.microsoft.com/office/drawing/2014/main" val="3840843181"/>
                  </a:ext>
                </a:extLst>
              </a:tr>
              <a:tr h="344210">
                <a:tc>
                  <a:txBody>
                    <a:bodyPr/>
                    <a:lstStyle/>
                    <a:p>
                      <a:r>
                        <a:rPr lang="en-IN" sz="1700"/>
                        <a:t>3</a:t>
                      </a:r>
                    </a:p>
                  </a:txBody>
                  <a:tcPr marL="86053" marR="86053" marT="43026" marB="43026" anchor="ctr"/>
                </a:tc>
                <a:tc>
                  <a:txBody>
                    <a:bodyPr/>
                    <a:lstStyle/>
                    <a:p>
                      <a:r>
                        <a:rPr lang="en-IN" sz="1700"/>
                        <a:t>Monday, Tuesday</a:t>
                      </a:r>
                    </a:p>
                  </a:txBody>
                  <a:tcPr marL="86053" marR="86053" marT="43026" marB="43026" anchor="ctr"/>
                </a:tc>
                <a:tc>
                  <a:txBody>
                    <a:bodyPr/>
                    <a:lstStyle/>
                    <a:p>
                      <a:r>
                        <a:rPr lang="en-IN" sz="1700"/>
                        <a:t>Rare schedule</a:t>
                      </a:r>
                    </a:p>
                  </a:txBody>
                  <a:tcPr marL="86053" marR="86053" marT="43026" marB="43026" anchor="ctr"/>
                </a:tc>
                <a:extLst>
                  <a:ext uri="{0D108BD9-81ED-4DB2-BD59-A6C34878D82A}">
                    <a16:rowId xmlns:a16="http://schemas.microsoft.com/office/drawing/2014/main" val="2534411675"/>
                  </a:ext>
                </a:extLst>
              </a:tr>
              <a:tr h="344210">
                <a:tc>
                  <a:txBody>
                    <a:bodyPr/>
                    <a:lstStyle/>
                    <a:p>
                      <a:r>
                        <a:rPr lang="en-IN" sz="1700"/>
                        <a:t>4</a:t>
                      </a:r>
                    </a:p>
                  </a:txBody>
                  <a:tcPr marL="86053" marR="86053" marT="43026" marB="43026" anchor="ctr"/>
                </a:tc>
                <a:tc>
                  <a:txBody>
                    <a:bodyPr/>
                    <a:lstStyle/>
                    <a:p>
                      <a:r>
                        <a:rPr lang="en-IN" sz="1700"/>
                        <a:t>Tuesday, Wednesday</a:t>
                      </a:r>
                    </a:p>
                  </a:txBody>
                  <a:tcPr marL="86053" marR="86053" marT="43026" marB="43026" anchor="ctr"/>
                </a:tc>
                <a:tc>
                  <a:txBody>
                    <a:bodyPr/>
                    <a:lstStyle/>
                    <a:p>
                      <a:r>
                        <a:rPr lang="en-IN" sz="1700"/>
                        <a:t>Rare schedule</a:t>
                      </a:r>
                    </a:p>
                  </a:txBody>
                  <a:tcPr marL="86053" marR="86053" marT="43026" marB="43026" anchor="ctr"/>
                </a:tc>
                <a:extLst>
                  <a:ext uri="{0D108BD9-81ED-4DB2-BD59-A6C34878D82A}">
                    <a16:rowId xmlns:a16="http://schemas.microsoft.com/office/drawing/2014/main" val="1909365764"/>
                  </a:ext>
                </a:extLst>
              </a:tr>
              <a:tr h="344210">
                <a:tc>
                  <a:txBody>
                    <a:bodyPr/>
                    <a:lstStyle/>
                    <a:p>
                      <a:r>
                        <a:rPr lang="en-IN" sz="1700"/>
                        <a:t>5</a:t>
                      </a:r>
                    </a:p>
                  </a:txBody>
                  <a:tcPr marL="86053" marR="86053" marT="43026" marB="43026" anchor="ctr"/>
                </a:tc>
                <a:tc>
                  <a:txBody>
                    <a:bodyPr/>
                    <a:lstStyle/>
                    <a:p>
                      <a:r>
                        <a:rPr lang="en-IN" sz="1700"/>
                        <a:t>Wednesday, Thursday</a:t>
                      </a:r>
                    </a:p>
                  </a:txBody>
                  <a:tcPr marL="86053" marR="86053" marT="43026" marB="43026" anchor="ctr"/>
                </a:tc>
                <a:tc>
                  <a:txBody>
                    <a:bodyPr/>
                    <a:lstStyle/>
                    <a:p>
                      <a:r>
                        <a:rPr lang="en-IN" sz="1700"/>
                        <a:t>Rare schedule</a:t>
                      </a:r>
                    </a:p>
                  </a:txBody>
                  <a:tcPr marL="86053" marR="86053" marT="43026" marB="43026" anchor="ctr"/>
                </a:tc>
                <a:extLst>
                  <a:ext uri="{0D108BD9-81ED-4DB2-BD59-A6C34878D82A}">
                    <a16:rowId xmlns:a16="http://schemas.microsoft.com/office/drawing/2014/main" val="1039581955"/>
                  </a:ext>
                </a:extLst>
              </a:tr>
              <a:tr h="344210">
                <a:tc>
                  <a:txBody>
                    <a:bodyPr/>
                    <a:lstStyle/>
                    <a:p>
                      <a:r>
                        <a:rPr lang="en-IN" sz="1700"/>
                        <a:t>6</a:t>
                      </a:r>
                    </a:p>
                  </a:txBody>
                  <a:tcPr marL="86053" marR="86053" marT="43026" marB="43026" anchor="ctr"/>
                </a:tc>
                <a:tc>
                  <a:txBody>
                    <a:bodyPr/>
                    <a:lstStyle/>
                    <a:p>
                      <a:r>
                        <a:rPr lang="en-IN" sz="1700"/>
                        <a:t>Thursday, Friday</a:t>
                      </a:r>
                    </a:p>
                  </a:txBody>
                  <a:tcPr marL="86053" marR="86053" marT="43026" marB="43026" anchor="ctr"/>
                </a:tc>
                <a:tc>
                  <a:txBody>
                    <a:bodyPr/>
                    <a:lstStyle/>
                    <a:p>
                      <a:r>
                        <a:rPr lang="en-IN" sz="1700"/>
                        <a:t>Common in some countries</a:t>
                      </a:r>
                    </a:p>
                  </a:txBody>
                  <a:tcPr marL="86053" marR="86053" marT="43026" marB="43026" anchor="ctr"/>
                </a:tc>
                <a:extLst>
                  <a:ext uri="{0D108BD9-81ED-4DB2-BD59-A6C34878D82A}">
                    <a16:rowId xmlns:a16="http://schemas.microsoft.com/office/drawing/2014/main" val="1307645177"/>
                  </a:ext>
                </a:extLst>
              </a:tr>
              <a:tr h="344210">
                <a:tc>
                  <a:txBody>
                    <a:bodyPr/>
                    <a:lstStyle/>
                    <a:p>
                      <a:r>
                        <a:rPr lang="en-IN" sz="1700"/>
                        <a:t>7</a:t>
                      </a:r>
                    </a:p>
                  </a:txBody>
                  <a:tcPr marL="86053" marR="86053" marT="43026" marB="43026" anchor="ctr"/>
                </a:tc>
                <a:tc>
                  <a:txBody>
                    <a:bodyPr/>
                    <a:lstStyle/>
                    <a:p>
                      <a:r>
                        <a:rPr lang="en-IN" sz="1700"/>
                        <a:t>Friday, Saturday</a:t>
                      </a:r>
                    </a:p>
                  </a:txBody>
                  <a:tcPr marL="86053" marR="86053" marT="43026" marB="43026" anchor="ctr"/>
                </a:tc>
                <a:tc>
                  <a:txBody>
                    <a:bodyPr/>
                    <a:lstStyle/>
                    <a:p>
                      <a:r>
                        <a:rPr lang="en-IN" sz="1700"/>
                        <a:t>Common in Middle East</a:t>
                      </a:r>
                    </a:p>
                  </a:txBody>
                  <a:tcPr marL="86053" marR="86053" marT="43026" marB="43026" anchor="ctr"/>
                </a:tc>
                <a:extLst>
                  <a:ext uri="{0D108BD9-81ED-4DB2-BD59-A6C34878D82A}">
                    <a16:rowId xmlns:a16="http://schemas.microsoft.com/office/drawing/2014/main" val="1655628448"/>
                  </a:ext>
                </a:extLst>
              </a:tr>
              <a:tr h="344210">
                <a:tc>
                  <a:txBody>
                    <a:bodyPr/>
                    <a:lstStyle/>
                    <a:p>
                      <a:r>
                        <a:rPr lang="en-IN" sz="1700"/>
                        <a:t>11</a:t>
                      </a:r>
                    </a:p>
                  </a:txBody>
                  <a:tcPr marL="86053" marR="86053" marT="43026" marB="43026" anchor="ctr"/>
                </a:tc>
                <a:tc>
                  <a:txBody>
                    <a:bodyPr/>
                    <a:lstStyle/>
                    <a:p>
                      <a:r>
                        <a:rPr lang="en-IN" sz="1700"/>
                        <a:t>Sunday only</a:t>
                      </a:r>
                    </a:p>
                  </a:txBody>
                  <a:tcPr marL="86053" marR="86053" marT="43026" marB="43026" anchor="ctr"/>
                </a:tc>
                <a:tc>
                  <a:txBody>
                    <a:bodyPr/>
                    <a:lstStyle/>
                    <a:p>
                      <a:r>
                        <a:rPr lang="en-IN" sz="1700"/>
                        <a:t>1-day weekend</a:t>
                      </a:r>
                    </a:p>
                  </a:txBody>
                  <a:tcPr marL="86053" marR="86053" marT="43026" marB="43026" anchor="ctr"/>
                </a:tc>
                <a:extLst>
                  <a:ext uri="{0D108BD9-81ED-4DB2-BD59-A6C34878D82A}">
                    <a16:rowId xmlns:a16="http://schemas.microsoft.com/office/drawing/2014/main" val="1702162836"/>
                  </a:ext>
                </a:extLst>
              </a:tr>
              <a:tr h="344210">
                <a:tc>
                  <a:txBody>
                    <a:bodyPr/>
                    <a:lstStyle/>
                    <a:p>
                      <a:r>
                        <a:rPr lang="en-IN" sz="1700"/>
                        <a:t>12</a:t>
                      </a:r>
                    </a:p>
                  </a:txBody>
                  <a:tcPr marL="86053" marR="86053" marT="43026" marB="43026" anchor="ctr"/>
                </a:tc>
                <a:tc>
                  <a:txBody>
                    <a:bodyPr/>
                    <a:lstStyle/>
                    <a:p>
                      <a:r>
                        <a:rPr lang="en-IN" sz="1700"/>
                        <a:t>Monday only</a:t>
                      </a:r>
                    </a:p>
                  </a:txBody>
                  <a:tcPr marL="86053" marR="86053" marT="43026" marB="43026" anchor="ctr"/>
                </a:tc>
                <a:tc>
                  <a:txBody>
                    <a:bodyPr/>
                    <a:lstStyle/>
                    <a:p>
                      <a:r>
                        <a:rPr lang="en-IN" sz="1700"/>
                        <a:t>1-day weekend</a:t>
                      </a:r>
                    </a:p>
                  </a:txBody>
                  <a:tcPr marL="86053" marR="86053" marT="43026" marB="43026" anchor="ctr"/>
                </a:tc>
                <a:extLst>
                  <a:ext uri="{0D108BD9-81ED-4DB2-BD59-A6C34878D82A}">
                    <a16:rowId xmlns:a16="http://schemas.microsoft.com/office/drawing/2014/main" val="3254845897"/>
                  </a:ext>
                </a:extLst>
              </a:tr>
              <a:tr h="344210">
                <a:tc>
                  <a:txBody>
                    <a:bodyPr/>
                    <a:lstStyle/>
                    <a:p>
                      <a:r>
                        <a:rPr lang="en-IN" sz="1700"/>
                        <a:t>13</a:t>
                      </a:r>
                    </a:p>
                  </a:txBody>
                  <a:tcPr marL="86053" marR="86053" marT="43026" marB="43026" anchor="ctr"/>
                </a:tc>
                <a:tc>
                  <a:txBody>
                    <a:bodyPr/>
                    <a:lstStyle/>
                    <a:p>
                      <a:r>
                        <a:rPr lang="en-IN" sz="1700"/>
                        <a:t>Tuesday only</a:t>
                      </a:r>
                    </a:p>
                  </a:txBody>
                  <a:tcPr marL="86053" marR="86053" marT="43026" marB="43026" anchor="ctr"/>
                </a:tc>
                <a:tc>
                  <a:txBody>
                    <a:bodyPr/>
                    <a:lstStyle/>
                    <a:p>
                      <a:r>
                        <a:rPr lang="en-IN" sz="1700"/>
                        <a:t>1-day weekend</a:t>
                      </a:r>
                    </a:p>
                  </a:txBody>
                  <a:tcPr marL="86053" marR="86053" marT="43026" marB="43026" anchor="ctr"/>
                </a:tc>
                <a:extLst>
                  <a:ext uri="{0D108BD9-81ED-4DB2-BD59-A6C34878D82A}">
                    <a16:rowId xmlns:a16="http://schemas.microsoft.com/office/drawing/2014/main" val="3246797653"/>
                  </a:ext>
                </a:extLst>
              </a:tr>
              <a:tr h="344210">
                <a:tc>
                  <a:txBody>
                    <a:bodyPr/>
                    <a:lstStyle/>
                    <a:p>
                      <a:r>
                        <a:rPr lang="en-IN" sz="1700"/>
                        <a:t>14</a:t>
                      </a:r>
                    </a:p>
                  </a:txBody>
                  <a:tcPr marL="86053" marR="86053" marT="43026" marB="43026" anchor="ctr"/>
                </a:tc>
                <a:tc>
                  <a:txBody>
                    <a:bodyPr/>
                    <a:lstStyle/>
                    <a:p>
                      <a:r>
                        <a:rPr lang="en-IN" sz="1700"/>
                        <a:t>Wednesday only</a:t>
                      </a:r>
                    </a:p>
                  </a:txBody>
                  <a:tcPr marL="86053" marR="86053" marT="43026" marB="43026" anchor="ctr"/>
                </a:tc>
                <a:tc>
                  <a:txBody>
                    <a:bodyPr/>
                    <a:lstStyle/>
                    <a:p>
                      <a:r>
                        <a:rPr lang="en-IN" sz="1700"/>
                        <a:t>1-day weekend</a:t>
                      </a:r>
                    </a:p>
                  </a:txBody>
                  <a:tcPr marL="86053" marR="86053" marT="43026" marB="43026" anchor="ctr"/>
                </a:tc>
                <a:extLst>
                  <a:ext uri="{0D108BD9-81ED-4DB2-BD59-A6C34878D82A}">
                    <a16:rowId xmlns:a16="http://schemas.microsoft.com/office/drawing/2014/main" val="2732112614"/>
                  </a:ext>
                </a:extLst>
              </a:tr>
              <a:tr h="344210">
                <a:tc>
                  <a:txBody>
                    <a:bodyPr/>
                    <a:lstStyle/>
                    <a:p>
                      <a:r>
                        <a:rPr lang="en-IN" sz="1700"/>
                        <a:t>15</a:t>
                      </a:r>
                    </a:p>
                  </a:txBody>
                  <a:tcPr marL="86053" marR="86053" marT="43026" marB="43026" anchor="ctr"/>
                </a:tc>
                <a:tc>
                  <a:txBody>
                    <a:bodyPr/>
                    <a:lstStyle/>
                    <a:p>
                      <a:r>
                        <a:rPr lang="en-IN" sz="1700"/>
                        <a:t>Thursday only</a:t>
                      </a:r>
                    </a:p>
                  </a:txBody>
                  <a:tcPr marL="86053" marR="86053" marT="43026" marB="43026" anchor="ctr"/>
                </a:tc>
                <a:tc>
                  <a:txBody>
                    <a:bodyPr/>
                    <a:lstStyle/>
                    <a:p>
                      <a:r>
                        <a:rPr lang="en-IN" sz="1700"/>
                        <a:t>1-day weekend</a:t>
                      </a:r>
                    </a:p>
                  </a:txBody>
                  <a:tcPr marL="86053" marR="86053" marT="43026" marB="43026" anchor="ctr"/>
                </a:tc>
                <a:extLst>
                  <a:ext uri="{0D108BD9-81ED-4DB2-BD59-A6C34878D82A}">
                    <a16:rowId xmlns:a16="http://schemas.microsoft.com/office/drawing/2014/main" val="4258525006"/>
                  </a:ext>
                </a:extLst>
              </a:tr>
              <a:tr h="344210">
                <a:tc>
                  <a:txBody>
                    <a:bodyPr/>
                    <a:lstStyle/>
                    <a:p>
                      <a:r>
                        <a:rPr lang="en-IN" sz="1700"/>
                        <a:t>16</a:t>
                      </a:r>
                    </a:p>
                  </a:txBody>
                  <a:tcPr marL="86053" marR="86053" marT="43026" marB="43026" anchor="ctr"/>
                </a:tc>
                <a:tc>
                  <a:txBody>
                    <a:bodyPr/>
                    <a:lstStyle/>
                    <a:p>
                      <a:r>
                        <a:rPr lang="en-IN" sz="1700"/>
                        <a:t>Friday only</a:t>
                      </a:r>
                    </a:p>
                  </a:txBody>
                  <a:tcPr marL="86053" marR="86053" marT="43026" marB="43026" anchor="ctr"/>
                </a:tc>
                <a:tc>
                  <a:txBody>
                    <a:bodyPr/>
                    <a:lstStyle/>
                    <a:p>
                      <a:r>
                        <a:rPr lang="en-IN" sz="1700"/>
                        <a:t>1-day weekend</a:t>
                      </a:r>
                    </a:p>
                  </a:txBody>
                  <a:tcPr marL="86053" marR="86053" marT="43026" marB="43026" anchor="ctr"/>
                </a:tc>
                <a:extLst>
                  <a:ext uri="{0D108BD9-81ED-4DB2-BD59-A6C34878D82A}">
                    <a16:rowId xmlns:a16="http://schemas.microsoft.com/office/drawing/2014/main" val="1644615420"/>
                  </a:ext>
                </a:extLst>
              </a:tr>
              <a:tr h="344210">
                <a:tc>
                  <a:txBody>
                    <a:bodyPr/>
                    <a:lstStyle/>
                    <a:p>
                      <a:r>
                        <a:rPr lang="en-IN" sz="1700"/>
                        <a:t>17</a:t>
                      </a:r>
                    </a:p>
                  </a:txBody>
                  <a:tcPr marL="86053" marR="86053" marT="43026" marB="43026" anchor="ctr"/>
                </a:tc>
                <a:tc>
                  <a:txBody>
                    <a:bodyPr/>
                    <a:lstStyle/>
                    <a:p>
                      <a:r>
                        <a:rPr lang="en-IN" sz="1700"/>
                        <a:t>Saturday only</a:t>
                      </a:r>
                    </a:p>
                  </a:txBody>
                  <a:tcPr marL="86053" marR="86053" marT="43026" marB="43026" anchor="ctr"/>
                </a:tc>
                <a:tc>
                  <a:txBody>
                    <a:bodyPr/>
                    <a:lstStyle/>
                    <a:p>
                      <a:r>
                        <a:rPr lang="en-IN" sz="1700" dirty="0"/>
                        <a:t>1-day weekend</a:t>
                      </a:r>
                    </a:p>
                  </a:txBody>
                  <a:tcPr marL="86053" marR="86053" marT="43026" marB="43026" anchor="ctr"/>
                </a:tc>
                <a:extLst>
                  <a:ext uri="{0D108BD9-81ED-4DB2-BD59-A6C34878D82A}">
                    <a16:rowId xmlns:a16="http://schemas.microsoft.com/office/drawing/2014/main" val="647559590"/>
                  </a:ext>
                </a:extLst>
              </a:tr>
            </a:tbl>
          </a:graphicData>
        </a:graphic>
      </p:graphicFrame>
    </p:spTree>
    <p:extLst>
      <p:ext uri="{BB962C8B-B14F-4D97-AF65-F5344CB8AC3E}">
        <p14:creationId xmlns:p14="http://schemas.microsoft.com/office/powerpoint/2010/main" val="337582516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4BA1B-BF3A-453A-9842-E66EE99B3243}"/>
              </a:ext>
            </a:extLst>
          </p:cNvPr>
          <p:cNvSpPr>
            <a:spLocks noGrp="1"/>
          </p:cNvSpPr>
          <p:nvPr>
            <p:ph type="title"/>
          </p:nvPr>
        </p:nvSpPr>
        <p:spPr/>
        <p:txBody>
          <a:bodyPr/>
          <a:lstStyle/>
          <a:p>
            <a:r>
              <a:rPr lang="en-IN" b="1" dirty="0"/>
              <a:t>Conditional Formatting</a:t>
            </a:r>
          </a:p>
        </p:txBody>
      </p:sp>
      <p:sp>
        <p:nvSpPr>
          <p:cNvPr id="3" name="Content Placeholder 2">
            <a:extLst>
              <a:ext uri="{FF2B5EF4-FFF2-40B4-BE49-F238E27FC236}">
                <a16:creationId xmlns:a16="http://schemas.microsoft.com/office/drawing/2014/main" id="{429807C7-727B-4BB9-AA71-0A5F6411DE92}"/>
              </a:ext>
            </a:extLst>
          </p:cNvPr>
          <p:cNvSpPr>
            <a:spLocks noGrp="1"/>
          </p:cNvSpPr>
          <p:nvPr>
            <p:ph idx="1"/>
          </p:nvPr>
        </p:nvSpPr>
        <p:spPr/>
        <p:txBody>
          <a:bodyPr>
            <a:normAutofit/>
          </a:bodyPr>
          <a:lstStyle/>
          <a:p>
            <a:pPr algn="just"/>
            <a:r>
              <a:rPr lang="en-US" sz="2400" dirty="0"/>
              <a:t>The powerful conditional formatting features available in Excel enable you to highlight cells, create top and bottom rules, and apply three types of formatting: data bars, color scales, and icon sets.</a:t>
            </a:r>
          </a:p>
          <a:p>
            <a:pPr algn="just"/>
            <a:r>
              <a:rPr lang="en-US" sz="2400" dirty="0"/>
              <a:t>You can apply conditional formatting based on the results of a formula. In particular, you can set up a logical formula as the conditional formatting criteria.</a:t>
            </a:r>
          </a:p>
          <a:p>
            <a:pPr algn="just"/>
            <a:r>
              <a:rPr lang="en-US" sz="2400" dirty="0"/>
              <a:t>If that formula returns TRUE, Excel applies the formatting to the cells; if the formula returns FALSE, instead, Excel doesn’t apply the formatting. In most cases, you use an </a:t>
            </a:r>
            <a:r>
              <a:rPr lang="en-US" sz="2400" b="1" dirty="0"/>
              <a:t>IF</a:t>
            </a:r>
            <a:r>
              <a:rPr lang="en-US" sz="2400" dirty="0"/>
              <a:t> function, often combined with another logical function such as </a:t>
            </a:r>
            <a:r>
              <a:rPr lang="en-US" sz="2400" b="1" dirty="0"/>
              <a:t>AND</a:t>
            </a:r>
            <a:r>
              <a:rPr lang="en-US" sz="2400" dirty="0"/>
              <a:t> or </a:t>
            </a:r>
            <a:r>
              <a:rPr lang="en-US" sz="2400" b="1" dirty="0"/>
              <a:t>OR</a:t>
            </a:r>
            <a:r>
              <a:rPr lang="en-US" sz="2400" dirty="0"/>
              <a:t>.</a:t>
            </a:r>
            <a:endParaRPr lang="en-IN" sz="2400" dirty="0"/>
          </a:p>
        </p:txBody>
      </p:sp>
    </p:spTree>
    <p:extLst>
      <p:ext uri="{BB962C8B-B14F-4D97-AF65-F5344CB8AC3E}">
        <p14:creationId xmlns:p14="http://schemas.microsoft.com/office/powerpoint/2010/main" val="113315506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162B0B-B672-493B-A5AF-3D0BBB2B9AE7}"/>
              </a:ext>
            </a:extLst>
          </p:cNvPr>
          <p:cNvSpPr>
            <a:spLocks noGrp="1"/>
          </p:cNvSpPr>
          <p:nvPr>
            <p:ph idx="1"/>
          </p:nvPr>
        </p:nvSpPr>
        <p:spPr>
          <a:xfrm>
            <a:off x="838200" y="954157"/>
            <a:ext cx="10515600" cy="5115339"/>
          </a:xfrm>
        </p:spPr>
        <p:txBody>
          <a:bodyPr>
            <a:normAutofit/>
          </a:bodyPr>
          <a:lstStyle/>
          <a:p>
            <a:pPr marL="0" indent="0" algn="just">
              <a:buNone/>
            </a:pPr>
            <a:r>
              <a:rPr lang="en-US" sz="2400" dirty="0"/>
              <a:t>Here are the basic steps to follow to set up formula-based conditional formatting: </a:t>
            </a:r>
          </a:p>
          <a:p>
            <a:pPr marL="514350" indent="-514350" algn="just">
              <a:buAutoNum type="arabicPeriod"/>
            </a:pPr>
            <a:r>
              <a:rPr lang="en-US" sz="2400" dirty="0"/>
              <a:t>Select the cells to which you want the conditional formatting applied. </a:t>
            </a:r>
          </a:p>
          <a:p>
            <a:pPr marL="514350" indent="-514350" algn="just">
              <a:buAutoNum type="arabicPeriod"/>
            </a:pPr>
            <a:r>
              <a:rPr lang="en-US" sz="2400" dirty="0"/>
              <a:t>Select Home &gt; Conditional Formatting &gt; New Rule. Excel displays the New Formatting Rule dialog box.</a:t>
            </a:r>
          </a:p>
          <a:p>
            <a:pPr marL="514350" indent="-514350" algn="just">
              <a:buAutoNum type="arabicPeriod"/>
            </a:pPr>
            <a:r>
              <a:rPr lang="en-US" sz="2400" dirty="0"/>
              <a:t>Select Use A Formula To Determine Which Cells To Format.</a:t>
            </a:r>
          </a:p>
          <a:p>
            <a:pPr marL="514350" indent="-514350" algn="just">
              <a:buAutoNum type="arabicPeriod"/>
            </a:pPr>
            <a:r>
              <a:rPr lang="en-US" sz="2400" dirty="0"/>
              <a:t>In the Format Values Where This Formula Is True range box, type your logical formula.</a:t>
            </a:r>
          </a:p>
          <a:p>
            <a:pPr marL="514350" indent="-514350" algn="just">
              <a:buAutoNum type="arabicPeriod"/>
            </a:pPr>
            <a:r>
              <a:rPr lang="en-US" sz="2400" dirty="0"/>
              <a:t>Select Format to open the Format Cells dialog box.</a:t>
            </a:r>
          </a:p>
          <a:p>
            <a:pPr marL="514350" indent="-514350" algn="just">
              <a:buAutoNum type="arabicPeriod"/>
            </a:pPr>
            <a:r>
              <a:rPr lang="en-US" sz="2400" dirty="0"/>
              <a:t>Use the Number, Font, Border, and Fill tabs to specify the formatting you want to apply and then select OK.</a:t>
            </a:r>
          </a:p>
          <a:p>
            <a:pPr marL="514350" indent="-514350" algn="just">
              <a:buAutoNum type="arabicPeriod"/>
            </a:pPr>
            <a:r>
              <a:rPr lang="en-US" sz="2400" dirty="0"/>
              <a:t>Select OK.</a:t>
            </a:r>
            <a:endParaRPr lang="en-IN" sz="2400" dirty="0"/>
          </a:p>
        </p:txBody>
      </p:sp>
    </p:spTree>
    <p:extLst>
      <p:ext uri="{BB962C8B-B14F-4D97-AF65-F5344CB8AC3E}">
        <p14:creationId xmlns:p14="http://schemas.microsoft.com/office/powerpoint/2010/main" val="269439282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B5E17F6-9883-4428-8DDB-63AD7820E6F4}"/>
              </a:ext>
            </a:extLst>
          </p:cNvPr>
          <p:cNvPicPr>
            <a:picLocks noGrp="1"/>
          </p:cNvPicPr>
          <p:nvPr>
            <p:ph idx="1"/>
          </p:nvPr>
        </p:nvPicPr>
        <p:blipFill>
          <a:blip r:embed="rId2"/>
          <a:stretch>
            <a:fillRect/>
          </a:stretch>
        </p:blipFill>
        <p:spPr>
          <a:xfrm>
            <a:off x="838200" y="596349"/>
            <a:ext cx="10515600" cy="5155094"/>
          </a:xfrm>
          <a:prstGeom prst="rect">
            <a:avLst/>
          </a:prstGeom>
        </p:spPr>
      </p:pic>
      <p:sp>
        <p:nvSpPr>
          <p:cNvPr id="6" name="Rectangle 5">
            <a:extLst>
              <a:ext uri="{FF2B5EF4-FFF2-40B4-BE49-F238E27FC236}">
                <a16:creationId xmlns:a16="http://schemas.microsoft.com/office/drawing/2014/main" id="{5B30215E-5BC7-4ADD-B0A4-3A7877E96F5B}"/>
              </a:ext>
            </a:extLst>
          </p:cNvPr>
          <p:cNvSpPr/>
          <p:nvPr/>
        </p:nvSpPr>
        <p:spPr>
          <a:xfrm>
            <a:off x="838200" y="5938485"/>
            <a:ext cx="10515599" cy="430887"/>
          </a:xfrm>
          <a:prstGeom prst="rect">
            <a:avLst/>
          </a:prstGeom>
        </p:spPr>
        <p:txBody>
          <a:bodyPr wrap="square">
            <a:spAutoFit/>
          </a:bodyPr>
          <a:lstStyle/>
          <a:p>
            <a:r>
              <a:rPr lang="en-US" sz="2200" b="1" dirty="0"/>
              <a:t>Example 1: The range of sales rep data is conditionally formatted using a logical formula.</a:t>
            </a:r>
            <a:endParaRPr lang="en-IN" sz="2200" b="1" dirty="0"/>
          </a:p>
        </p:txBody>
      </p:sp>
    </p:spTree>
    <p:extLst>
      <p:ext uri="{BB962C8B-B14F-4D97-AF65-F5344CB8AC3E}">
        <p14:creationId xmlns:p14="http://schemas.microsoft.com/office/powerpoint/2010/main" val="9328690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90B3824-916A-4D82-B33E-6F3FDE5C2245}"/>
              </a:ext>
            </a:extLst>
          </p:cNvPr>
          <p:cNvSpPr>
            <a:spLocks noGrp="1"/>
          </p:cNvSpPr>
          <p:nvPr>
            <p:ph idx="1"/>
          </p:nvPr>
        </p:nvSpPr>
        <p:spPr>
          <a:xfrm>
            <a:off x="838200" y="676275"/>
            <a:ext cx="10515600" cy="5500688"/>
          </a:xfrm>
        </p:spPr>
        <p:txBody>
          <a:bodyPr>
            <a:normAutofit/>
          </a:bodyPr>
          <a:lstStyle/>
          <a:p>
            <a:pPr algn="just"/>
            <a:r>
              <a:rPr lang="en-US" sz="2400" dirty="0"/>
              <a:t>First, you compare the range to the first value in the range;</a:t>
            </a:r>
          </a:p>
          <a:p>
            <a:pPr algn="just"/>
            <a:r>
              <a:rPr lang="en-US" sz="2400" dirty="0"/>
              <a:t>Second, the cell address uses the mixed-reference format $D2, which tells Excel to keep the column (D) fixed, while varying the row number.</a:t>
            </a:r>
          </a:p>
          <a:p>
            <a:pPr algn="just"/>
            <a:r>
              <a:rPr lang="en-US" sz="2400" dirty="0"/>
              <a:t>Next, you can use the MIN function to determine the minimum, so you create a similar comparison formula: </a:t>
            </a:r>
            <a:r>
              <a:rPr lang="en-US" sz="2400" b="1" dirty="0"/>
              <a:t>=MIN($D$2:$D$10)=$D2</a:t>
            </a:r>
          </a:p>
          <a:p>
            <a:pPr algn="just"/>
            <a:r>
              <a:rPr lang="en-US" sz="2400" dirty="0"/>
              <a:t>Finally, you want to check each cell in the column to see if it’s the maximum or the minimum, so you need to combine these expressions by using the OR function, like so: </a:t>
            </a:r>
            <a:r>
              <a:rPr lang="en-US" sz="2400" b="1" dirty="0"/>
              <a:t>=OR(MAX($D$2:$D$10)=$D2, MIN($D$2:$D$10)=$D2)</a:t>
            </a:r>
          </a:p>
          <a:p>
            <a:pPr algn="just"/>
            <a:r>
              <a:rPr lang="en-US" sz="2400" dirty="0"/>
              <a:t>Previous Figure shows a range of sales results (A2:E10) that are conditionally formatted using the preceding formula. This shows which reps had the maximum and minimum percentage differences between target sales and actual sales (column D).</a:t>
            </a:r>
          </a:p>
          <a:p>
            <a:pPr algn="just"/>
            <a:r>
              <a:rPr lang="en-US" sz="2400" dirty="0"/>
              <a:t>Example 2-To search for the lowest nonzero number following formula can be set as rule: </a:t>
            </a:r>
            <a:r>
              <a:rPr lang="en-US" sz="2400" b="1" dirty="0"/>
              <a:t>= A1=MIN(IF($A$1: $D$10&lt;&gt;0, $A$1:$D$10))</a:t>
            </a:r>
          </a:p>
          <a:p>
            <a:pPr algn="just"/>
            <a:endParaRPr lang="en-IN" sz="2400" dirty="0"/>
          </a:p>
        </p:txBody>
      </p:sp>
    </p:spTree>
    <p:extLst>
      <p:ext uri="{BB962C8B-B14F-4D97-AF65-F5344CB8AC3E}">
        <p14:creationId xmlns:p14="http://schemas.microsoft.com/office/powerpoint/2010/main" val="248097170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E04AC-F081-41FB-B021-F1141EB7EA97}"/>
              </a:ext>
            </a:extLst>
          </p:cNvPr>
          <p:cNvSpPr>
            <a:spLocks noGrp="1"/>
          </p:cNvSpPr>
          <p:nvPr>
            <p:ph type="title"/>
          </p:nvPr>
        </p:nvSpPr>
        <p:spPr>
          <a:xfrm>
            <a:off x="838200" y="72480"/>
            <a:ext cx="10515600" cy="1325563"/>
          </a:xfrm>
        </p:spPr>
        <p:txBody>
          <a:bodyPr/>
          <a:lstStyle/>
          <a:p>
            <a:r>
              <a:rPr lang="en-IN" b="1" dirty="0"/>
              <a:t>Conditional Formatting Options</a:t>
            </a:r>
          </a:p>
        </p:txBody>
      </p:sp>
      <p:sp>
        <p:nvSpPr>
          <p:cNvPr id="3" name="Content Placeholder 2">
            <a:extLst>
              <a:ext uri="{FF2B5EF4-FFF2-40B4-BE49-F238E27FC236}">
                <a16:creationId xmlns:a16="http://schemas.microsoft.com/office/drawing/2014/main" id="{669C1380-5819-42D2-B545-C6AD1C2E1ECA}"/>
              </a:ext>
            </a:extLst>
          </p:cNvPr>
          <p:cNvSpPr>
            <a:spLocks noGrp="1"/>
          </p:cNvSpPr>
          <p:nvPr>
            <p:ph idx="1"/>
          </p:nvPr>
        </p:nvSpPr>
        <p:spPr/>
        <p:txBody>
          <a:bodyPr>
            <a:normAutofit/>
          </a:bodyPr>
          <a:lstStyle/>
          <a:p>
            <a:pPr marL="0" indent="0" algn="just">
              <a:buNone/>
            </a:pPr>
            <a:endParaRPr lang="en-IN" sz="2400" dirty="0"/>
          </a:p>
        </p:txBody>
      </p:sp>
      <p:grpSp>
        <p:nvGrpSpPr>
          <p:cNvPr id="4" name="Group 3">
            <a:extLst>
              <a:ext uri="{FF2B5EF4-FFF2-40B4-BE49-F238E27FC236}">
                <a16:creationId xmlns:a16="http://schemas.microsoft.com/office/drawing/2014/main" id="{17C88796-97F8-4746-8B90-B6FD89B84735}"/>
              </a:ext>
            </a:extLst>
          </p:cNvPr>
          <p:cNvGrpSpPr/>
          <p:nvPr/>
        </p:nvGrpSpPr>
        <p:grpSpPr>
          <a:xfrm>
            <a:off x="662609" y="1272209"/>
            <a:ext cx="10933520" cy="5194852"/>
            <a:chOff x="0" y="0"/>
            <a:chExt cx="10192265" cy="5396483"/>
          </a:xfrm>
        </p:grpSpPr>
        <p:pic>
          <p:nvPicPr>
            <p:cNvPr id="5" name="Picture 4">
              <a:extLst>
                <a:ext uri="{FF2B5EF4-FFF2-40B4-BE49-F238E27FC236}">
                  <a16:creationId xmlns:a16="http://schemas.microsoft.com/office/drawing/2014/main" id="{CC090C9C-E0DC-492F-883C-66073EE0BE76}"/>
                </a:ext>
              </a:extLst>
            </p:cNvPr>
            <p:cNvPicPr/>
            <p:nvPr/>
          </p:nvPicPr>
          <p:blipFill>
            <a:blip r:embed="rId2"/>
            <a:stretch>
              <a:fillRect/>
            </a:stretch>
          </p:blipFill>
          <p:spPr>
            <a:xfrm>
              <a:off x="205740" y="0"/>
              <a:ext cx="4686300" cy="3191256"/>
            </a:xfrm>
            <a:prstGeom prst="rect">
              <a:avLst/>
            </a:prstGeom>
          </p:spPr>
        </p:pic>
        <p:pic>
          <p:nvPicPr>
            <p:cNvPr id="6" name="Picture 5">
              <a:extLst>
                <a:ext uri="{FF2B5EF4-FFF2-40B4-BE49-F238E27FC236}">
                  <a16:creationId xmlns:a16="http://schemas.microsoft.com/office/drawing/2014/main" id="{F248957F-C520-4C33-8FD1-744B859D7C4D}"/>
                </a:ext>
              </a:extLst>
            </p:cNvPr>
            <p:cNvPicPr/>
            <p:nvPr/>
          </p:nvPicPr>
          <p:blipFill>
            <a:blip r:embed="rId3"/>
            <a:stretch>
              <a:fillRect/>
            </a:stretch>
          </p:blipFill>
          <p:spPr>
            <a:xfrm>
              <a:off x="5417820" y="0"/>
              <a:ext cx="4562856" cy="3191256"/>
            </a:xfrm>
            <a:prstGeom prst="rect">
              <a:avLst/>
            </a:prstGeom>
          </p:spPr>
        </p:pic>
        <p:pic>
          <p:nvPicPr>
            <p:cNvPr id="7" name="Picture 6">
              <a:extLst>
                <a:ext uri="{FF2B5EF4-FFF2-40B4-BE49-F238E27FC236}">
                  <a16:creationId xmlns:a16="http://schemas.microsoft.com/office/drawing/2014/main" id="{3ADEBC39-844C-49E9-8FBE-2C0286169180}"/>
                </a:ext>
              </a:extLst>
            </p:cNvPr>
            <p:cNvPicPr/>
            <p:nvPr/>
          </p:nvPicPr>
          <p:blipFill>
            <a:blip r:embed="rId4"/>
            <a:stretch>
              <a:fillRect/>
            </a:stretch>
          </p:blipFill>
          <p:spPr>
            <a:xfrm>
              <a:off x="4892040" y="3226307"/>
              <a:ext cx="3744468" cy="2170176"/>
            </a:xfrm>
            <a:prstGeom prst="rect">
              <a:avLst/>
            </a:prstGeom>
          </p:spPr>
        </p:pic>
        <p:sp>
          <p:nvSpPr>
            <p:cNvPr id="8" name="Rectangle 7">
              <a:extLst>
                <a:ext uri="{FF2B5EF4-FFF2-40B4-BE49-F238E27FC236}">
                  <a16:creationId xmlns:a16="http://schemas.microsoft.com/office/drawing/2014/main" id="{B22AD617-C2BD-432D-AC17-3C9FF305C3E2}"/>
                </a:ext>
              </a:extLst>
            </p:cNvPr>
            <p:cNvSpPr/>
            <p:nvPr/>
          </p:nvSpPr>
          <p:spPr>
            <a:xfrm>
              <a:off x="8859647" y="3306626"/>
              <a:ext cx="594902" cy="197546"/>
            </a:xfrm>
            <a:prstGeom prst="rect">
              <a:avLst/>
            </a:prstGeom>
            <a:ln>
              <a:noFill/>
            </a:ln>
          </p:spPr>
          <p:txBody>
            <a:bodyPr vert="horz" lIns="0" tIns="0" rIns="0" bIns="0" rtlCol="0">
              <a:noAutofit/>
            </a:bodyPr>
            <a:lstStyle/>
            <a:p>
              <a:pPr>
                <a:lnSpc>
                  <a:spcPct val="107000"/>
                </a:lnSpc>
                <a:spcAft>
                  <a:spcPts val="800"/>
                </a:spcAft>
              </a:pPr>
              <a:r>
                <a:rPr lang="en-IN" sz="1200" b="1" dirty="0" err="1">
                  <a:solidFill>
                    <a:srgbClr val="FF0000"/>
                  </a:solidFill>
                  <a:effectLst/>
                  <a:latin typeface="Verdana" panose="020B0604030504040204" pitchFamily="34" charset="0"/>
                  <a:ea typeface="Verdana" panose="020B0604030504040204" pitchFamily="34" charset="0"/>
                  <a:cs typeface="Verdana" panose="020B0604030504040204" pitchFamily="34" charset="0"/>
                </a:rPr>
                <a:t>Color</a:t>
              </a:r>
              <a:endParaRPr lang="en-IN" sz="1100" dirty="0">
                <a:solidFill>
                  <a:srgbClr val="000000"/>
                </a:solidFill>
                <a:effectLst/>
                <a:latin typeface="Calibri" panose="020F0502020204030204" pitchFamily="34" charset="0"/>
                <a:ea typeface="Calibri" panose="020F0502020204030204" pitchFamily="34" charset="0"/>
              </a:endParaRPr>
            </a:p>
          </p:txBody>
        </p:sp>
        <p:sp>
          <p:nvSpPr>
            <p:cNvPr id="9" name="Rectangle 8">
              <a:extLst>
                <a:ext uri="{FF2B5EF4-FFF2-40B4-BE49-F238E27FC236}">
                  <a16:creationId xmlns:a16="http://schemas.microsoft.com/office/drawing/2014/main" id="{08042EA7-80D8-474D-8C1A-7F41EE3C44E7}"/>
                </a:ext>
              </a:extLst>
            </p:cNvPr>
            <p:cNvSpPr/>
            <p:nvPr/>
          </p:nvSpPr>
          <p:spPr>
            <a:xfrm>
              <a:off x="9359670" y="3306625"/>
              <a:ext cx="600779" cy="197546"/>
            </a:xfrm>
            <a:prstGeom prst="rect">
              <a:avLst/>
            </a:prstGeom>
            <a:ln>
              <a:noFill/>
            </a:ln>
          </p:spPr>
          <p:txBody>
            <a:bodyPr vert="horz" lIns="0" tIns="0" rIns="0" bIns="0" rtlCol="0">
              <a:noAutofit/>
            </a:bodyPr>
            <a:lstStyle/>
            <a:p>
              <a:pPr>
                <a:lnSpc>
                  <a:spcPct val="107000"/>
                </a:lnSpc>
                <a:spcAft>
                  <a:spcPts val="800"/>
                </a:spcAft>
              </a:pPr>
              <a:r>
                <a:rPr lang="en-IN" sz="1200" b="1" dirty="0">
                  <a:solidFill>
                    <a:srgbClr val="FF0000"/>
                  </a:solidFill>
                  <a:effectLst/>
                  <a:latin typeface="Verdana" panose="020B0604030504040204" pitchFamily="34" charset="0"/>
                  <a:ea typeface="Verdana" panose="020B0604030504040204" pitchFamily="34" charset="0"/>
                  <a:cs typeface="Verdana" panose="020B0604030504040204" pitchFamily="34" charset="0"/>
                </a:rPr>
                <a:t>Scale</a:t>
              </a:r>
              <a:endParaRPr lang="en-IN" sz="1100" dirty="0">
                <a:solidFill>
                  <a:srgbClr val="000000"/>
                </a:solidFill>
                <a:effectLst/>
                <a:latin typeface="Calibri" panose="020F0502020204030204" pitchFamily="34" charset="0"/>
                <a:ea typeface="Calibri" panose="020F0502020204030204" pitchFamily="34" charset="0"/>
              </a:endParaRPr>
            </a:p>
          </p:txBody>
        </p:sp>
        <p:sp>
          <p:nvSpPr>
            <p:cNvPr id="10" name="Rectangle 9">
              <a:extLst>
                <a:ext uri="{FF2B5EF4-FFF2-40B4-BE49-F238E27FC236}">
                  <a16:creationId xmlns:a16="http://schemas.microsoft.com/office/drawing/2014/main" id="{8D93C135-76F6-4237-9415-127F44E3B9C8}"/>
                </a:ext>
              </a:extLst>
            </p:cNvPr>
            <p:cNvSpPr/>
            <p:nvPr/>
          </p:nvSpPr>
          <p:spPr>
            <a:xfrm>
              <a:off x="9832592" y="3320935"/>
              <a:ext cx="97292" cy="197546"/>
            </a:xfrm>
            <a:prstGeom prst="rect">
              <a:avLst/>
            </a:prstGeom>
            <a:ln>
              <a:noFill/>
            </a:ln>
          </p:spPr>
          <p:txBody>
            <a:bodyPr vert="horz" lIns="0" tIns="0" rIns="0" bIns="0" rtlCol="0">
              <a:noAutofit/>
            </a:bodyPr>
            <a:lstStyle/>
            <a:p>
              <a:pPr>
                <a:lnSpc>
                  <a:spcPct val="107000"/>
                </a:lnSpc>
                <a:spcAft>
                  <a:spcPts val="800"/>
                </a:spcAft>
              </a:pPr>
              <a:r>
                <a:rPr lang="en-IN" sz="1200" b="1" dirty="0">
                  <a:solidFill>
                    <a:srgbClr val="FF0000"/>
                  </a:solidFill>
                  <a:effectLst/>
                  <a:latin typeface="Verdana" panose="020B0604030504040204" pitchFamily="34" charset="0"/>
                  <a:ea typeface="Verdana" panose="020B0604030504040204" pitchFamily="34" charset="0"/>
                  <a:cs typeface="Verdana" panose="020B0604030504040204" pitchFamily="34" charset="0"/>
                </a:rPr>
                <a:t>-</a:t>
              </a:r>
              <a:endParaRPr lang="en-IN" sz="1100" dirty="0">
                <a:solidFill>
                  <a:srgbClr val="000000"/>
                </a:solidFill>
                <a:effectLst/>
                <a:latin typeface="Calibri" panose="020F0502020204030204" pitchFamily="34" charset="0"/>
                <a:ea typeface="Calibri" panose="020F0502020204030204" pitchFamily="34" charset="0"/>
              </a:endParaRPr>
            </a:p>
          </p:txBody>
        </p:sp>
        <p:sp>
          <p:nvSpPr>
            <p:cNvPr id="11" name="Rectangle 10">
              <a:extLst>
                <a:ext uri="{FF2B5EF4-FFF2-40B4-BE49-F238E27FC236}">
                  <a16:creationId xmlns:a16="http://schemas.microsoft.com/office/drawing/2014/main" id="{F9FDBBB5-4AE8-48B9-8D39-5CCC1EE7B6F5}"/>
                </a:ext>
              </a:extLst>
            </p:cNvPr>
            <p:cNvSpPr/>
            <p:nvPr/>
          </p:nvSpPr>
          <p:spPr>
            <a:xfrm>
              <a:off x="8859647" y="3489506"/>
              <a:ext cx="1046499" cy="197546"/>
            </a:xfrm>
            <a:prstGeom prst="rect">
              <a:avLst/>
            </a:prstGeom>
            <a:ln>
              <a:noFill/>
            </a:ln>
          </p:spPr>
          <p:txBody>
            <a:bodyPr vert="horz" lIns="0" tIns="0" rIns="0" bIns="0" rtlCol="0">
              <a:noAutofit/>
            </a:bodyPr>
            <a:lstStyle/>
            <a:p>
              <a:pPr>
                <a:lnSpc>
                  <a:spcPct val="107000"/>
                </a:lnSpc>
                <a:spcAft>
                  <a:spcPts val="800"/>
                </a:spcAft>
              </a:pPr>
              <a:r>
                <a:rPr lang="en-IN" sz="1200" b="1">
                  <a:solidFill>
                    <a:srgbClr val="FF0000"/>
                  </a:solidFill>
                  <a:effectLst/>
                  <a:latin typeface="Verdana" panose="020B0604030504040204" pitchFamily="34" charset="0"/>
                  <a:ea typeface="Verdana" panose="020B0604030504040204" pitchFamily="34" charset="0"/>
                  <a:cs typeface="Verdana" panose="020B0604030504040204" pitchFamily="34" charset="0"/>
                </a:rPr>
                <a:t>Rapidash</a:t>
              </a:r>
              <a:endParaRPr lang="en-IN" sz="1100">
                <a:solidFill>
                  <a:srgbClr val="000000"/>
                </a:solidFill>
                <a:effectLst/>
                <a:latin typeface="Calibri" panose="020F0502020204030204" pitchFamily="34" charset="0"/>
                <a:ea typeface="Calibri" panose="020F0502020204030204" pitchFamily="34" charset="0"/>
              </a:endParaRPr>
            </a:p>
          </p:txBody>
        </p:sp>
        <p:sp>
          <p:nvSpPr>
            <p:cNvPr id="12" name="Rectangle 11">
              <a:extLst>
                <a:ext uri="{FF2B5EF4-FFF2-40B4-BE49-F238E27FC236}">
                  <a16:creationId xmlns:a16="http://schemas.microsoft.com/office/drawing/2014/main" id="{8E1B13C8-AF52-4390-9E10-65C55FAB42F6}"/>
                </a:ext>
              </a:extLst>
            </p:cNvPr>
            <p:cNvSpPr/>
            <p:nvPr/>
          </p:nvSpPr>
          <p:spPr>
            <a:xfrm>
              <a:off x="9720962" y="3489506"/>
              <a:ext cx="399912" cy="197546"/>
            </a:xfrm>
            <a:prstGeom prst="rect">
              <a:avLst/>
            </a:prstGeom>
            <a:ln>
              <a:noFill/>
            </a:ln>
          </p:spPr>
          <p:txBody>
            <a:bodyPr vert="horz" lIns="0" tIns="0" rIns="0" bIns="0" rtlCol="0">
              <a:noAutofit/>
            </a:bodyPr>
            <a:lstStyle/>
            <a:p>
              <a:pPr>
                <a:lnSpc>
                  <a:spcPct val="107000"/>
                </a:lnSpc>
                <a:spcAft>
                  <a:spcPts val="800"/>
                </a:spcAft>
              </a:pPr>
              <a:r>
                <a:rPr lang="en-IN" sz="1200" b="1">
                  <a:solidFill>
                    <a:srgbClr val="FF0000"/>
                  </a:solidFill>
                  <a:effectLst/>
                  <a:latin typeface="Verdana" panose="020B0604030504040204" pitchFamily="34" charset="0"/>
                  <a:ea typeface="Verdana" panose="020B0604030504040204" pitchFamily="34" charset="0"/>
                  <a:cs typeface="Verdana" panose="020B0604030504040204" pitchFamily="34" charset="0"/>
                </a:rPr>
                <a:t>has</a:t>
              </a:r>
              <a:endParaRPr lang="en-IN" sz="1100">
                <a:solidFill>
                  <a:srgbClr val="000000"/>
                </a:solidFill>
                <a:effectLst/>
                <a:latin typeface="Calibri" panose="020F0502020204030204" pitchFamily="34" charset="0"/>
                <a:ea typeface="Calibri" panose="020F0502020204030204" pitchFamily="34" charset="0"/>
              </a:endParaRPr>
            </a:p>
          </p:txBody>
        </p:sp>
        <p:sp>
          <p:nvSpPr>
            <p:cNvPr id="13" name="Rectangle 12">
              <a:extLst>
                <a:ext uri="{FF2B5EF4-FFF2-40B4-BE49-F238E27FC236}">
                  <a16:creationId xmlns:a16="http://schemas.microsoft.com/office/drawing/2014/main" id="{7F4E48B4-D23B-4423-BD1D-E34C0A334AA7}"/>
                </a:ext>
              </a:extLst>
            </p:cNvPr>
            <p:cNvSpPr/>
            <p:nvPr/>
          </p:nvSpPr>
          <p:spPr>
            <a:xfrm>
              <a:off x="8859647" y="3672386"/>
              <a:ext cx="371940" cy="197546"/>
            </a:xfrm>
            <a:prstGeom prst="rect">
              <a:avLst/>
            </a:prstGeom>
            <a:ln>
              <a:noFill/>
            </a:ln>
          </p:spPr>
          <p:txBody>
            <a:bodyPr vert="horz" lIns="0" tIns="0" rIns="0" bIns="0" rtlCol="0">
              <a:noAutofit/>
            </a:bodyPr>
            <a:lstStyle/>
            <a:p>
              <a:pPr>
                <a:lnSpc>
                  <a:spcPct val="107000"/>
                </a:lnSpc>
                <a:spcAft>
                  <a:spcPts val="800"/>
                </a:spcAft>
              </a:pPr>
              <a:r>
                <a:rPr lang="en-IN" sz="1200" b="1">
                  <a:solidFill>
                    <a:srgbClr val="FF0000"/>
                  </a:solidFill>
                  <a:effectLst/>
                  <a:latin typeface="Verdana" panose="020B0604030504040204" pitchFamily="34" charset="0"/>
                  <a:ea typeface="Verdana" panose="020B0604030504040204" pitchFamily="34" charset="0"/>
                  <a:cs typeface="Verdana" panose="020B0604030504040204" pitchFamily="34" charset="0"/>
                </a:rPr>
                <a:t>the</a:t>
              </a:r>
              <a:endParaRPr lang="en-IN" sz="1100">
                <a:solidFill>
                  <a:srgbClr val="000000"/>
                </a:solidFill>
                <a:effectLst/>
                <a:latin typeface="Calibri" panose="020F0502020204030204" pitchFamily="34" charset="0"/>
                <a:ea typeface="Calibri" panose="020F0502020204030204" pitchFamily="34" charset="0"/>
              </a:endParaRPr>
            </a:p>
          </p:txBody>
        </p:sp>
        <p:sp>
          <p:nvSpPr>
            <p:cNvPr id="14" name="Rectangle 13">
              <a:extLst>
                <a:ext uri="{FF2B5EF4-FFF2-40B4-BE49-F238E27FC236}">
                  <a16:creationId xmlns:a16="http://schemas.microsoft.com/office/drawing/2014/main" id="{1BC42C25-BBE8-4F24-8650-8B62B74166FE}"/>
                </a:ext>
              </a:extLst>
            </p:cNvPr>
            <p:cNvSpPr/>
            <p:nvPr/>
          </p:nvSpPr>
          <p:spPr>
            <a:xfrm>
              <a:off x="9259645" y="3656984"/>
              <a:ext cx="846847" cy="197546"/>
            </a:xfrm>
            <a:prstGeom prst="rect">
              <a:avLst/>
            </a:prstGeom>
            <a:ln>
              <a:noFill/>
            </a:ln>
          </p:spPr>
          <p:txBody>
            <a:bodyPr vert="horz" lIns="0" tIns="0" rIns="0" bIns="0" rtlCol="0">
              <a:noAutofit/>
            </a:bodyPr>
            <a:lstStyle/>
            <a:p>
              <a:pPr>
                <a:lnSpc>
                  <a:spcPct val="107000"/>
                </a:lnSpc>
                <a:spcAft>
                  <a:spcPts val="800"/>
                </a:spcAft>
              </a:pPr>
              <a:r>
                <a:rPr lang="en-IN" sz="1200" b="1" dirty="0">
                  <a:solidFill>
                    <a:srgbClr val="FF0000"/>
                  </a:solidFill>
                  <a:effectLst/>
                  <a:latin typeface="Verdana" panose="020B0604030504040204" pitchFamily="34" charset="0"/>
                  <a:ea typeface="Verdana" panose="020B0604030504040204" pitchFamily="34" charset="0"/>
                  <a:cs typeface="Verdana" panose="020B0604030504040204" pitchFamily="34" charset="0"/>
                </a:rPr>
                <a:t>highest</a:t>
              </a:r>
              <a:endParaRPr lang="en-IN" sz="1100" dirty="0">
                <a:solidFill>
                  <a:srgbClr val="000000"/>
                </a:solidFill>
                <a:effectLst/>
                <a:latin typeface="Calibri" panose="020F0502020204030204" pitchFamily="34" charset="0"/>
                <a:ea typeface="Calibri" panose="020F0502020204030204" pitchFamily="34" charset="0"/>
              </a:endParaRPr>
            </a:p>
          </p:txBody>
        </p:sp>
        <p:sp>
          <p:nvSpPr>
            <p:cNvPr id="15" name="Rectangle 14">
              <a:extLst>
                <a:ext uri="{FF2B5EF4-FFF2-40B4-BE49-F238E27FC236}">
                  <a16:creationId xmlns:a16="http://schemas.microsoft.com/office/drawing/2014/main" id="{1205A03F-F06F-4682-8DD3-6909CD0836CF}"/>
                </a:ext>
              </a:extLst>
            </p:cNvPr>
            <p:cNvSpPr/>
            <p:nvPr/>
          </p:nvSpPr>
          <p:spPr>
            <a:xfrm>
              <a:off x="8859647" y="3855266"/>
              <a:ext cx="695031" cy="197546"/>
            </a:xfrm>
            <a:prstGeom prst="rect">
              <a:avLst/>
            </a:prstGeom>
            <a:ln>
              <a:noFill/>
            </a:ln>
          </p:spPr>
          <p:txBody>
            <a:bodyPr vert="horz" lIns="0" tIns="0" rIns="0" bIns="0" rtlCol="0">
              <a:noAutofit/>
            </a:bodyPr>
            <a:lstStyle/>
            <a:p>
              <a:pPr>
                <a:lnSpc>
                  <a:spcPct val="107000"/>
                </a:lnSpc>
                <a:spcAft>
                  <a:spcPts val="800"/>
                </a:spcAft>
              </a:pPr>
              <a:r>
                <a:rPr lang="en-IN" sz="1200" b="1">
                  <a:solidFill>
                    <a:srgbClr val="FF0000"/>
                  </a:solidFill>
                  <a:effectLst/>
                  <a:latin typeface="Verdana" panose="020B0604030504040204" pitchFamily="34" charset="0"/>
                  <a:ea typeface="Verdana" panose="020B0604030504040204" pitchFamily="34" charset="0"/>
                  <a:cs typeface="Verdana" panose="020B0604030504040204" pitchFamily="34" charset="0"/>
                </a:rPr>
                <a:t>Speed</a:t>
              </a:r>
              <a:endParaRPr lang="en-IN" sz="1100">
                <a:solidFill>
                  <a:srgbClr val="000000"/>
                </a:solidFill>
                <a:effectLst/>
                <a:latin typeface="Calibri" panose="020F0502020204030204" pitchFamily="34" charset="0"/>
                <a:ea typeface="Calibri" panose="020F0502020204030204" pitchFamily="34" charset="0"/>
              </a:endParaRPr>
            </a:p>
          </p:txBody>
        </p:sp>
        <p:sp>
          <p:nvSpPr>
            <p:cNvPr id="16" name="Rectangle 15">
              <a:extLst>
                <a:ext uri="{FF2B5EF4-FFF2-40B4-BE49-F238E27FC236}">
                  <a16:creationId xmlns:a16="http://schemas.microsoft.com/office/drawing/2014/main" id="{8DFC6E0E-596E-4D1A-AC00-152FCAA7CCDC}"/>
                </a:ext>
              </a:extLst>
            </p:cNvPr>
            <p:cNvSpPr/>
            <p:nvPr/>
          </p:nvSpPr>
          <p:spPr>
            <a:xfrm>
              <a:off x="9556369" y="3855266"/>
              <a:ext cx="615373" cy="197546"/>
            </a:xfrm>
            <a:prstGeom prst="rect">
              <a:avLst/>
            </a:prstGeom>
            <a:ln>
              <a:noFill/>
            </a:ln>
          </p:spPr>
          <p:txBody>
            <a:bodyPr vert="horz" lIns="0" tIns="0" rIns="0" bIns="0" rtlCol="0">
              <a:noAutofit/>
            </a:bodyPr>
            <a:lstStyle/>
            <a:p>
              <a:pPr>
                <a:lnSpc>
                  <a:spcPct val="107000"/>
                </a:lnSpc>
                <a:spcAft>
                  <a:spcPts val="800"/>
                </a:spcAft>
              </a:pPr>
              <a:r>
                <a:rPr lang="en-IN" sz="1200" b="1">
                  <a:solidFill>
                    <a:srgbClr val="FF0000"/>
                  </a:solidFill>
                  <a:effectLst/>
                  <a:latin typeface="Verdana" panose="020B0604030504040204" pitchFamily="34" charset="0"/>
                  <a:ea typeface="Verdana" panose="020B0604030504040204" pitchFamily="34" charset="0"/>
                  <a:cs typeface="Verdana" panose="020B0604030504040204" pitchFamily="34" charset="0"/>
                </a:rPr>
                <a:t>value</a:t>
              </a:r>
              <a:endParaRPr lang="en-IN" sz="1100">
                <a:solidFill>
                  <a:srgbClr val="000000"/>
                </a:solidFill>
                <a:effectLst/>
                <a:latin typeface="Calibri" panose="020F0502020204030204" pitchFamily="34" charset="0"/>
                <a:ea typeface="Calibri" panose="020F0502020204030204" pitchFamily="34" charset="0"/>
              </a:endParaRPr>
            </a:p>
          </p:txBody>
        </p:sp>
        <p:sp>
          <p:nvSpPr>
            <p:cNvPr id="17" name="Rectangle 16">
              <a:extLst>
                <a:ext uri="{FF2B5EF4-FFF2-40B4-BE49-F238E27FC236}">
                  <a16:creationId xmlns:a16="http://schemas.microsoft.com/office/drawing/2014/main" id="{2125B2AF-8632-4D58-9A55-A8E8C054CB6D}"/>
                </a:ext>
              </a:extLst>
            </p:cNvPr>
            <p:cNvSpPr/>
            <p:nvPr/>
          </p:nvSpPr>
          <p:spPr>
            <a:xfrm>
              <a:off x="8859647" y="4038146"/>
              <a:ext cx="110062" cy="197546"/>
            </a:xfrm>
            <a:prstGeom prst="rect">
              <a:avLst/>
            </a:prstGeom>
            <a:ln>
              <a:noFill/>
            </a:ln>
          </p:spPr>
          <p:txBody>
            <a:bodyPr vert="horz" lIns="0" tIns="0" rIns="0" bIns="0" rtlCol="0">
              <a:noAutofit/>
            </a:bodyPr>
            <a:lstStyle/>
            <a:p>
              <a:pPr>
                <a:lnSpc>
                  <a:spcPct val="107000"/>
                </a:lnSpc>
                <a:spcAft>
                  <a:spcPts val="800"/>
                </a:spcAft>
              </a:pPr>
              <a:r>
                <a:rPr lang="en-IN" sz="1200" b="1">
                  <a:solidFill>
                    <a:srgbClr val="FF0000"/>
                  </a:solidFill>
                  <a:effectLst/>
                  <a:latin typeface="Verdana" panose="020B0604030504040204" pitchFamily="34" charset="0"/>
                  <a:ea typeface="Verdana" panose="020B0604030504040204" pitchFamily="34" charset="0"/>
                  <a:cs typeface="Verdana" panose="020B0604030504040204" pitchFamily="34" charset="0"/>
                </a:rPr>
                <a:t>(</a:t>
              </a:r>
              <a:endParaRPr lang="en-IN" sz="1100">
                <a:solidFill>
                  <a:srgbClr val="000000"/>
                </a:solidFill>
                <a:effectLst/>
                <a:latin typeface="Calibri" panose="020F0502020204030204" pitchFamily="34" charset="0"/>
                <a:ea typeface="Calibri" panose="020F0502020204030204" pitchFamily="34" charset="0"/>
              </a:endParaRPr>
            </a:p>
          </p:txBody>
        </p:sp>
        <p:sp>
          <p:nvSpPr>
            <p:cNvPr id="18" name="Rectangle 17">
              <a:extLst>
                <a:ext uri="{FF2B5EF4-FFF2-40B4-BE49-F238E27FC236}">
                  <a16:creationId xmlns:a16="http://schemas.microsoft.com/office/drawing/2014/main" id="{0AB1D4C7-F864-4CB0-B165-A4C7B7DAD219}"/>
                </a:ext>
              </a:extLst>
            </p:cNvPr>
            <p:cNvSpPr/>
            <p:nvPr/>
          </p:nvSpPr>
          <p:spPr>
            <a:xfrm>
              <a:off x="8941943" y="4038146"/>
              <a:ext cx="431937" cy="197546"/>
            </a:xfrm>
            <a:prstGeom prst="rect">
              <a:avLst/>
            </a:prstGeom>
            <a:ln>
              <a:noFill/>
            </a:ln>
          </p:spPr>
          <p:txBody>
            <a:bodyPr vert="horz" lIns="0" tIns="0" rIns="0" bIns="0" rtlCol="0">
              <a:noAutofit/>
            </a:bodyPr>
            <a:lstStyle/>
            <a:p>
              <a:pPr>
                <a:lnSpc>
                  <a:spcPct val="107000"/>
                </a:lnSpc>
                <a:spcAft>
                  <a:spcPts val="800"/>
                </a:spcAft>
              </a:pPr>
              <a:r>
                <a:rPr lang="en-IN" sz="1200" b="1" dirty="0">
                  <a:solidFill>
                    <a:srgbClr val="FF0000"/>
                  </a:solidFill>
                  <a:effectLst/>
                  <a:latin typeface="Verdana" panose="020B0604030504040204" pitchFamily="34" charset="0"/>
                  <a:ea typeface="Verdana" panose="020B0604030504040204" pitchFamily="34" charset="0"/>
                  <a:cs typeface="Verdana" panose="020B0604030504040204" pitchFamily="34" charset="0"/>
                </a:rPr>
                <a:t>105</a:t>
              </a:r>
              <a:endParaRPr lang="en-IN" sz="1100" dirty="0">
                <a:solidFill>
                  <a:srgbClr val="000000"/>
                </a:solidFill>
                <a:effectLst/>
                <a:latin typeface="Calibri" panose="020F0502020204030204" pitchFamily="34" charset="0"/>
                <a:ea typeface="Calibri" panose="020F0502020204030204" pitchFamily="34" charset="0"/>
              </a:endParaRPr>
            </a:p>
          </p:txBody>
        </p:sp>
        <p:sp>
          <p:nvSpPr>
            <p:cNvPr id="19" name="Rectangle 18">
              <a:extLst>
                <a:ext uri="{FF2B5EF4-FFF2-40B4-BE49-F238E27FC236}">
                  <a16:creationId xmlns:a16="http://schemas.microsoft.com/office/drawing/2014/main" id="{FD45B439-151F-44AA-8991-26DDDDC6C268}"/>
                </a:ext>
              </a:extLst>
            </p:cNvPr>
            <p:cNvSpPr/>
            <p:nvPr/>
          </p:nvSpPr>
          <p:spPr>
            <a:xfrm>
              <a:off x="9266810" y="4038146"/>
              <a:ext cx="110062" cy="197546"/>
            </a:xfrm>
            <a:prstGeom prst="rect">
              <a:avLst/>
            </a:prstGeom>
            <a:ln>
              <a:noFill/>
            </a:ln>
          </p:spPr>
          <p:txBody>
            <a:bodyPr vert="horz" lIns="0" tIns="0" rIns="0" bIns="0" rtlCol="0">
              <a:noAutofit/>
            </a:bodyPr>
            <a:lstStyle/>
            <a:p>
              <a:pPr>
                <a:lnSpc>
                  <a:spcPct val="107000"/>
                </a:lnSpc>
                <a:spcAft>
                  <a:spcPts val="800"/>
                </a:spcAft>
              </a:pPr>
              <a:r>
                <a:rPr lang="en-IN" sz="1200" b="1">
                  <a:solidFill>
                    <a:srgbClr val="FF0000"/>
                  </a:solidFill>
                  <a:effectLst/>
                  <a:latin typeface="Verdana" panose="020B0604030504040204" pitchFamily="34" charset="0"/>
                  <a:ea typeface="Verdana" panose="020B0604030504040204" pitchFamily="34" charset="0"/>
                  <a:cs typeface="Verdana" panose="020B0604030504040204" pitchFamily="34" charset="0"/>
                </a:rPr>
                <a:t>)</a:t>
              </a:r>
              <a:endParaRPr lang="en-IN" sz="1100">
                <a:solidFill>
                  <a:srgbClr val="000000"/>
                </a:solidFill>
                <a:effectLst/>
                <a:latin typeface="Calibri" panose="020F0502020204030204" pitchFamily="34" charset="0"/>
                <a:ea typeface="Calibri" panose="020F0502020204030204" pitchFamily="34" charset="0"/>
              </a:endParaRPr>
            </a:p>
          </p:txBody>
        </p:sp>
        <p:sp>
          <p:nvSpPr>
            <p:cNvPr id="20" name="Rectangle 19">
              <a:extLst>
                <a:ext uri="{FF2B5EF4-FFF2-40B4-BE49-F238E27FC236}">
                  <a16:creationId xmlns:a16="http://schemas.microsoft.com/office/drawing/2014/main" id="{95B2F314-C01F-4B98-9AAA-CAA025CBD3BF}"/>
                </a:ext>
              </a:extLst>
            </p:cNvPr>
            <p:cNvSpPr/>
            <p:nvPr/>
          </p:nvSpPr>
          <p:spPr>
            <a:xfrm>
              <a:off x="9541282" y="4023334"/>
              <a:ext cx="421397" cy="197546"/>
            </a:xfrm>
            <a:prstGeom prst="rect">
              <a:avLst/>
            </a:prstGeom>
            <a:ln>
              <a:noFill/>
            </a:ln>
          </p:spPr>
          <p:txBody>
            <a:bodyPr vert="horz" lIns="0" tIns="0" rIns="0" bIns="0" rtlCol="0">
              <a:noAutofit/>
            </a:bodyPr>
            <a:lstStyle/>
            <a:p>
              <a:pPr>
                <a:lnSpc>
                  <a:spcPct val="107000"/>
                </a:lnSpc>
                <a:spcAft>
                  <a:spcPts val="800"/>
                </a:spcAft>
              </a:pPr>
              <a:r>
                <a:rPr lang="en-IN" sz="1200" b="1" dirty="0">
                  <a:solidFill>
                    <a:srgbClr val="FF0000"/>
                  </a:solidFill>
                  <a:effectLst/>
                  <a:latin typeface="Verdana" panose="020B0604030504040204" pitchFamily="34" charset="0"/>
                  <a:ea typeface="Verdana" panose="020B0604030504040204" pitchFamily="34" charset="0"/>
                  <a:cs typeface="Verdana" panose="020B0604030504040204" pitchFamily="34" charset="0"/>
                </a:rPr>
                <a:t>and</a:t>
              </a:r>
              <a:endParaRPr lang="en-IN" sz="1100" dirty="0">
                <a:solidFill>
                  <a:srgbClr val="000000"/>
                </a:solidFill>
                <a:effectLst/>
                <a:latin typeface="Calibri" panose="020F0502020204030204" pitchFamily="34" charset="0"/>
                <a:ea typeface="Calibri" panose="020F0502020204030204" pitchFamily="34" charset="0"/>
              </a:endParaRPr>
            </a:p>
          </p:txBody>
        </p:sp>
        <p:sp>
          <p:nvSpPr>
            <p:cNvPr id="21" name="Rectangle 20">
              <a:extLst>
                <a:ext uri="{FF2B5EF4-FFF2-40B4-BE49-F238E27FC236}">
                  <a16:creationId xmlns:a16="http://schemas.microsoft.com/office/drawing/2014/main" id="{704F76A6-CCEA-4146-B632-84B490E2A1A8}"/>
                </a:ext>
              </a:extLst>
            </p:cNvPr>
            <p:cNvSpPr/>
            <p:nvPr/>
          </p:nvSpPr>
          <p:spPr>
            <a:xfrm>
              <a:off x="8859647" y="4221077"/>
              <a:ext cx="1103455" cy="197546"/>
            </a:xfrm>
            <a:prstGeom prst="rect">
              <a:avLst/>
            </a:prstGeom>
            <a:ln>
              <a:noFill/>
            </a:ln>
          </p:spPr>
          <p:txBody>
            <a:bodyPr vert="horz" lIns="0" tIns="0" rIns="0" bIns="0" rtlCol="0">
              <a:noAutofit/>
            </a:bodyPr>
            <a:lstStyle/>
            <a:p>
              <a:pPr>
                <a:lnSpc>
                  <a:spcPct val="107000"/>
                </a:lnSpc>
                <a:spcAft>
                  <a:spcPts val="800"/>
                </a:spcAft>
              </a:pPr>
              <a:r>
                <a:rPr lang="en-IN" sz="1200" b="1" dirty="0">
                  <a:solidFill>
                    <a:srgbClr val="FF0000"/>
                  </a:solidFill>
                  <a:effectLst/>
                  <a:latin typeface="Verdana" panose="020B0604030504040204" pitchFamily="34" charset="0"/>
                  <a:ea typeface="Verdana" panose="020B0604030504040204" pitchFamily="34" charset="0"/>
                  <a:cs typeface="Verdana" panose="020B0604030504040204" pitchFamily="34" charset="0"/>
                </a:rPr>
                <a:t>Slowpoke</a:t>
              </a:r>
              <a:endParaRPr lang="en-IN" sz="1100" dirty="0">
                <a:solidFill>
                  <a:srgbClr val="000000"/>
                </a:solidFill>
                <a:effectLst/>
                <a:latin typeface="Calibri" panose="020F0502020204030204" pitchFamily="34" charset="0"/>
                <a:ea typeface="Calibri" panose="020F0502020204030204" pitchFamily="34" charset="0"/>
              </a:endParaRPr>
            </a:p>
          </p:txBody>
        </p:sp>
        <p:sp>
          <p:nvSpPr>
            <p:cNvPr id="22" name="Rectangle 21">
              <a:extLst>
                <a:ext uri="{FF2B5EF4-FFF2-40B4-BE49-F238E27FC236}">
                  <a16:creationId xmlns:a16="http://schemas.microsoft.com/office/drawing/2014/main" id="{EE921BDE-A439-4292-8510-02E64210669E}"/>
                </a:ext>
              </a:extLst>
            </p:cNvPr>
            <p:cNvSpPr/>
            <p:nvPr/>
          </p:nvSpPr>
          <p:spPr>
            <a:xfrm>
              <a:off x="8859647" y="4403724"/>
              <a:ext cx="400101" cy="197941"/>
            </a:xfrm>
            <a:prstGeom prst="rect">
              <a:avLst/>
            </a:prstGeom>
            <a:ln>
              <a:noFill/>
            </a:ln>
          </p:spPr>
          <p:txBody>
            <a:bodyPr vert="horz" lIns="0" tIns="0" rIns="0" bIns="0" rtlCol="0">
              <a:noAutofit/>
            </a:bodyPr>
            <a:lstStyle/>
            <a:p>
              <a:pPr>
                <a:lnSpc>
                  <a:spcPct val="107000"/>
                </a:lnSpc>
                <a:spcAft>
                  <a:spcPts val="800"/>
                </a:spcAft>
              </a:pPr>
              <a:r>
                <a:rPr lang="en-IN" sz="1200" b="1">
                  <a:solidFill>
                    <a:srgbClr val="FF0000"/>
                  </a:solidFill>
                  <a:effectLst/>
                  <a:latin typeface="Verdana" panose="020B0604030504040204" pitchFamily="34" charset="0"/>
                  <a:ea typeface="Verdana" panose="020B0604030504040204" pitchFamily="34" charset="0"/>
                  <a:cs typeface="Verdana" panose="020B0604030504040204" pitchFamily="34" charset="0"/>
                </a:rPr>
                <a:t>has</a:t>
              </a:r>
              <a:endParaRPr lang="en-IN" sz="1100">
                <a:solidFill>
                  <a:srgbClr val="000000"/>
                </a:solidFill>
                <a:effectLst/>
                <a:latin typeface="Calibri" panose="020F0502020204030204" pitchFamily="34" charset="0"/>
                <a:ea typeface="Calibri" panose="020F0502020204030204" pitchFamily="34" charset="0"/>
              </a:endParaRPr>
            </a:p>
          </p:txBody>
        </p:sp>
        <p:sp>
          <p:nvSpPr>
            <p:cNvPr id="23" name="Rectangle 22">
              <a:extLst>
                <a:ext uri="{FF2B5EF4-FFF2-40B4-BE49-F238E27FC236}">
                  <a16:creationId xmlns:a16="http://schemas.microsoft.com/office/drawing/2014/main" id="{23C3C6A4-252F-4CBB-9F3F-A3A0CDD04C2D}"/>
                </a:ext>
              </a:extLst>
            </p:cNvPr>
            <p:cNvSpPr/>
            <p:nvPr/>
          </p:nvSpPr>
          <p:spPr>
            <a:xfrm>
              <a:off x="9324189" y="4418572"/>
              <a:ext cx="371871" cy="197941"/>
            </a:xfrm>
            <a:prstGeom prst="rect">
              <a:avLst/>
            </a:prstGeom>
            <a:ln>
              <a:noFill/>
            </a:ln>
          </p:spPr>
          <p:txBody>
            <a:bodyPr vert="horz" lIns="0" tIns="0" rIns="0" bIns="0" rtlCol="0">
              <a:noAutofit/>
            </a:bodyPr>
            <a:lstStyle/>
            <a:p>
              <a:pPr>
                <a:lnSpc>
                  <a:spcPct val="107000"/>
                </a:lnSpc>
                <a:spcAft>
                  <a:spcPts val="800"/>
                </a:spcAft>
              </a:pPr>
              <a:r>
                <a:rPr lang="en-IN" sz="1200" b="1" dirty="0">
                  <a:solidFill>
                    <a:srgbClr val="FF0000"/>
                  </a:solidFill>
                  <a:effectLst/>
                  <a:latin typeface="Verdana" panose="020B0604030504040204" pitchFamily="34" charset="0"/>
                  <a:ea typeface="Verdana" panose="020B0604030504040204" pitchFamily="34" charset="0"/>
                  <a:cs typeface="Verdana" panose="020B0604030504040204" pitchFamily="34" charset="0"/>
                </a:rPr>
                <a:t>the</a:t>
              </a:r>
              <a:endParaRPr lang="en-IN" sz="1100" dirty="0">
                <a:solidFill>
                  <a:srgbClr val="000000"/>
                </a:solidFill>
                <a:effectLst/>
                <a:latin typeface="Calibri" panose="020F0502020204030204" pitchFamily="34" charset="0"/>
                <a:ea typeface="Calibri" panose="020F0502020204030204" pitchFamily="34" charset="0"/>
              </a:endParaRPr>
            </a:p>
          </p:txBody>
        </p:sp>
        <p:sp>
          <p:nvSpPr>
            <p:cNvPr id="24" name="Rectangle 23">
              <a:extLst>
                <a:ext uri="{FF2B5EF4-FFF2-40B4-BE49-F238E27FC236}">
                  <a16:creationId xmlns:a16="http://schemas.microsoft.com/office/drawing/2014/main" id="{7757FFC1-AB2B-46AA-A16B-0DBD8D12C462}"/>
                </a:ext>
              </a:extLst>
            </p:cNvPr>
            <p:cNvSpPr/>
            <p:nvPr/>
          </p:nvSpPr>
          <p:spPr>
            <a:xfrm>
              <a:off x="8859647" y="4587142"/>
              <a:ext cx="753811" cy="197546"/>
            </a:xfrm>
            <a:prstGeom prst="rect">
              <a:avLst/>
            </a:prstGeom>
            <a:ln>
              <a:noFill/>
            </a:ln>
          </p:spPr>
          <p:txBody>
            <a:bodyPr vert="horz" lIns="0" tIns="0" rIns="0" bIns="0" rtlCol="0">
              <a:noAutofit/>
            </a:bodyPr>
            <a:lstStyle/>
            <a:p>
              <a:pPr>
                <a:lnSpc>
                  <a:spcPct val="107000"/>
                </a:lnSpc>
                <a:spcAft>
                  <a:spcPts val="800"/>
                </a:spcAft>
              </a:pPr>
              <a:r>
                <a:rPr lang="en-IN" sz="1200" b="1">
                  <a:solidFill>
                    <a:srgbClr val="FF0000"/>
                  </a:solidFill>
                  <a:effectLst/>
                  <a:latin typeface="Verdana" panose="020B0604030504040204" pitchFamily="34" charset="0"/>
                  <a:ea typeface="Verdana" panose="020B0604030504040204" pitchFamily="34" charset="0"/>
                  <a:cs typeface="Verdana" panose="020B0604030504040204" pitchFamily="34" charset="0"/>
                </a:rPr>
                <a:t>lowest</a:t>
              </a:r>
              <a:endParaRPr lang="en-IN" sz="1100">
                <a:solidFill>
                  <a:srgbClr val="000000"/>
                </a:solidFill>
                <a:effectLst/>
                <a:latin typeface="Calibri" panose="020F0502020204030204" pitchFamily="34" charset="0"/>
                <a:ea typeface="Calibri" panose="020F0502020204030204" pitchFamily="34" charset="0"/>
              </a:endParaRPr>
            </a:p>
          </p:txBody>
        </p:sp>
        <p:sp>
          <p:nvSpPr>
            <p:cNvPr id="25" name="Rectangle 24">
              <a:extLst>
                <a:ext uri="{FF2B5EF4-FFF2-40B4-BE49-F238E27FC236}">
                  <a16:creationId xmlns:a16="http://schemas.microsoft.com/office/drawing/2014/main" id="{208494B1-EBFB-429A-B8F0-6EAA73333755}"/>
                </a:ext>
              </a:extLst>
            </p:cNvPr>
            <p:cNvSpPr/>
            <p:nvPr/>
          </p:nvSpPr>
          <p:spPr>
            <a:xfrm>
              <a:off x="9495410" y="4587142"/>
              <a:ext cx="696855" cy="197546"/>
            </a:xfrm>
            <a:prstGeom prst="rect">
              <a:avLst/>
            </a:prstGeom>
            <a:ln>
              <a:noFill/>
            </a:ln>
          </p:spPr>
          <p:txBody>
            <a:bodyPr vert="horz" lIns="0" tIns="0" rIns="0" bIns="0" rtlCol="0">
              <a:noAutofit/>
            </a:bodyPr>
            <a:lstStyle/>
            <a:p>
              <a:pPr>
                <a:lnSpc>
                  <a:spcPct val="107000"/>
                </a:lnSpc>
                <a:spcAft>
                  <a:spcPts val="800"/>
                </a:spcAft>
              </a:pPr>
              <a:r>
                <a:rPr lang="en-IN" sz="1200" b="1">
                  <a:solidFill>
                    <a:srgbClr val="FF0000"/>
                  </a:solidFill>
                  <a:effectLst/>
                  <a:latin typeface="Verdana" panose="020B0604030504040204" pitchFamily="34" charset="0"/>
                  <a:ea typeface="Verdana" panose="020B0604030504040204" pitchFamily="34" charset="0"/>
                  <a:cs typeface="Verdana" panose="020B0604030504040204" pitchFamily="34" charset="0"/>
                </a:rPr>
                <a:t>Speed</a:t>
              </a:r>
              <a:endParaRPr lang="en-IN" sz="1100">
                <a:solidFill>
                  <a:srgbClr val="000000"/>
                </a:solidFill>
                <a:effectLst/>
                <a:latin typeface="Calibri" panose="020F0502020204030204" pitchFamily="34" charset="0"/>
                <a:ea typeface="Calibri" panose="020F0502020204030204" pitchFamily="34" charset="0"/>
              </a:endParaRPr>
            </a:p>
          </p:txBody>
        </p:sp>
        <p:sp>
          <p:nvSpPr>
            <p:cNvPr id="26" name="Rectangle 25">
              <a:extLst>
                <a:ext uri="{FF2B5EF4-FFF2-40B4-BE49-F238E27FC236}">
                  <a16:creationId xmlns:a16="http://schemas.microsoft.com/office/drawing/2014/main" id="{36AE7398-687E-47D5-8042-5FBD2807C90D}"/>
                </a:ext>
              </a:extLst>
            </p:cNvPr>
            <p:cNvSpPr/>
            <p:nvPr/>
          </p:nvSpPr>
          <p:spPr>
            <a:xfrm>
              <a:off x="8859647" y="4763926"/>
              <a:ext cx="615373" cy="197546"/>
            </a:xfrm>
            <a:prstGeom prst="rect">
              <a:avLst/>
            </a:prstGeom>
            <a:ln>
              <a:noFill/>
            </a:ln>
          </p:spPr>
          <p:txBody>
            <a:bodyPr vert="horz" lIns="0" tIns="0" rIns="0" bIns="0" rtlCol="0">
              <a:noAutofit/>
            </a:bodyPr>
            <a:lstStyle/>
            <a:p>
              <a:pPr>
                <a:lnSpc>
                  <a:spcPct val="107000"/>
                </a:lnSpc>
                <a:spcAft>
                  <a:spcPts val="800"/>
                </a:spcAft>
              </a:pPr>
              <a:r>
                <a:rPr lang="en-IN" sz="1200" b="1">
                  <a:solidFill>
                    <a:srgbClr val="FF0000"/>
                  </a:solidFill>
                  <a:effectLst/>
                  <a:latin typeface="Verdana" panose="020B0604030504040204" pitchFamily="34" charset="0"/>
                  <a:ea typeface="Verdana" panose="020B0604030504040204" pitchFamily="34" charset="0"/>
                  <a:cs typeface="Verdana" panose="020B0604030504040204" pitchFamily="34" charset="0"/>
                </a:rPr>
                <a:t>value</a:t>
              </a:r>
              <a:endParaRPr lang="en-IN" sz="1100">
                <a:solidFill>
                  <a:srgbClr val="000000"/>
                </a:solidFill>
                <a:effectLst/>
                <a:latin typeface="Calibri" panose="020F0502020204030204" pitchFamily="34" charset="0"/>
                <a:ea typeface="Calibri" panose="020F0502020204030204" pitchFamily="34" charset="0"/>
              </a:endParaRPr>
            </a:p>
          </p:txBody>
        </p:sp>
        <p:sp>
          <p:nvSpPr>
            <p:cNvPr id="27" name="Rectangle 26">
              <a:extLst>
                <a:ext uri="{FF2B5EF4-FFF2-40B4-BE49-F238E27FC236}">
                  <a16:creationId xmlns:a16="http://schemas.microsoft.com/office/drawing/2014/main" id="{2D1F68A0-7041-4B6F-BA71-066E3EEEED37}"/>
                </a:ext>
              </a:extLst>
            </p:cNvPr>
            <p:cNvSpPr/>
            <p:nvPr/>
          </p:nvSpPr>
          <p:spPr>
            <a:xfrm>
              <a:off x="9373488" y="4763926"/>
              <a:ext cx="110062" cy="197546"/>
            </a:xfrm>
            <a:prstGeom prst="rect">
              <a:avLst/>
            </a:prstGeom>
            <a:ln>
              <a:noFill/>
            </a:ln>
          </p:spPr>
          <p:txBody>
            <a:bodyPr vert="horz" lIns="0" tIns="0" rIns="0" bIns="0" rtlCol="0">
              <a:noAutofit/>
            </a:bodyPr>
            <a:lstStyle/>
            <a:p>
              <a:pPr>
                <a:lnSpc>
                  <a:spcPct val="107000"/>
                </a:lnSpc>
                <a:spcAft>
                  <a:spcPts val="800"/>
                </a:spcAft>
              </a:pPr>
              <a:r>
                <a:rPr lang="en-IN" sz="1200" b="1">
                  <a:solidFill>
                    <a:srgbClr val="FF0000"/>
                  </a:solidFill>
                  <a:effectLst/>
                  <a:latin typeface="Verdana" panose="020B0604030504040204" pitchFamily="34" charset="0"/>
                  <a:ea typeface="Verdana" panose="020B0604030504040204" pitchFamily="34" charset="0"/>
                  <a:cs typeface="Verdana" panose="020B0604030504040204" pitchFamily="34" charset="0"/>
                </a:rPr>
                <a:t>(</a:t>
              </a:r>
              <a:endParaRPr lang="en-IN" sz="1100">
                <a:solidFill>
                  <a:srgbClr val="000000"/>
                </a:solidFill>
                <a:effectLst/>
                <a:latin typeface="Calibri" panose="020F0502020204030204" pitchFamily="34" charset="0"/>
                <a:ea typeface="Calibri" panose="020F0502020204030204" pitchFamily="34" charset="0"/>
              </a:endParaRPr>
            </a:p>
          </p:txBody>
        </p:sp>
        <p:sp>
          <p:nvSpPr>
            <p:cNvPr id="28" name="Rectangle 27">
              <a:extLst>
                <a:ext uri="{FF2B5EF4-FFF2-40B4-BE49-F238E27FC236}">
                  <a16:creationId xmlns:a16="http://schemas.microsoft.com/office/drawing/2014/main" id="{2C58AA0D-46F7-4858-BA51-32F5CA9CC1AB}"/>
                </a:ext>
              </a:extLst>
            </p:cNvPr>
            <p:cNvSpPr/>
            <p:nvPr/>
          </p:nvSpPr>
          <p:spPr>
            <a:xfrm>
              <a:off x="9455786" y="4763926"/>
              <a:ext cx="288025" cy="197546"/>
            </a:xfrm>
            <a:prstGeom prst="rect">
              <a:avLst/>
            </a:prstGeom>
            <a:ln>
              <a:noFill/>
            </a:ln>
          </p:spPr>
          <p:txBody>
            <a:bodyPr vert="horz" lIns="0" tIns="0" rIns="0" bIns="0" rtlCol="0">
              <a:noAutofit/>
            </a:bodyPr>
            <a:lstStyle/>
            <a:p>
              <a:pPr>
                <a:lnSpc>
                  <a:spcPct val="107000"/>
                </a:lnSpc>
                <a:spcAft>
                  <a:spcPts val="800"/>
                </a:spcAft>
              </a:pPr>
              <a:r>
                <a:rPr lang="en-IN" sz="1200" b="1">
                  <a:solidFill>
                    <a:srgbClr val="FF0000"/>
                  </a:solidFill>
                  <a:effectLst/>
                  <a:latin typeface="Verdana" panose="020B0604030504040204" pitchFamily="34" charset="0"/>
                  <a:ea typeface="Verdana" panose="020B0604030504040204" pitchFamily="34" charset="0"/>
                  <a:cs typeface="Verdana" panose="020B0604030504040204" pitchFamily="34" charset="0"/>
                </a:rPr>
                <a:t>15</a:t>
              </a:r>
              <a:endParaRPr lang="en-IN" sz="1100">
                <a:solidFill>
                  <a:srgbClr val="000000"/>
                </a:solidFill>
                <a:effectLst/>
                <a:latin typeface="Calibri" panose="020F0502020204030204" pitchFamily="34" charset="0"/>
                <a:ea typeface="Calibri" panose="020F0502020204030204" pitchFamily="34" charset="0"/>
              </a:endParaRPr>
            </a:p>
          </p:txBody>
        </p:sp>
        <p:sp>
          <p:nvSpPr>
            <p:cNvPr id="29" name="Rectangle 28">
              <a:extLst>
                <a:ext uri="{FF2B5EF4-FFF2-40B4-BE49-F238E27FC236}">
                  <a16:creationId xmlns:a16="http://schemas.microsoft.com/office/drawing/2014/main" id="{815F4EE0-FA20-4061-8397-12F9F4307A28}"/>
                </a:ext>
              </a:extLst>
            </p:cNvPr>
            <p:cNvSpPr/>
            <p:nvPr/>
          </p:nvSpPr>
          <p:spPr>
            <a:xfrm>
              <a:off x="9672193" y="4763926"/>
              <a:ext cx="110062" cy="197546"/>
            </a:xfrm>
            <a:prstGeom prst="rect">
              <a:avLst/>
            </a:prstGeom>
            <a:ln>
              <a:noFill/>
            </a:ln>
          </p:spPr>
          <p:txBody>
            <a:bodyPr vert="horz" lIns="0" tIns="0" rIns="0" bIns="0" rtlCol="0">
              <a:noAutofit/>
            </a:bodyPr>
            <a:lstStyle/>
            <a:p>
              <a:pPr>
                <a:lnSpc>
                  <a:spcPct val="107000"/>
                </a:lnSpc>
                <a:spcAft>
                  <a:spcPts val="800"/>
                </a:spcAft>
              </a:pPr>
              <a:r>
                <a:rPr lang="en-IN" sz="1200" b="1">
                  <a:solidFill>
                    <a:srgbClr val="FF0000"/>
                  </a:solidFill>
                  <a:effectLst/>
                  <a:latin typeface="Verdana" panose="020B0604030504040204" pitchFamily="34" charset="0"/>
                  <a:ea typeface="Verdana" panose="020B0604030504040204" pitchFamily="34" charset="0"/>
                  <a:cs typeface="Verdana" panose="020B0604030504040204" pitchFamily="34" charset="0"/>
                </a:rPr>
                <a:t>)</a:t>
              </a:r>
              <a:endParaRPr lang="en-IN" sz="1100">
                <a:solidFill>
                  <a:srgbClr val="000000"/>
                </a:solidFill>
                <a:effectLst/>
                <a:latin typeface="Calibri" panose="020F0502020204030204" pitchFamily="34" charset="0"/>
                <a:ea typeface="Calibri" panose="020F0502020204030204" pitchFamily="34" charset="0"/>
              </a:endParaRPr>
            </a:p>
          </p:txBody>
        </p:sp>
        <p:sp>
          <p:nvSpPr>
            <p:cNvPr id="30" name="Rectangle 29">
              <a:extLst>
                <a:ext uri="{FF2B5EF4-FFF2-40B4-BE49-F238E27FC236}">
                  <a16:creationId xmlns:a16="http://schemas.microsoft.com/office/drawing/2014/main" id="{CB24F2C5-13AC-4B0B-ACF3-7A3F506F2950}"/>
                </a:ext>
              </a:extLst>
            </p:cNvPr>
            <p:cNvSpPr/>
            <p:nvPr/>
          </p:nvSpPr>
          <p:spPr>
            <a:xfrm>
              <a:off x="9754488" y="4763926"/>
              <a:ext cx="73171" cy="197546"/>
            </a:xfrm>
            <a:prstGeom prst="rect">
              <a:avLst/>
            </a:prstGeom>
            <a:ln>
              <a:noFill/>
            </a:ln>
          </p:spPr>
          <p:txBody>
            <a:bodyPr vert="horz" lIns="0" tIns="0" rIns="0" bIns="0" rtlCol="0">
              <a:noAutofit/>
            </a:bodyPr>
            <a:lstStyle/>
            <a:p>
              <a:pPr>
                <a:lnSpc>
                  <a:spcPct val="107000"/>
                </a:lnSpc>
                <a:spcAft>
                  <a:spcPts val="800"/>
                </a:spcAft>
              </a:pPr>
              <a:r>
                <a:rPr lang="en-IN" sz="1200" b="1">
                  <a:solidFill>
                    <a:srgbClr val="FF0000"/>
                  </a:solidFill>
                  <a:effectLst/>
                  <a:latin typeface="Verdana" panose="020B0604030504040204" pitchFamily="34" charset="0"/>
                  <a:ea typeface="Verdana" panose="020B0604030504040204" pitchFamily="34" charset="0"/>
                  <a:cs typeface="Verdana" panose="020B0604030504040204" pitchFamily="34" charset="0"/>
                </a:rPr>
                <a:t>.</a:t>
              </a:r>
              <a:endParaRPr lang="en-IN" sz="1100">
                <a:solidFill>
                  <a:srgbClr val="000000"/>
                </a:solidFill>
                <a:effectLst/>
                <a:latin typeface="Calibri" panose="020F0502020204030204" pitchFamily="34" charset="0"/>
                <a:ea typeface="Calibri" panose="020F0502020204030204" pitchFamily="34" charset="0"/>
              </a:endParaRPr>
            </a:p>
          </p:txBody>
        </p:sp>
        <p:pic>
          <p:nvPicPr>
            <p:cNvPr id="31" name="Picture 30">
              <a:extLst>
                <a:ext uri="{FF2B5EF4-FFF2-40B4-BE49-F238E27FC236}">
                  <a16:creationId xmlns:a16="http://schemas.microsoft.com/office/drawing/2014/main" id="{B227FCB4-E803-4E09-8EAC-16FAB803D2D1}"/>
                </a:ext>
              </a:extLst>
            </p:cNvPr>
            <p:cNvPicPr/>
            <p:nvPr/>
          </p:nvPicPr>
          <p:blipFill>
            <a:blip r:embed="rId5"/>
            <a:stretch>
              <a:fillRect/>
            </a:stretch>
          </p:blipFill>
          <p:spPr>
            <a:xfrm>
              <a:off x="0" y="3191255"/>
              <a:ext cx="4762500" cy="2205228"/>
            </a:xfrm>
            <a:prstGeom prst="rect">
              <a:avLst/>
            </a:prstGeom>
          </p:spPr>
        </p:pic>
      </p:grpSp>
    </p:spTree>
    <p:extLst>
      <p:ext uri="{BB962C8B-B14F-4D97-AF65-F5344CB8AC3E}">
        <p14:creationId xmlns:p14="http://schemas.microsoft.com/office/powerpoint/2010/main" val="39978642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F2BCD-B0D8-4452-9AEE-494B9EF63982}"/>
              </a:ext>
            </a:extLst>
          </p:cNvPr>
          <p:cNvSpPr>
            <a:spLocks noGrp="1"/>
          </p:cNvSpPr>
          <p:nvPr>
            <p:ph type="title"/>
          </p:nvPr>
        </p:nvSpPr>
        <p:spPr/>
        <p:txBody>
          <a:bodyPr/>
          <a:lstStyle/>
          <a:p>
            <a:r>
              <a:rPr lang="en-IN" b="1" dirty="0"/>
              <a:t>Sorting and Filtering</a:t>
            </a:r>
          </a:p>
        </p:txBody>
      </p:sp>
      <p:sp>
        <p:nvSpPr>
          <p:cNvPr id="3" name="Content Placeholder 2">
            <a:extLst>
              <a:ext uri="{FF2B5EF4-FFF2-40B4-BE49-F238E27FC236}">
                <a16:creationId xmlns:a16="http://schemas.microsoft.com/office/drawing/2014/main" id="{1DB28B66-3A11-40DD-8150-E7DA0FE42976}"/>
              </a:ext>
            </a:extLst>
          </p:cNvPr>
          <p:cNvSpPr>
            <a:spLocks noGrp="1"/>
          </p:cNvSpPr>
          <p:nvPr>
            <p:ph idx="1"/>
          </p:nvPr>
        </p:nvSpPr>
        <p:spPr/>
        <p:txBody>
          <a:bodyPr>
            <a:normAutofit/>
          </a:bodyPr>
          <a:lstStyle/>
          <a:p>
            <a:pPr algn="just"/>
            <a:r>
              <a:rPr lang="en-US" sz="2400" dirty="0"/>
              <a:t>Sorting data is an integral part of data analysis. You might want to arrange a list of names in alphabetical order, compile a list of product inventory levels from highest to lowest, or order rows by colors or icons.</a:t>
            </a:r>
          </a:p>
          <a:p>
            <a:pPr algn="just"/>
            <a:r>
              <a:rPr lang="en-US" sz="2400" dirty="0"/>
              <a:t>Sorting data helps you quickly visualize and understand your data better, organize and find the data that you want, and ultimately make more effective decisions.</a:t>
            </a:r>
          </a:p>
          <a:p>
            <a:pPr algn="just"/>
            <a:r>
              <a:rPr lang="en-US" sz="2400" dirty="0"/>
              <a:t>The sorting tool allows you to sort by date, number, alphabetic order and more.</a:t>
            </a:r>
          </a:p>
          <a:p>
            <a:pPr algn="just"/>
            <a:r>
              <a:rPr lang="en-US" sz="2400" dirty="0"/>
              <a:t>The filter tool gives you the ability to filter a column of data within a table to isolate the key components you need.</a:t>
            </a:r>
          </a:p>
          <a:p>
            <a:pPr algn="just"/>
            <a:r>
              <a:rPr lang="en-US" sz="2400" dirty="0"/>
              <a:t>The filter feature applies a drop down menu to each column heading, allowing you to select specific choices to narrow a table.</a:t>
            </a:r>
            <a:endParaRPr lang="en-IN" sz="2400" dirty="0"/>
          </a:p>
        </p:txBody>
      </p:sp>
    </p:spTree>
    <p:extLst>
      <p:ext uri="{BB962C8B-B14F-4D97-AF65-F5344CB8AC3E}">
        <p14:creationId xmlns:p14="http://schemas.microsoft.com/office/powerpoint/2010/main" val="138903990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11FB4-D1B6-4237-A9B7-EE79DCB17036}"/>
              </a:ext>
            </a:extLst>
          </p:cNvPr>
          <p:cNvSpPr>
            <a:spLocks noGrp="1"/>
          </p:cNvSpPr>
          <p:nvPr>
            <p:ph type="title"/>
          </p:nvPr>
        </p:nvSpPr>
        <p:spPr>
          <a:xfrm>
            <a:off x="838200" y="18255"/>
            <a:ext cx="10515600" cy="1325563"/>
          </a:xfrm>
        </p:spPr>
        <p:txBody>
          <a:bodyPr/>
          <a:lstStyle/>
          <a:p>
            <a:r>
              <a:rPr lang="en-US" b="1" dirty="0"/>
              <a:t>Sorting and Filtering Data With Excel</a:t>
            </a:r>
            <a:endParaRPr lang="en-IN" b="1" dirty="0"/>
          </a:p>
        </p:txBody>
      </p:sp>
      <p:pic>
        <p:nvPicPr>
          <p:cNvPr id="4" name="Content Placeholder 3">
            <a:extLst>
              <a:ext uri="{FF2B5EF4-FFF2-40B4-BE49-F238E27FC236}">
                <a16:creationId xmlns:a16="http://schemas.microsoft.com/office/drawing/2014/main" id="{0D408D90-E848-47BE-BDC8-EE7B7D226177}"/>
              </a:ext>
            </a:extLst>
          </p:cNvPr>
          <p:cNvPicPr>
            <a:picLocks noGrp="1"/>
          </p:cNvPicPr>
          <p:nvPr>
            <p:ph idx="1"/>
          </p:nvPr>
        </p:nvPicPr>
        <p:blipFill>
          <a:blip r:embed="rId2"/>
          <a:stretch>
            <a:fillRect/>
          </a:stretch>
        </p:blipFill>
        <p:spPr>
          <a:xfrm>
            <a:off x="838200" y="1152940"/>
            <a:ext cx="10515600" cy="5234608"/>
          </a:xfrm>
          <a:prstGeom prst="rect">
            <a:avLst/>
          </a:prstGeom>
        </p:spPr>
      </p:pic>
    </p:spTree>
    <p:extLst>
      <p:ext uri="{BB962C8B-B14F-4D97-AF65-F5344CB8AC3E}">
        <p14:creationId xmlns:p14="http://schemas.microsoft.com/office/powerpoint/2010/main" val="306560064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716EA-69D7-4BD7-AB5D-EF55A958685D}"/>
              </a:ext>
            </a:extLst>
          </p:cNvPr>
          <p:cNvSpPr>
            <a:spLocks noGrp="1"/>
          </p:cNvSpPr>
          <p:nvPr>
            <p:ph type="title"/>
          </p:nvPr>
        </p:nvSpPr>
        <p:spPr>
          <a:xfrm>
            <a:off x="838200" y="113334"/>
            <a:ext cx="10515600" cy="1325563"/>
          </a:xfrm>
        </p:spPr>
        <p:txBody>
          <a:bodyPr/>
          <a:lstStyle/>
          <a:p>
            <a:r>
              <a:rPr lang="en-IN" b="1" dirty="0"/>
              <a:t>Sorting with levels</a:t>
            </a:r>
          </a:p>
        </p:txBody>
      </p:sp>
      <p:pic>
        <p:nvPicPr>
          <p:cNvPr id="4" name="Content Placeholder 3">
            <a:extLst>
              <a:ext uri="{FF2B5EF4-FFF2-40B4-BE49-F238E27FC236}">
                <a16:creationId xmlns:a16="http://schemas.microsoft.com/office/drawing/2014/main" id="{47C351BF-A954-4BC7-B48A-7E0671D9D7A3}"/>
              </a:ext>
            </a:extLst>
          </p:cNvPr>
          <p:cNvPicPr>
            <a:picLocks noGrp="1"/>
          </p:cNvPicPr>
          <p:nvPr>
            <p:ph idx="1"/>
          </p:nvPr>
        </p:nvPicPr>
        <p:blipFill>
          <a:blip r:embed="rId2"/>
          <a:stretch>
            <a:fillRect/>
          </a:stretch>
        </p:blipFill>
        <p:spPr>
          <a:xfrm>
            <a:off x="838200" y="1285461"/>
            <a:ext cx="10515600" cy="5049078"/>
          </a:xfrm>
          <a:prstGeom prst="rect">
            <a:avLst/>
          </a:prstGeom>
        </p:spPr>
      </p:pic>
    </p:spTree>
    <p:extLst>
      <p:ext uri="{BB962C8B-B14F-4D97-AF65-F5344CB8AC3E}">
        <p14:creationId xmlns:p14="http://schemas.microsoft.com/office/powerpoint/2010/main" val="97221109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7F10E-07E8-4634-A634-E02A2FA279B5}"/>
              </a:ext>
            </a:extLst>
          </p:cNvPr>
          <p:cNvSpPr>
            <a:spLocks noGrp="1"/>
          </p:cNvSpPr>
          <p:nvPr>
            <p:ph type="title"/>
          </p:nvPr>
        </p:nvSpPr>
        <p:spPr/>
        <p:txBody>
          <a:bodyPr/>
          <a:lstStyle/>
          <a:p>
            <a:r>
              <a:rPr lang="en-IN" b="1" dirty="0"/>
              <a:t>Subtotals with Ranges</a:t>
            </a:r>
          </a:p>
        </p:txBody>
      </p:sp>
      <p:sp>
        <p:nvSpPr>
          <p:cNvPr id="3" name="Content Placeholder 2">
            <a:extLst>
              <a:ext uri="{FF2B5EF4-FFF2-40B4-BE49-F238E27FC236}">
                <a16:creationId xmlns:a16="http://schemas.microsoft.com/office/drawing/2014/main" id="{C09D6A1F-0FCB-4342-98EC-B1A624C85529}"/>
              </a:ext>
            </a:extLst>
          </p:cNvPr>
          <p:cNvSpPr>
            <a:spLocks noGrp="1"/>
          </p:cNvSpPr>
          <p:nvPr>
            <p:ph idx="1"/>
          </p:nvPr>
        </p:nvSpPr>
        <p:spPr/>
        <p:txBody>
          <a:bodyPr>
            <a:normAutofit/>
          </a:bodyPr>
          <a:lstStyle/>
          <a:p>
            <a:pPr algn="just"/>
            <a:r>
              <a:rPr lang="en-US" sz="2400" dirty="0"/>
              <a:t>If you have a list of data that you want to group and summarize, you can use Excel </a:t>
            </a:r>
            <a:r>
              <a:rPr lang="en-US" sz="2400" b="1" dirty="0"/>
              <a:t>Subtotal</a:t>
            </a:r>
            <a:r>
              <a:rPr lang="en-US" sz="2400" dirty="0"/>
              <a:t> and </a:t>
            </a:r>
            <a:r>
              <a:rPr lang="en-US" sz="2400" b="1" dirty="0"/>
              <a:t>Outline</a:t>
            </a:r>
            <a:r>
              <a:rPr lang="en-US" sz="2400" dirty="0"/>
              <a:t> to display summary rows or columns.</a:t>
            </a:r>
          </a:p>
          <a:p>
            <a:pPr algn="just"/>
            <a:r>
              <a:rPr lang="en-US" sz="2400" dirty="0"/>
              <a:t>You can create an </a:t>
            </a:r>
            <a:r>
              <a:rPr lang="en-US" sz="2400" b="1" dirty="0"/>
              <a:t>Outline</a:t>
            </a:r>
            <a:r>
              <a:rPr lang="en-US" sz="2400" dirty="0"/>
              <a:t> of up to eight levels, one for each group. Outer Levels are represented by Lower Numbers and Inner Levels by Higher Numbers. Each inner level displays detailed data for the preceding outer level.</a:t>
            </a:r>
          </a:p>
          <a:p>
            <a:pPr algn="just"/>
            <a:r>
              <a:rPr lang="en-US" sz="2400" dirty="0"/>
              <a:t>Subtotal and Outline is the quickest way to analyze a range of data. Note that Subtotal and Outline can be used only on a range and not on a table. Data sorting is essential.</a:t>
            </a:r>
            <a:endParaRPr lang="en-IN" sz="2400" dirty="0"/>
          </a:p>
        </p:txBody>
      </p:sp>
    </p:spTree>
    <p:extLst>
      <p:ext uri="{BB962C8B-B14F-4D97-AF65-F5344CB8AC3E}">
        <p14:creationId xmlns:p14="http://schemas.microsoft.com/office/powerpoint/2010/main" val="86229313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0586353-F324-4205-8C6B-5BE414AD87F0}"/>
              </a:ext>
            </a:extLst>
          </p:cNvPr>
          <p:cNvPicPr>
            <a:picLocks noGrp="1"/>
          </p:cNvPicPr>
          <p:nvPr>
            <p:ph idx="1"/>
          </p:nvPr>
        </p:nvPicPr>
        <p:blipFill>
          <a:blip r:embed="rId2"/>
          <a:stretch>
            <a:fillRect/>
          </a:stretch>
        </p:blipFill>
        <p:spPr>
          <a:xfrm>
            <a:off x="742122" y="556591"/>
            <a:ext cx="10959548" cy="5897217"/>
          </a:xfrm>
          <a:prstGeom prst="rect">
            <a:avLst/>
          </a:prstGeom>
        </p:spPr>
      </p:pic>
    </p:spTree>
    <p:extLst>
      <p:ext uri="{BB962C8B-B14F-4D97-AF65-F5344CB8AC3E}">
        <p14:creationId xmlns:p14="http://schemas.microsoft.com/office/powerpoint/2010/main" val="20276469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D67D08-27DE-4E7E-9829-0450471D61C6}"/>
              </a:ext>
            </a:extLst>
          </p:cNvPr>
          <p:cNvSpPr>
            <a:spLocks noGrp="1"/>
          </p:cNvSpPr>
          <p:nvPr>
            <p:ph idx="1"/>
          </p:nvPr>
        </p:nvSpPr>
        <p:spPr>
          <a:xfrm>
            <a:off x="838200" y="596348"/>
            <a:ext cx="10515600" cy="5580615"/>
          </a:xfrm>
        </p:spPr>
        <p:txBody>
          <a:bodyPr>
            <a:normAutofit/>
          </a:bodyPr>
          <a:lstStyle/>
          <a:p>
            <a:pPr marL="0" indent="0" algn="just">
              <a:buNone/>
            </a:pPr>
            <a:r>
              <a:rPr lang="en-US" sz="2400" dirty="0"/>
              <a:t>The data is grouped with three levels and the subtotals are calculated location wise.</a:t>
            </a:r>
          </a:p>
          <a:p>
            <a:pPr marL="0" indent="0" algn="just">
              <a:buNone/>
            </a:pPr>
            <a:endParaRPr lang="en-IN" sz="2400" dirty="0"/>
          </a:p>
        </p:txBody>
      </p:sp>
      <p:grpSp>
        <p:nvGrpSpPr>
          <p:cNvPr id="4" name="Group 3">
            <a:extLst>
              <a:ext uri="{FF2B5EF4-FFF2-40B4-BE49-F238E27FC236}">
                <a16:creationId xmlns:a16="http://schemas.microsoft.com/office/drawing/2014/main" id="{2B55FA1E-62C8-4879-AB06-A079AB89D2ED}"/>
              </a:ext>
            </a:extLst>
          </p:cNvPr>
          <p:cNvGrpSpPr/>
          <p:nvPr/>
        </p:nvGrpSpPr>
        <p:grpSpPr>
          <a:xfrm>
            <a:off x="838200" y="1470990"/>
            <a:ext cx="10515600" cy="5115341"/>
            <a:chOff x="0" y="0"/>
            <a:chExt cx="11573257" cy="5184648"/>
          </a:xfrm>
        </p:grpSpPr>
        <p:pic>
          <p:nvPicPr>
            <p:cNvPr id="5" name="Picture 4">
              <a:extLst>
                <a:ext uri="{FF2B5EF4-FFF2-40B4-BE49-F238E27FC236}">
                  <a16:creationId xmlns:a16="http://schemas.microsoft.com/office/drawing/2014/main" id="{54A940FF-48BE-4E94-B7B6-B5C214A641F9}"/>
                </a:ext>
              </a:extLst>
            </p:cNvPr>
            <p:cNvPicPr/>
            <p:nvPr/>
          </p:nvPicPr>
          <p:blipFill>
            <a:blip r:embed="rId2"/>
            <a:stretch>
              <a:fillRect/>
            </a:stretch>
          </p:blipFill>
          <p:spPr>
            <a:xfrm>
              <a:off x="0" y="0"/>
              <a:ext cx="5724145" cy="5184648"/>
            </a:xfrm>
            <a:prstGeom prst="rect">
              <a:avLst/>
            </a:prstGeom>
          </p:spPr>
        </p:pic>
        <p:pic>
          <p:nvPicPr>
            <p:cNvPr id="6" name="Picture 5">
              <a:extLst>
                <a:ext uri="{FF2B5EF4-FFF2-40B4-BE49-F238E27FC236}">
                  <a16:creationId xmlns:a16="http://schemas.microsoft.com/office/drawing/2014/main" id="{E948D7B0-2757-46B4-B26A-6C5F4822CF34}"/>
                </a:ext>
              </a:extLst>
            </p:cNvPr>
            <p:cNvPicPr/>
            <p:nvPr/>
          </p:nvPicPr>
          <p:blipFill>
            <a:blip r:embed="rId3"/>
            <a:stretch>
              <a:fillRect/>
            </a:stretch>
          </p:blipFill>
          <p:spPr>
            <a:xfrm>
              <a:off x="5858257" y="1234440"/>
              <a:ext cx="5715000" cy="1656588"/>
            </a:xfrm>
            <a:prstGeom prst="rect">
              <a:avLst/>
            </a:prstGeom>
          </p:spPr>
        </p:pic>
        <p:pic>
          <p:nvPicPr>
            <p:cNvPr id="7" name="Picture 6">
              <a:extLst>
                <a:ext uri="{FF2B5EF4-FFF2-40B4-BE49-F238E27FC236}">
                  <a16:creationId xmlns:a16="http://schemas.microsoft.com/office/drawing/2014/main" id="{4F16CC15-3D14-41E7-A812-5B6311D95D98}"/>
                </a:ext>
              </a:extLst>
            </p:cNvPr>
            <p:cNvPicPr/>
            <p:nvPr/>
          </p:nvPicPr>
          <p:blipFill>
            <a:blip r:embed="rId4"/>
            <a:stretch>
              <a:fillRect/>
            </a:stretch>
          </p:blipFill>
          <p:spPr>
            <a:xfrm>
              <a:off x="5858257" y="57912"/>
              <a:ext cx="5715000" cy="941832"/>
            </a:xfrm>
            <a:prstGeom prst="rect">
              <a:avLst/>
            </a:prstGeom>
          </p:spPr>
        </p:pic>
      </p:grpSp>
    </p:spTree>
    <p:extLst>
      <p:ext uri="{BB962C8B-B14F-4D97-AF65-F5344CB8AC3E}">
        <p14:creationId xmlns:p14="http://schemas.microsoft.com/office/powerpoint/2010/main" val="406135347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E0F0CDD-E95C-46CF-BD04-4BD596DF437C}"/>
              </a:ext>
            </a:extLst>
          </p:cNvPr>
          <p:cNvSpPr>
            <a:spLocks noGrp="1"/>
          </p:cNvSpPr>
          <p:nvPr>
            <p:ph type="title"/>
          </p:nvPr>
        </p:nvSpPr>
        <p:spPr>
          <a:xfrm>
            <a:off x="838200" y="2766218"/>
            <a:ext cx="10515600" cy="1325563"/>
          </a:xfrm>
        </p:spPr>
        <p:txBody>
          <a:bodyPr>
            <a:normAutofit/>
          </a:bodyPr>
          <a:lstStyle/>
          <a:p>
            <a:pPr algn="ctr"/>
            <a:r>
              <a:rPr lang="en-US" sz="6000" b="1" dirty="0"/>
              <a:t>THANK YOU</a:t>
            </a:r>
            <a:endParaRPr lang="en-IN" sz="6000" b="1" dirty="0"/>
          </a:p>
        </p:txBody>
      </p:sp>
    </p:spTree>
    <p:extLst>
      <p:ext uri="{BB962C8B-B14F-4D97-AF65-F5344CB8AC3E}">
        <p14:creationId xmlns:p14="http://schemas.microsoft.com/office/powerpoint/2010/main" val="5243987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21527</TotalTime>
  <Words>8262</Words>
  <Application>Microsoft Office PowerPoint</Application>
  <PresentationFormat>Widescreen</PresentationFormat>
  <Paragraphs>889</Paragraphs>
  <Slides>83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83</vt:i4>
      </vt:variant>
    </vt:vector>
  </HeadingPairs>
  <TitlesOfParts>
    <vt:vector size="92" baseType="lpstr">
      <vt:lpstr>Arial</vt:lpstr>
      <vt:lpstr>Arial Unicode MS</vt:lpstr>
      <vt:lpstr>Calibri</vt:lpstr>
      <vt:lpstr>Calibri Light</vt:lpstr>
      <vt:lpstr>Courier New</vt:lpstr>
      <vt:lpstr>Times New Roman</vt:lpstr>
      <vt:lpstr>Verdana</vt:lpstr>
      <vt:lpstr>Wingdings</vt:lpstr>
      <vt:lpstr>Office Theme</vt:lpstr>
      <vt:lpstr>INTRODUCTION TO DATA ANALYSIS USING EXCEL  UNIT - I </vt:lpstr>
      <vt:lpstr>Data Analysis</vt:lpstr>
      <vt:lpstr>Comparison: Data Analysis vs Data Science</vt:lpstr>
      <vt:lpstr>Types of Data Analysis</vt:lpstr>
      <vt:lpstr>Data Mining</vt:lpstr>
      <vt:lpstr>PowerPoint Presentation</vt:lpstr>
      <vt:lpstr>Business Intelligence</vt:lpstr>
      <vt:lpstr>PowerPoint Presentation</vt:lpstr>
      <vt:lpstr>Statistical Analysis</vt:lpstr>
      <vt:lpstr>Predictive Analytics </vt:lpstr>
      <vt:lpstr>Text Analytics</vt:lpstr>
      <vt:lpstr>Data Analysis Process</vt:lpstr>
      <vt:lpstr>Specification of Data Requirements</vt:lpstr>
      <vt:lpstr>Data Gathering</vt:lpstr>
      <vt:lpstr>Data Processing and Data Cleaning</vt:lpstr>
      <vt:lpstr>Data Analysis</vt:lpstr>
      <vt:lpstr>Data Communication</vt:lpstr>
      <vt:lpstr>Data Analysis with Excel </vt:lpstr>
      <vt:lpstr>PowerPoint Presentation</vt:lpstr>
      <vt:lpstr>Spreadsheet Terms</vt:lpstr>
      <vt:lpstr>Ribbons</vt:lpstr>
      <vt:lpstr>PowerPoint Presentation</vt:lpstr>
      <vt:lpstr>Rename a Worksheet</vt:lpstr>
      <vt:lpstr>Insert a New Worksheet</vt:lpstr>
      <vt:lpstr>Delete a Worksheet</vt:lpstr>
      <vt:lpstr> Copy/Move Worksheet </vt:lpstr>
      <vt:lpstr> CHANGING WORKSHEET TAB COLOURS </vt:lpstr>
      <vt:lpstr>Range</vt:lpstr>
      <vt:lpstr>PowerPoint Presentation</vt:lpstr>
      <vt:lpstr>PowerPoint Presentation</vt:lpstr>
      <vt:lpstr>RANGE NAMES</vt:lpstr>
      <vt:lpstr>PowerPoint Presentation</vt:lpstr>
      <vt:lpstr>RANGE NAMES (Another Approach)</vt:lpstr>
      <vt:lpstr>PowerPoint Presentation</vt:lpstr>
      <vt:lpstr>Freeze Panes</vt:lpstr>
      <vt:lpstr>Table</vt:lpstr>
      <vt:lpstr>Difference between Tables and Ranges</vt:lpstr>
      <vt:lpstr>PowerPoint Presentation</vt:lpstr>
      <vt:lpstr>Formatting Tables with the Quick Analysis Tool</vt:lpstr>
      <vt:lpstr>Understanding formula basics</vt:lpstr>
      <vt:lpstr>PowerPoint Presentation</vt:lpstr>
      <vt:lpstr>Calculate your net income</vt:lpstr>
      <vt:lpstr>Using Excel Functions</vt:lpstr>
      <vt:lpstr>PowerPoint Presentation</vt:lpstr>
      <vt:lpstr>PowerPoint Presentation</vt:lpstr>
      <vt:lpstr>SUMPRODUCT function</vt:lpstr>
      <vt:lpstr>Statistical Functions</vt:lpstr>
      <vt:lpstr>PowerPoint Presentation</vt:lpstr>
      <vt:lpstr>PowerPoint Presentation</vt:lpstr>
      <vt:lpstr>Logical Functions (AND, OR, NOT, XOR, IF, IFS…)</vt:lpstr>
      <vt:lpstr>Data Cleaning with Text Functions</vt:lpstr>
      <vt:lpstr>PowerPoint Presentation</vt:lpstr>
      <vt:lpstr>PowerPoint Presentation</vt:lpstr>
      <vt:lpstr>PowerPoint Presentation</vt:lpstr>
      <vt:lpstr>Text to Column Wizard in Excel</vt:lpstr>
      <vt:lpstr>PowerPoint Presentation</vt:lpstr>
      <vt:lpstr>Date Handling</vt:lpstr>
      <vt:lpstr>PowerPoint Presentation</vt:lpstr>
      <vt:lpstr>PowerPoint Presentation</vt:lpstr>
      <vt:lpstr>Date Conversions</vt:lpstr>
      <vt:lpstr>PowerPoint Presentation</vt:lpstr>
      <vt:lpstr>Time Handling</vt:lpstr>
      <vt:lpstr>PowerPoint Presentation</vt:lpstr>
      <vt:lpstr>PowerPoint Presentation</vt:lpstr>
      <vt:lpstr>PowerPoint Presentation</vt:lpstr>
      <vt:lpstr>Adding hours, minutes, and seconds</vt:lpstr>
      <vt:lpstr>PowerPoint Presentation</vt:lpstr>
      <vt:lpstr>PowerPoint Presentation</vt:lpstr>
      <vt:lpstr>PowerPoint Presentation</vt:lpstr>
      <vt:lpstr>PowerPoint Presentation</vt:lpstr>
      <vt:lpstr>PowerPoint Presentation</vt:lpstr>
      <vt:lpstr>Conditional Formatting</vt:lpstr>
      <vt:lpstr>PowerPoint Presentation</vt:lpstr>
      <vt:lpstr>PowerPoint Presentation</vt:lpstr>
      <vt:lpstr>PowerPoint Presentation</vt:lpstr>
      <vt:lpstr>Conditional Formatting Options</vt:lpstr>
      <vt:lpstr>Sorting and Filtering</vt:lpstr>
      <vt:lpstr>Sorting and Filtering Data With Excel</vt:lpstr>
      <vt:lpstr>Sorting with levels</vt:lpstr>
      <vt:lpstr>Subtotals with Ranges</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 ANALYSIS USING EXCEL  UNIT - I</dc:title>
  <dc:creator>Sayed</dc:creator>
  <cp:lastModifiedBy>Sayed</cp:lastModifiedBy>
  <cp:revision>87</cp:revision>
  <dcterms:created xsi:type="dcterms:W3CDTF">2025-08-03T10:50:41Z</dcterms:created>
  <dcterms:modified xsi:type="dcterms:W3CDTF">2026-08-25T04:02:05Z</dcterms:modified>
</cp:coreProperties>
</file>