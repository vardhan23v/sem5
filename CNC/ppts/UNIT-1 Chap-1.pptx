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Default Extension="mp4" ContentType="video/mp4"/>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sldIdLst>
    <p:sldId id="256" r:id="rId2"/>
    <p:sldId id="257" r:id="rId3"/>
    <p:sldId id="258" r:id="rId4"/>
    <p:sldId id="259" r:id="rId5"/>
    <p:sldId id="260" r:id="rId6"/>
    <p:sldId id="383" r:id="rId7"/>
    <p:sldId id="384" r:id="rId8"/>
    <p:sldId id="385" r:id="rId9"/>
    <p:sldId id="261" r:id="rId10"/>
    <p:sldId id="262" r:id="rId11"/>
    <p:sldId id="263" r:id="rId12"/>
    <p:sldId id="264" r:id="rId13"/>
    <p:sldId id="366" r:id="rId14"/>
    <p:sldId id="373"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375" r:id="rId36"/>
    <p:sldId id="376" r:id="rId37"/>
    <p:sldId id="378" r:id="rId38"/>
    <p:sldId id="379" r:id="rId39"/>
    <p:sldId id="380" r:id="rId40"/>
    <p:sldId id="648" r:id="rId41"/>
    <p:sldId id="647" r:id="rId42"/>
    <p:sldId id="649" r:id="rId43"/>
    <p:sldId id="651" r:id="rId44"/>
    <p:sldId id="652" r:id="rId45"/>
    <p:sldId id="653" r:id="rId46"/>
    <p:sldId id="662" r:id="rId47"/>
    <p:sldId id="650" r:id="rId48"/>
    <p:sldId id="654" r:id="rId49"/>
    <p:sldId id="660" r:id="rId50"/>
    <p:sldId id="663" r:id="rId51"/>
    <p:sldId id="655" r:id="rId52"/>
    <p:sldId id="657" r:id="rId53"/>
    <p:sldId id="659" r:id="rId54"/>
    <p:sldId id="656" r:id="rId55"/>
    <p:sldId id="658" r:id="rId56"/>
    <p:sldId id="661" r:id="rId57"/>
    <p:sldId id="387" r:id="rId58"/>
    <p:sldId id="388" r:id="rId59"/>
    <p:sldId id="389" r:id="rId60"/>
    <p:sldId id="377" r:id="rId61"/>
    <p:sldId id="390" r:id="rId62"/>
    <p:sldId id="391" r:id="rId63"/>
    <p:sldId id="392" r:id="rId64"/>
    <p:sldId id="393" r:id="rId65"/>
    <p:sldId id="394" r:id="rId66"/>
    <p:sldId id="395" r:id="rId67"/>
    <p:sldId id="396" r:id="rId68"/>
    <p:sldId id="397" r:id="rId69"/>
    <p:sldId id="398" r:id="rId70"/>
    <p:sldId id="594" r:id="rId71"/>
    <p:sldId id="636" r:id="rId72"/>
    <p:sldId id="611" r:id="rId73"/>
    <p:sldId id="595" r:id="rId74"/>
    <p:sldId id="596" r:id="rId75"/>
    <p:sldId id="637" r:id="rId76"/>
    <p:sldId id="612" r:id="rId77"/>
    <p:sldId id="597" r:id="rId78"/>
    <p:sldId id="598" r:id="rId79"/>
    <p:sldId id="638" r:id="rId80"/>
    <p:sldId id="623" r:id="rId81"/>
    <p:sldId id="599" r:id="rId82"/>
    <p:sldId id="640" r:id="rId83"/>
    <p:sldId id="613" r:id="rId84"/>
    <p:sldId id="600" r:id="rId85"/>
    <p:sldId id="641" r:id="rId86"/>
    <p:sldId id="614" r:id="rId87"/>
    <p:sldId id="601" r:id="rId88"/>
    <p:sldId id="381" r:id="rId89"/>
    <p:sldId id="644" r:id="rId90"/>
    <p:sldId id="646" r:id="rId91"/>
    <p:sldId id="631" r:id="rId92"/>
    <p:sldId id="602" r:id="rId93"/>
    <p:sldId id="642" r:id="rId94"/>
    <p:sldId id="643" r:id="rId95"/>
    <p:sldId id="604" r:id="rId96"/>
    <p:sldId id="607" r:id="rId9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822" y="-9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5083"/>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A70DA0EF-E3EF-46D4-A6BA-E1059291979C}" type="datetimeFigureOut">
              <a:rPr lang="en-IN" smtClean="0"/>
              <a:pPr/>
              <a:t>09-08-2026</a:t>
            </a:fld>
            <a:endParaRPr lang="en-IN"/>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ABE13268-6B36-4304-8C88-2DDCD82C8163}" type="slidenum">
              <a:rPr lang="en-IN" smtClean="0"/>
              <a:pPr/>
              <a:t>‹#›</a:t>
            </a:fld>
            <a:endParaRPr lang="en-IN"/>
          </a:p>
        </p:txBody>
      </p:sp>
    </p:spTree>
    <p:extLst>
      <p:ext uri="{BB962C8B-B14F-4D97-AF65-F5344CB8AC3E}">
        <p14:creationId xmlns:p14="http://schemas.microsoft.com/office/powerpoint/2010/main" xmlns="" val="1638300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BE13268-6B36-4304-8C88-2DDCD82C8163}" type="slidenum">
              <a:rPr lang="en-IN" smtClean="0"/>
              <a:pPr/>
              <a:t>23</a:t>
            </a:fld>
            <a:endParaRPr lang="en-IN"/>
          </a:p>
        </p:txBody>
      </p:sp>
    </p:spTree>
    <p:extLst>
      <p:ext uri="{BB962C8B-B14F-4D97-AF65-F5344CB8AC3E}">
        <p14:creationId xmlns:p14="http://schemas.microsoft.com/office/powerpoint/2010/main" xmlns="" val="1589817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xmlns="" id="{27C0039E-3708-71C5-076F-F17D14D9F54F}"/>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A0DE5891-B597-4E49-9C5C-278DB41245CB}" type="slidenum">
              <a:rPr lang="en-US" altLang="en-US" b="0"/>
              <a:pPr/>
              <a:t>70</a:t>
            </a:fld>
            <a:endParaRPr lang="en-US" altLang="en-US" b="0"/>
          </a:p>
        </p:txBody>
      </p:sp>
      <p:sp>
        <p:nvSpPr>
          <p:cNvPr id="71683" name="Rectangle 2">
            <a:extLst>
              <a:ext uri="{FF2B5EF4-FFF2-40B4-BE49-F238E27FC236}">
                <a16:creationId xmlns:a16="http://schemas.microsoft.com/office/drawing/2014/main" xmlns="" id="{46087043-C659-7930-143E-ABC3543F081A}"/>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xmlns="" id="{F1BF05BF-2140-D083-C940-E727FDC8C756}"/>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xmlns="" id="{AC403E9D-1816-43D6-D36E-901AA27B3FE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C4943117-C3DC-4653-B1CE-4182723CC96D}" type="slidenum">
              <a:rPr lang="en-US" altLang="en-US" b="0"/>
              <a:pPr/>
              <a:t>72</a:t>
            </a:fld>
            <a:endParaRPr lang="en-US" altLang="en-US" b="0"/>
          </a:p>
        </p:txBody>
      </p:sp>
      <p:sp>
        <p:nvSpPr>
          <p:cNvPr id="72707" name="Rectangle 2">
            <a:extLst>
              <a:ext uri="{FF2B5EF4-FFF2-40B4-BE49-F238E27FC236}">
                <a16:creationId xmlns:a16="http://schemas.microsoft.com/office/drawing/2014/main" xmlns="" id="{6C4EEEF4-8201-8E0B-B2F8-2BCC6E8DC7BD}"/>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xmlns="" id="{61C6069C-F249-1596-B988-DB4D87B3D1F9}"/>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xmlns="" id="{99E78AF5-4429-D7D8-16A7-45BDB77D4E07}"/>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DD305E95-2153-41DF-ACB9-99A902239847}" type="slidenum">
              <a:rPr lang="en-US" altLang="en-US" b="0"/>
              <a:pPr/>
              <a:t>73</a:t>
            </a:fld>
            <a:endParaRPr lang="en-US" altLang="en-US" b="0"/>
          </a:p>
        </p:txBody>
      </p:sp>
      <p:sp>
        <p:nvSpPr>
          <p:cNvPr id="73731" name="Rectangle 2">
            <a:extLst>
              <a:ext uri="{FF2B5EF4-FFF2-40B4-BE49-F238E27FC236}">
                <a16:creationId xmlns:a16="http://schemas.microsoft.com/office/drawing/2014/main" xmlns="" id="{0E79B92E-1868-6385-4AAF-BE18882463A7}"/>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xmlns="" id="{ACC762A4-A0D8-4C6A-AFB2-82CA4010104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xmlns="" id="{066C65A8-895F-1096-CE6C-DE9920FD713E}"/>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37763894-F693-433F-BA27-22C1E625C08E}" type="slidenum">
              <a:rPr lang="en-US" altLang="en-US" b="0"/>
              <a:pPr/>
              <a:t>74</a:t>
            </a:fld>
            <a:endParaRPr lang="en-US" altLang="en-US" b="0"/>
          </a:p>
        </p:txBody>
      </p:sp>
      <p:sp>
        <p:nvSpPr>
          <p:cNvPr id="74755" name="Rectangle 2">
            <a:extLst>
              <a:ext uri="{FF2B5EF4-FFF2-40B4-BE49-F238E27FC236}">
                <a16:creationId xmlns:a16="http://schemas.microsoft.com/office/drawing/2014/main" xmlns="" id="{209A34F2-E059-2079-EBA2-B14BF91FDDE6}"/>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xmlns="" id="{CB888F48-1164-21F9-A439-B31B00027EA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xmlns="" id="{72426728-E866-EECB-92DC-7A05325F86A9}"/>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CC2FD24B-FB96-42F2-9C88-4674F597A70E}" type="slidenum">
              <a:rPr lang="en-US" altLang="en-US" b="0"/>
              <a:pPr/>
              <a:t>76</a:t>
            </a:fld>
            <a:endParaRPr lang="en-US" altLang="en-US" b="0"/>
          </a:p>
        </p:txBody>
      </p:sp>
      <p:sp>
        <p:nvSpPr>
          <p:cNvPr id="75779" name="Rectangle 2">
            <a:extLst>
              <a:ext uri="{FF2B5EF4-FFF2-40B4-BE49-F238E27FC236}">
                <a16:creationId xmlns:a16="http://schemas.microsoft.com/office/drawing/2014/main" xmlns="" id="{BF3B180C-B78A-612E-343C-892067B59D47}"/>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xmlns="" id="{F01D48BC-2DF8-A0DC-BD0E-78C414B832A0}"/>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xmlns="" id="{817C0850-9E05-7629-E584-2CF04F93BD0B}"/>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0280F459-7A10-4E20-BAA4-039EE28C4D18}" type="slidenum">
              <a:rPr lang="en-US" altLang="en-US" b="0"/>
              <a:pPr/>
              <a:t>77</a:t>
            </a:fld>
            <a:endParaRPr lang="en-US" altLang="en-US" b="0"/>
          </a:p>
        </p:txBody>
      </p:sp>
      <p:sp>
        <p:nvSpPr>
          <p:cNvPr id="76803" name="Rectangle 2">
            <a:extLst>
              <a:ext uri="{FF2B5EF4-FFF2-40B4-BE49-F238E27FC236}">
                <a16:creationId xmlns:a16="http://schemas.microsoft.com/office/drawing/2014/main" xmlns="" id="{78C67A3F-ECDD-2B18-E15E-AF312826CBCD}"/>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xmlns="" id="{245DAC33-4A36-CDF8-9814-A8D3CE9FABB0}"/>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xmlns="" id="{5E9EB1BF-C651-BA98-8045-A20C807DB7FE}"/>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51EAFCE9-BEFE-483D-B66C-ACFD1CDAE5D8}" type="slidenum">
              <a:rPr lang="en-US" altLang="en-US" b="0"/>
              <a:pPr/>
              <a:t>78</a:t>
            </a:fld>
            <a:endParaRPr lang="en-US" altLang="en-US" b="0"/>
          </a:p>
        </p:txBody>
      </p:sp>
      <p:sp>
        <p:nvSpPr>
          <p:cNvPr id="77827" name="Rectangle 2">
            <a:extLst>
              <a:ext uri="{FF2B5EF4-FFF2-40B4-BE49-F238E27FC236}">
                <a16:creationId xmlns:a16="http://schemas.microsoft.com/office/drawing/2014/main" xmlns="" id="{823CB514-A559-F53A-5D0B-BBA3B1676DAA}"/>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xmlns="" id="{CE9B7D9D-DD27-25D5-66AC-17F2644B3E7E}"/>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xmlns="" id="{E2378E80-B91A-C824-4C9C-8227866B0B21}"/>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09B9F9E8-13A0-4A7C-AB0F-5B827D0E02E8}" type="slidenum">
              <a:rPr lang="en-US" altLang="en-US" b="0"/>
              <a:pPr/>
              <a:t>80</a:t>
            </a:fld>
            <a:endParaRPr lang="en-US" altLang="en-US" b="0"/>
          </a:p>
        </p:txBody>
      </p:sp>
      <p:sp>
        <p:nvSpPr>
          <p:cNvPr id="78851" name="Rectangle 2">
            <a:extLst>
              <a:ext uri="{FF2B5EF4-FFF2-40B4-BE49-F238E27FC236}">
                <a16:creationId xmlns:a16="http://schemas.microsoft.com/office/drawing/2014/main" xmlns="" id="{6523B09D-922C-AE1C-9CBD-2D3F69A4EC53}"/>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xmlns="" id="{76D13454-77E1-68D5-A5F3-F773C4C877F6}"/>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xmlns="" id="{194C1310-D9A6-5F36-FA59-F891C21FBA7F}"/>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21451567-CAFD-47D9-BD16-64E756C21341}" type="slidenum">
              <a:rPr lang="en-US" altLang="en-US" b="0"/>
              <a:pPr/>
              <a:t>81</a:t>
            </a:fld>
            <a:endParaRPr lang="en-US" altLang="en-US" b="0"/>
          </a:p>
        </p:txBody>
      </p:sp>
      <p:sp>
        <p:nvSpPr>
          <p:cNvPr id="79875" name="Rectangle 2">
            <a:extLst>
              <a:ext uri="{FF2B5EF4-FFF2-40B4-BE49-F238E27FC236}">
                <a16:creationId xmlns:a16="http://schemas.microsoft.com/office/drawing/2014/main" xmlns="" id="{F614591A-3E05-8179-9D49-4B6C7F301910}"/>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xmlns="" id="{1CF3765D-EE3A-DA89-B914-CBA272EF9D40}"/>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xmlns="" id="{AC19CDA9-1A57-5140-D1E8-D24DB9D384E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17A66183-EDA9-4BF8-94C9-D71A881D792C}" type="slidenum">
              <a:rPr lang="en-US" altLang="en-US" b="0"/>
              <a:pPr/>
              <a:t>83</a:t>
            </a:fld>
            <a:endParaRPr lang="en-US" altLang="en-US" b="0"/>
          </a:p>
        </p:txBody>
      </p:sp>
      <p:sp>
        <p:nvSpPr>
          <p:cNvPr id="80899" name="Rectangle 2">
            <a:extLst>
              <a:ext uri="{FF2B5EF4-FFF2-40B4-BE49-F238E27FC236}">
                <a16:creationId xmlns:a16="http://schemas.microsoft.com/office/drawing/2014/main" xmlns="" id="{6971AAE9-456E-0E1A-3AE1-0F39DA4054D8}"/>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xmlns="" id="{37183CB4-1703-FE5A-E5C5-F567CAD301C2}"/>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xmlns="" id="{508DBB53-ED9A-4787-3649-D8941B563FF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C12081EC-1B95-4853-951A-289D6FEDD06E}" type="slidenum">
              <a:rPr lang="en-US" altLang="en-US" b="0"/>
              <a:pPr/>
              <a:t>84</a:t>
            </a:fld>
            <a:endParaRPr lang="en-US" altLang="en-US" b="0"/>
          </a:p>
        </p:txBody>
      </p:sp>
      <p:sp>
        <p:nvSpPr>
          <p:cNvPr id="81923" name="Rectangle 2">
            <a:extLst>
              <a:ext uri="{FF2B5EF4-FFF2-40B4-BE49-F238E27FC236}">
                <a16:creationId xmlns:a16="http://schemas.microsoft.com/office/drawing/2014/main" xmlns="" id="{7DBEF9A0-9A83-0F6E-4B4E-7BC840594658}"/>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xmlns="" id="{67B8395D-FB81-3F9B-186C-BEC557FCC38D}"/>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xmlns="" id="{84290480-C6F2-33DB-7AC0-1D0DC8A884B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96DF1FA3-0F10-4404-8101-B58FBA7CB1D1}" type="slidenum">
              <a:rPr lang="en-US" altLang="en-US" b="0"/>
              <a:pPr/>
              <a:t>86</a:t>
            </a:fld>
            <a:endParaRPr lang="en-US" altLang="en-US" b="0"/>
          </a:p>
        </p:txBody>
      </p:sp>
      <p:sp>
        <p:nvSpPr>
          <p:cNvPr id="82947" name="Rectangle 2">
            <a:extLst>
              <a:ext uri="{FF2B5EF4-FFF2-40B4-BE49-F238E27FC236}">
                <a16:creationId xmlns:a16="http://schemas.microsoft.com/office/drawing/2014/main" xmlns="" id="{2B8E788C-8AE9-256C-CD9F-A438AF82B942}"/>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xmlns="" id="{97537406-67C4-FE89-4186-29E0CC513C44}"/>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xmlns="" id="{FFD24007-0E56-D0AF-5E74-C0B851C0CA6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F30ECD43-44BC-48C2-B5E2-CC48098CE3EB}" type="slidenum">
              <a:rPr lang="en-US" altLang="en-US" b="0"/>
              <a:pPr/>
              <a:t>87</a:t>
            </a:fld>
            <a:endParaRPr lang="en-US" altLang="en-US" b="0"/>
          </a:p>
        </p:txBody>
      </p:sp>
      <p:sp>
        <p:nvSpPr>
          <p:cNvPr id="83971" name="Rectangle 2">
            <a:extLst>
              <a:ext uri="{FF2B5EF4-FFF2-40B4-BE49-F238E27FC236}">
                <a16:creationId xmlns:a16="http://schemas.microsoft.com/office/drawing/2014/main" xmlns="" id="{71311A05-B9F6-5771-EE97-FC68A9D56D18}"/>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xmlns="" id="{5B9C7F54-7983-E115-826A-03CDD23F3BCA}"/>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xmlns="" id="{19AE2D13-048A-C7C1-0CBD-12C2CC0EE4C1}"/>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C0BEBB3E-896F-4ACE-935C-38FB774CF94D}" type="slidenum">
              <a:rPr lang="en-US" altLang="en-US" b="0"/>
              <a:pPr/>
              <a:t>91</a:t>
            </a:fld>
            <a:endParaRPr lang="en-US" altLang="en-US" b="0"/>
          </a:p>
        </p:txBody>
      </p:sp>
      <p:sp>
        <p:nvSpPr>
          <p:cNvPr id="84995" name="Rectangle 2">
            <a:extLst>
              <a:ext uri="{FF2B5EF4-FFF2-40B4-BE49-F238E27FC236}">
                <a16:creationId xmlns:a16="http://schemas.microsoft.com/office/drawing/2014/main" xmlns="" id="{8417942A-54D3-CBE3-573F-221DE89D8AA5}"/>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xmlns="" id="{3C31634A-C54F-6C2F-B023-012B869C4CC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xmlns="" id="{1DB19D91-A31B-2B3A-DFB2-77BC46A6C679}"/>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887AADA7-FADF-4425-9B42-BEA072149DA1}" type="slidenum">
              <a:rPr lang="en-US" altLang="en-US" b="0"/>
              <a:pPr/>
              <a:t>92</a:t>
            </a:fld>
            <a:endParaRPr lang="en-US" altLang="en-US" b="0"/>
          </a:p>
        </p:txBody>
      </p:sp>
      <p:sp>
        <p:nvSpPr>
          <p:cNvPr id="86019" name="Rectangle 2">
            <a:extLst>
              <a:ext uri="{FF2B5EF4-FFF2-40B4-BE49-F238E27FC236}">
                <a16:creationId xmlns:a16="http://schemas.microsoft.com/office/drawing/2014/main" xmlns="" id="{D229A990-D1C8-E025-065C-E7EDFA300776}"/>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xmlns="" id="{2E04E521-011E-C893-7684-97D5012CD04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xmlns="" id="{9BCA6A89-DA8B-8BED-2570-B5F9B40505CB}"/>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08F3AE61-A470-4F60-8F4E-20594ED3AA77}" type="slidenum">
              <a:rPr lang="en-US" altLang="en-US" b="0"/>
              <a:pPr/>
              <a:t>95</a:t>
            </a:fld>
            <a:endParaRPr lang="en-US" altLang="en-US" b="0"/>
          </a:p>
        </p:txBody>
      </p:sp>
      <p:sp>
        <p:nvSpPr>
          <p:cNvPr id="89091" name="Rectangle 2">
            <a:extLst>
              <a:ext uri="{FF2B5EF4-FFF2-40B4-BE49-F238E27FC236}">
                <a16:creationId xmlns:a16="http://schemas.microsoft.com/office/drawing/2014/main" xmlns="" id="{B7FF0911-2658-4794-66C6-AA4FEB62D4B8}"/>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xmlns="" id="{CFDB9B22-8A18-C7BE-73F2-009440F6FC9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xmlns="" id="{53E3DFA9-8835-1D95-726B-A6D6FDCB2D0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93681A0B-753F-4EF5-97A7-DD64D505A107}" type="slidenum">
              <a:rPr lang="en-US" altLang="en-US" b="0"/>
              <a:pPr/>
              <a:t>96</a:t>
            </a:fld>
            <a:endParaRPr lang="en-US" altLang="en-US" b="0"/>
          </a:p>
        </p:txBody>
      </p:sp>
      <p:sp>
        <p:nvSpPr>
          <p:cNvPr id="96259" name="Rectangle 2">
            <a:extLst>
              <a:ext uri="{FF2B5EF4-FFF2-40B4-BE49-F238E27FC236}">
                <a16:creationId xmlns:a16="http://schemas.microsoft.com/office/drawing/2014/main" xmlns="" id="{57E94FE0-3495-438A-52F0-46D97E9D8BF7}"/>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xmlns="" id="{E2991265-6490-3800-55AA-DCA90EE33DBF}"/>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82776" y="228676"/>
            <a:ext cx="6378447" cy="697230"/>
          </a:xfrm>
          <a:prstGeom prst="rect">
            <a:avLst/>
          </a:prstGeom>
        </p:spPr>
        <p:txBody>
          <a:bodyPr wrap="square" lIns="0" tIns="0" rIns="0" bIns="0">
            <a:spAutoFit/>
          </a:bodyPr>
          <a:lstStyle>
            <a:lvl1pPr>
              <a:defRPr sz="4400" b="1" i="0">
                <a:solidFill>
                  <a:srgbClr val="1F487C"/>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Computer Science and Engineering, NMAMIT, Nitte</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71D1AA6-788B-43BB-B7FF-AE47970C73D1}" type="datetime1">
              <a:rPr lang="en-IN" smtClean="0"/>
              <a:pPr/>
              <a:t>09-08-2026</a:t>
            </a:fld>
            <a:endParaRPr lang="en-US"/>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1F487C"/>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Computer Science and Engineering, NMAMIT, Nitte</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81E1579-2AFC-4875-A8C4-902B13279F3A}" type="datetime1">
              <a:rPr lang="en-IN" smtClean="0"/>
              <a:pPr/>
              <a:t>09-08-2026</a:t>
            </a:fld>
            <a:endParaRPr lang="en-US"/>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1F487C"/>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Computer Science and Engineering, NMAMIT, Nitte</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6A05B11-F3C4-4C92-A9B8-E22DF84B1441}" type="datetime1">
              <a:rPr lang="en-IN" smtClean="0"/>
              <a:pPr/>
              <a:t>09-08-2026</a:t>
            </a:fld>
            <a:endParaRPr lang="en-US"/>
          </a:p>
        </p:txBody>
      </p:sp>
      <p:sp>
        <p:nvSpPr>
          <p:cNvPr id="7" name="Holder 7"/>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1F487C"/>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Computer Science and Engineering, NMAMIT, Nitte</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9EF727B-7B4B-47D5-8A89-9CFA98DE569D}" type="datetime1">
              <a:rPr lang="en-IN" smtClean="0"/>
              <a:pPr/>
              <a:t>09-08-2026</a:t>
            </a:fld>
            <a:endParaRPr lang="en-US"/>
          </a:p>
        </p:txBody>
      </p:sp>
      <p:sp>
        <p:nvSpPr>
          <p:cNvPr id="5" name="Holder 5"/>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Computer Science and Engineering, NMAMIT, Nitte</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79CE19C7-D693-414B-8A98-90205007875C}" type="datetime1">
              <a:rPr lang="en-IN" smtClean="0"/>
              <a:pPr/>
              <a:t>09-08-2026</a:t>
            </a:fld>
            <a:endParaRPr lang="en-US"/>
          </a:p>
        </p:txBody>
      </p:sp>
      <p:sp>
        <p:nvSpPr>
          <p:cNvPr id="4" name="Holder 4"/>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One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4974336"/>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7" name="Credit line">
            <a:extLst>
              <a:ext uri="{FF2B5EF4-FFF2-40B4-BE49-F238E27FC236}">
                <a16:creationId xmlns:a16="http://schemas.microsoft.com/office/drawing/2014/main" xmlns="" id="{DC5F74A8-3DBB-43E2-AEB1-B8D6F0E02D24}"/>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8" name="Appendix Link">
            <a:extLst>
              <a:ext uri="{FF2B5EF4-FFF2-40B4-BE49-F238E27FC236}">
                <a16:creationId xmlns:a16="http://schemas.microsoft.com/office/drawing/2014/main" xmlns="" id="{9E42DD00-D3A0-49C1-B804-0FA8773ED335}"/>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9" name="Slide Number Placeholder">
            <a:extLst>
              <a:ext uri="{FF2B5EF4-FFF2-40B4-BE49-F238E27FC236}">
                <a16:creationId xmlns:a16="http://schemas.microsoft.com/office/drawing/2014/main" xmlns="" id="{359E2559-6DDB-4590-804E-FD84D7E50952}"/>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732695294"/>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B80CF0-50F3-0A0D-65DB-EE3666ECE707}"/>
              </a:ext>
            </a:extLst>
          </p:cNvPr>
          <p:cNvSpPr>
            <a:spLocks noGrp="1"/>
          </p:cNvSpPr>
          <p:nvPr>
            <p:ph type="ctrTitle"/>
          </p:nvPr>
        </p:nvSpPr>
        <p:spPr>
          <a:xfrm>
            <a:off x="1143000" y="2817466"/>
            <a:ext cx="6858000" cy="692497"/>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0614D5A0-1A84-7744-109F-D87802EDF98B}"/>
              </a:ext>
            </a:extLst>
          </p:cNvPr>
          <p:cNvSpPr>
            <a:spLocks noGrp="1"/>
          </p:cNvSpPr>
          <p:nvPr>
            <p:ph type="subTitle" idx="1"/>
          </p:nvPr>
        </p:nvSpPr>
        <p:spPr>
          <a:xfrm>
            <a:off x="1143000" y="3602038"/>
            <a:ext cx="6858000" cy="276999"/>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E28F1815-DFC3-078E-415B-A46553473C91}"/>
              </a:ext>
            </a:extLst>
          </p:cNvPr>
          <p:cNvSpPr>
            <a:spLocks noGrp="1"/>
          </p:cNvSpPr>
          <p:nvPr>
            <p:ph type="dt" sz="half" idx="10"/>
          </p:nvPr>
        </p:nvSpPr>
        <p:spPr>
          <a:xfrm>
            <a:off x="457200" y="6377940"/>
            <a:ext cx="2103120" cy="276999"/>
          </a:xfrm>
        </p:spPr>
        <p:txBody>
          <a:bodyPr/>
          <a:lstStyle/>
          <a:p>
            <a:fld id="{75FA86F2-F6F3-463B-9DD1-D0AF5FA431C2}" type="datetime1">
              <a:rPr lang="en-IN" smtClean="0"/>
              <a:pPr/>
              <a:t>09-08-2026</a:t>
            </a:fld>
            <a:endParaRPr lang="en-IN"/>
          </a:p>
        </p:txBody>
      </p:sp>
      <p:sp>
        <p:nvSpPr>
          <p:cNvPr id="5" name="Footer Placeholder 4">
            <a:extLst>
              <a:ext uri="{FF2B5EF4-FFF2-40B4-BE49-F238E27FC236}">
                <a16:creationId xmlns:a16="http://schemas.microsoft.com/office/drawing/2014/main" xmlns="" id="{D1904243-D15C-802A-3ED4-8B5F8D81F4F8}"/>
              </a:ext>
            </a:extLst>
          </p:cNvPr>
          <p:cNvSpPr>
            <a:spLocks noGrp="1"/>
          </p:cNvSpPr>
          <p:nvPr>
            <p:ph type="ftr" sz="quarter" idx="11"/>
          </p:nvPr>
        </p:nvSpPr>
        <p:spPr>
          <a:xfrm>
            <a:off x="3108960" y="6377940"/>
            <a:ext cx="2926080" cy="830997"/>
          </a:xfrm>
        </p:spPr>
        <p:txBody>
          <a:bodyPr/>
          <a:lstStyle/>
          <a:p>
            <a:r>
              <a:rPr lang="en-US"/>
              <a:t>Department of Computer Science and Engineering, NMAMIT, Nitte</a:t>
            </a:r>
            <a:endParaRPr lang="en-IN"/>
          </a:p>
        </p:txBody>
      </p:sp>
      <p:sp>
        <p:nvSpPr>
          <p:cNvPr id="6" name="Slide Number Placeholder 5">
            <a:extLst>
              <a:ext uri="{FF2B5EF4-FFF2-40B4-BE49-F238E27FC236}">
                <a16:creationId xmlns:a16="http://schemas.microsoft.com/office/drawing/2014/main" xmlns="" id="{512FDA36-1813-759F-C118-0A50455C1B1C}"/>
              </a:ext>
            </a:extLst>
          </p:cNvPr>
          <p:cNvSpPr>
            <a:spLocks noGrp="1"/>
          </p:cNvSpPr>
          <p:nvPr>
            <p:ph type="sldNum" sz="quarter" idx="12"/>
          </p:nvPr>
        </p:nvSpPr>
        <p:spPr>
          <a:xfrm>
            <a:off x="8401557" y="6465214"/>
            <a:ext cx="232409" cy="184666"/>
          </a:xfrm>
        </p:spPr>
        <p:txBody>
          <a:bodyPr/>
          <a:lstStyle/>
          <a:p>
            <a:fld id="{4E76BB24-029A-4A95-A2A0-C4AF6C05BC8A}" type="slidenum">
              <a:rPr lang="en-IN" smtClean="0"/>
              <a:pPr/>
              <a:t>‹#›</a:t>
            </a:fld>
            <a:endParaRPr lang="en-IN"/>
          </a:p>
        </p:txBody>
      </p:sp>
    </p:spTree>
    <p:extLst>
      <p:ext uri="{BB962C8B-B14F-4D97-AF65-F5344CB8AC3E}">
        <p14:creationId xmlns:p14="http://schemas.microsoft.com/office/powerpoint/2010/main" xmlns="" val="2091905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951098" y="478663"/>
            <a:ext cx="3241802" cy="696594"/>
          </a:xfrm>
          <a:prstGeom prst="rect">
            <a:avLst/>
          </a:prstGeom>
        </p:spPr>
        <p:txBody>
          <a:bodyPr wrap="square" lIns="0" tIns="0" rIns="0" bIns="0">
            <a:spAutoFit/>
          </a:bodyPr>
          <a:lstStyle>
            <a:lvl1pPr>
              <a:defRPr sz="4400" b="0" i="0">
                <a:solidFill>
                  <a:srgbClr val="1F487C"/>
                </a:solidFill>
                <a:latin typeface="Times New Roman"/>
                <a:cs typeface="Times New Roman"/>
              </a:defRPr>
            </a:lvl1pPr>
          </a:lstStyle>
          <a:p>
            <a:endParaRPr/>
          </a:p>
        </p:txBody>
      </p:sp>
      <p:sp>
        <p:nvSpPr>
          <p:cNvPr id="3" name="Holder 3"/>
          <p:cNvSpPr>
            <a:spLocks noGrp="1"/>
          </p:cNvSpPr>
          <p:nvPr>
            <p:ph type="body" idx="1"/>
          </p:nvPr>
        </p:nvSpPr>
        <p:spPr>
          <a:xfrm>
            <a:off x="256717" y="1291590"/>
            <a:ext cx="8630564" cy="1854835"/>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r>
              <a:rPr lang="en-US"/>
              <a:t>Department of Computer Science and Engineering, NMAMIT, Nitte</a:t>
            </a:r>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8AD21811-354E-45EC-AD2F-DA950CBB1E40}" type="datetime1">
              <a:rPr lang="en-IN" smtClean="0"/>
              <a:pPr/>
              <a:t>09-08-2026</a:t>
            </a:fld>
            <a:endParaRPr lang="en-US"/>
          </a:p>
        </p:txBody>
      </p:sp>
      <p:sp>
        <p:nvSpPr>
          <p:cNvPr id="6" name="Holder 6"/>
          <p:cNvSpPr>
            <a:spLocks noGrp="1"/>
          </p:cNvSpPr>
          <p:nvPr>
            <p:ph type="sldNum" sz="quarter" idx="7"/>
          </p:nvPr>
        </p:nvSpPr>
        <p:spPr>
          <a:xfrm>
            <a:off x="8401557" y="6465214"/>
            <a:ext cx="232409"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microsoft.com/office/2007/relationships/media" Target="../media/media1.mp4"/><Relationship Id="rId2" Type="http://schemas.openxmlformats.org/officeDocument/2006/relationships/slideLayout" Target="../slideLayouts/slideLayout6.xml"/><Relationship Id="rId1" Type="http://schemas.openxmlformats.org/officeDocument/2006/relationships/video" Target="NULL" TargetMode="External"/><Relationship Id="rId4" Type="http://schemas.openxmlformats.org/officeDocument/2006/relationships/image" Target="../media/image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F5C983-28CA-4C4A-289B-1840CB201E3A}"/>
              </a:ext>
            </a:extLst>
          </p:cNvPr>
          <p:cNvSpPr>
            <a:spLocks noGrp="1"/>
          </p:cNvSpPr>
          <p:nvPr>
            <p:ph type="ctrTitle"/>
          </p:nvPr>
        </p:nvSpPr>
        <p:spPr>
          <a:xfrm>
            <a:off x="990600" y="1371600"/>
            <a:ext cx="7010400" cy="2743200"/>
          </a:xfrm>
        </p:spPr>
        <p:txBody>
          <a:bodyPr>
            <a:noAutofit/>
          </a:bodyPr>
          <a:lstStyle/>
          <a:p>
            <a:r>
              <a:rPr lang="en-IN" sz="2100" dirty="0">
                <a:solidFill>
                  <a:srgbClr val="000000"/>
                </a:solidFill>
                <a:latin typeface="Times New Roman" panose="02020603050405020304" pitchFamily="18" charset="0"/>
                <a:cs typeface="Times New Roman" panose="02020603050405020304" pitchFamily="18" charset="0"/>
              </a:rPr>
              <a:t/>
            </a:r>
            <a:br>
              <a:rPr lang="en-IN" sz="2100" dirty="0">
                <a:solidFill>
                  <a:srgbClr val="000000"/>
                </a:solidFill>
                <a:latin typeface="Times New Roman" panose="02020603050405020304" pitchFamily="18" charset="0"/>
                <a:cs typeface="Times New Roman" panose="02020603050405020304" pitchFamily="18" charset="0"/>
              </a:rPr>
            </a:br>
            <a:r>
              <a:rPr lang="en-IN" sz="2100" dirty="0">
                <a:solidFill>
                  <a:srgbClr val="000000"/>
                </a:solidFill>
                <a:latin typeface="Times New Roman" panose="02020603050405020304" pitchFamily="18" charset="0"/>
                <a:cs typeface="Times New Roman" panose="02020603050405020304" pitchFamily="18" charset="0"/>
              </a:rPr>
              <a:t> </a:t>
            </a:r>
            <a:r>
              <a:rPr lang="en-IN" sz="4400" b="1" kern="1200" spc="-5" dirty="0">
                <a:ea typeface="+mn-ea"/>
              </a:rPr>
              <a:t>COMPUTER</a:t>
            </a:r>
            <a:r>
              <a:rPr lang="en-IN" sz="3200" b="1" dirty="0">
                <a:solidFill>
                  <a:srgbClr val="000000"/>
                </a:solidFill>
                <a:latin typeface="Times New Roman" panose="02020603050405020304" pitchFamily="18" charset="0"/>
                <a:cs typeface="Times New Roman" panose="02020603050405020304" pitchFamily="18" charset="0"/>
              </a:rPr>
              <a:t> </a:t>
            </a:r>
            <a:r>
              <a:rPr lang="en-IN" sz="4400" b="1" kern="1200" spc="-5" dirty="0">
                <a:ea typeface="+mn-ea"/>
              </a:rPr>
              <a:t>NETWORK AND COMMUNICATION</a:t>
            </a:r>
            <a:br>
              <a:rPr lang="en-IN" sz="4400" b="1" kern="1200" spc="-5" dirty="0">
                <a:ea typeface="+mn-ea"/>
              </a:rPr>
            </a:br>
            <a:r>
              <a:rPr lang="en-IN" sz="2100" b="1" dirty="0">
                <a:solidFill>
                  <a:srgbClr val="000000"/>
                </a:solidFill>
                <a:latin typeface="Times New Roman" panose="02020603050405020304" pitchFamily="18" charset="0"/>
                <a:cs typeface="Times New Roman" panose="02020603050405020304" pitchFamily="18" charset="0"/>
              </a:rPr>
              <a:t/>
            </a:r>
            <a:br>
              <a:rPr lang="en-IN" sz="2100" b="1" dirty="0">
                <a:solidFill>
                  <a:srgbClr val="000000"/>
                </a:solidFill>
                <a:latin typeface="Times New Roman" panose="02020603050405020304" pitchFamily="18" charset="0"/>
                <a:cs typeface="Times New Roman" panose="02020603050405020304" pitchFamily="18" charset="0"/>
              </a:rPr>
            </a:br>
            <a:r>
              <a:rPr lang="en-IN" sz="1350" dirty="0">
                <a:solidFill>
                  <a:srgbClr val="000000"/>
                </a:solidFill>
                <a:latin typeface="Times New Roman" panose="02020603050405020304" pitchFamily="18" charset="0"/>
                <a:cs typeface="Times New Roman" panose="02020603050405020304" pitchFamily="18" charset="0"/>
              </a:rPr>
              <a:t/>
            </a:r>
            <a:br>
              <a:rPr lang="en-IN" sz="1350" dirty="0">
                <a:solidFill>
                  <a:srgbClr val="000000"/>
                </a:solidFill>
                <a:latin typeface="Times New Roman" panose="02020603050405020304" pitchFamily="18" charset="0"/>
                <a:cs typeface="Times New Roman" panose="02020603050405020304" pitchFamily="18" charset="0"/>
              </a:rPr>
            </a:br>
            <a:r>
              <a:rPr lang="en-IN" sz="1350" dirty="0">
                <a:solidFill>
                  <a:srgbClr val="000000"/>
                </a:solidFill>
                <a:latin typeface="Times New Roman" panose="02020603050405020304" pitchFamily="18" charset="0"/>
                <a:cs typeface="Times New Roman" panose="02020603050405020304" pitchFamily="18" charset="0"/>
              </a:rPr>
              <a:t> </a:t>
            </a:r>
            <a:r>
              <a:rPr lang="en-IN" sz="3200" b="1" kern="1200" spc="-5" dirty="0">
                <a:ea typeface="+mn-ea"/>
              </a:rPr>
              <a:t>Course code: CS3001-1 </a:t>
            </a:r>
            <a:r>
              <a:rPr lang="en-IN" sz="2100" dirty="0">
                <a:solidFill>
                  <a:srgbClr val="000000"/>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10A4EBB7-1018-2ADB-FD40-5DC9A8CD4CEF}"/>
              </a:ext>
            </a:extLst>
          </p:cNvPr>
          <p:cNvSpPr>
            <a:spLocks noGrp="1"/>
          </p:cNvSpPr>
          <p:nvPr>
            <p:ph type="sldNum" sz="quarter" idx="12"/>
          </p:nvPr>
        </p:nvSpPr>
        <p:spPr/>
        <p:txBody>
          <a:bodyPr/>
          <a:lstStyle/>
          <a:p>
            <a:fld id="{4E76BB24-029A-4A95-A2A0-C4AF6C05BC8A}" type="slidenum">
              <a:rPr lang="en-IN" smtClean="0"/>
              <a:pPr/>
              <a:t>1</a:t>
            </a:fld>
            <a:endParaRPr lang="en-IN"/>
          </a:p>
        </p:txBody>
      </p:sp>
    </p:spTree>
    <p:extLst>
      <p:ext uri="{BB962C8B-B14F-4D97-AF65-F5344CB8AC3E}">
        <p14:creationId xmlns:p14="http://schemas.microsoft.com/office/powerpoint/2010/main" xmlns="" val="148191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78032C-6E68-116B-7AF6-7B0AF20B37E6}"/>
              </a:ext>
            </a:extLst>
          </p:cNvPr>
          <p:cNvSpPr>
            <a:spLocks noGrp="1"/>
          </p:cNvSpPr>
          <p:nvPr>
            <p:ph type="title"/>
          </p:nvPr>
        </p:nvSpPr>
        <p:spPr>
          <a:xfrm>
            <a:off x="457200" y="478663"/>
            <a:ext cx="8382000" cy="2031325"/>
          </a:xfrm>
        </p:spPr>
        <p:txBody>
          <a:bodyPr/>
          <a:lstStyle/>
          <a:p>
            <a:r>
              <a:rPr lang="en-US" b="1" dirty="0">
                <a:latin typeface="Times New Roman" panose="02020603050405020304" pitchFamily="18" charset="0"/>
                <a:cs typeface="Times New Roman" panose="02020603050405020304" pitchFamily="18" charset="0"/>
              </a:rPr>
              <a:t>Course Learning objectives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07684E65-676A-508C-7D4C-77803F1A096C}"/>
              </a:ext>
            </a:extLst>
          </p:cNvPr>
          <p:cNvSpPr>
            <a:spLocks noGrp="1"/>
          </p:cNvSpPr>
          <p:nvPr>
            <p:ph idx="1"/>
          </p:nvPr>
        </p:nvSpPr>
        <p:spPr>
          <a:xfrm>
            <a:off x="457200" y="1371600"/>
            <a:ext cx="8382000" cy="4648200"/>
          </a:xfrm>
        </p:spPr>
        <p:txBody>
          <a:bodyPr>
            <a:normAutofit/>
          </a:bodyPr>
          <a:lstStyle/>
          <a:p>
            <a:pPr marL="257175" indent="-257175">
              <a:buFont typeface="+mj-lt"/>
              <a:buAutoNum type="arabicPeriod"/>
            </a:pPr>
            <a:r>
              <a:rPr lang="en-US" b="0" i="1" u="none" strike="noStrike" baseline="0" dirty="0">
                <a:solidFill>
                  <a:srgbClr val="000000"/>
                </a:solidFill>
                <a:latin typeface="Times New Roman" panose="02020603050405020304" pitchFamily="18" charset="0"/>
                <a:cs typeface="Times New Roman" panose="02020603050405020304" pitchFamily="18" charset="0"/>
              </a:rPr>
              <a:t>Outline the principles of computer networks and its application. </a:t>
            </a:r>
          </a:p>
          <a:p>
            <a:pPr marL="257175" indent="-257175">
              <a:buFont typeface="+mj-lt"/>
              <a:buAutoNum type="arabicPeriod"/>
            </a:pPr>
            <a:r>
              <a:rPr lang="en-US" b="0" i="1" u="none" strike="noStrike" baseline="0" dirty="0">
                <a:solidFill>
                  <a:srgbClr val="000000"/>
                </a:solidFill>
                <a:latin typeface="Times New Roman" panose="02020603050405020304" pitchFamily="18" charset="0"/>
                <a:cs typeface="Times New Roman" panose="02020603050405020304" pitchFamily="18" charset="0"/>
              </a:rPr>
              <a:t>Understand the basic of physical and data link layer functionalities and protocols .</a:t>
            </a:r>
            <a:endParaRPr lang="en-IN" b="0" i="1" u="none" strike="noStrike" baseline="0" dirty="0">
              <a:solidFill>
                <a:srgbClr val="000000"/>
              </a:solidFill>
              <a:latin typeface="Times New Roman" panose="02020603050405020304" pitchFamily="18" charset="0"/>
              <a:cs typeface="Times New Roman" panose="02020603050405020304" pitchFamily="18" charset="0"/>
            </a:endParaRPr>
          </a:p>
          <a:p>
            <a:pPr marL="257175" indent="-257175">
              <a:buFont typeface="+mj-lt"/>
              <a:buAutoNum type="arabicPeriod"/>
            </a:pPr>
            <a:r>
              <a:rPr lang="en-US" b="0" i="1" u="none" strike="noStrike" baseline="0" dirty="0">
                <a:solidFill>
                  <a:srgbClr val="000000"/>
                </a:solidFill>
                <a:latin typeface="Times New Roman" panose="02020603050405020304" pitchFamily="18" charset="0"/>
                <a:cs typeface="Times New Roman" panose="02020603050405020304" pitchFamily="18" charset="0"/>
              </a:rPr>
              <a:t>Study the importance of network layer and differentiate various routing algorithms .</a:t>
            </a:r>
          </a:p>
          <a:p>
            <a:pPr marL="257175" indent="-257175">
              <a:buFont typeface="+mj-lt"/>
              <a:buAutoNum type="arabicPeriod"/>
            </a:pPr>
            <a:r>
              <a:rPr lang="en-US" b="0" i="1" u="none" strike="noStrike" baseline="0" dirty="0">
                <a:solidFill>
                  <a:srgbClr val="000000"/>
                </a:solidFill>
                <a:latin typeface="Times New Roman" panose="02020603050405020304" pitchFamily="18" charset="0"/>
                <a:cs typeface="Times New Roman" panose="02020603050405020304" pitchFamily="18" charset="0"/>
              </a:rPr>
              <a:t>Analyze the process of QoS and congestion control algorithms. </a:t>
            </a:r>
          </a:p>
          <a:p>
            <a:pPr marL="257175" indent="-257175">
              <a:buFont typeface="+mj-lt"/>
              <a:buAutoNum type="arabicPeriod"/>
            </a:pPr>
            <a:r>
              <a:rPr lang="en-US" b="0" i="1" u="none" strike="noStrike" baseline="0" dirty="0">
                <a:solidFill>
                  <a:srgbClr val="000000"/>
                </a:solidFill>
                <a:latin typeface="Times New Roman" panose="02020603050405020304" pitchFamily="18" charset="0"/>
                <a:cs typeface="Times New Roman" panose="02020603050405020304" pitchFamily="18" charset="0"/>
              </a:rPr>
              <a:t>Acquire the knowledge of working of transport layer, its protocols and some application layer protocols. </a:t>
            </a:r>
          </a:p>
          <a:p>
            <a:r>
              <a:rPr lang="en-IN" sz="1350" dirty="0">
                <a:solidFill>
                  <a:srgbClr val="000000"/>
                </a:solidFill>
                <a:latin typeface="Lao UI" panose="020B0502040204020203" pitchFamily="34" charset="0"/>
              </a:rPr>
              <a:t>  </a:t>
            </a:r>
          </a:p>
          <a:p>
            <a:endParaRPr lang="en-IN" dirty="0"/>
          </a:p>
        </p:txBody>
      </p:sp>
      <p:sp>
        <p:nvSpPr>
          <p:cNvPr id="5" name="Slide Number Placeholder 4">
            <a:extLst>
              <a:ext uri="{FF2B5EF4-FFF2-40B4-BE49-F238E27FC236}">
                <a16:creationId xmlns:a16="http://schemas.microsoft.com/office/drawing/2014/main" xmlns="" id="{A4D398A7-6703-FFC9-73B2-F6E0F1F9BDF5}"/>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E76BB24-029A-4A95-A2A0-C4AF6C05BC8A}" type="slidenum">
              <a:rPr lang="en-IN" smtClean="0"/>
              <a:pPr/>
              <a:t>2</a:t>
            </a:fld>
            <a:endParaRPr lang="en-IN"/>
          </a:p>
        </p:txBody>
      </p:sp>
    </p:spTree>
    <p:extLst>
      <p:ext uri="{BB962C8B-B14F-4D97-AF65-F5344CB8AC3E}">
        <p14:creationId xmlns:p14="http://schemas.microsoft.com/office/powerpoint/2010/main" xmlns="" val="1579147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80638A-A8F5-A050-1384-C1968FB64C8A}"/>
              </a:ext>
            </a:extLst>
          </p:cNvPr>
          <p:cNvSpPr>
            <a:spLocks noGrp="1"/>
          </p:cNvSpPr>
          <p:nvPr>
            <p:ph type="title"/>
          </p:nvPr>
        </p:nvSpPr>
        <p:spPr>
          <a:xfrm>
            <a:off x="381000" y="381000"/>
            <a:ext cx="7886700" cy="519835"/>
          </a:xfrm>
        </p:spPr>
        <p:txBody>
          <a:bodyPr>
            <a:normAutofit fontScale="90000"/>
          </a:bodyPr>
          <a:lstStyle/>
          <a:p>
            <a:r>
              <a:rPr lang="en-US" dirty="0">
                <a:latin typeface="Times New Roman" panose="02020603050405020304" pitchFamily="18" charset="0"/>
                <a:cs typeface="Times New Roman" panose="02020603050405020304" pitchFamily="18" charset="0"/>
              </a:rPr>
              <a:t>Syllabus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C3A9F0C-2D1B-1992-B8A2-1170C67F4ACB}"/>
              </a:ext>
            </a:extLst>
          </p:cNvPr>
          <p:cNvSpPr>
            <a:spLocks noGrp="1"/>
          </p:cNvSpPr>
          <p:nvPr>
            <p:ph idx="1"/>
          </p:nvPr>
        </p:nvSpPr>
        <p:spPr>
          <a:xfrm>
            <a:off x="381001" y="1219200"/>
            <a:ext cx="8134350" cy="5232202"/>
          </a:xfrm>
        </p:spPr>
        <p:txBody>
          <a:bodyPr/>
          <a:lstStyle/>
          <a:p>
            <a:pPr algn="just"/>
            <a:r>
              <a:rPr lang="en-IN" sz="2000" b="1" dirty="0">
                <a:solidFill>
                  <a:srgbClr val="FF0000"/>
                </a:solidFill>
                <a:latin typeface="Times New Roman" panose="02020603050405020304" pitchFamily="18" charset="0"/>
                <a:cs typeface="Times New Roman" panose="02020603050405020304" pitchFamily="18" charset="0"/>
              </a:rPr>
              <a:t>UNIT-I </a:t>
            </a:r>
            <a:r>
              <a:rPr lang="en-IN" sz="2000" dirty="0">
                <a:solidFill>
                  <a:srgbClr val="FF0000"/>
                </a:solidFill>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15 Hours</a:t>
            </a:r>
          </a:p>
          <a:p>
            <a:pPr algn="just"/>
            <a:r>
              <a:rPr lang="en-IN" sz="2000" dirty="0">
                <a:solidFill>
                  <a:srgbClr val="FF0000"/>
                </a:solidFill>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IN" sz="2000" b="1" dirty="0">
                <a:solidFill>
                  <a:srgbClr val="000000"/>
                </a:solidFill>
                <a:latin typeface="Times New Roman" panose="02020603050405020304" pitchFamily="18" charset="0"/>
                <a:cs typeface="Times New Roman" panose="02020603050405020304" pitchFamily="18" charset="0"/>
              </a:rPr>
              <a:t>Introduction: </a:t>
            </a:r>
            <a:r>
              <a:rPr lang="en-IN" sz="2000" dirty="0">
                <a:solidFill>
                  <a:srgbClr val="000000"/>
                </a:solidFill>
                <a:latin typeface="Times New Roman" panose="02020603050405020304" pitchFamily="18" charset="0"/>
                <a:cs typeface="Times New Roman" panose="02020603050405020304" pitchFamily="18" charset="0"/>
              </a:rPr>
              <a:t>Data Communications, Networks, Network Types, Connection-Oriented Versus Connectionless Service, Introduction to network Devices-Modem, Hub, Switch, Router, </a:t>
            </a:r>
            <a:r>
              <a:rPr lang="en-IN" sz="2000" b="1" dirty="0">
                <a:solidFill>
                  <a:srgbClr val="000000"/>
                </a:solidFill>
                <a:latin typeface="Times New Roman" panose="02020603050405020304" pitchFamily="18" charset="0"/>
                <a:cs typeface="Times New Roman" panose="02020603050405020304" pitchFamily="18" charset="0"/>
              </a:rPr>
              <a:t>Network Models</a:t>
            </a:r>
            <a:r>
              <a:rPr lang="en-IN" sz="2000" dirty="0">
                <a:solidFill>
                  <a:srgbClr val="000000"/>
                </a:solidFill>
                <a:latin typeface="Times New Roman" panose="02020603050405020304" pitchFamily="18" charset="0"/>
                <a:cs typeface="Times New Roman" panose="02020603050405020304" pitchFamily="18" charset="0"/>
              </a:rPr>
              <a:t>: TCP/IP Protocol Suite, OSI Model, OSI versus TCP/IP. </a:t>
            </a:r>
          </a:p>
          <a:p>
            <a:pPr marL="457200" indent="-457200" algn="just">
              <a:buFont typeface="+mj-lt"/>
              <a:buAutoNum type="arabicPeriod"/>
            </a:pPr>
            <a:r>
              <a:rPr lang="en-IN" sz="2000" b="1" dirty="0">
                <a:solidFill>
                  <a:srgbClr val="000000"/>
                </a:solidFill>
                <a:latin typeface="Times New Roman" panose="02020603050405020304" pitchFamily="18" charset="0"/>
                <a:cs typeface="Times New Roman" panose="02020603050405020304" pitchFamily="18" charset="0"/>
              </a:rPr>
              <a:t>Physical Layer: </a:t>
            </a:r>
            <a:r>
              <a:rPr lang="en-US" sz="2000" b="1" dirty="0">
                <a:solidFill>
                  <a:srgbClr val="000000"/>
                </a:solidFill>
                <a:latin typeface="Times New Roman" panose="02020603050405020304" pitchFamily="18" charset="0"/>
                <a:cs typeface="Times New Roman" panose="02020603050405020304" pitchFamily="18" charset="0"/>
              </a:rPr>
              <a:t>Introduction to Physical Layer</a:t>
            </a:r>
            <a:r>
              <a:rPr lang="en-US" sz="2000" dirty="0">
                <a:solidFill>
                  <a:srgbClr val="000000"/>
                </a:solidFill>
                <a:latin typeface="Times New Roman" panose="02020603050405020304" pitchFamily="18" charset="0"/>
                <a:cs typeface="Times New Roman" panose="02020603050405020304" pitchFamily="18" charset="0"/>
              </a:rPr>
              <a:t>: Digital Signals, Transmission Impairment, Data Rate Limits, Performance, Example Problems(self-learning), Line Coding Schemes (Unipolar and Polar only) </a:t>
            </a:r>
          </a:p>
          <a:p>
            <a:pPr marL="457200" indent="-457200" algn="just">
              <a:buFont typeface="+mj-lt"/>
              <a:buAutoNum type="arabicPeriod"/>
            </a:pPr>
            <a:r>
              <a:rPr lang="en-US" sz="2000" b="1" dirty="0">
                <a:solidFill>
                  <a:srgbClr val="000000"/>
                </a:solidFill>
                <a:latin typeface="Times New Roman" panose="02020603050405020304" pitchFamily="18" charset="0"/>
                <a:cs typeface="Times New Roman" panose="02020603050405020304" pitchFamily="18" charset="0"/>
              </a:rPr>
              <a:t>Transmission Media</a:t>
            </a:r>
            <a:r>
              <a:rPr lang="en-US" sz="2000" dirty="0">
                <a:solidFill>
                  <a:srgbClr val="000000"/>
                </a:solidFill>
                <a:latin typeface="Times New Roman" panose="02020603050405020304" pitchFamily="18" charset="0"/>
                <a:cs typeface="Times New Roman" panose="02020603050405020304" pitchFamily="18" charset="0"/>
              </a:rPr>
              <a:t>: Guided Media, </a:t>
            </a:r>
            <a:r>
              <a:rPr lang="en-US" sz="2000" b="1" dirty="0">
                <a:solidFill>
                  <a:srgbClr val="000000"/>
                </a:solidFill>
                <a:latin typeface="Times New Roman" panose="02020603050405020304" pitchFamily="18" charset="0"/>
                <a:cs typeface="Times New Roman" panose="02020603050405020304" pitchFamily="18" charset="0"/>
              </a:rPr>
              <a:t>Switching</a:t>
            </a:r>
            <a:r>
              <a:rPr lang="en-US" sz="2000" dirty="0">
                <a:solidFill>
                  <a:srgbClr val="000000"/>
                </a:solidFill>
                <a:latin typeface="Times New Roman" panose="02020603050405020304" pitchFamily="18" charset="0"/>
                <a:cs typeface="Times New Roman" panose="02020603050405020304" pitchFamily="18" charset="0"/>
              </a:rPr>
              <a:t>: Introduction, Packet Switching. </a:t>
            </a:r>
          </a:p>
          <a:p>
            <a:pPr marL="457200" indent="-457200" algn="just">
              <a:buFont typeface="+mj-lt"/>
              <a:buAutoNum type="arabicPeriod"/>
            </a:pPr>
            <a:r>
              <a:rPr lang="en-IN" sz="2000" b="1" dirty="0">
                <a:solidFill>
                  <a:srgbClr val="000000"/>
                </a:solidFill>
                <a:latin typeface="Times New Roman" panose="02020603050405020304" pitchFamily="18" charset="0"/>
                <a:cs typeface="Times New Roman" panose="02020603050405020304" pitchFamily="18" charset="0"/>
              </a:rPr>
              <a:t>Data-Link Layer: </a:t>
            </a:r>
            <a:r>
              <a:rPr lang="en-US" sz="2000" dirty="0">
                <a:solidFill>
                  <a:srgbClr val="000000"/>
                </a:solidFill>
                <a:latin typeface="Times New Roman" panose="02020603050405020304" pitchFamily="18" charset="0"/>
                <a:cs typeface="Times New Roman" panose="02020603050405020304" pitchFamily="18" charset="0"/>
              </a:rPr>
              <a:t>Introduction, Link-Layer Addressing (up to ARP) </a:t>
            </a:r>
            <a:r>
              <a:rPr lang="en-US" sz="2000" b="1" dirty="0">
                <a:solidFill>
                  <a:srgbClr val="000000"/>
                </a:solidFill>
                <a:latin typeface="Times New Roman" panose="02020603050405020304" pitchFamily="18" charset="0"/>
                <a:cs typeface="Times New Roman" panose="02020603050405020304" pitchFamily="18" charset="0"/>
              </a:rPr>
              <a:t>Error Detection and Correction </a:t>
            </a:r>
            <a:r>
              <a:rPr lang="en-US" sz="2000" dirty="0">
                <a:solidFill>
                  <a:srgbClr val="000000"/>
                </a:solidFill>
                <a:latin typeface="Times New Roman" panose="02020603050405020304" pitchFamily="18" charset="0"/>
                <a:cs typeface="Times New Roman" panose="02020603050405020304" pitchFamily="18" charset="0"/>
              </a:rPr>
              <a:t>Introduction, Block Coding, Cyclic Redundancy Check, </a:t>
            </a:r>
          </a:p>
          <a:p>
            <a:pPr marL="457200" indent="-457200" algn="just">
              <a:buFont typeface="+mj-lt"/>
              <a:buAutoNum type="arabicPeriod"/>
            </a:pPr>
            <a:r>
              <a:rPr lang="en-US" sz="2000" b="1" dirty="0">
                <a:solidFill>
                  <a:srgbClr val="000000"/>
                </a:solidFill>
                <a:latin typeface="Times New Roman" panose="02020603050405020304" pitchFamily="18" charset="0"/>
                <a:cs typeface="Times New Roman" panose="02020603050405020304" pitchFamily="18" charset="0"/>
              </a:rPr>
              <a:t>Media Access Control</a:t>
            </a:r>
            <a:r>
              <a:rPr lang="en-US" sz="2000" dirty="0">
                <a:solidFill>
                  <a:srgbClr val="000000"/>
                </a:solidFill>
                <a:latin typeface="Times New Roman" panose="02020603050405020304" pitchFamily="18" charset="0"/>
                <a:cs typeface="Times New Roman" panose="02020603050405020304" pitchFamily="18" charset="0"/>
              </a:rPr>
              <a:t>: CSMA, CSMA/CD. (Textbook T1) 	</a:t>
            </a:r>
          </a:p>
          <a:p>
            <a:pPr algn="just"/>
            <a:endParaRPr lang="en-IN" sz="2000" dirty="0">
              <a:solidFill>
                <a:srgbClr val="000000"/>
              </a:solidFill>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DBB59E60-B7D9-67EB-1344-DE0999CE5CEC}"/>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E76BB24-029A-4A95-A2A0-C4AF6C05BC8A}" type="slidenum">
              <a:rPr lang="en-IN" smtClean="0"/>
              <a:pPr/>
              <a:t>3</a:t>
            </a:fld>
            <a:endParaRPr lang="en-IN"/>
          </a:p>
        </p:txBody>
      </p:sp>
    </p:spTree>
    <p:extLst>
      <p:ext uri="{BB962C8B-B14F-4D97-AF65-F5344CB8AC3E}">
        <p14:creationId xmlns:p14="http://schemas.microsoft.com/office/powerpoint/2010/main" xmlns="" val="3865549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7B802B7-DCB4-F820-936E-AFAB52FD9D5F}"/>
              </a:ext>
            </a:extLst>
          </p:cNvPr>
          <p:cNvSpPr>
            <a:spLocks noGrp="1"/>
          </p:cNvSpPr>
          <p:nvPr>
            <p:ph idx="1"/>
          </p:nvPr>
        </p:nvSpPr>
        <p:spPr>
          <a:xfrm>
            <a:off x="304801" y="228600"/>
            <a:ext cx="8458200" cy="6127750"/>
          </a:xfrm>
        </p:spPr>
        <p:txBody>
          <a:bodyPr>
            <a:noAutofit/>
          </a:bodyPr>
          <a:lstStyle/>
          <a:p>
            <a:pPr algn="just"/>
            <a:endParaRPr lang="en-IN" sz="2000" dirty="0">
              <a:solidFill>
                <a:srgbClr val="000000"/>
              </a:solidFill>
              <a:latin typeface="Times New Roman" panose="02020603050405020304" pitchFamily="18" charset="0"/>
              <a:cs typeface="Times New Roman" panose="02020603050405020304" pitchFamily="18" charset="0"/>
            </a:endParaRPr>
          </a:p>
          <a:p>
            <a:pPr algn="just"/>
            <a:r>
              <a:rPr lang="en-IN" sz="2000" dirty="0">
                <a:solidFill>
                  <a:srgbClr val="000000"/>
                </a:solidFill>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UNIT-II                                                                                                     16 Hours</a:t>
            </a:r>
            <a:endParaRPr lang="en-IN" sz="2000" dirty="0">
              <a:solidFill>
                <a:srgbClr val="FF0000"/>
              </a:solidFill>
              <a:latin typeface="Times New Roman" panose="02020603050405020304" pitchFamily="18" charset="0"/>
              <a:cs typeface="Times New Roman" panose="02020603050405020304" pitchFamily="18" charset="0"/>
            </a:endParaRPr>
          </a:p>
          <a:p>
            <a:pPr algn="just"/>
            <a:r>
              <a:rPr lang="en-IN" sz="2000" b="1" dirty="0">
                <a:solidFill>
                  <a:srgbClr val="FF0000"/>
                </a:solidFill>
                <a:latin typeface="Times New Roman" panose="02020603050405020304" pitchFamily="18" charset="0"/>
                <a:cs typeface="Times New Roman" panose="02020603050405020304" pitchFamily="18" charset="0"/>
              </a:rPr>
              <a:t> </a:t>
            </a:r>
          </a:p>
          <a:p>
            <a:pPr algn="just"/>
            <a:r>
              <a:rPr lang="en-IN" sz="2000" b="1" dirty="0">
                <a:solidFill>
                  <a:srgbClr val="000000"/>
                </a:solidFill>
                <a:latin typeface="Times New Roman" panose="02020603050405020304" pitchFamily="18" charset="0"/>
                <a:cs typeface="Times New Roman" panose="02020603050405020304" pitchFamily="18" charset="0"/>
              </a:rPr>
              <a:t>Data Link Layer Contd. </a:t>
            </a:r>
            <a:endParaRPr lang="en-IN" sz="2000" dirty="0">
              <a:solidFill>
                <a:srgbClr val="000000"/>
              </a:solidFill>
              <a:latin typeface="Times New Roman" panose="02020603050405020304" pitchFamily="18" charset="0"/>
              <a:cs typeface="Times New Roman" panose="02020603050405020304" pitchFamily="18" charset="0"/>
            </a:endParaRPr>
          </a:p>
          <a:p>
            <a:pPr marL="257175" indent="-257175" algn="just">
              <a:buFont typeface="+mj-lt"/>
              <a:buAutoNum type="arabicPeriod"/>
            </a:pPr>
            <a:r>
              <a:rPr lang="en-US" sz="2000" b="1" dirty="0">
                <a:solidFill>
                  <a:srgbClr val="000000"/>
                </a:solidFill>
                <a:latin typeface="Times New Roman" panose="02020603050405020304" pitchFamily="18" charset="0"/>
                <a:cs typeface="Times New Roman" panose="02020603050405020304" pitchFamily="18" charset="0"/>
              </a:rPr>
              <a:t>Wired LANs</a:t>
            </a:r>
            <a:r>
              <a:rPr lang="en-US" sz="2000" dirty="0">
                <a:solidFill>
                  <a:srgbClr val="000000"/>
                </a:solidFill>
                <a:latin typeface="Times New Roman" panose="02020603050405020304" pitchFamily="18" charset="0"/>
                <a:cs typeface="Times New Roman" panose="02020603050405020304" pitchFamily="18" charset="0"/>
              </a:rPr>
              <a:t>: Ethernet Protocol, Standard Ethernet (up to Access Method), </a:t>
            </a:r>
            <a:r>
              <a:rPr lang="en-US" sz="2000" b="1" dirty="0">
                <a:solidFill>
                  <a:srgbClr val="000000"/>
                </a:solidFill>
                <a:latin typeface="Times New Roman" panose="02020603050405020304" pitchFamily="18" charset="0"/>
                <a:cs typeface="Times New Roman" panose="02020603050405020304" pitchFamily="18" charset="0"/>
              </a:rPr>
              <a:t>Wireless LANs</a:t>
            </a:r>
            <a:r>
              <a:rPr lang="en-US" sz="2000" dirty="0">
                <a:solidFill>
                  <a:srgbClr val="000000"/>
                </a:solidFill>
                <a:latin typeface="Times New Roman" panose="02020603050405020304" pitchFamily="18" charset="0"/>
                <a:cs typeface="Times New Roman" panose="02020603050405020304" pitchFamily="18" charset="0"/>
              </a:rPr>
              <a:t>: Introduction (Textbook T1) </a:t>
            </a:r>
          </a:p>
          <a:p>
            <a:pPr marL="257175" indent="-257175" algn="just">
              <a:buFont typeface="+mj-lt"/>
              <a:buAutoNum type="arabicPeriod"/>
            </a:pPr>
            <a:r>
              <a:rPr lang="en-IN" sz="2000" b="1" dirty="0">
                <a:solidFill>
                  <a:srgbClr val="000000"/>
                </a:solidFill>
                <a:latin typeface="Times New Roman" panose="02020603050405020304" pitchFamily="18" charset="0"/>
                <a:cs typeface="Times New Roman" panose="02020603050405020304" pitchFamily="18" charset="0"/>
              </a:rPr>
              <a:t>Network Layer: </a:t>
            </a:r>
            <a:r>
              <a:rPr lang="en-IN" sz="2000" dirty="0">
                <a:solidFill>
                  <a:srgbClr val="000000"/>
                </a:solidFill>
                <a:latin typeface="Times New Roman" panose="02020603050405020304" pitchFamily="18" charset="0"/>
                <a:cs typeface="Times New Roman" panose="02020603050405020304" pitchFamily="18" charset="0"/>
              </a:rPr>
              <a:t>Network-Layer Services, Packet Switching, Network Layer Performance. IPv4 Addresses, Packet Format of IPv4, IPv6 Address and packet format, ICMPv4 (Textbook T1) </a:t>
            </a:r>
          </a:p>
          <a:p>
            <a:pPr marL="257175" indent="-257175" algn="just">
              <a:buFont typeface="+mj-lt"/>
              <a:buAutoNum type="arabicPeriod"/>
            </a:pPr>
            <a:r>
              <a:rPr lang="en-US" sz="2000" b="1" dirty="0">
                <a:solidFill>
                  <a:srgbClr val="000000"/>
                </a:solidFill>
                <a:latin typeface="Times New Roman" panose="02020603050405020304" pitchFamily="18" charset="0"/>
                <a:cs typeface="Times New Roman" panose="02020603050405020304" pitchFamily="18" charset="0"/>
              </a:rPr>
              <a:t>Routing Algorithms </a:t>
            </a:r>
            <a:r>
              <a:rPr lang="en-US" sz="2000" dirty="0">
                <a:solidFill>
                  <a:srgbClr val="000000"/>
                </a:solidFill>
                <a:latin typeface="Times New Roman" panose="02020603050405020304" pitchFamily="18" charset="0"/>
                <a:cs typeface="Times New Roman" panose="02020603050405020304" pitchFamily="18" charset="0"/>
              </a:rPr>
              <a:t>up to Multicast Routing, Congestion Control Algorithms, Quality of Service, Internetworking. (Textbook T2) </a:t>
            </a:r>
          </a:p>
          <a:p>
            <a:pPr marL="257175" indent="-257175" algn="just">
              <a:buFont typeface="+mj-lt"/>
              <a:buAutoNum type="arabicPeriod"/>
            </a:pPr>
            <a:r>
              <a:rPr lang="en-US" sz="2000" b="1" dirty="0">
                <a:solidFill>
                  <a:srgbClr val="000000"/>
                </a:solidFill>
                <a:latin typeface="Times New Roman" panose="02020603050405020304" pitchFamily="18" charset="0"/>
                <a:cs typeface="Times New Roman" panose="02020603050405020304" pitchFamily="18" charset="0"/>
              </a:rPr>
              <a:t>Routing for Mobile Hosts </a:t>
            </a:r>
            <a:r>
              <a:rPr lang="en-US" sz="2000" dirty="0">
                <a:solidFill>
                  <a:srgbClr val="000000"/>
                </a:solidFill>
                <a:latin typeface="Times New Roman" panose="02020603050405020304" pitchFamily="18" charset="0"/>
                <a:cs typeface="Times New Roman" panose="02020603050405020304" pitchFamily="18" charset="0"/>
              </a:rPr>
              <a:t>(self-learning) 	</a:t>
            </a:r>
          </a:p>
          <a:p>
            <a:pPr algn="just"/>
            <a:endParaRPr lang="en-US" sz="2000" dirty="0">
              <a:solidFill>
                <a:srgbClr val="000000"/>
              </a:solidFill>
              <a:latin typeface="Times New Roman" panose="02020603050405020304" pitchFamily="18" charset="0"/>
              <a:cs typeface="Times New Roman" panose="02020603050405020304" pitchFamily="18" charset="0"/>
            </a:endParaRPr>
          </a:p>
          <a:p>
            <a:pPr algn="just"/>
            <a:r>
              <a:rPr lang="en-IN" sz="2000" dirty="0">
                <a:solidFill>
                  <a:srgbClr val="FF0000"/>
                </a:solidFill>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UNIT-III                                                                                                      9 hours</a:t>
            </a:r>
          </a:p>
          <a:p>
            <a:pPr marL="457200" indent="-457200" algn="just">
              <a:buFont typeface="+mj-lt"/>
              <a:buAutoNum type="arabicPeriod"/>
            </a:pPr>
            <a:r>
              <a:rPr lang="en-IN" sz="2000" b="1" dirty="0">
                <a:solidFill>
                  <a:srgbClr val="000000"/>
                </a:solidFill>
                <a:latin typeface="Times New Roman" panose="02020603050405020304" pitchFamily="18" charset="0"/>
                <a:cs typeface="Times New Roman" panose="02020603050405020304" pitchFamily="18" charset="0"/>
              </a:rPr>
              <a:t>Transport Layer: </a:t>
            </a:r>
            <a:r>
              <a:rPr lang="en-IN" sz="2000" dirty="0">
                <a:solidFill>
                  <a:srgbClr val="000000"/>
                </a:solidFill>
                <a:latin typeface="Times New Roman" panose="02020603050405020304" pitchFamily="18" charset="0"/>
                <a:cs typeface="Times New Roman" panose="02020603050405020304" pitchFamily="18" charset="0"/>
              </a:rPr>
              <a:t>Transport Layer Services, Port Numbers, User Datagram Protocol, Transmission Control Protocol 	</a:t>
            </a:r>
          </a:p>
          <a:p>
            <a:pPr marL="457200" indent="-457200" algn="just">
              <a:buFont typeface="+mj-lt"/>
              <a:buAutoNum type="arabicPeriod"/>
            </a:pPr>
            <a:r>
              <a:rPr lang="en-IN" sz="2000" b="1" dirty="0">
                <a:solidFill>
                  <a:srgbClr val="000000"/>
                </a:solidFill>
                <a:latin typeface="Times New Roman" panose="02020603050405020304" pitchFamily="18" charset="0"/>
                <a:cs typeface="Times New Roman" panose="02020603050405020304" pitchFamily="18" charset="0"/>
              </a:rPr>
              <a:t>Application Layer: </a:t>
            </a:r>
            <a:r>
              <a:rPr lang="en-US" sz="2000" dirty="0">
                <a:solidFill>
                  <a:srgbClr val="000000"/>
                </a:solidFill>
                <a:latin typeface="Times New Roman" panose="02020603050405020304" pitchFamily="18" charset="0"/>
                <a:cs typeface="Times New Roman" panose="02020603050405020304" pitchFamily="18" charset="0"/>
              </a:rPr>
              <a:t>Introduction, Client/Server Paradigm, Standard Client-Server Protocols: World Wide Web and HTTP, FTP, Electronic Mail, DNS, (Textbook T1) </a:t>
            </a:r>
          </a:p>
          <a:p>
            <a:pPr marL="457200" indent="-457200" algn="just">
              <a:buFont typeface="+mj-lt"/>
              <a:buAutoNum type="arabicPeriod"/>
            </a:pPr>
            <a:r>
              <a:rPr lang="en-IN" sz="2000" b="1" dirty="0">
                <a:solidFill>
                  <a:srgbClr val="000000"/>
                </a:solidFill>
                <a:latin typeface="Times New Roman" panose="02020603050405020304" pitchFamily="18" charset="0"/>
                <a:cs typeface="Times New Roman" panose="02020603050405020304" pitchFamily="18" charset="0"/>
              </a:rPr>
              <a:t>Telnet and SSH (self-learning</a:t>
            </a:r>
            <a:r>
              <a:rPr lang="en-IN" sz="2000" dirty="0">
                <a:solidFill>
                  <a:srgbClr val="000000"/>
                </a:solidFill>
                <a:latin typeface="Times New Roman" panose="02020603050405020304" pitchFamily="18" charset="0"/>
                <a:cs typeface="Times New Roman" panose="02020603050405020304" pitchFamily="18" charset="0"/>
              </a:rPr>
              <a:t>) 	</a:t>
            </a:r>
          </a:p>
          <a:p>
            <a:pPr algn="just"/>
            <a:r>
              <a:rPr lang="en-IN" sz="2000" dirty="0">
                <a:solidFill>
                  <a:srgbClr val="000000"/>
                </a:solidFill>
                <a:latin typeface="Times New Roman" panose="02020603050405020304" pitchFamily="18" charset="0"/>
                <a:cs typeface="Times New Roman" panose="02020603050405020304" pitchFamily="18" charset="0"/>
              </a:rPr>
              <a:t>	</a:t>
            </a:r>
          </a:p>
          <a:p>
            <a:pPr marL="257175" indent="-257175" algn="just">
              <a:buFont typeface="+mj-lt"/>
              <a:buAutoNum type="arabicPeriod"/>
            </a:pPr>
            <a:endParaRPr lang="en-US" sz="2000" dirty="0">
              <a:solidFill>
                <a:srgbClr val="000000"/>
              </a:solidFill>
              <a:latin typeface="Times New Roman" panose="02020603050405020304" pitchFamily="18" charset="0"/>
              <a:cs typeface="Times New Roman" panose="02020603050405020304" pitchFamily="18" charset="0"/>
            </a:endParaRPr>
          </a:p>
          <a:p>
            <a:pPr algn="just"/>
            <a:endParaRPr lang="en-IN" sz="2000" dirty="0">
              <a:solidFill>
                <a:srgbClr val="000000"/>
              </a:solidFill>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D1164E06-7E62-EA41-B780-D8D186A9EFF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E76BB24-029A-4A95-A2A0-C4AF6C05BC8A}" type="slidenum">
              <a:rPr lang="en-IN" smtClean="0"/>
              <a:pPr/>
              <a:t>4</a:t>
            </a:fld>
            <a:endParaRPr lang="en-IN"/>
          </a:p>
        </p:txBody>
      </p:sp>
    </p:spTree>
    <p:extLst>
      <p:ext uri="{BB962C8B-B14F-4D97-AF65-F5344CB8AC3E}">
        <p14:creationId xmlns:p14="http://schemas.microsoft.com/office/powerpoint/2010/main" xmlns="" val="1012835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B31859-91A4-20AB-5EE2-7D6E0C259A37}"/>
              </a:ext>
            </a:extLst>
          </p:cNvPr>
          <p:cNvSpPr>
            <a:spLocks noGrp="1"/>
          </p:cNvSpPr>
          <p:nvPr>
            <p:ph type="title"/>
          </p:nvPr>
        </p:nvSpPr>
        <p:spPr>
          <a:xfrm>
            <a:off x="650054" y="478662"/>
            <a:ext cx="7960546" cy="1045338"/>
          </a:xfrm>
        </p:spPr>
        <p:txBody>
          <a:bodyPr>
            <a:normAutofit/>
          </a:bodyPr>
          <a:lstStyle/>
          <a:p>
            <a:r>
              <a:rPr lang="en-IN" sz="2100" b="1" dirty="0">
                <a:solidFill>
                  <a:srgbClr val="000000"/>
                </a:solidFill>
                <a:latin typeface="Times New Roman" panose="02020603050405020304" pitchFamily="18" charset="0"/>
                <a:cs typeface="Times New Roman" panose="02020603050405020304" pitchFamily="18" charset="0"/>
              </a:rPr>
              <a:t>Suggested List of Experiments </a:t>
            </a:r>
            <a:r>
              <a:rPr lang="en-IN" sz="2100" dirty="0">
                <a:solidFill>
                  <a:srgbClr val="000000"/>
                </a:solidFill>
                <a:latin typeface="Times New Roman" panose="02020603050405020304" pitchFamily="18" charset="0"/>
                <a:cs typeface="Times New Roman" panose="02020603050405020304" pitchFamily="18" charset="0"/>
              </a:rPr>
              <a:t>	</a:t>
            </a:r>
            <a:br>
              <a:rPr lang="en-IN" sz="2100" dirty="0">
                <a:solidFill>
                  <a:srgbClr val="000000"/>
                </a:solidFill>
                <a:latin typeface="Times New Roman" panose="02020603050405020304" pitchFamily="18" charset="0"/>
                <a:cs typeface="Times New Roman" panose="02020603050405020304" pitchFamily="18" charset="0"/>
              </a:rPr>
            </a:br>
            <a:r>
              <a:rPr lang="en-US" sz="2100" b="1" dirty="0">
                <a:solidFill>
                  <a:srgbClr val="000000"/>
                </a:solidFill>
                <a:latin typeface="Times New Roman" panose="02020603050405020304" pitchFamily="18" charset="0"/>
                <a:cs typeface="Times New Roman" panose="02020603050405020304" pitchFamily="18" charset="0"/>
              </a:rPr>
              <a:t>Part-A(Experiments using NS-2/ NS-3) </a:t>
            </a:r>
            <a:r>
              <a:rPr lang="en-US" sz="2100" dirty="0">
                <a:solidFill>
                  <a:srgbClr val="000000"/>
                </a:solidFill>
                <a:latin typeface="Times New Roman" panose="02020603050405020304" pitchFamily="18" charset="0"/>
                <a:cs typeface="Times New Roman" panose="02020603050405020304" pitchFamily="18" charset="0"/>
              </a:rPr>
              <a:t>	</a:t>
            </a:r>
            <a:br>
              <a:rPr lang="en-US" sz="2100" dirty="0">
                <a:solidFill>
                  <a:srgbClr val="000000"/>
                </a:solidFill>
                <a:latin typeface="Times New Roman" panose="02020603050405020304" pitchFamily="18" charset="0"/>
                <a:cs typeface="Times New Roman" panose="02020603050405020304" pitchFamily="18" charset="0"/>
              </a:rPr>
            </a:br>
            <a:endParaRPr lang="en-IN" sz="21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58F5F75-9B99-A30A-EC2B-2CC1FF58F8B1}"/>
              </a:ext>
            </a:extLst>
          </p:cNvPr>
          <p:cNvSpPr>
            <a:spLocks noGrp="1"/>
          </p:cNvSpPr>
          <p:nvPr>
            <p:ph idx="1"/>
          </p:nvPr>
        </p:nvSpPr>
        <p:spPr>
          <a:xfrm>
            <a:off x="457200" y="1371600"/>
            <a:ext cx="8036746" cy="4114800"/>
          </a:xfrm>
        </p:spPr>
        <p:txBody>
          <a:bodyPr>
            <a:noAutofit/>
          </a:bodyPr>
          <a:lstStyle/>
          <a:p>
            <a:pPr marL="257175" indent="-257175" algn="just">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Simulate a three nodes’ point-to-point network with duplex links between them. Set the queue size, vary the bandwidth and find the number of packets dropped. 	</a:t>
            </a:r>
          </a:p>
          <a:p>
            <a:pPr marL="257175" indent="-257175" algn="just">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Simulate a four-node point-to-point network, and connect the links as follows: n0-n2, n1-n2 and n2-n3. Apply TCP agent between n0-n3 and UDP n1-n3. Apply relevant applications over TCP and UDP agents changing the parameter and determine the number of packets by TCP/UDP. 	</a:t>
            </a:r>
          </a:p>
          <a:p>
            <a:pPr marL="257175" indent="-257175" algn="just">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Simulate the different types of Internet traffic such as FTP a TELNET over a network and analyze the throughput. 	</a:t>
            </a:r>
          </a:p>
          <a:p>
            <a:pPr marL="257175" indent="-257175" algn="just">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Simulate the transmission of ping messages over a network topology consisting of 6 nodes and find the number of packets dropped due to congestion. 	</a:t>
            </a:r>
          </a:p>
          <a:p>
            <a:pPr marL="257175" indent="-257175" algn="just">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Simulate an Ethernet LAN using N-nodes (6-10), change error rate and data rate and compare the throughput. 	</a:t>
            </a:r>
          </a:p>
          <a:p>
            <a:pPr marL="257175" indent="-257175" algn="just">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Simulate an Ethernet LAN using N nodes and set multiple traffic nodes and determine collision across different nodes. 	</a:t>
            </a:r>
          </a:p>
          <a:p>
            <a:pPr marL="257175" indent="-257175" algn="just">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Simulate an Ethernet LAN using N nodes and set multiple traffic nodes and plot congestion window for different source/destination. 	</a:t>
            </a:r>
          </a:p>
          <a:p>
            <a:pPr algn="just"/>
            <a:endParaRPr lang="en-IN" sz="1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9BA45662-62AB-6665-614F-54A66B4F9E1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E76BB24-029A-4A95-A2A0-C4AF6C05BC8A}" type="slidenum">
              <a:rPr lang="en-IN" smtClean="0"/>
              <a:pPr/>
              <a:t>5</a:t>
            </a:fld>
            <a:endParaRPr lang="en-IN"/>
          </a:p>
        </p:txBody>
      </p:sp>
    </p:spTree>
    <p:extLst>
      <p:ext uri="{BB962C8B-B14F-4D97-AF65-F5344CB8AC3E}">
        <p14:creationId xmlns:p14="http://schemas.microsoft.com/office/powerpoint/2010/main" xmlns="" val="4102324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47A37E-1669-A926-81A4-6581741210DD}"/>
              </a:ext>
            </a:extLst>
          </p:cNvPr>
          <p:cNvSpPr>
            <a:spLocks noGrp="1"/>
          </p:cNvSpPr>
          <p:nvPr>
            <p:ph type="title"/>
          </p:nvPr>
        </p:nvSpPr>
        <p:spPr>
          <a:xfrm>
            <a:off x="428946" y="457200"/>
            <a:ext cx="7886700" cy="697064"/>
          </a:xfrm>
        </p:spPr>
        <p:txBody>
          <a:bodyPr>
            <a:normAutofit/>
          </a:bodyPr>
          <a:lstStyle/>
          <a:p>
            <a:r>
              <a:rPr lang="en-US" sz="2100" b="1" dirty="0">
                <a:solidFill>
                  <a:srgbClr val="000000"/>
                </a:solidFill>
                <a:latin typeface="Times New Roman" panose="02020603050405020304" pitchFamily="18" charset="0"/>
                <a:cs typeface="Times New Roman" panose="02020603050405020304" pitchFamily="18" charset="0"/>
              </a:rPr>
              <a:t>PART B (Experiments using C/C++/Python) 	</a:t>
            </a:r>
            <a:endParaRPr lang="en-IN" sz="45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5B22C9F-3EFC-1991-51B3-5E94E070AC39}"/>
              </a:ext>
            </a:extLst>
          </p:cNvPr>
          <p:cNvSpPr>
            <a:spLocks noGrp="1"/>
          </p:cNvSpPr>
          <p:nvPr>
            <p:ph idx="1"/>
          </p:nvPr>
        </p:nvSpPr>
        <p:spPr>
          <a:xfrm>
            <a:off x="428946" y="1154264"/>
            <a:ext cx="8068424" cy="3738871"/>
          </a:xfrm>
        </p:spPr>
        <p:txBody>
          <a:bodyPr>
            <a:normAutofit/>
          </a:bodyPr>
          <a:lstStyle/>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Write a program for error detecting code using CRC-CCITT (16-bits).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Write a program for frame sorting technique used in buffers.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Write a program for distance vector algorithm to find suitable path for transmission.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Using TCP/IP sockets, write a client-server program to make client sending the filename and the server to send back the contents of the requested file if present.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Using UDP SOCKETS, write a client-server program to make the client sending two numbers and an operator, and server responding with the result. Display the result and appropriate messages for invalid inputs at the client side.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Write a program for Hamming Code generation for error detection and correction.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Write a program for simple RSA algorithm to encrypt and decrypt the data. 	</a:t>
            </a:r>
          </a:p>
          <a:p>
            <a:endParaRPr lang="en-IN" sz="1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63B1A92B-3B70-BE64-5284-1922663A967F}"/>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E76BB24-029A-4A95-A2A0-C4AF6C05BC8A}" type="slidenum">
              <a:rPr lang="en-IN" smtClean="0"/>
              <a:pPr/>
              <a:t>6</a:t>
            </a:fld>
            <a:endParaRPr lang="en-IN"/>
          </a:p>
        </p:txBody>
      </p:sp>
    </p:spTree>
    <p:extLst>
      <p:ext uri="{BB962C8B-B14F-4D97-AF65-F5344CB8AC3E}">
        <p14:creationId xmlns:p14="http://schemas.microsoft.com/office/powerpoint/2010/main" xmlns="" val="2029879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2AFEBC-6FCA-288D-F945-23835BA9BD6F}"/>
              </a:ext>
            </a:extLst>
          </p:cNvPr>
          <p:cNvSpPr>
            <a:spLocks noGrp="1"/>
          </p:cNvSpPr>
          <p:nvPr>
            <p:ph type="title"/>
          </p:nvPr>
        </p:nvSpPr>
        <p:spPr>
          <a:xfrm>
            <a:off x="343542" y="780487"/>
            <a:ext cx="7886700" cy="581480"/>
          </a:xfrm>
        </p:spPr>
        <p:txBody>
          <a:bodyPr>
            <a:normAutofit/>
          </a:bodyPr>
          <a:lstStyle/>
          <a:p>
            <a:r>
              <a:rPr lang="en-US" sz="2100" b="1" dirty="0">
                <a:solidFill>
                  <a:srgbClr val="000000"/>
                </a:solidFill>
                <a:latin typeface="Times New Roman" panose="02020603050405020304" pitchFamily="18" charset="0"/>
                <a:cs typeface="Times New Roman" panose="02020603050405020304" pitchFamily="18" charset="0"/>
              </a:rPr>
              <a:t>Course Outcomes:</a:t>
            </a:r>
            <a:endParaRPr lang="en-IN" sz="21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D449E47-C60F-E0C6-E005-5F3286FDF7D8}"/>
              </a:ext>
            </a:extLst>
          </p:cNvPr>
          <p:cNvSpPr>
            <a:spLocks noGrp="1"/>
          </p:cNvSpPr>
          <p:nvPr>
            <p:ph idx="1"/>
          </p:nvPr>
        </p:nvSpPr>
        <p:spPr>
          <a:xfrm>
            <a:off x="343542" y="1625431"/>
            <a:ext cx="8171808" cy="3870602"/>
          </a:xfrm>
        </p:spPr>
        <p:txBody>
          <a:bodyPr>
            <a:normAutofit/>
          </a:bodyPr>
          <a:lstStyle/>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 Develop a foundation in data communications and networking principles, enabling them to understand and apply networking concepts.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Understand the working of data link layer, the protocols and differentiate the types of LAN.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Demonstrate a comprehensive understanding of network layer services and addressing schemes.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 Distinguish between various routing and congestion control algorithms and understand the Quality of Service required for various networking applications. </a:t>
            </a:r>
          </a:p>
          <a:p>
            <a:pPr marL="257175" indent="-257175">
              <a:buFont typeface="+mj-lt"/>
              <a:buAutoNum type="arabicPeriod"/>
            </a:pPr>
            <a:r>
              <a:rPr lang="en-US" sz="1800" dirty="0">
                <a:solidFill>
                  <a:srgbClr val="000000"/>
                </a:solidFill>
                <a:latin typeface="Times New Roman" panose="02020603050405020304" pitchFamily="18" charset="0"/>
                <a:cs typeface="Times New Roman" panose="02020603050405020304" pitchFamily="18" charset="0"/>
              </a:rPr>
              <a:t>Portray the transport layer protocols and understand the working of various application layer protocols. </a:t>
            </a:r>
          </a:p>
          <a:p>
            <a:endParaRPr lang="en-US" sz="1800" dirty="0">
              <a:solidFill>
                <a:srgbClr val="000000"/>
              </a:solidFill>
              <a:latin typeface="Times New Roman" panose="02020603050405020304" pitchFamily="18" charset="0"/>
              <a:cs typeface="Times New Roman" panose="02020603050405020304" pitchFamily="18" charset="0"/>
            </a:endParaRPr>
          </a:p>
          <a:p>
            <a:endParaRPr lang="en-IN" sz="1800" dirty="0">
              <a:solidFill>
                <a:srgbClr val="000000"/>
              </a:solidFill>
              <a:latin typeface="Times New Roman" panose="02020603050405020304" pitchFamily="18" charset="0"/>
              <a:cs typeface="Times New Roman" panose="02020603050405020304" pitchFamily="18" charset="0"/>
            </a:endParaRPr>
          </a:p>
          <a:p>
            <a:r>
              <a:rPr lang="en-IN" sz="1800" dirty="0">
                <a:solidFill>
                  <a:srgbClr val="000000"/>
                </a:solidFill>
                <a:latin typeface="Times New Roman" panose="02020603050405020304" pitchFamily="18" charset="0"/>
                <a:cs typeface="Times New Roman" panose="02020603050405020304" pitchFamily="18" charset="0"/>
              </a:rPr>
              <a:t>  </a:t>
            </a:r>
          </a:p>
          <a:p>
            <a:endParaRPr lang="en-IN" sz="1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904929FE-4440-5FF5-DC5F-77E7E19F4AE7}"/>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E76BB24-029A-4A95-A2A0-C4AF6C05BC8A}" type="slidenum">
              <a:rPr lang="en-IN" smtClean="0"/>
              <a:pPr/>
              <a:t>7</a:t>
            </a:fld>
            <a:endParaRPr lang="en-IN"/>
          </a:p>
        </p:txBody>
      </p:sp>
    </p:spTree>
    <p:extLst>
      <p:ext uri="{BB962C8B-B14F-4D97-AF65-F5344CB8AC3E}">
        <p14:creationId xmlns:p14="http://schemas.microsoft.com/office/powerpoint/2010/main" xmlns="" val="3395521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A20309B-A176-8523-4815-8C57B7A21F6A}"/>
              </a:ext>
            </a:extLst>
          </p:cNvPr>
          <p:cNvSpPr>
            <a:spLocks noGrp="1"/>
          </p:cNvSpPr>
          <p:nvPr>
            <p:ph idx="1"/>
          </p:nvPr>
        </p:nvSpPr>
        <p:spPr>
          <a:xfrm>
            <a:off x="408397" y="1088419"/>
            <a:ext cx="8106953" cy="4401554"/>
          </a:xfrm>
        </p:spPr>
        <p:txBody>
          <a:bodyPr>
            <a:normAutofit/>
          </a:bodyPr>
          <a:lstStyle/>
          <a:p>
            <a:r>
              <a:rPr lang="en-IN" sz="1800" b="1" dirty="0">
                <a:solidFill>
                  <a:srgbClr val="000000"/>
                </a:solidFill>
                <a:latin typeface="Times New Roman" panose="02020603050405020304" pitchFamily="18" charset="0"/>
                <a:cs typeface="Times New Roman" panose="02020603050405020304" pitchFamily="18" charset="0"/>
              </a:rPr>
              <a:t>TEXTBOOKS: </a:t>
            </a:r>
            <a:r>
              <a:rPr lang="en-IN" sz="2100" dirty="0">
                <a:solidFill>
                  <a:srgbClr val="000000"/>
                </a:solidFill>
                <a:latin typeface="Lao UI" panose="020B0502040204020203" pitchFamily="34" charset="0"/>
              </a:rPr>
              <a:t>	</a:t>
            </a:r>
          </a:p>
          <a:p>
            <a:pPr marL="342900" indent="-342900">
              <a:buFont typeface="+mj-lt"/>
              <a:buAutoNum type="arabicPeriod"/>
            </a:pPr>
            <a:r>
              <a:rPr lang="en-US" sz="1650" dirty="0">
                <a:solidFill>
                  <a:srgbClr val="000000"/>
                </a:solidFill>
                <a:latin typeface="Times New Roman" panose="02020603050405020304" pitchFamily="18" charset="0"/>
                <a:cs typeface="Times New Roman" panose="02020603050405020304" pitchFamily="18" charset="0"/>
              </a:rPr>
              <a:t>Behrouz A </a:t>
            </a:r>
            <a:r>
              <a:rPr lang="en-US" sz="1650" dirty="0" err="1">
                <a:solidFill>
                  <a:srgbClr val="000000"/>
                </a:solidFill>
                <a:latin typeface="Times New Roman" panose="02020603050405020304" pitchFamily="18" charset="0"/>
                <a:cs typeface="Times New Roman" panose="02020603050405020304" pitchFamily="18" charset="0"/>
              </a:rPr>
              <a:t>Forouzan</a:t>
            </a:r>
            <a:r>
              <a:rPr lang="en-US" sz="1650" dirty="0">
                <a:solidFill>
                  <a:srgbClr val="000000"/>
                </a:solidFill>
                <a:latin typeface="Times New Roman" panose="02020603050405020304" pitchFamily="18" charset="0"/>
                <a:cs typeface="Times New Roman" panose="02020603050405020304" pitchFamily="18" charset="0"/>
              </a:rPr>
              <a:t>, Data and Communications and Networking, Fifth Edition, McGraw Hill, Indian Edition. </a:t>
            </a:r>
          </a:p>
          <a:p>
            <a:r>
              <a:rPr lang="pl-PL" sz="1650" dirty="0">
                <a:solidFill>
                  <a:srgbClr val="000000"/>
                </a:solidFill>
                <a:latin typeface="Times New Roman" panose="02020603050405020304" pitchFamily="18" charset="0"/>
                <a:cs typeface="Times New Roman" panose="02020603050405020304" pitchFamily="18" charset="0"/>
              </a:rPr>
              <a:t>Ch 1: 1.1, 1.2, 1.3-1.3.1,1.3.2, Ch 2: 2.2, 2.3, Ch 3: 3.3, 3.4, 3.5, 3.6, Ch 4: 4.1.2, Ch 7: 7.2, Ch 8: 8.1, 8.3, Ch 9: 9.1, 9.2-9.2.1, 9.2.2, Ch 10: 10.1, 10.2, 10.3.1, Ch 12: 12.1.2, 12.1.3, Ch 13: 13.1, 13.2-13.2.1,13.2.2, 13.2.3, Ch 15: 15.1, Ch 18: 18.1, 18.2, 18.3, 18.4, Ch 19: 19.1-19.1.1,19.1.2, 19.2, Ch 22: 22.1-22.1.1, 22.1.2, 22.1.3, 22.2,Ch 23: 23.1.1, Ch 24: 24.1.2, 24.2, 24.3-24.3.1 to 24.3.6, Ch 25: 25.1, 25.2, Ch 26: 26.1, 26.2, 26.3, 26.4, 26.5, 26.6 	</a:t>
            </a:r>
          </a:p>
          <a:p>
            <a:pPr marL="342900" indent="-342900">
              <a:buFont typeface="+mj-lt"/>
              <a:buAutoNum type="arabicPeriod" startAt="2"/>
            </a:pPr>
            <a:r>
              <a:rPr lang="en-US" sz="1650" dirty="0">
                <a:solidFill>
                  <a:srgbClr val="000000"/>
                </a:solidFill>
                <a:latin typeface="Times New Roman" panose="02020603050405020304" pitchFamily="18" charset="0"/>
                <a:cs typeface="Times New Roman" panose="02020603050405020304" pitchFamily="18" charset="0"/>
              </a:rPr>
              <a:t>Computer Networks, Andrew S. Tanenbaum David J. Wetherall, 5th Edition, Pearson, ISBN 10: 1292024224, 2014 </a:t>
            </a:r>
          </a:p>
          <a:p>
            <a:r>
              <a:rPr lang="en-IN" sz="1650" dirty="0">
                <a:solidFill>
                  <a:srgbClr val="000000"/>
                </a:solidFill>
                <a:latin typeface="Times New Roman" panose="02020603050405020304" pitchFamily="18" charset="0"/>
                <a:cs typeface="Times New Roman" panose="02020603050405020304" pitchFamily="18" charset="0"/>
              </a:rPr>
              <a:t>Ch 1: 1.3.3, Ch 5: 5.2-5.2.1 to 5.2.8, 5.3, 5.4-5.4.1 to 5.4.4 	</a:t>
            </a:r>
          </a:p>
          <a:p>
            <a:r>
              <a:rPr lang="en-IN" sz="1800" b="1" dirty="0">
                <a:solidFill>
                  <a:srgbClr val="000000"/>
                </a:solidFill>
                <a:latin typeface="Times New Roman" panose="02020603050405020304" pitchFamily="18" charset="0"/>
                <a:cs typeface="Times New Roman" panose="02020603050405020304" pitchFamily="18" charset="0"/>
              </a:rPr>
              <a:t>REFERENCE BOOKS: </a:t>
            </a:r>
            <a:r>
              <a:rPr lang="en-IN" sz="1350" dirty="0">
                <a:solidFill>
                  <a:srgbClr val="000000"/>
                </a:solidFill>
                <a:latin typeface="Lao UI" panose="020B0502040204020203" pitchFamily="34" charset="0"/>
              </a:rPr>
              <a:t>	</a:t>
            </a:r>
          </a:p>
          <a:p>
            <a:pPr marL="342900" indent="-342900">
              <a:buFont typeface="+mj-lt"/>
              <a:buAutoNum type="arabicPeriod"/>
            </a:pPr>
            <a:r>
              <a:rPr lang="en-US" sz="1500" dirty="0">
                <a:solidFill>
                  <a:srgbClr val="000000"/>
                </a:solidFill>
                <a:latin typeface="Times New Roman" panose="02020603050405020304" pitchFamily="18" charset="0"/>
                <a:cs typeface="Times New Roman" panose="02020603050405020304" pitchFamily="18" charset="0"/>
              </a:rPr>
              <a:t>Computer Networking. A Top-down Approach, James F. Kurose, Keith W. Ross, Pearson, ISBN: 1292153598, 2017 	</a:t>
            </a:r>
          </a:p>
          <a:p>
            <a:pPr marL="342900" indent="-342900">
              <a:buFont typeface="+mj-lt"/>
              <a:buAutoNum type="arabicPeriod"/>
            </a:pPr>
            <a:r>
              <a:rPr lang="en-US" sz="1500" dirty="0">
                <a:solidFill>
                  <a:srgbClr val="000000"/>
                </a:solidFill>
                <a:latin typeface="Times New Roman" panose="02020603050405020304" pitchFamily="18" charset="0"/>
                <a:cs typeface="Times New Roman" panose="02020603050405020304" pitchFamily="18" charset="0"/>
              </a:rPr>
              <a:t>Data and Computer Communications, 10th Edition, William Stallings, Pearson Education, 2013, ISBN: 0133506487,9780133506488 	</a:t>
            </a:r>
          </a:p>
          <a:p>
            <a:pPr marL="342900" indent="-342900">
              <a:buFont typeface="+mj-lt"/>
              <a:buAutoNum type="arabicPeriod"/>
            </a:pPr>
            <a:r>
              <a:rPr lang="en-US" sz="1500" dirty="0">
                <a:solidFill>
                  <a:srgbClr val="000000"/>
                </a:solidFill>
                <a:latin typeface="Times New Roman" panose="02020603050405020304" pitchFamily="18" charset="0"/>
                <a:cs typeface="Times New Roman" panose="02020603050405020304" pitchFamily="18" charset="0"/>
              </a:rPr>
              <a:t>Larry L Peterson and </a:t>
            </a:r>
            <a:r>
              <a:rPr lang="en-US" sz="1500" dirty="0" err="1">
                <a:solidFill>
                  <a:srgbClr val="000000"/>
                </a:solidFill>
                <a:latin typeface="Times New Roman" panose="02020603050405020304" pitchFamily="18" charset="0"/>
                <a:cs typeface="Times New Roman" panose="02020603050405020304" pitchFamily="18" charset="0"/>
              </a:rPr>
              <a:t>Brusce</a:t>
            </a:r>
            <a:r>
              <a:rPr lang="en-US" sz="1500" dirty="0">
                <a:solidFill>
                  <a:srgbClr val="000000"/>
                </a:solidFill>
                <a:latin typeface="Times New Roman" panose="02020603050405020304" pitchFamily="18" charset="0"/>
                <a:cs typeface="Times New Roman" panose="02020603050405020304" pitchFamily="18" charset="0"/>
              </a:rPr>
              <a:t> S Davie, Computer Networks, fifth edition, ELSEVIER 	</a:t>
            </a:r>
          </a:p>
          <a:p>
            <a:endParaRPr lang="en-IN" sz="2100" dirty="0">
              <a:solidFill>
                <a:srgbClr val="000000"/>
              </a:solidFill>
              <a:latin typeface="Lao UI" panose="020B0502040204020203" pitchFamily="34" charset="0"/>
            </a:endParaRPr>
          </a:p>
          <a:p>
            <a:endParaRPr lang="en-IN" sz="2100" dirty="0">
              <a:solidFill>
                <a:srgbClr val="000000"/>
              </a:solidFill>
              <a:latin typeface="Lao UI" panose="020B0502040204020203" pitchFamily="34" charset="0"/>
            </a:endParaRPr>
          </a:p>
          <a:p>
            <a:endParaRPr lang="en-IN" dirty="0"/>
          </a:p>
        </p:txBody>
      </p:sp>
      <p:sp>
        <p:nvSpPr>
          <p:cNvPr id="5" name="Slide Number Placeholder 4">
            <a:extLst>
              <a:ext uri="{FF2B5EF4-FFF2-40B4-BE49-F238E27FC236}">
                <a16:creationId xmlns:a16="http://schemas.microsoft.com/office/drawing/2014/main" xmlns="" id="{BA0337B0-D75C-B46A-2426-08E2BAC9CE7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E76BB24-029A-4A95-A2A0-C4AF6C05BC8A}" type="slidenum">
              <a:rPr lang="en-IN" smtClean="0"/>
              <a:pPr/>
              <a:t>8</a:t>
            </a:fld>
            <a:endParaRPr lang="en-IN"/>
          </a:p>
        </p:txBody>
      </p:sp>
    </p:spTree>
    <p:extLst>
      <p:ext uri="{BB962C8B-B14F-4D97-AF65-F5344CB8AC3E}">
        <p14:creationId xmlns:p14="http://schemas.microsoft.com/office/powerpoint/2010/main" xmlns="" val="969316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5102" y="1778888"/>
            <a:ext cx="8452485" cy="1305560"/>
          </a:xfrm>
          <a:prstGeom prst="rect">
            <a:avLst/>
          </a:prstGeom>
        </p:spPr>
        <p:txBody>
          <a:bodyPr vert="horz" wrap="square" lIns="0" tIns="12065" rIns="0" bIns="0" rtlCol="0">
            <a:spAutoFit/>
          </a:bodyPr>
          <a:lstStyle/>
          <a:p>
            <a:pPr marL="12700" marR="5080" algn="just">
              <a:lnSpc>
                <a:spcPct val="100000"/>
              </a:lnSpc>
              <a:spcBef>
                <a:spcPts val="95"/>
              </a:spcBef>
            </a:pPr>
            <a:r>
              <a:rPr sz="2800" b="1" i="1" spc="-5" dirty="0">
                <a:solidFill>
                  <a:srgbClr val="C00000"/>
                </a:solidFill>
                <a:latin typeface="Times New Roman"/>
                <a:cs typeface="Times New Roman"/>
              </a:rPr>
              <a:t>Data communications </a:t>
            </a:r>
            <a:r>
              <a:rPr sz="2800" i="1" spc="-5" dirty="0">
                <a:solidFill>
                  <a:srgbClr val="000000"/>
                </a:solidFill>
                <a:latin typeface="Times New Roman"/>
                <a:cs typeface="Times New Roman"/>
              </a:rPr>
              <a:t>are the exchange </a:t>
            </a:r>
            <a:r>
              <a:rPr sz="2800" i="1" dirty="0">
                <a:solidFill>
                  <a:srgbClr val="000000"/>
                </a:solidFill>
                <a:latin typeface="Times New Roman"/>
                <a:cs typeface="Times New Roman"/>
              </a:rPr>
              <a:t>of </a:t>
            </a:r>
            <a:r>
              <a:rPr sz="2800" i="1" spc="-5" dirty="0">
                <a:solidFill>
                  <a:srgbClr val="000000"/>
                </a:solidFill>
                <a:latin typeface="Times New Roman"/>
                <a:cs typeface="Times New Roman"/>
              </a:rPr>
              <a:t>data </a:t>
            </a:r>
            <a:r>
              <a:rPr sz="2800" i="1" spc="-10" dirty="0">
                <a:solidFill>
                  <a:srgbClr val="000000"/>
                </a:solidFill>
                <a:latin typeface="Times New Roman"/>
                <a:cs typeface="Times New Roman"/>
              </a:rPr>
              <a:t>between </a:t>
            </a:r>
            <a:r>
              <a:rPr sz="2800" i="1" spc="-5" dirty="0">
                <a:solidFill>
                  <a:srgbClr val="000000"/>
                </a:solidFill>
                <a:latin typeface="Times New Roman"/>
                <a:cs typeface="Times New Roman"/>
              </a:rPr>
              <a:t> two devices via some form </a:t>
            </a:r>
            <a:r>
              <a:rPr sz="2800" i="1" dirty="0">
                <a:solidFill>
                  <a:srgbClr val="000000"/>
                </a:solidFill>
                <a:latin typeface="Times New Roman"/>
                <a:cs typeface="Times New Roman"/>
              </a:rPr>
              <a:t>of </a:t>
            </a:r>
            <a:r>
              <a:rPr sz="2800" i="1" spc="-5" dirty="0">
                <a:solidFill>
                  <a:srgbClr val="000000"/>
                </a:solidFill>
                <a:latin typeface="Times New Roman"/>
                <a:cs typeface="Times New Roman"/>
              </a:rPr>
              <a:t>transmission medium such </a:t>
            </a:r>
            <a:r>
              <a:rPr sz="2800" i="1" spc="-10" dirty="0">
                <a:solidFill>
                  <a:srgbClr val="000000"/>
                </a:solidFill>
                <a:latin typeface="Times New Roman"/>
                <a:cs typeface="Times New Roman"/>
              </a:rPr>
              <a:t>as </a:t>
            </a:r>
            <a:r>
              <a:rPr sz="2800" i="1" spc="-685" dirty="0">
                <a:solidFill>
                  <a:srgbClr val="000000"/>
                </a:solidFill>
                <a:latin typeface="Times New Roman"/>
                <a:cs typeface="Times New Roman"/>
              </a:rPr>
              <a:t> </a:t>
            </a:r>
            <a:r>
              <a:rPr sz="2800" i="1" spc="-5" dirty="0">
                <a:solidFill>
                  <a:srgbClr val="000000"/>
                </a:solidFill>
                <a:latin typeface="Times New Roman"/>
                <a:cs typeface="Times New Roman"/>
              </a:rPr>
              <a:t>a wire</a:t>
            </a:r>
            <a:r>
              <a:rPr sz="2800" i="1" spc="-10" dirty="0">
                <a:solidFill>
                  <a:srgbClr val="000000"/>
                </a:solidFill>
                <a:latin typeface="Times New Roman"/>
                <a:cs typeface="Times New Roman"/>
              </a:rPr>
              <a:t> </a:t>
            </a:r>
            <a:r>
              <a:rPr sz="2800" i="1" spc="-5" dirty="0">
                <a:solidFill>
                  <a:srgbClr val="000000"/>
                </a:solidFill>
                <a:latin typeface="Times New Roman"/>
                <a:cs typeface="Times New Roman"/>
              </a:rPr>
              <a:t>cable.</a:t>
            </a:r>
            <a:endParaRPr sz="2800" dirty="0">
              <a:latin typeface="Times New Roman"/>
              <a:cs typeface="Times New Roman"/>
            </a:endParaRPr>
          </a:p>
        </p:txBody>
      </p:sp>
      <p:sp>
        <p:nvSpPr>
          <p:cNvPr id="3" name="object 3"/>
          <p:cNvSpPr txBox="1"/>
          <p:nvPr/>
        </p:nvSpPr>
        <p:spPr>
          <a:xfrm>
            <a:off x="235102" y="3701034"/>
            <a:ext cx="5937250" cy="1694180"/>
          </a:xfrm>
          <a:prstGeom prst="rect">
            <a:avLst/>
          </a:prstGeom>
        </p:spPr>
        <p:txBody>
          <a:bodyPr vert="horz" wrap="square" lIns="0" tIns="12065" rIns="0" bIns="0" rtlCol="0">
            <a:spAutoFit/>
          </a:bodyPr>
          <a:lstStyle/>
          <a:p>
            <a:pPr marL="12700">
              <a:lnSpc>
                <a:spcPts val="2970"/>
              </a:lnSpc>
              <a:spcBef>
                <a:spcPts val="95"/>
              </a:spcBef>
            </a:pPr>
            <a:r>
              <a:rPr sz="2800" b="1" i="1" spc="-5" dirty="0">
                <a:solidFill>
                  <a:srgbClr val="C00000"/>
                </a:solidFill>
                <a:latin typeface="Times New Roman"/>
                <a:cs typeface="Times New Roman"/>
              </a:rPr>
              <a:t>Characteristics</a:t>
            </a:r>
            <a:r>
              <a:rPr sz="2800" b="1" i="1" spc="-20" dirty="0">
                <a:solidFill>
                  <a:srgbClr val="C00000"/>
                </a:solidFill>
                <a:latin typeface="Times New Roman"/>
                <a:cs typeface="Times New Roman"/>
              </a:rPr>
              <a:t> </a:t>
            </a:r>
            <a:r>
              <a:rPr sz="2800" b="1" i="1" dirty="0">
                <a:solidFill>
                  <a:srgbClr val="C00000"/>
                </a:solidFill>
                <a:latin typeface="Times New Roman"/>
                <a:cs typeface="Times New Roman"/>
              </a:rPr>
              <a:t>of</a:t>
            </a:r>
            <a:r>
              <a:rPr sz="2800" b="1" i="1" spc="5" dirty="0">
                <a:solidFill>
                  <a:srgbClr val="C00000"/>
                </a:solidFill>
                <a:latin typeface="Times New Roman"/>
                <a:cs typeface="Times New Roman"/>
              </a:rPr>
              <a:t> </a:t>
            </a:r>
            <a:r>
              <a:rPr sz="2800" b="1" i="1" spc="-5" dirty="0">
                <a:solidFill>
                  <a:srgbClr val="C00000"/>
                </a:solidFill>
                <a:latin typeface="Times New Roman"/>
                <a:cs typeface="Times New Roman"/>
              </a:rPr>
              <a:t>Data</a:t>
            </a:r>
            <a:r>
              <a:rPr sz="2800" b="1" i="1" spc="15" dirty="0">
                <a:solidFill>
                  <a:srgbClr val="C00000"/>
                </a:solidFill>
                <a:latin typeface="Times New Roman"/>
                <a:cs typeface="Times New Roman"/>
              </a:rPr>
              <a:t> </a:t>
            </a:r>
            <a:r>
              <a:rPr sz="2800" b="1" i="1" spc="-5" dirty="0">
                <a:solidFill>
                  <a:srgbClr val="C00000"/>
                </a:solidFill>
                <a:latin typeface="Times New Roman"/>
                <a:cs typeface="Times New Roman"/>
              </a:rPr>
              <a:t>communications</a:t>
            </a:r>
            <a:endParaRPr sz="2800" dirty="0">
              <a:latin typeface="Times New Roman"/>
              <a:cs typeface="Times New Roman"/>
            </a:endParaRPr>
          </a:p>
          <a:p>
            <a:pPr marL="908685" indent="-381635">
              <a:lnSpc>
                <a:spcPts val="2490"/>
              </a:lnSpc>
              <a:buSzPct val="140000"/>
              <a:buAutoNum type="arabicPeriod"/>
              <a:tabLst>
                <a:tab pos="909319" algn="l"/>
              </a:tabLst>
            </a:pPr>
            <a:r>
              <a:rPr sz="2000" spc="-5" dirty="0">
                <a:latin typeface="Times New Roman"/>
                <a:cs typeface="Times New Roman"/>
              </a:rPr>
              <a:t>Delivery.</a:t>
            </a:r>
            <a:endParaRPr sz="2000" dirty="0">
              <a:latin typeface="Times New Roman"/>
              <a:cs typeface="Times New Roman"/>
            </a:endParaRPr>
          </a:p>
          <a:p>
            <a:pPr marL="908685" indent="-381635">
              <a:lnSpc>
                <a:spcPts val="2400"/>
              </a:lnSpc>
              <a:buSzPct val="140000"/>
              <a:buAutoNum type="arabicPeriod"/>
              <a:tabLst>
                <a:tab pos="909319" algn="l"/>
              </a:tabLst>
            </a:pPr>
            <a:r>
              <a:rPr sz="2000" dirty="0">
                <a:latin typeface="Times New Roman"/>
                <a:cs typeface="Times New Roman"/>
              </a:rPr>
              <a:t>Accuracy.</a:t>
            </a:r>
          </a:p>
          <a:p>
            <a:pPr marL="908685" indent="-381635">
              <a:lnSpc>
                <a:spcPts val="2400"/>
              </a:lnSpc>
              <a:buSzPct val="140000"/>
              <a:buAutoNum type="arabicPeriod"/>
              <a:tabLst>
                <a:tab pos="909319" algn="l"/>
              </a:tabLst>
            </a:pPr>
            <a:r>
              <a:rPr sz="2000" spc="-5" dirty="0">
                <a:latin typeface="Times New Roman"/>
                <a:cs typeface="Times New Roman"/>
              </a:rPr>
              <a:t>Timeliness.</a:t>
            </a:r>
            <a:endParaRPr sz="2000" dirty="0">
              <a:latin typeface="Times New Roman"/>
              <a:cs typeface="Times New Roman"/>
            </a:endParaRPr>
          </a:p>
          <a:p>
            <a:pPr marL="908685" indent="-381635">
              <a:lnSpc>
                <a:spcPts val="2880"/>
              </a:lnSpc>
              <a:buSzPct val="140000"/>
              <a:buAutoNum type="arabicPeriod"/>
              <a:tabLst>
                <a:tab pos="909319" algn="l"/>
              </a:tabLst>
            </a:pPr>
            <a:r>
              <a:rPr sz="2000" spc="-5" dirty="0">
                <a:latin typeface="Times New Roman"/>
                <a:cs typeface="Times New Roman"/>
              </a:rPr>
              <a:t>Jitter.</a:t>
            </a:r>
            <a:endParaRPr sz="2000" dirty="0">
              <a:latin typeface="Times New Roman"/>
              <a:cs typeface="Times New Roman"/>
            </a:endParaRPr>
          </a:p>
        </p:txBody>
      </p:sp>
      <p:sp>
        <p:nvSpPr>
          <p:cNvPr id="4" name="object 4"/>
          <p:cNvSpPr txBox="1"/>
          <p:nvPr/>
        </p:nvSpPr>
        <p:spPr>
          <a:xfrm>
            <a:off x="235102" y="533400"/>
            <a:ext cx="8750783" cy="505267"/>
          </a:xfrm>
          <a:prstGeom prst="rect">
            <a:avLst/>
          </a:prstGeom>
        </p:spPr>
        <p:txBody>
          <a:bodyPr vert="horz" wrap="square" lIns="0" tIns="12700" rIns="0" bIns="0" rtlCol="0">
            <a:spAutoFit/>
          </a:bodyPr>
          <a:lstStyle/>
          <a:p>
            <a:pPr marL="12700">
              <a:lnSpc>
                <a:spcPct val="100000"/>
              </a:lnSpc>
              <a:spcBef>
                <a:spcPts val="100"/>
              </a:spcBef>
            </a:pPr>
            <a:r>
              <a:rPr lang="en-IN" sz="3200" b="1" spc="-5" dirty="0">
                <a:solidFill>
                  <a:srgbClr val="1F487C"/>
                </a:solidFill>
                <a:latin typeface="Times New Roman"/>
                <a:cs typeface="Times New Roman"/>
              </a:rPr>
              <a:t>INTRODUCTION: </a:t>
            </a:r>
            <a:r>
              <a:rPr sz="3200" b="1" spc="-5" dirty="0">
                <a:solidFill>
                  <a:srgbClr val="1F487C"/>
                </a:solidFill>
                <a:latin typeface="Times New Roman"/>
                <a:cs typeface="Times New Roman"/>
              </a:rPr>
              <a:t>DATA</a:t>
            </a:r>
            <a:r>
              <a:rPr sz="3200" b="1" spc="-10" dirty="0">
                <a:solidFill>
                  <a:srgbClr val="1F487C"/>
                </a:solidFill>
                <a:latin typeface="Times New Roman"/>
                <a:cs typeface="Times New Roman"/>
              </a:rPr>
              <a:t> COMMUNICATIONS</a:t>
            </a:r>
            <a:endParaRPr sz="3200" dirty="0">
              <a:latin typeface="Times New Roman"/>
              <a:cs typeface="Times New Roman"/>
            </a:endParaRPr>
          </a:p>
        </p:txBody>
      </p:sp>
      <p:sp>
        <p:nvSpPr>
          <p:cNvPr id="7" name="Slide Number Placeholder 6">
            <a:extLst>
              <a:ext uri="{FF2B5EF4-FFF2-40B4-BE49-F238E27FC236}">
                <a16:creationId xmlns:a16="http://schemas.microsoft.com/office/drawing/2014/main" xmlns="" id="{C8317793-D245-F211-772F-975111EE9ED9}"/>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9</a:t>
            </a:fld>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2316" y="362153"/>
            <a:ext cx="6915784" cy="452120"/>
          </a:xfrm>
          <a:prstGeom prst="rect">
            <a:avLst/>
          </a:prstGeom>
        </p:spPr>
        <p:txBody>
          <a:bodyPr vert="horz" wrap="square" lIns="0" tIns="12065" rIns="0" bIns="0" rtlCol="0">
            <a:spAutoFit/>
          </a:bodyPr>
          <a:lstStyle/>
          <a:p>
            <a:pPr marL="12700">
              <a:lnSpc>
                <a:spcPct val="100000"/>
              </a:lnSpc>
              <a:spcBef>
                <a:spcPts val="95"/>
              </a:spcBef>
            </a:pPr>
            <a:r>
              <a:rPr sz="2800" b="1" spc="-5" dirty="0">
                <a:latin typeface="Times New Roman"/>
                <a:cs typeface="Times New Roman"/>
              </a:rPr>
              <a:t>Components</a:t>
            </a:r>
            <a:r>
              <a:rPr sz="2800" b="1" spc="30" dirty="0">
                <a:latin typeface="Times New Roman"/>
                <a:cs typeface="Times New Roman"/>
              </a:rPr>
              <a:t> </a:t>
            </a:r>
            <a:r>
              <a:rPr sz="2800" b="1" spc="-5" dirty="0">
                <a:latin typeface="Times New Roman"/>
                <a:cs typeface="Times New Roman"/>
              </a:rPr>
              <a:t>of</a:t>
            </a:r>
            <a:r>
              <a:rPr sz="2800" b="1" spc="15" dirty="0">
                <a:latin typeface="Times New Roman"/>
                <a:cs typeface="Times New Roman"/>
              </a:rPr>
              <a:t> </a:t>
            </a:r>
            <a:r>
              <a:rPr sz="2800" b="1" spc="-5" dirty="0">
                <a:latin typeface="Times New Roman"/>
                <a:cs typeface="Times New Roman"/>
              </a:rPr>
              <a:t>a</a:t>
            </a:r>
            <a:r>
              <a:rPr sz="2800" b="1" dirty="0">
                <a:latin typeface="Times New Roman"/>
                <a:cs typeface="Times New Roman"/>
              </a:rPr>
              <a:t> data</a:t>
            </a:r>
            <a:r>
              <a:rPr sz="2800" b="1" spc="5" dirty="0">
                <a:latin typeface="Times New Roman"/>
                <a:cs typeface="Times New Roman"/>
              </a:rPr>
              <a:t> </a:t>
            </a:r>
            <a:r>
              <a:rPr sz="2800" b="1" spc="-5" dirty="0">
                <a:latin typeface="Times New Roman"/>
                <a:cs typeface="Times New Roman"/>
              </a:rPr>
              <a:t>communication</a:t>
            </a:r>
            <a:r>
              <a:rPr sz="2800" b="1" spc="15" dirty="0">
                <a:latin typeface="Times New Roman"/>
                <a:cs typeface="Times New Roman"/>
              </a:rPr>
              <a:t> </a:t>
            </a:r>
            <a:r>
              <a:rPr sz="2800" b="1" spc="-5" dirty="0">
                <a:latin typeface="Times New Roman"/>
                <a:cs typeface="Times New Roman"/>
              </a:rPr>
              <a:t>system</a:t>
            </a:r>
            <a:endParaRPr sz="2800">
              <a:latin typeface="Times New Roman"/>
              <a:cs typeface="Times New Roman"/>
            </a:endParaRPr>
          </a:p>
        </p:txBody>
      </p:sp>
      <p:sp>
        <p:nvSpPr>
          <p:cNvPr id="3" name="object 3"/>
          <p:cNvSpPr txBox="1"/>
          <p:nvPr/>
        </p:nvSpPr>
        <p:spPr>
          <a:xfrm>
            <a:off x="345440" y="1217803"/>
            <a:ext cx="3259454" cy="1854835"/>
          </a:xfrm>
          <a:prstGeom prst="rect">
            <a:avLst/>
          </a:prstGeom>
        </p:spPr>
        <p:txBody>
          <a:bodyPr vert="horz" wrap="square" lIns="0" tIns="12700" rIns="0" bIns="0" rtlCol="0">
            <a:spAutoFit/>
          </a:bodyPr>
          <a:lstStyle/>
          <a:p>
            <a:pPr marL="527685" indent="-515620">
              <a:lnSpc>
                <a:spcPct val="100000"/>
              </a:lnSpc>
              <a:spcBef>
                <a:spcPts val="100"/>
              </a:spcBef>
              <a:buAutoNum type="arabicPeriod"/>
              <a:tabLst>
                <a:tab pos="527685" algn="l"/>
                <a:tab pos="528320" algn="l"/>
              </a:tabLst>
            </a:pPr>
            <a:r>
              <a:rPr sz="2400" dirty="0">
                <a:latin typeface="Times New Roman"/>
                <a:cs typeface="Times New Roman"/>
              </a:rPr>
              <a:t>Message</a:t>
            </a:r>
          </a:p>
          <a:p>
            <a:pPr marL="527685" indent="-515620">
              <a:lnSpc>
                <a:spcPct val="100000"/>
              </a:lnSpc>
              <a:buAutoNum type="arabicPeriod"/>
              <a:tabLst>
                <a:tab pos="527685" algn="l"/>
                <a:tab pos="528320" algn="l"/>
              </a:tabLst>
            </a:pPr>
            <a:r>
              <a:rPr sz="2400" dirty="0">
                <a:latin typeface="Times New Roman"/>
                <a:cs typeface="Times New Roman"/>
              </a:rPr>
              <a:t>Sender</a:t>
            </a:r>
          </a:p>
          <a:p>
            <a:pPr marL="527685" indent="-515620">
              <a:lnSpc>
                <a:spcPct val="100000"/>
              </a:lnSpc>
              <a:buAutoNum type="arabicPeriod"/>
              <a:tabLst>
                <a:tab pos="527685" algn="l"/>
                <a:tab pos="528320" algn="l"/>
              </a:tabLst>
            </a:pPr>
            <a:r>
              <a:rPr sz="2400" dirty="0">
                <a:latin typeface="Times New Roman"/>
                <a:cs typeface="Times New Roman"/>
              </a:rPr>
              <a:t>Receiver</a:t>
            </a:r>
          </a:p>
          <a:p>
            <a:pPr marL="527685" indent="-515620">
              <a:lnSpc>
                <a:spcPct val="100000"/>
              </a:lnSpc>
              <a:buAutoNum type="arabicPeriod"/>
              <a:tabLst>
                <a:tab pos="527685" algn="l"/>
                <a:tab pos="528320" algn="l"/>
              </a:tabLst>
            </a:pPr>
            <a:r>
              <a:rPr sz="2400" spc="-5" dirty="0">
                <a:latin typeface="Times New Roman"/>
                <a:cs typeface="Times New Roman"/>
              </a:rPr>
              <a:t>Transmission</a:t>
            </a:r>
            <a:r>
              <a:rPr sz="2400" spc="-25" dirty="0">
                <a:latin typeface="Times New Roman"/>
                <a:cs typeface="Times New Roman"/>
              </a:rPr>
              <a:t> </a:t>
            </a:r>
            <a:r>
              <a:rPr sz="2400" spc="-5" dirty="0">
                <a:latin typeface="Times New Roman"/>
                <a:cs typeface="Times New Roman"/>
              </a:rPr>
              <a:t>medium</a:t>
            </a:r>
            <a:endParaRPr sz="2400" dirty="0">
              <a:latin typeface="Times New Roman"/>
              <a:cs typeface="Times New Roman"/>
            </a:endParaRPr>
          </a:p>
          <a:p>
            <a:pPr marL="527685" indent="-515620">
              <a:lnSpc>
                <a:spcPct val="100000"/>
              </a:lnSpc>
              <a:buAutoNum type="arabicPeriod"/>
              <a:tabLst>
                <a:tab pos="527685" algn="l"/>
                <a:tab pos="528320" algn="l"/>
              </a:tabLst>
            </a:pPr>
            <a:r>
              <a:rPr sz="2400" dirty="0">
                <a:latin typeface="Times New Roman"/>
                <a:cs typeface="Times New Roman"/>
              </a:rPr>
              <a:t>Protocol</a:t>
            </a:r>
          </a:p>
        </p:txBody>
      </p:sp>
      <p:pic>
        <p:nvPicPr>
          <p:cNvPr id="4" name="object 4"/>
          <p:cNvPicPr/>
          <p:nvPr/>
        </p:nvPicPr>
        <p:blipFill>
          <a:blip r:embed="rId2" cstate="print"/>
          <a:stretch>
            <a:fillRect/>
          </a:stretch>
        </p:blipFill>
        <p:spPr>
          <a:xfrm>
            <a:off x="838200" y="3200400"/>
            <a:ext cx="7065264" cy="2913888"/>
          </a:xfrm>
          <a:prstGeom prst="rect">
            <a:avLst/>
          </a:prstGeom>
        </p:spPr>
      </p:pic>
      <p:sp>
        <p:nvSpPr>
          <p:cNvPr id="7" name="Slide Number Placeholder 6">
            <a:extLst>
              <a:ext uri="{FF2B5EF4-FFF2-40B4-BE49-F238E27FC236}">
                <a16:creationId xmlns:a16="http://schemas.microsoft.com/office/drawing/2014/main" xmlns="" id="{580BB35E-5D24-905F-E1D6-5F70B0A42741}"/>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10</a:t>
            </a:fld>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8479281"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78787"/>
                </a:solidFill>
                <a:latin typeface="Calibri"/>
                <a:cs typeface="Calibri"/>
              </a:rPr>
              <a:pPr marL="38100">
                <a:lnSpc>
                  <a:spcPts val="1240"/>
                </a:lnSpc>
              </a:pPr>
              <a:t>11</a:t>
            </a:fld>
            <a:endParaRPr sz="1200">
              <a:latin typeface="Calibri"/>
              <a:cs typeface="Calibri"/>
            </a:endParaRPr>
          </a:p>
        </p:txBody>
      </p:sp>
      <p:sp>
        <p:nvSpPr>
          <p:cNvPr id="2" name="object 2"/>
          <p:cNvSpPr txBox="1">
            <a:spLocks noGrp="1"/>
          </p:cNvSpPr>
          <p:nvPr>
            <p:ph type="title"/>
          </p:nvPr>
        </p:nvSpPr>
        <p:spPr>
          <a:xfrm>
            <a:off x="2611627" y="229615"/>
            <a:ext cx="4051935" cy="574040"/>
          </a:xfrm>
          <a:prstGeom prst="rect">
            <a:avLst/>
          </a:prstGeom>
        </p:spPr>
        <p:txBody>
          <a:bodyPr vert="horz" wrap="square" lIns="0" tIns="12700" rIns="0" bIns="0" rtlCol="0">
            <a:spAutoFit/>
          </a:bodyPr>
          <a:lstStyle/>
          <a:p>
            <a:pPr marL="12700">
              <a:lnSpc>
                <a:spcPct val="100000"/>
              </a:lnSpc>
              <a:spcBef>
                <a:spcPts val="100"/>
              </a:spcBef>
            </a:pPr>
            <a:r>
              <a:rPr sz="3600" b="1" spc="-5" dirty="0">
                <a:latin typeface="Times New Roman"/>
                <a:cs typeface="Times New Roman"/>
              </a:rPr>
              <a:t>Data</a:t>
            </a:r>
            <a:r>
              <a:rPr sz="3600" b="1" spc="-85" dirty="0">
                <a:latin typeface="Times New Roman"/>
                <a:cs typeface="Times New Roman"/>
              </a:rPr>
              <a:t> </a:t>
            </a:r>
            <a:r>
              <a:rPr sz="3600" b="1" dirty="0">
                <a:latin typeface="Times New Roman"/>
                <a:cs typeface="Times New Roman"/>
              </a:rPr>
              <a:t>Representation</a:t>
            </a:r>
            <a:endParaRPr sz="3600">
              <a:latin typeface="Times New Roman"/>
              <a:cs typeface="Times New Roman"/>
            </a:endParaRPr>
          </a:p>
        </p:txBody>
      </p:sp>
      <p:sp>
        <p:nvSpPr>
          <p:cNvPr id="3" name="object 3"/>
          <p:cNvSpPr txBox="1"/>
          <p:nvPr/>
        </p:nvSpPr>
        <p:spPr>
          <a:xfrm>
            <a:off x="258267" y="1288541"/>
            <a:ext cx="8627110" cy="5292725"/>
          </a:xfrm>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4965" algn="l"/>
                <a:tab pos="355600" algn="l"/>
                <a:tab pos="2456815" algn="l"/>
                <a:tab pos="3521075" algn="l"/>
                <a:tab pos="4723765" algn="l"/>
                <a:tab pos="5199380" algn="l"/>
                <a:tab pos="6760209" algn="l"/>
                <a:tab pos="7868284" algn="l"/>
              </a:tabLst>
            </a:pPr>
            <a:r>
              <a:rPr sz="3200" dirty="0">
                <a:latin typeface="Times New Roman"/>
                <a:cs typeface="Times New Roman"/>
              </a:rPr>
              <a:t>Inf</a:t>
            </a:r>
            <a:r>
              <a:rPr sz="3200" spc="-10" dirty="0">
                <a:latin typeface="Times New Roman"/>
                <a:cs typeface="Times New Roman"/>
              </a:rPr>
              <a:t>o</a:t>
            </a:r>
            <a:r>
              <a:rPr sz="3200" dirty="0">
                <a:latin typeface="Times New Roman"/>
                <a:cs typeface="Times New Roman"/>
              </a:rPr>
              <a:t>rmat</a:t>
            </a:r>
            <a:r>
              <a:rPr sz="3200" spc="-20" dirty="0">
                <a:latin typeface="Times New Roman"/>
                <a:cs typeface="Times New Roman"/>
              </a:rPr>
              <a:t>i</a:t>
            </a:r>
            <a:r>
              <a:rPr sz="3200" dirty="0">
                <a:latin typeface="Times New Roman"/>
                <a:cs typeface="Times New Roman"/>
              </a:rPr>
              <a:t>on	today	comes	</a:t>
            </a:r>
            <a:r>
              <a:rPr sz="3200" spc="-15" dirty="0">
                <a:latin typeface="Times New Roman"/>
                <a:cs typeface="Times New Roman"/>
              </a:rPr>
              <a:t>i</a:t>
            </a:r>
            <a:r>
              <a:rPr sz="3200" dirty="0">
                <a:latin typeface="Times New Roman"/>
                <a:cs typeface="Times New Roman"/>
              </a:rPr>
              <a:t>n	diffe</a:t>
            </a:r>
            <a:r>
              <a:rPr sz="3200" spc="-15" dirty="0">
                <a:latin typeface="Times New Roman"/>
                <a:cs typeface="Times New Roman"/>
              </a:rPr>
              <a:t>r</a:t>
            </a:r>
            <a:r>
              <a:rPr sz="3200" dirty="0">
                <a:latin typeface="Times New Roman"/>
                <a:cs typeface="Times New Roman"/>
              </a:rPr>
              <a:t>ent	</a:t>
            </a:r>
            <a:r>
              <a:rPr sz="3200" spc="-10" dirty="0">
                <a:latin typeface="Times New Roman"/>
                <a:cs typeface="Times New Roman"/>
              </a:rPr>
              <a:t>f</a:t>
            </a:r>
            <a:r>
              <a:rPr sz="3200" dirty="0">
                <a:latin typeface="Times New Roman"/>
                <a:cs typeface="Times New Roman"/>
              </a:rPr>
              <a:t>orms	such  as</a:t>
            </a:r>
            <a:r>
              <a:rPr sz="3200" spc="5" dirty="0">
                <a:latin typeface="Times New Roman"/>
                <a:cs typeface="Times New Roman"/>
              </a:rPr>
              <a:t> </a:t>
            </a:r>
            <a:r>
              <a:rPr sz="3200" dirty="0">
                <a:latin typeface="Times New Roman"/>
                <a:cs typeface="Times New Roman"/>
              </a:rPr>
              <a:t>text,</a:t>
            </a:r>
            <a:r>
              <a:rPr sz="3200" spc="-25" dirty="0">
                <a:latin typeface="Times New Roman"/>
                <a:cs typeface="Times New Roman"/>
              </a:rPr>
              <a:t> </a:t>
            </a:r>
            <a:r>
              <a:rPr sz="3200" dirty="0">
                <a:latin typeface="Times New Roman"/>
                <a:cs typeface="Times New Roman"/>
              </a:rPr>
              <a:t>numbers,</a:t>
            </a:r>
            <a:r>
              <a:rPr sz="3200" spc="-30" dirty="0">
                <a:latin typeface="Times New Roman"/>
                <a:cs typeface="Times New Roman"/>
              </a:rPr>
              <a:t> </a:t>
            </a:r>
            <a:r>
              <a:rPr sz="3200" dirty="0">
                <a:latin typeface="Times New Roman"/>
                <a:cs typeface="Times New Roman"/>
              </a:rPr>
              <a:t>images,</a:t>
            </a:r>
            <a:r>
              <a:rPr sz="3200" spc="-15" dirty="0">
                <a:latin typeface="Times New Roman"/>
                <a:cs typeface="Times New Roman"/>
              </a:rPr>
              <a:t> </a:t>
            </a:r>
            <a:r>
              <a:rPr sz="3200" dirty="0">
                <a:latin typeface="Times New Roman"/>
                <a:cs typeface="Times New Roman"/>
              </a:rPr>
              <a:t>audio,</a:t>
            </a:r>
            <a:r>
              <a:rPr sz="3200" spc="-25" dirty="0">
                <a:latin typeface="Times New Roman"/>
                <a:cs typeface="Times New Roman"/>
              </a:rPr>
              <a:t> </a:t>
            </a:r>
            <a:r>
              <a:rPr sz="3200" dirty="0">
                <a:latin typeface="Times New Roman"/>
                <a:cs typeface="Times New Roman"/>
              </a:rPr>
              <a:t>and</a:t>
            </a:r>
            <a:r>
              <a:rPr sz="3200" spc="-15" dirty="0">
                <a:latin typeface="Times New Roman"/>
                <a:cs typeface="Times New Roman"/>
              </a:rPr>
              <a:t> </a:t>
            </a:r>
            <a:r>
              <a:rPr sz="3200" dirty="0">
                <a:latin typeface="Times New Roman"/>
                <a:cs typeface="Times New Roman"/>
              </a:rPr>
              <a:t>video.</a:t>
            </a:r>
            <a:endParaRPr sz="3200">
              <a:latin typeface="Times New Roman"/>
              <a:cs typeface="Times New Roman"/>
            </a:endParaRPr>
          </a:p>
          <a:p>
            <a:pPr marL="355600" indent="-342900">
              <a:lnSpc>
                <a:spcPct val="100000"/>
              </a:lnSpc>
              <a:spcBef>
                <a:spcPts val="600"/>
              </a:spcBef>
              <a:buFont typeface="Arial MT"/>
              <a:buChar char="•"/>
              <a:tabLst>
                <a:tab pos="354965" algn="l"/>
                <a:tab pos="355600" algn="l"/>
              </a:tabLst>
            </a:pPr>
            <a:r>
              <a:rPr sz="3200" dirty="0">
                <a:latin typeface="Times New Roman"/>
                <a:cs typeface="Times New Roman"/>
              </a:rPr>
              <a:t>Numbers</a:t>
            </a:r>
            <a:endParaRPr sz="3200">
              <a:latin typeface="Times New Roman"/>
              <a:cs typeface="Times New Roman"/>
            </a:endParaRPr>
          </a:p>
          <a:p>
            <a:pPr marL="844550" lvl="1" indent="-375285">
              <a:lnSpc>
                <a:spcPct val="100000"/>
              </a:lnSpc>
              <a:spcBef>
                <a:spcPts val="505"/>
              </a:spcBef>
              <a:buFont typeface="Arial MT"/>
              <a:buChar char="–"/>
              <a:tabLst>
                <a:tab pos="844550" algn="l"/>
                <a:tab pos="845185" algn="l"/>
              </a:tabLst>
            </a:pPr>
            <a:r>
              <a:rPr sz="2800" dirty="0">
                <a:latin typeface="Times New Roman"/>
                <a:cs typeface="Times New Roman"/>
              </a:rPr>
              <a:t>bit</a:t>
            </a:r>
            <a:r>
              <a:rPr sz="2800" spc="-40" dirty="0">
                <a:latin typeface="Times New Roman"/>
                <a:cs typeface="Times New Roman"/>
              </a:rPr>
              <a:t> </a:t>
            </a:r>
            <a:r>
              <a:rPr sz="2800" spc="-5" dirty="0">
                <a:latin typeface="Times New Roman"/>
                <a:cs typeface="Times New Roman"/>
              </a:rPr>
              <a:t>patterns</a:t>
            </a:r>
            <a:endParaRPr sz="2800">
              <a:latin typeface="Times New Roman"/>
              <a:cs typeface="Times New Roman"/>
            </a:endParaRPr>
          </a:p>
          <a:p>
            <a:pPr marL="844550" lvl="1" indent="-375285">
              <a:lnSpc>
                <a:spcPct val="100000"/>
              </a:lnSpc>
              <a:spcBef>
                <a:spcPts val="505"/>
              </a:spcBef>
              <a:buFont typeface="Arial MT"/>
              <a:buChar char="–"/>
              <a:tabLst>
                <a:tab pos="844550" algn="l"/>
                <a:tab pos="845185" algn="l"/>
              </a:tabLst>
            </a:pPr>
            <a:r>
              <a:rPr sz="2800" dirty="0">
                <a:latin typeface="Times New Roman"/>
                <a:cs typeface="Times New Roman"/>
              </a:rPr>
              <a:t>binary</a:t>
            </a:r>
            <a:r>
              <a:rPr sz="2800" spc="-50" dirty="0">
                <a:latin typeface="Times New Roman"/>
                <a:cs typeface="Times New Roman"/>
              </a:rPr>
              <a:t> </a:t>
            </a:r>
            <a:r>
              <a:rPr sz="2800" spc="-5" dirty="0">
                <a:latin typeface="Times New Roman"/>
                <a:cs typeface="Times New Roman"/>
              </a:rPr>
              <a:t>numbers</a:t>
            </a:r>
            <a:endParaRPr sz="2800">
              <a:latin typeface="Times New Roman"/>
              <a:cs typeface="Times New Roman"/>
            </a:endParaRPr>
          </a:p>
          <a:p>
            <a:pPr marL="355600" indent="-342900">
              <a:lnSpc>
                <a:spcPct val="100000"/>
              </a:lnSpc>
              <a:spcBef>
                <a:spcPts val="585"/>
              </a:spcBef>
              <a:buFont typeface="Arial MT"/>
              <a:buChar char="•"/>
              <a:tabLst>
                <a:tab pos="354965" algn="l"/>
                <a:tab pos="355600" algn="l"/>
              </a:tabLst>
            </a:pPr>
            <a:r>
              <a:rPr sz="3200" dirty="0">
                <a:latin typeface="Times New Roman"/>
                <a:cs typeface="Times New Roman"/>
              </a:rPr>
              <a:t>Text</a:t>
            </a:r>
            <a:endParaRPr sz="3200">
              <a:latin typeface="Times New Roman"/>
              <a:cs typeface="Times New Roman"/>
            </a:endParaRPr>
          </a:p>
          <a:p>
            <a:pPr marL="756285" lvl="1" indent="-287020">
              <a:lnSpc>
                <a:spcPct val="100000"/>
              </a:lnSpc>
              <a:spcBef>
                <a:spcPts val="509"/>
              </a:spcBef>
              <a:buFont typeface="Arial MT"/>
              <a:buChar char="–"/>
              <a:tabLst>
                <a:tab pos="756920" algn="l"/>
              </a:tabLst>
            </a:pPr>
            <a:r>
              <a:rPr sz="2800" spc="-5" dirty="0">
                <a:latin typeface="Times New Roman"/>
                <a:cs typeface="Times New Roman"/>
              </a:rPr>
              <a:t>ASCII,</a:t>
            </a:r>
            <a:r>
              <a:rPr sz="2800" spc="-10" dirty="0">
                <a:latin typeface="Times New Roman"/>
                <a:cs typeface="Times New Roman"/>
              </a:rPr>
              <a:t> </a:t>
            </a:r>
            <a:r>
              <a:rPr sz="2800" spc="-5" dirty="0">
                <a:latin typeface="Times New Roman"/>
                <a:cs typeface="Times New Roman"/>
              </a:rPr>
              <a:t>Unicode</a:t>
            </a:r>
            <a:endParaRPr sz="2800">
              <a:latin typeface="Times New Roman"/>
              <a:cs typeface="Times New Roman"/>
            </a:endParaRPr>
          </a:p>
          <a:p>
            <a:pPr marL="355600" indent="-342900">
              <a:lnSpc>
                <a:spcPct val="100000"/>
              </a:lnSpc>
              <a:spcBef>
                <a:spcPts val="600"/>
              </a:spcBef>
              <a:buFont typeface="Arial MT"/>
              <a:buChar char="•"/>
              <a:tabLst>
                <a:tab pos="354965" algn="l"/>
                <a:tab pos="355600" algn="l"/>
              </a:tabLst>
            </a:pPr>
            <a:r>
              <a:rPr sz="3200" dirty="0">
                <a:latin typeface="Times New Roman"/>
                <a:cs typeface="Times New Roman"/>
              </a:rPr>
              <a:t>Images</a:t>
            </a:r>
            <a:endParaRPr sz="3200">
              <a:latin typeface="Times New Roman"/>
              <a:cs typeface="Times New Roman"/>
            </a:endParaRPr>
          </a:p>
          <a:p>
            <a:pPr marL="355600" indent="-342900">
              <a:lnSpc>
                <a:spcPct val="100000"/>
              </a:lnSpc>
              <a:spcBef>
                <a:spcPts val="600"/>
              </a:spcBef>
              <a:buFont typeface="Arial MT"/>
              <a:buChar char="•"/>
              <a:tabLst>
                <a:tab pos="354965" algn="l"/>
                <a:tab pos="355600" algn="l"/>
              </a:tabLst>
            </a:pPr>
            <a:r>
              <a:rPr sz="3200" dirty="0">
                <a:latin typeface="Times New Roman"/>
                <a:cs typeface="Times New Roman"/>
              </a:rPr>
              <a:t>Audio</a:t>
            </a:r>
            <a:r>
              <a:rPr sz="3200" spc="-30" dirty="0">
                <a:latin typeface="Times New Roman"/>
                <a:cs typeface="Times New Roman"/>
              </a:rPr>
              <a:t> </a:t>
            </a:r>
            <a:r>
              <a:rPr sz="3200" dirty="0">
                <a:latin typeface="Times New Roman"/>
                <a:cs typeface="Times New Roman"/>
              </a:rPr>
              <a:t>→ Samples</a:t>
            </a:r>
            <a:r>
              <a:rPr sz="3200" spc="-15" dirty="0">
                <a:latin typeface="Times New Roman"/>
                <a:cs typeface="Times New Roman"/>
              </a:rPr>
              <a:t> </a:t>
            </a:r>
            <a:r>
              <a:rPr sz="3200" dirty="0">
                <a:latin typeface="Times New Roman"/>
                <a:cs typeface="Times New Roman"/>
              </a:rPr>
              <a:t>of</a:t>
            </a:r>
            <a:r>
              <a:rPr sz="3200" spc="-25" dirty="0">
                <a:latin typeface="Times New Roman"/>
                <a:cs typeface="Times New Roman"/>
              </a:rPr>
              <a:t> </a:t>
            </a:r>
            <a:r>
              <a:rPr sz="3200" dirty="0">
                <a:latin typeface="Times New Roman"/>
                <a:cs typeface="Times New Roman"/>
              </a:rPr>
              <a:t>continuous</a:t>
            </a:r>
            <a:r>
              <a:rPr sz="3200" spc="-25" dirty="0">
                <a:latin typeface="Times New Roman"/>
                <a:cs typeface="Times New Roman"/>
              </a:rPr>
              <a:t> </a:t>
            </a:r>
            <a:r>
              <a:rPr sz="3200" dirty="0">
                <a:latin typeface="Times New Roman"/>
                <a:cs typeface="Times New Roman"/>
              </a:rPr>
              <a:t>signal</a:t>
            </a:r>
            <a:endParaRPr sz="3200">
              <a:latin typeface="Times New Roman"/>
              <a:cs typeface="Times New Roman"/>
            </a:endParaRPr>
          </a:p>
          <a:p>
            <a:pPr marL="355600" indent="-342900">
              <a:lnSpc>
                <a:spcPct val="100000"/>
              </a:lnSpc>
              <a:spcBef>
                <a:spcPts val="600"/>
              </a:spcBef>
              <a:buFont typeface="Arial MT"/>
              <a:buChar char="•"/>
              <a:tabLst>
                <a:tab pos="354965" algn="l"/>
                <a:tab pos="355600" algn="l"/>
              </a:tabLst>
            </a:pPr>
            <a:r>
              <a:rPr sz="3200" dirty="0">
                <a:latin typeface="Times New Roman"/>
                <a:cs typeface="Times New Roman"/>
              </a:rPr>
              <a:t>Video</a:t>
            </a:r>
            <a:r>
              <a:rPr sz="3200" spc="-10" dirty="0">
                <a:latin typeface="Times New Roman"/>
                <a:cs typeface="Times New Roman"/>
              </a:rPr>
              <a:t> </a:t>
            </a:r>
            <a:r>
              <a:rPr sz="3200" spc="5" dirty="0">
                <a:latin typeface="Times New Roman"/>
                <a:cs typeface="Times New Roman"/>
              </a:rPr>
              <a:t>→</a:t>
            </a:r>
            <a:r>
              <a:rPr sz="3200" spc="-15" dirty="0">
                <a:latin typeface="Times New Roman"/>
                <a:cs typeface="Times New Roman"/>
              </a:rPr>
              <a:t> </a:t>
            </a:r>
            <a:r>
              <a:rPr sz="3200" dirty="0">
                <a:latin typeface="Times New Roman"/>
                <a:cs typeface="Times New Roman"/>
              </a:rPr>
              <a:t>Sequence</a:t>
            </a:r>
            <a:r>
              <a:rPr sz="3200" spc="-15" dirty="0">
                <a:latin typeface="Times New Roman"/>
                <a:cs typeface="Times New Roman"/>
              </a:rPr>
              <a:t> </a:t>
            </a:r>
            <a:r>
              <a:rPr sz="3200" dirty="0">
                <a:latin typeface="Times New Roman"/>
                <a:cs typeface="Times New Roman"/>
              </a:rPr>
              <a:t>of</a:t>
            </a:r>
            <a:r>
              <a:rPr sz="3200" spc="-25" dirty="0">
                <a:latin typeface="Times New Roman"/>
                <a:cs typeface="Times New Roman"/>
              </a:rPr>
              <a:t> </a:t>
            </a:r>
            <a:r>
              <a:rPr sz="3200" dirty="0">
                <a:latin typeface="Times New Roman"/>
                <a:cs typeface="Times New Roman"/>
              </a:rPr>
              <a:t>bitmap</a:t>
            </a:r>
            <a:r>
              <a:rPr sz="3200" spc="-10" dirty="0">
                <a:latin typeface="Times New Roman"/>
                <a:cs typeface="Times New Roman"/>
              </a:rPr>
              <a:t> </a:t>
            </a:r>
            <a:r>
              <a:rPr sz="3200" dirty="0">
                <a:latin typeface="Times New Roman"/>
                <a:cs typeface="Times New Roman"/>
              </a:rPr>
              <a:t>images</a:t>
            </a:r>
            <a:endParaRPr sz="3200">
              <a:latin typeface="Times New Roman"/>
              <a:cs typeface="Times New Roman"/>
            </a:endParaRPr>
          </a:p>
        </p:txBody>
      </p:sp>
      <p:sp>
        <p:nvSpPr>
          <p:cNvPr id="7" name="Slide Number Placeholder 6">
            <a:extLst>
              <a:ext uri="{FF2B5EF4-FFF2-40B4-BE49-F238E27FC236}">
                <a16:creationId xmlns:a16="http://schemas.microsoft.com/office/drawing/2014/main" xmlns="" id="{47359184-4D1C-EE52-79CD-84DB03BD470E}"/>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11</a:t>
            </a:fld>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5733" y="403605"/>
            <a:ext cx="7065645" cy="452120"/>
          </a:xfrm>
          <a:prstGeom prst="rect">
            <a:avLst/>
          </a:prstGeom>
        </p:spPr>
        <p:txBody>
          <a:bodyPr vert="horz" wrap="square" lIns="0" tIns="12065" rIns="0" bIns="0" rtlCol="0">
            <a:spAutoFit/>
          </a:bodyPr>
          <a:lstStyle/>
          <a:p>
            <a:pPr marL="12700">
              <a:lnSpc>
                <a:spcPct val="100000"/>
              </a:lnSpc>
              <a:spcBef>
                <a:spcPts val="95"/>
              </a:spcBef>
            </a:pPr>
            <a:r>
              <a:rPr sz="2800" spc="-5" dirty="0"/>
              <a:t>Data</a:t>
            </a:r>
            <a:r>
              <a:rPr sz="2800" spc="-15" dirty="0"/>
              <a:t> </a:t>
            </a:r>
            <a:r>
              <a:rPr sz="2800" dirty="0"/>
              <a:t>flow</a:t>
            </a:r>
            <a:r>
              <a:rPr sz="2800" spc="-10" dirty="0"/>
              <a:t> </a:t>
            </a:r>
            <a:r>
              <a:rPr sz="2800" spc="-5" dirty="0"/>
              <a:t>(simplex,</a:t>
            </a:r>
            <a:r>
              <a:rPr sz="2800" spc="-10" dirty="0"/>
              <a:t> </a:t>
            </a:r>
            <a:r>
              <a:rPr sz="2800" dirty="0"/>
              <a:t>half-duplex,</a:t>
            </a:r>
            <a:r>
              <a:rPr sz="2800" spc="-40" dirty="0"/>
              <a:t> </a:t>
            </a:r>
            <a:r>
              <a:rPr sz="2800" spc="-5" dirty="0"/>
              <a:t>and</a:t>
            </a:r>
            <a:r>
              <a:rPr sz="2800" spc="-10" dirty="0"/>
              <a:t> </a:t>
            </a:r>
            <a:r>
              <a:rPr sz="2800" dirty="0"/>
              <a:t>full-duplex)</a:t>
            </a:r>
            <a:endParaRPr sz="2800"/>
          </a:p>
        </p:txBody>
      </p:sp>
      <p:pic>
        <p:nvPicPr>
          <p:cNvPr id="3" name="object 3"/>
          <p:cNvPicPr/>
          <p:nvPr/>
        </p:nvPicPr>
        <p:blipFill>
          <a:blip r:embed="rId2" cstate="print"/>
          <a:stretch>
            <a:fillRect/>
          </a:stretch>
        </p:blipFill>
        <p:spPr>
          <a:xfrm>
            <a:off x="1219200" y="1171955"/>
            <a:ext cx="6489192" cy="4913431"/>
          </a:xfrm>
          <a:prstGeom prst="rect">
            <a:avLst/>
          </a:prstGeom>
        </p:spPr>
      </p:pic>
      <p:sp>
        <p:nvSpPr>
          <p:cNvPr id="4" name="object 4"/>
          <p:cNvSpPr txBox="1"/>
          <p:nvPr/>
        </p:nvSpPr>
        <p:spPr>
          <a:xfrm>
            <a:off x="8479281"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78787"/>
                </a:solidFill>
                <a:latin typeface="Calibri"/>
                <a:cs typeface="Calibri"/>
              </a:rPr>
              <a:pPr marL="38100">
                <a:lnSpc>
                  <a:spcPts val="1240"/>
                </a:lnSpc>
              </a:pPr>
              <a:t>12</a:t>
            </a:fld>
            <a:endParaRPr sz="1200">
              <a:latin typeface="Calibri"/>
              <a:cs typeface="Calibri"/>
            </a:endParaRPr>
          </a:p>
        </p:txBody>
      </p:sp>
      <p:sp>
        <p:nvSpPr>
          <p:cNvPr id="7" name="Slide Number Placeholder 6">
            <a:extLst>
              <a:ext uri="{FF2B5EF4-FFF2-40B4-BE49-F238E27FC236}">
                <a16:creationId xmlns:a16="http://schemas.microsoft.com/office/drawing/2014/main" xmlns="" id="{46049526-C973-D32A-57E0-149CA8FBE7D3}"/>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12</a:t>
            </a:fld>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951098" y="478663"/>
            <a:ext cx="3525902" cy="553998"/>
          </a:xfrm>
        </p:spPr>
        <p:txBody>
          <a:bodyPr/>
          <a:lstStyle/>
          <a:p>
            <a:r>
              <a:rPr lang="en-IN" sz="3600" b="1" spc="-5" dirty="0"/>
              <a:t>NETWORKS</a:t>
            </a:r>
            <a:endParaRPr lang="en-IN" sz="3600" dirty="0"/>
          </a:p>
        </p:txBody>
      </p:sp>
      <p:sp>
        <p:nvSpPr>
          <p:cNvPr id="4" name="Text Placeholder 3"/>
          <p:cNvSpPr>
            <a:spLocks noGrp="1"/>
          </p:cNvSpPr>
          <p:nvPr>
            <p:ph type="body" idx="1"/>
          </p:nvPr>
        </p:nvSpPr>
        <p:spPr>
          <a:xfrm>
            <a:off x="256717" y="1291590"/>
            <a:ext cx="8630564" cy="1107996"/>
          </a:xfrm>
        </p:spPr>
        <p:txBody>
          <a:bodyPr/>
          <a:lstStyle/>
          <a:p>
            <a:r>
              <a:rPr lang="en-US" spc="-5" dirty="0"/>
              <a:t>A</a:t>
            </a:r>
            <a:r>
              <a:rPr lang="en-US" spc="10" dirty="0"/>
              <a:t> </a:t>
            </a:r>
            <a:r>
              <a:rPr lang="en-US" b="1" spc="-5" dirty="0">
                <a:solidFill>
                  <a:srgbClr val="C00000"/>
                </a:solidFill>
              </a:rPr>
              <a:t>network</a:t>
            </a:r>
            <a:r>
              <a:rPr lang="en-US" b="1" spc="20" dirty="0">
                <a:solidFill>
                  <a:srgbClr val="C00000"/>
                </a:solidFill>
              </a:rPr>
              <a:t> </a:t>
            </a:r>
            <a:r>
              <a:rPr lang="en-US" spc="-5" dirty="0"/>
              <a:t>is</a:t>
            </a:r>
            <a:r>
              <a:rPr lang="en-US" spc="5" dirty="0"/>
              <a:t> </a:t>
            </a:r>
            <a:r>
              <a:rPr lang="en-US" spc="-5" dirty="0"/>
              <a:t>the</a:t>
            </a:r>
            <a:r>
              <a:rPr lang="en-US" spc="5" dirty="0"/>
              <a:t> </a:t>
            </a:r>
            <a:r>
              <a:rPr lang="en-US" spc="-5" dirty="0"/>
              <a:t>interconnection</a:t>
            </a:r>
            <a:r>
              <a:rPr lang="en-US" spc="5" dirty="0"/>
              <a:t> </a:t>
            </a:r>
            <a:r>
              <a:rPr lang="en-US" spc="-5" dirty="0"/>
              <a:t>of</a:t>
            </a:r>
            <a:r>
              <a:rPr lang="en-US" spc="10" dirty="0"/>
              <a:t> </a:t>
            </a:r>
            <a:r>
              <a:rPr lang="en-US" spc="-5" dirty="0"/>
              <a:t>a</a:t>
            </a:r>
            <a:r>
              <a:rPr lang="en-US" spc="5" dirty="0"/>
              <a:t> </a:t>
            </a:r>
            <a:r>
              <a:rPr lang="en-US" spc="-5" dirty="0"/>
              <a:t>set</a:t>
            </a:r>
            <a:r>
              <a:rPr lang="en-US" dirty="0"/>
              <a:t> </a:t>
            </a:r>
            <a:r>
              <a:rPr lang="en-US" spc="-5" dirty="0"/>
              <a:t>of</a:t>
            </a:r>
            <a:r>
              <a:rPr lang="en-US" spc="15" dirty="0"/>
              <a:t> </a:t>
            </a:r>
            <a:r>
              <a:rPr lang="en-US" spc="-5" dirty="0"/>
              <a:t>devices</a:t>
            </a:r>
            <a:r>
              <a:rPr lang="en-US" spc="-10" dirty="0"/>
              <a:t> </a:t>
            </a:r>
            <a:r>
              <a:rPr lang="en-US" spc="-5" dirty="0"/>
              <a:t>capable of</a:t>
            </a:r>
            <a:r>
              <a:rPr lang="en-US" spc="15" dirty="0"/>
              <a:t> </a:t>
            </a:r>
            <a:r>
              <a:rPr lang="en-US" spc="-10" dirty="0"/>
              <a:t>communication.</a:t>
            </a:r>
            <a:endParaRPr lang="en-US" dirty="0"/>
          </a:p>
          <a:p>
            <a:endParaRPr lang="en-IN" dirty="0"/>
          </a:p>
        </p:txBody>
      </p:sp>
      <p:pic>
        <p:nvPicPr>
          <p:cNvPr id="5" name="object 4"/>
          <p:cNvPicPr/>
          <p:nvPr/>
        </p:nvPicPr>
        <p:blipFill>
          <a:blip r:embed="rId2" cstate="print"/>
          <a:stretch>
            <a:fillRect/>
          </a:stretch>
        </p:blipFill>
        <p:spPr>
          <a:xfrm>
            <a:off x="1388533" y="2497667"/>
            <a:ext cx="5715000" cy="3581400"/>
          </a:xfrm>
          <a:prstGeom prst="rect">
            <a:avLst/>
          </a:prstGeom>
        </p:spPr>
      </p:pic>
      <p:sp>
        <p:nvSpPr>
          <p:cNvPr id="7" name="Slide Number Placeholder 6">
            <a:extLst>
              <a:ext uri="{FF2B5EF4-FFF2-40B4-BE49-F238E27FC236}">
                <a16:creationId xmlns:a16="http://schemas.microsoft.com/office/drawing/2014/main" xmlns="" id="{EC132B02-D840-7C01-9147-BA83147DC925}"/>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13</a:t>
            </a:fld>
            <a:endParaRPr lang="en-IN" dirty="0"/>
          </a:p>
        </p:txBody>
      </p:sp>
    </p:spTree>
    <p:extLst>
      <p:ext uri="{BB962C8B-B14F-4D97-AF65-F5344CB8AC3E}">
        <p14:creationId xmlns:p14="http://schemas.microsoft.com/office/powerpoint/2010/main" xmlns="" val="199185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457200"/>
            <a:ext cx="5867400" cy="677108"/>
          </a:xfrm>
        </p:spPr>
        <p:txBody>
          <a:bodyPr/>
          <a:lstStyle/>
          <a:p>
            <a:r>
              <a:rPr lang="en-US" b="1" dirty="0"/>
              <a:t>Computer Network</a:t>
            </a:r>
            <a:endParaRPr lang="en-IN" b="1" dirty="0"/>
          </a:p>
        </p:txBody>
      </p:sp>
      <p:sp>
        <p:nvSpPr>
          <p:cNvPr id="3" name="Text Placeholder 2"/>
          <p:cNvSpPr>
            <a:spLocks noGrp="1"/>
          </p:cNvSpPr>
          <p:nvPr>
            <p:ph type="body" idx="1"/>
          </p:nvPr>
        </p:nvSpPr>
        <p:spPr>
          <a:xfrm>
            <a:off x="228600" y="1447800"/>
            <a:ext cx="8630564" cy="3128010"/>
          </a:xfrm>
        </p:spPr>
        <p:txBody>
          <a:bodyPr/>
          <a:lstStyle/>
          <a:p>
            <a:r>
              <a:rPr lang="en-US" b="1" dirty="0"/>
              <a:t>A computer network is a system that connects two or more computing devices for transmitting and sharing information. </a:t>
            </a:r>
          </a:p>
          <a:p>
            <a:endParaRPr lang="en-US" b="1" dirty="0"/>
          </a:p>
          <a:p>
            <a:r>
              <a:rPr lang="en-US" dirty="0"/>
              <a:t>Computing devices include everything from a mobile phone to a server. </a:t>
            </a:r>
          </a:p>
          <a:p>
            <a:r>
              <a:rPr lang="en-US" dirty="0"/>
              <a:t>These devices are connected using physical wires such as fiber optics, but they can also be wireless.</a:t>
            </a:r>
            <a:endParaRPr lang="en-IN" dirty="0"/>
          </a:p>
        </p:txBody>
      </p:sp>
      <p:sp>
        <p:nvSpPr>
          <p:cNvPr id="6" name="Slide Number Placeholder 5">
            <a:extLst>
              <a:ext uri="{FF2B5EF4-FFF2-40B4-BE49-F238E27FC236}">
                <a16:creationId xmlns:a16="http://schemas.microsoft.com/office/drawing/2014/main" xmlns="" id="{1F7D3417-5A10-5EB3-30AF-DAE2A94E6F40}"/>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14</a:t>
            </a:fld>
            <a:endParaRPr lang="en-IN" dirty="0"/>
          </a:p>
        </p:txBody>
      </p:sp>
    </p:spTree>
    <p:extLst>
      <p:ext uri="{BB962C8B-B14F-4D97-AF65-F5344CB8AC3E}">
        <p14:creationId xmlns:p14="http://schemas.microsoft.com/office/powerpoint/2010/main" xmlns="" val="4110992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0617" y="83311"/>
            <a:ext cx="2718435" cy="574040"/>
          </a:xfrm>
          <a:prstGeom prst="rect">
            <a:avLst/>
          </a:prstGeom>
        </p:spPr>
        <p:txBody>
          <a:bodyPr vert="horz" wrap="square" lIns="0" tIns="12700" rIns="0" bIns="0" rtlCol="0">
            <a:spAutoFit/>
          </a:bodyPr>
          <a:lstStyle/>
          <a:p>
            <a:pPr marL="12700">
              <a:lnSpc>
                <a:spcPct val="100000"/>
              </a:lnSpc>
              <a:spcBef>
                <a:spcPts val="100"/>
              </a:spcBef>
            </a:pPr>
            <a:r>
              <a:rPr sz="3600" b="1" spc="-5" dirty="0">
                <a:latin typeface="Times New Roman"/>
                <a:cs typeface="Times New Roman"/>
              </a:rPr>
              <a:t>NETWORKS</a:t>
            </a:r>
            <a:endParaRPr sz="3600" dirty="0">
              <a:latin typeface="Times New Roman"/>
              <a:cs typeface="Times New Roman"/>
            </a:endParaRPr>
          </a:p>
        </p:txBody>
      </p:sp>
      <p:sp>
        <p:nvSpPr>
          <p:cNvPr id="3" name="object 3"/>
          <p:cNvSpPr txBox="1"/>
          <p:nvPr/>
        </p:nvSpPr>
        <p:spPr>
          <a:xfrm>
            <a:off x="258267" y="1121410"/>
            <a:ext cx="8079740" cy="5205912"/>
          </a:xfrm>
          <a:prstGeom prst="rect">
            <a:avLst/>
          </a:prstGeom>
        </p:spPr>
        <p:txBody>
          <a:bodyPr vert="horz" wrap="square" lIns="0" tIns="12065" rIns="0" bIns="0" rtlCol="0">
            <a:spAutoFit/>
          </a:bodyPr>
          <a:lstStyle/>
          <a:p>
            <a:pPr marL="12700">
              <a:lnSpc>
                <a:spcPts val="2070"/>
              </a:lnSpc>
            </a:pPr>
            <a:r>
              <a:rPr sz="2800" b="1" spc="-5" dirty="0">
                <a:latin typeface="Times New Roman"/>
                <a:cs typeface="Times New Roman"/>
              </a:rPr>
              <a:t>Network</a:t>
            </a:r>
            <a:r>
              <a:rPr sz="2800" b="1" spc="-20" dirty="0">
                <a:latin typeface="Times New Roman"/>
                <a:cs typeface="Times New Roman"/>
              </a:rPr>
              <a:t> </a:t>
            </a:r>
            <a:r>
              <a:rPr sz="2800" b="1" spc="-5" dirty="0">
                <a:latin typeface="Times New Roman"/>
                <a:cs typeface="Times New Roman"/>
              </a:rPr>
              <a:t>Criteria</a:t>
            </a:r>
            <a:endParaRPr sz="2800" dirty="0">
              <a:latin typeface="Times New Roman"/>
              <a:cs typeface="Times New Roman"/>
            </a:endParaRPr>
          </a:p>
          <a:p>
            <a:pPr marL="527685" indent="-515620">
              <a:lnSpc>
                <a:spcPts val="2910"/>
              </a:lnSpc>
              <a:buClr>
                <a:srgbClr val="000000"/>
              </a:buClr>
              <a:buSzPct val="136842"/>
              <a:buAutoNum type="arabicPeriod"/>
              <a:tabLst>
                <a:tab pos="527685" algn="l"/>
                <a:tab pos="528320" algn="l"/>
              </a:tabLst>
            </a:pPr>
            <a:r>
              <a:rPr sz="2400" spc="-5" dirty="0">
                <a:solidFill>
                  <a:srgbClr val="C0504D"/>
                </a:solidFill>
                <a:latin typeface="Times New Roman"/>
                <a:cs typeface="Times New Roman"/>
              </a:rPr>
              <a:t>Performance</a:t>
            </a:r>
            <a:endParaRPr sz="2400" dirty="0">
              <a:latin typeface="Times New Roman"/>
              <a:cs typeface="Times New Roman"/>
            </a:endParaRPr>
          </a:p>
          <a:p>
            <a:pPr marL="1213485" lvl="2" indent="-343535">
              <a:spcBef>
                <a:spcPts val="135"/>
              </a:spcBef>
              <a:buSzPct val="136842"/>
              <a:buFont typeface="Arial MT"/>
              <a:buChar char="•"/>
              <a:tabLst>
                <a:tab pos="756285" algn="l"/>
                <a:tab pos="756920" algn="l"/>
              </a:tabLst>
            </a:pPr>
            <a:r>
              <a:rPr sz="1900" spc="-5" dirty="0">
                <a:latin typeface="Times New Roman"/>
                <a:cs typeface="Times New Roman"/>
              </a:rPr>
              <a:t>Transit</a:t>
            </a:r>
            <a:r>
              <a:rPr sz="1900" spc="-25" dirty="0">
                <a:latin typeface="Times New Roman"/>
                <a:cs typeface="Times New Roman"/>
              </a:rPr>
              <a:t> </a:t>
            </a:r>
            <a:r>
              <a:rPr sz="1900" spc="-10" dirty="0">
                <a:latin typeface="Times New Roman"/>
                <a:cs typeface="Times New Roman"/>
              </a:rPr>
              <a:t>time</a:t>
            </a:r>
            <a:endParaRPr sz="1900" dirty="0">
              <a:latin typeface="Times New Roman"/>
              <a:cs typeface="Times New Roman"/>
            </a:endParaRPr>
          </a:p>
          <a:p>
            <a:pPr marL="1213485" lvl="2" indent="-343535">
              <a:spcBef>
                <a:spcPts val="265"/>
              </a:spcBef>
              <a:buSzPct val="136842"/>
              <a:buFont typeface="Arial MT"/>
              <a:buChar char="•"/>
              <a:tabLst>
                <a:tab pos="756285" algn="l"/>
                <a:tab pos="756920" algn="l"/>
              </a:tabLst>
            </a:pPr>
            <a:r>
              <a:rPr sz="1900" spc="-5" dirty="0">
                <a:latin typeface="Times New Roman"/>
                <a:cs typeface="Times New Roman"/>
              </a:rPr>
              <a:t>Response</a:t>
            </a:r>
            <a:r>
              <a:rPr sz="1900" spc="-15" dirty="0">
                <a:latin typeface="Times New Roman"/>
                <a:cs typeface="Times New Roman"/>
              </a:rPr>
              <a:t> </a:t>
            </a:r>
            <a:r>
              <a:rPr sz="1900" spc="-10" dirty="0">
                <a:latin typeface="Times New Roman"/>
                <a:cs typeface="Times New Roman"/>
              </a:rPr>
              <a:t>time</a:t>
            </a:r>
            <a:endParaRPr sz="1900" dirty="0">
              <a:latin typeface="Times New Roman"/>
              <a:cs typeface="Times New Roman"/>
            </a:endParaRPr>
          </a:p>
          <a:p>
            <a:pPr marL="1213485" lvl="2" indent="-343535">
              <a:spcBef>
                <a:spcPts val="280"/>
              </a:spcBef>
              <a:buSzPct val="136842"/>
              <a:buFont typeface="Arial MT"/>
              <a:buChar char="•"/>
              <a:tabLst>
                <a:tab pos="756285" algn="l"/>
                <a:tab pos="756920" algn="l"/>
              </a:tabLst>
            </a:pPr>
            <a:r>
              <a:rPr sz="1900" dirty="0">
                <a:latin typeface="Times New Roman"/>
                <a:cs typeface="Times New Roman"/>
              </a:rPr>
              <a:t>Throughput</a:t>
            </a:r>
          </a:p>
          <a:p>
            <a:pPr marL="1213485" lvl="2" indent="-343535">
              <a:lnSpc>
                <a:spcPts val="2060"/>
              </a:lnSpc>
              <a:spcBef>
                <a:spcPts val="275"/>
              </a:spcBef>
              <a:buSzPct val="136842"/>
              <a:buFont typeface="Arial MT"/>
              <a:buChar char="•"/>
              <a:tabLst>
                <a:tab pos="756285" algn="l"/>
                <a:tab pos="756920" algn="l"/>
              </a:tabLst>
            </a:pPr>
            <a:r>
              <a:rPr sz="1900" spc="-5" dirty="0">
                <a:latin typeface="Times New Roman"/>
                <a:cs typeface="Times New Roman"/>
              </a:rPr>
              <a:t>Delay</a:t>
            </a:r>
            <a:endParaRPr sz="1900" dirty="0">
              <a:latin typeface="Times New Roman"/>
              <a:cs typeface="Times New Roman"/>
            </a:endParaRPr>
          </a:p>
          <a:p>
            <a:pPr marL="527685" indent="-515620">
              <a:lnSpc>
                <a:spcPts val="2900"/>
              </a:lnSpc>
              <a:buClr>
                <a:srgbClr val="000000"/>
              </a:buClr>
              <a:buSzPct val="136842"/>
              <a:buAutoNum type="arabicPeriod"/>
              <a:tabLst>
                <a:tab pos="527685" algn="l"/>
                <a:tab pos="528320" algn="l"/>
              </a:tabLst>
            </a:pPr>
            <a:r>
              <a:rPr sz="2400" spc="-5" dirty="0">
                <a:solidFill>
                  <a:srgbClr val="C0504D"/>
                </a:solidFill>
                <a:latin typeface="Times New Roman"/>
                <a:cs typeface="Times New Roman"/>
              </a:rPr>
              <a:t>Reliability:</a:t>
            </a:r>
            <a:endParaRPr sz="2400" dirty="0">
              <a:latin typeface="Times New Roman"/>
              <a:cs typeface="Times New Roman"/>
            </a:endParaRPr>
          </a:p>
          <a:p>
            <a:pPr marL="1001395" lvl="2" indent="-177165">
              <a:spcBef>
                <a:spcPts val="135"/>
              </a:spcBef>
              <a:buSzPct val="136842"/>
              <a:buFont typeface="Arial MT"/>
              <a:buChar char="•"/>
              <a:tabLst>
                <a:tab pos="544830" algn="l"/>
              </a:tabLst>
            </a:pPr>
            <a:r>
              <a:rPr sz="1900" spc="-5" dirty="0">
                <a:latin typeface="Times New Roman"/>
                <a:cs typeface="Times New Roman"/>
              </a:rPr>
              <a:t>Accuracy</a:t>
            </a:r>
            <a:r>
              <a:rPr sz="1900" spc="-30" dirty="0">
                <a:latin typeface="Times New Roman"/>
                <a:cs typeface="Times New Roman"/>
              </a:rPr>
              <a:t> </a:t>
            </a:r>
            <a:r>
              <a:rPr sz="1900" spc="-5" dirty="0">
                <a:latin typeface="Times New Roman"/>
                <a:cs typeface="Times New Roman"/>
              </a:rPr>
              <a:t>of</a:t>
            </a:r>
            <a:r>
              <a:rPr sz="1900" spc="-10" dirty="0">
                <a:latin typeface="Times New Roman"/>
                <a:cs typeface="Times New Roman"/>
              </a:rPr>
              <a:t> </a:t>
            </a:r>
            <a:r>
              <a:rPr sz="1900" spc="-5" dirty="0">
                <a:latin typeface="Times New Roman"/>
                <a:cs typeface="Times New Roman"/>
              </a:rPr>
              <a:t>delivery</a:t>
            </a:r>
            <a:endParaRPr sz="1900" dirty="0">
              <a:latin typeface="Times New Roman"/>
              <a:cs typeface="Times New Roman"/>
            </a:endParaRPr>
          </a:p>
          <a:p>
            <a:pPr marL="1001395" lvl="2" indent="-177165">
              <a:spcBef>
                <a:spcPts val="280"/>
              </a:spcBef>
              <a:buSzPct val="136842"/>
              <a:buFont typeface="Arial MT"/>
              <a:buChar char="•"/>
              <a:tabLst>
                <a:tab pos="544830" algn="l"/>
              </a:tabLst>
            </a:pPr>
            <a:r>
              <a:rPr sz="1900" spc="-5" dirty="0">
                <a:latin typeface="Times New Roman"/>
                <a:cs typeface="Times New Roman"/>
              </a:rPr>
              <a:t>Frequency</a:t>
            </a:r>
            <a:r>
              <a:rPr sz="1900" spc="-20" dirty="0">
                <a:latin typeface="Times New Roman"/>
                <a:cs typeface="Times New Roman"/>
              </a:rPr>
              <a:t> </a:t>
            </a:r>
            <a:r>
              <a:rPr sz="1900" spc="-5" dirty="0">
                <a:latin typeface="Times New Roman"/>
                <a:cs typeface="Times New Roman"/>
              </a:rPr>
              <a:t>of failure</a:t>
            </a:r>
            <a:endParaRPr sz="1900" dirty="0">
              <a:latin typeface="Times New Roman"/>
              <a:cs typeface="Times New Roman"/>
            </a:endParaRPr>
          </a:p>
          <a:p>
            <a:pPr marL="1010920" lvl="2" indent="-186055">
              <a:spcBef>
                <a:spcPts val="265"/>
              </a:spcBef>
              <a:buSzPct val="136842"/>
              <a:buFont typeface="Arial MT"/>
              <a:buChar char="•"/>
              <a:tabLst>
                <a:tab pos="553720" algn="l"/>
              </a:tabLst>
            </a:pPr>
            <a:r>
              <a:rPr sz="1900" spc="-10" dirty="0">
                <a:latin typeface="Times New Roman"/>
                <a:cs typeface="Times New Roman"/>
              </a:rPr>
              <a:t>Time</a:t>
            </a:r>
            <a:r>
              <a:rPr sz="1900" spc="10" dirty="0">
                <a:latin typeface="Times New Roman"/>
                <a:cs typeface="Times New Roman"/>
              </a:rPr>
              <a:t> </a:t>
            </a:r>
            <a:r>
              <a:rPr sz="1900" spc="-5" dirty="0">
                <a:latin typeface="Times New Roman"/>
                <a:cs typeface="Times New Roman"/>
              </a:rPr>
              <a:t>a</a:t>
            </a:r>
            <a:r>
              <a:rPr sz="1900" spc="-10" dirty="0">
                <a:latin typeface="Times New Roman"/>
                <a:cs typeface="Times New Roman"/>
              </a:rPr>
              <a:t> </a:t>
            </a:r>
            <a:r>
              <a:rPr sz="1900" spc="-5" dirty="0">
                <a:latin typeface="Times New Roman"/>
                <a:cs typeface="Times New Roman"/>
              </a:rPr>
              <a:t>link</a:t>
            </a:r>
            <a:r>
              <a:rPr sz="1900" spc="10" dirty="0">
                <a:latin typeface="Times New Roman"/>
                <a:cs typeface="Times New Roman"/>
              </a:rPr>
              <a:t> </a:t>
            </a:r>
            <a:r>
              <a:rPr sz="1900" spc="-5" dirty="0">
                <a:latin typeface="Times New Roman"/>
                <a:cs typeface="Times New Roman"/>
              </a:rPr>
              <a:t>takes</a:t>
            </a:r>
            <a:r>
              <a:rPr sz="1900" spc="-15" dirty="0">
                <a:latin typeface="Times New Roman"/>
                <a:cs typeface="Times New Roman"/>
              </a:rPr>
              <a:t> </a:t>
            </a:r>
            <a:r>
              <a:rPr sz="1900" spc="-5" dirty="0">
                <a:latin typeface="Times New Roman"/>
                <a:cs typeface="Times New Roman"/>
              </a:rPr>
              <a:t>to</a:t>
            </a:r>
            <a:r>
              <a:rPr sz="1900" spc="5" dirty="0">
                <a:latin typeface="Times New Roman"/>
                <a:cs typeface="Times New Roman"/>
              </a:rPr>
              <a:t> </a:t>
            </a:r>
            <a:r>
              <a:rPr sz="1900" spc="-5" dirty="0">
                <a:latin typeface="Times New Roman"/>
                <a:cs typeface="Times New Roman"/>
              </a:rPr>
              <a:t>recover</a:t>
            </a:r>
            <a:r>
              <a:rPr sz="1900" dirty="0">
                <a:latin typeface="Times New Roman"/>
                <a:cs typeface="Times New Roman"/>
              </a:rPr>
              <a:t> </a:t>
            </a:r>
            <a:r>
              <a:rPr sz="1900" spc="-5" dirty="0">
                <a:latin typeface="Times New Roman"/>
                <a:cs typeface="Times New Roman"/>
              </a:rPr>
              <a:t>from</a:t>
            </a:r>
            <a:r>
              <a:rPr sz="1900" dirty="0">
                <a:latin typeface="Times New Roman"/>
                <a:cs typeface="Times New Roman"/>
              </a:rPr>
              <a:t> </a:t>
            </a:r>
            <a:r>
              <a:rPr sz="1900" spc="-5" dirty="0">
                <a:latin typeface="Times New Roman"/>
                <a:cs typeface="Times New Roman"/>
              </a:rPr>
              <a:t>failure</a:t>
            </a:r>
            <a:endParaRPr sz="1900" dirty="0">
              <a:latin typeface="Times New Roman"/>
              <a:cs typeface="Times New Roman"/>
            </a:endParaRPr>
          </a:p>
          <a:p>
            <a:pPr marL="1010920" lvl="2" indent="-186055">
              <a:lnSpc>
                <a:spcPts val="2070"/>
              </a:lnSpc>
              <a:spcBef>
                <a:spcPts val="275"/>
              </a:spcBef>
              <a:buSzPct val="136842"/>
              <a:buFont typeface="Arial MT"/>
              <a:buChar char="•"/>
              <a:tabLst>
                <a:tab pos="553720" algn="l"/>
              </a:tabLst>
            </a:pPr>
            <a:r>
              <a:rPr sz="1900" spc="-5" dirty="0">
                <a:latin typeface="Times New Roman"/>
                <a:cs typeface="Times New Roman"/>
              </a:rPr>
              <a:t>Robustness in a</a:t>
            </a:r>
            <a:r>
              <a:rPr sz="1900" spc="-25" dirty="0">
                <a:latin typeface="Times New Roman"/>
                <a:cs typeface="Times New Roman"/>
              </a:rPr>
              <a:t> </a:t>
            </a:r>
            <a:r>
              <a:rPr sz="1900" spc="-5" dirty="0">
                <a:latin typeface="Times New Roman"/>
                <a:cs typeface="Times New Roman"/>
              </a:rPr>
              <a:t>catastrophe</a:t>
            </a:r>
            <a:endParaRPr sz="1900" dirty="0">
              <a:latin typeface="Times New Roman"/>
              <a:cs typeface="Times New Roman"/>
            </a:endParaRPr>
          </a:p>
          <a:p>
            <a:pPr marL="527685" indent="-515620">
              <a:lnSpc>
                <a:spcPts val="2910"/>
              </a:lnSpc>
              <a:buClr>
                <a:srgbClr val="000000"/>
              </a:buClr>
              <a:buSzPct val="136842"/>
              <a:buAutoNum type="arabicPeriod"/>
              <a:tabLst>
                <a:tab pos="527685" algn="l"/>
                <a:tab pos="528320" algn="l"/>
              </a:tabLst>
            </a:pPr>
            <a:r>
              <a:rPr sz="2400" spc="-5" dirty="0">
                <a:solidFill>
                  <a:srgbClr val="C0504D"/>
                </a:solidFill>
                <a:latin typeface="Times New Roman"/>
                <a:cs typeface="Times New Roman"/>
              </a:rPr>
              <a:t>Security</a:t>
            </a:r>
            <a:endParaRPr sz="2400" dirty="0">
              <a:latin typeface="Times New Roman"/>
              <a:cs typeface="Times New Roman"/>
            </a:endParaRPr>
          </a:p>
          <a:p>
            <a:pPr marL="1061085" lvl="2" indent="-236854">
              <a:spcBef>
                <a:spcPts val="125"/>
              </a:spcBef>
              <a:buSzPct val="136842"/>
              <a:buFont typeface="Arial MT"/>
              <a:buChar char="•"/>
              <a:tabLst>
                <a:tab pos="604520" algn="l"/>
              </a:tabLst>
            </a:pPr>
            <a:r>
              <a:rPr sz="1900" spc="-5" dirty="0">
                <a:latin typeface="Times New Roman"/>
                <a:cs typeface="Times New Roman"/>
              </a:rPr>
              <a:t>Protecting</a:t>
            </a:r>
            <a:r>
              <a:rPr sz="1900" spc="-10" dirty="0">
                <a:latin typeface="Times New Roman"/>
                <a:cs typeface="Times New Roman"/>
              </a:rPr>
              <a:t> </a:t>
            </a:r>
            <a:r>
              <a:rPr sz="1900" spc="-5" dirty="0">
                <a:latin typeface="Times New Roman"/>
                <a:cs typeface="Times New Roman"/>
              </a:rPr>
              <a:t>data</a:t>
            </a:r>
            <a:r>
              <a:rPr sz="1900" spc="-15" dirty="0">
                <a:latin typeface="Times New Roman"/>
                <a:cs typeface="Times New Roman"/>
              </a:rPr>
              <a:t> </a:t>
            </a:r>
            <a:r>
              <a:rPr sz="1900" dirty="0">
                <a:latin typeface="Times New Roman"/>
                <a:cs typeface="Times New Roman"/>
              </a:rPr>
              <a:t>from </a:t>
            </a:r>
            <a:r>
              <a:rPr sz="1900" spc="-5" dirty="0">
                <a:latin typeface="Times New Roman"/>
                <a:cs typeface="Times New Roman"/>
              </a:rPr>
              <a:t>unauthorised access</a:t>
            </a:r>
            <a:endParaRPr sz="1900" dirty="0">
              <a:latin typeface="Times New Roman"/>
              <a:cs typeface="Times New Roman"/>
            </a:endParaRPr>
          </a:p>
          <a:p>
            <a:pPr marL="1061085" lvl="2" indent="-236854">
              <a:spcBef>
                <a:spcPts val="275"/>
              </a:spcBef>
              <a:buSzPct val="136842"/>
              <a:buFont typeface="Arial MT"/>
              <a:buChar char="•"/>
              <a:tabLst>
                <a:tab pos="604520" algn="l"/>
              </a:tabLst>
            </a:pPr>
            <a:r>
              <a:rPr sz="1900" spc="-5" dirty="0">
                <a:latin typeface="Times New Roman"/>
                <a:cs typeface="Times New Roman"/>
              </a:rPr>
              <a:t>Protecting data from</a:t>
            </a:r>
            <a:r>
              <a:rPr sz="1900" spc="10" dirty="0">
                <a:latin typeface="Times New Roman"/>
                <a:cs typeface="Times New Roman"/>
              </a:rPr>
              <a:t> </a:t>
            </a:r>
            <a:r>
              <a:rPr sz="1900" spc="-10" dirty="0">
                <a:latin typeface="Times New Roman"/>
                <a:cs typeface="Times New Roman"/>
              </a:rPr>
              <a:t>damage</a:t>
            </a:r>
            <a:r>
              <a:rPr sz="1900" spc="15" dirty="0">
                <a:latin typeface="Times New Roman"/>
                <a:cs typeface="Times New Roman"/>
              </a:rPr>
              <a:t> </a:t>
            </a:r>
            <a:r>
              <a:rPr sz="1900" spc="-5" dirty="0">
                <a:latin typeface="Times New Roman"/>
                <a:cs typeface="Times New Roman"/>
              </a:rPr>
              <a:t>and development.</a:t>
            </a:r>
            <a:endParaRPr sz="1900" dirty="0">
              <a:latin typeface="Times New Roman"/>
              <a:cs typeface="Times New Roman"/>
            </a:endParaRPr>
          </a:p>
          <a:p>
            <a:pPr marL="1061085" lvl="2" indent="-236854">
              <a:spcBef>
                <a:spcPts val="280"/>
              </a:spcBef>
              <a:buSzPct val="136842"/>
              <a:buFont typeface="Arial MT"/>
              <a:buChar char="•"/>
              <a:tabLst>
                <a:tab pos="604520" algn="l"/>
              </a:tabLst>
            </a:pPr>
            <a:r>
              <a:rPr sz="1900" spc="-10" dirty="0">
                <a:latin typeface="Times New Roman"/>
                <a:cs typeface="Times New Roman"/>
              </a:rPr>
              <a:t>Implementing</a:t>
            </a:r>
            <a:r>
              <a:rPr sz="1900" spc="45" dirty="0">
                <a:latin typeface="Times New Roman"/>
                <a:cs typeface="Times New Roman"/>
              </a:rPr>
              <a:t> </a:t>
            </a:r>
            <a:r>
              <a:rPr sz="1900" spc="-5" dirty="0">
                <a:latin typeface="Times New Roman"/>
                <a:cs typeface="Times New Roman"/>
              </a:rPr>
              <a:t>policies</a:t>
            </a:r>
            <a:r>
              <a:rPr sz="1900" dirty="0">
                <a:latin typeface="Times New Roman"/>
                <a:cs typeface="Times New Roman"/>
              </a:rPr>
              <a:t> </a:t>
            </a:r>
            <a:r>
              <a:rPr sz="1900" spc="-5" dirty="0">
                <a:latin typeface="Times New Roman"/>
                <a:cs typeface="Times New Roman"/>
              </a:rPr>
              <a:t>and</a:t>
            </a:r>
            <a:r>
              <a:rPr sz="1900" spc="5" dirty="0">
                <a:latin typeface="Times New Roman"/>
                <a:cs typeface="Times New Roman"/>
              </a:rPr>
              <a:t> </a:t>
            </a:r>
            <a:r>
              <a:rPr sz="1900" spc="-5" dirty="0">
                <a:latin typeface="Times New Roman"/>
                <a:cs typeface="Times New Roman"/>
              </a:rPr>
              <a:t>procedures</a:t>
            </a:r>
            <a:r>
              <a:rPr sz="1900" spc="10" dirty="0">
                <a:latin typeface="Times New Roman"/>
                <a:cs typeface="Times New Roman"/>
              </a:rPr>
              <a:t> </a:t>
            </a:r>
            <a:r>
              <a:rPr sz="1900" spc="-5" dirty="0">
                <a:latin typeface="Times New Roman"/>
                <a:cs typeface="Times New Roman"/>
              </a:rPr>
              <a:t>for</a:t>
            </a:r>
            <a:r>
              <a:rPr sz="1900" spc="20" dirty="0">
                <a:latin typeface="Times New Roman"/>
                <a:cs typeface="Times New Roman"/>
              </a:rPr>
              <a:t> </a:t>
            </a:r>
            <a:r>
              <a:rPr sz="1900" spc="-5" dirty="0">
                <a:latin typeface="Times New Roman"/>
                <a:cs typeface="Times New Roman"/>
              </a:rPr>
              <a:t>recovery</a:t>
            </a:r>
            <a:r>
              <a:rPr sz="1900" spc="20" dirty="0">
                <a:latin typeface="Times New Roman"/>
                <a:cs typeface="Times New Roman"/>
              </a:rPr>
              <a:t> </a:t>
            </a:r>
            <a:r>
              <a:rPr sz="1900" spc="-5" dirty="0">
                <a:latin typeface="Times New Roman"/>
                <a:cs typeface="Times New Roman"/>
              </a:rPr>
              <a:t>from</a:t>
            </a:r>
            <a:r>
              <a:rPr sz="1900" spc="15" dirty="0">
                <a:latin typeface="Times New Roman"/>
                <a:cs typeface="Times New Roman"/>
              </a:rPr>
              <a:t> </a:t>
            </a:r>
            <a:r>
              <a:rPr sz="1900" spc="-5" dirty="0">
                <a:latin typeface="Times New Roman"/>
                <a:cs typeface="Times New Roman"/>
              </a:rPr>
              <a:t>breaches</a:t>
            </a:r>
            <a:r>
              <a:rPr sz="1900" spc="10" dirty="0">
                <a:latin typeface="Times New Roman"/>
                <a:cs typeface="Times New Roman"/>
              </a:rPr>
              <a:t> </a:t>
            </a:r>
            <a:r>
              <a:rPr sz="1900" spc="-5" dirty="0">
                <a:latin typeface="Times New Roman"/>
                <a:cs typeface="Times New Roman"/>
              </a:rPr>
              <a:t>and</a:t>
            </a:r>
            <a:r>
              <a:rPr sz="1900" dirty="0">
                <a:latin typeface="Times New Roman"/>
                <a:cs typeface="Times New Roman"/>
              </a:rPr>
              <a:t> </a:t>
            </a:r>
            <a:r>
              <a:rPr sz="1900" spc="-5" dirty="0">
                <a:latin typeface="Times New Roman"/>
                <a:cs typeface="Times New Roman"/>
              </a:rPr>
              <a:t>losses.</a:t>
            </a:r>
            <a:endParaRPr sz="1900" dirty="0">
              <a:latin typeface="Times New Roman"/>
              <a:cs typeface="Times New Roman"/>
            </a:endParaRPr>
          </a:p>
        </p:txBody>
      </p:sp>
      <p:sp>
        <p:nvSpPr>
          <p:cNvPr id="6" name="Slide Number Placeholder 5">
            <a:extLst>
              <a:ext uri="{FF2B5EF4-FFF2-40B4-BE49-F238E27FC236}">
                <a16:creationId xmlns:a16="http://schemas.microsoft.com/office/drawing/2014/main" xmlns="" id="{45641148-F414-F22E-992A-F879E98F6F84}"/>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15</a:t>
            </a:fld>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44776" y="301497"/>
            <a:ext cx="585343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4F81BC"/>
                </a:solidFill>
              </a:rPr>
              <a:t>Physical</a:t>
            </a:r>
            <a:r>
              <a:rPr sz="3600" spc="10" dirty="0">
                <a:solidFill>
                  <a:srgbClr val="4F81BC"/>
                </a:solidFill>
              </a:rPr>
              <a:t> </a:t>
            </a:r>
            <a:r>
              <a:rPr sz="3600" spc="-5" dirty="0">
                <a:solidFill>
                  <a:srgbClr val="4F81BC"/>
                </a:solidFill>
              </a:rPr>
              <a:t>structures</a:t>
            </a:r>
            <a:r>
              <a:rPr sz="3600" spc="10" dirty="0">
                <a:solidFill>
                  <a:srgbClr val="4F81BC"/>
                </a:solidFill>
              </a:rPr>
              <a:t> </a:t>
            </a:r>
            <a:r>
              <a:rPr sz="3600" spc="-5" dirty="0">
                <a:solidFill>
                  <a:srgbClr val="4F81BC"/>
                </a:solidFill>
              </a:rPr>
              <a:t>of</a:t>
            </a:r>
            <a:r>
              <a:rPr sz="3600" spc="10" dirty="0">
                <a:solidFill>
                  <a:srgbClr val="4F81BC"/>
                </a:solidFill>
              </a:rPr>
              <a:t> </a:t>
            </a:r>
            <a:r>
              <a:rPr sz="3600" spc="-5" dirty="0">
                <a:solidFill>
                  <a:srgbClr val="4F81BC"/>
                </a:solidFill>
              </a:rPr>
              <a:t>Networks</a:t>
            </a:r>
            <a:endParaRPr sz="3600"/>
          </a:p>
        </p:txBody>
      </p:sp>
      <p:sp>
        <p:nvSpPr>
          <p:cNvPr id="3" name="object 3"/>
          <p:cNvSpPr txBox="1"/>
          <p:nvPr/>
        </p:nvSpPr>
        <p:spPr>
          <a:xfrm>
            <a:off x="535940" y="1619452"/>
            <a:ext cx="8072755" cy="2137124"/>
          </a:xfrm>
          <a:prstGeom prst="rect">
            <a:avLst/>
          </a:prstGeom>
        </p:spPr>
        <p:txBody>
          <a:bodyPr vert="horz" wrap="square" lIns="0" tIns="13335" rIns="0" bIns="0" rtlCol="0">
            <a:spAutoFit/>
          </a:bodyPr>
          <a:lstStyle/>
          <a:p>
            <a:pPr marL="12700">
              <a:lnSpc>
                <a:spcPct val="100000"/>
              </a:lnSpc>
              <a:spcBef>
                <a:spcPts val="105"/>
              </a:spcBef>
            </a:pPr>
            <a:r>
              <a:rPr sz="3200" dirty="0">
                <a:solidFill>
                  <a:srgbClr val="C0504D"/>
                </a:solidFill>
                <a:latin typeface="Times New Roman"/>
                <a:cs typeface="Times New Roman"/>
              </a:rPr>
              <a:t>Types</a:t>
            </a:r>
            <a:r>
              <a:rPr sz="3200" spc="-35" dirty="0">
                <a:solidFill>
                  <a:srgbClr val="C0504D"/>
                </a:solidFill>
                <a:latin typeface="Times New Roman"/>
                <a:cs typeface="Times New Roman"/>
              </a:rPr>
              <a:t> </a:t>
            </a:r>
            <a:r>
              <a:rPr sz="3200" dirty="0">
                <a:solidFill>
                  <a:srgbClr val="C0504D"/>
                </a:solidFill>
                <a:latin typeface="Times New Roman"/>
                <a:cs typeface="Times New Roman"/>
              </a:rPr>
              <a:t>of</a:t>
            </a:r>
            <a:r>
              <a:rPr sz="3200" spc="-25" dirty="0">
                <a:solidFill>
                  <a:srgbClr val="C0504D"/>
                </a:solidFill>
                <a:latin typeface="Times New Roman"/>
                <a:cs typeface="Times New Roman"/>
              </a:rPr>
              <a:t> </a:t>
            </a:r>
            <a:r>
              <a:rPr sz="3200" dirty="0">
                <a:solidFill>
                  <a:srgbClr val="C0504D"/>
                </a:solidFill>
                <a:latin typeface="Times New Roman"/>
                <a:cs typeface="Times New Roman"/>
              </a:rPr>
              <a:t>Connections</a:t>
            </a:r>
            <a:endParaRPr sz="3200" dirty="0">
              <a:latin typeface="Times New Roman"/>
              <a:cs typeface="Times New Roman"/>
            </a:endParaRPr>
          </a:p>
          <a:p>
            <a:pPr marL="355600" marR="5080" indent="1270">
              <a:lnSpc>
                <a:spcPct val="100000"/>
              </a:lnSpc>
              <a:spcBef>
                <a:spcPts val="45"/>
              </a:spcBef>
            </a:pPr>
            <a:r>
              <a:rPr sz="2400" dirty="0">
                <a:latin typeface="Times New Roman"/>
                <a:cs typeface="Times New Roman"/>
              </a:rPr>
              <a:t>Network</a:t>
            </a:r>
            <a:r>
              <a:rPr sz="2400" spc="204" dirty="0">
                <a:latin typeface="Times New Roman"/>
                <a:cs typeface="Times New Roman"/>
              </a:rPr>
              <a:t> </a:t>
            </a:r>
            <a:r>
              <a:rPr sz="2400" spc="-5" dirty="0">
                <a:latin typeface="Times New Roman"/>
                <a:cs typeface="Times New Roman"/>
              </a:rPr>
              <a:t>is</a:t>
            </a:r>
            <a:r>
              <a:rPr sz="2400" spc="210" dirty="0">
                <a:latin typeface="Times New Roman"/>
                <a:cs typeface="Times New Roman"/>
              </a:rPr>
              <a:t> </a:t>
            </a:r>
            <a:r>
              <a:rPr sz="2400" spc="-5" dirty="0">
                <a:latin typeface="Times New Roman"/>
                <a:cs typeface="Times New Roman"/>
              </a:rPr>
              <a:t>two</a:t>
            </a:r>
            <a:r>
              <a:rPr sz="2400" spc="215" dirty="0">
                <a:latin typeface="Times New Roman"/>
                <a:cs typeface="Times New Roman"/>
              </a:rPr>
              <a:t> </a:t>
            </a:r>
            <a:r>
              <a:rPr sz="2400" dirty="0">
                <a:latin typeface="Times New Roman"/>
                <a:cs typeface="Times New Roman"/>
              </a:rPr>
              <a:t>or</a:t>
            </a:r>
            <a:r>
              <a:rPr sz="2400" spc="225" dirty="0">
                <a:latin typeface="Times New Roman"/>
                <a:cs typeface="Times New Roman"/>
              </a:rPr>
              <a:t> </a:t>
            </a:r>
            <a:r>
              <a:rPr sz="2400" spc="-5" dirty="0">
                <a:latin typeface="Times New Roman"/>
                <a:cs typeface="Times New Roman"/>
              </a:rPr>
              <a:t>more</a:t>
            </a:r>
            <a:r>
              <a:rPr sz="2400" spc="220" dirty="0">
                <a:latin typeface="Times New Roman"/>
                <a:cs typeface="Times New Roman"/>
              </a:rPr>
              <a:t> </a:t>
            </a:r>
            <a:r>
              <a:rPr sz="2400" spc="-5" dirty="0">
                <a:latin typeface="Times New Roman"/>
                <a:cs typeface="Times New Roman"/>
              </a:rPr>
              <a:t>devices</a:t>
            </a:r>
            <a:r>
              <a:rPr sz="2400" spc="210" dirty="0">
                <a:latin typeface="Times New Roman"/>
                <a:cs typeface="Times New Roman"/>
              </a:rPr>
              <a:t> </a:t>
            </a:r>
            <a:r>
              <a:rPr sz="2400" dirty="0">
                <a:latin typeface="Times New Roman"/>
                <a:cs typeface="Times New Roman"/>
              </a:rPr>
              <a:t>connected</a:t>
            </a:r>
            <a:r>
              <a:rPr sz="2400" spc="220" dirty="0">
                <a:latin typeface="Times New Roman"/>
                <a:cs typeface="Times New Roman"/>
              </a:rPr>
              <a:t> </a:t>
            </a:r>
            <a:r>
              <a:rPr sz="2400" spc="-5" dirty="0">
                <a:latin typeface="Times New Roman"/>
                <a:cs typeface="Times New Roman"/>
              </a:rPr>
              <a:t>through</a:t>
            </a:r>
            <a:r>
              <a:rPr sz="2400" spc="225" dirty="0">
                <a:latin typeface="Times New Roman"/>
                <a:cs typeface="Times New Roman"/>
              </a:rPr>
              <a:t> </a:t>
            </a:r>
            <a:r>
              <a:rPr sz="2400" spc="-5" dirty="0">
                <a:latin typeface="Times New Roman"/>
                <a:cs typeface="Times New Roman"/>
              </a:rPr>
              <a:t>links.</a:t>
            </a:r>
            <a:r>
              <a:rPr sz="2400" spc="215" dirty="0">
                <a:latin typeface="Times New Roman"/>
                <a:cs typeface="Times New Roman"/>
              </a:rPr>
              <a:t> </a:t>
            </a:r>
            <a:r>
              <a:rPr sz="2400" spc="-5" dirty="0">
                <a:latin typeface="Times New Roman"/>
                <a:cs typeface="Times New Roman"/>
              </a:rPr>
              <a:t>There</a:t>
            </a:r>
            <a:r>
              <a:rPr sz="2400" spc="220" dirty="0">
                <a:latin typeface="Times New Roman"/>
                <a:cs typeface="Times New Roman"/>
              </a:rPr>
              <a:t> </a:t>
            </a:r>
            <a:r>
              <a:rPr sz="2400" dirty="0">
                <a:latin typeface="Times New Roman"/>
                <a:cs typeface="Times New Roman"/>
              </a:rPr>
              <a:t>are</a:t>
            </a:r>
            <a:r>
              <a:rPr sz="2400" spc="225" dirty="0">
                <a:latin typeface="Times New Roman"/>
                <a:cs typeface="Times New Roman"/>
              </a:rPr>
              <a:t> </a:t>
            </a:r>
            <a:r>
              <a:rPr sz="2400" spc="-5" dirty="0">
                <a:latin typeface="Times New Roman"/>
                <a:cs typeface="Times New Roman"/>
              </a:rPr>
              <a:t>two</a:t>
            </a:r>
            <a:r>
              <a:rPr sz="2400" spc="210" dirty="0">
                <a:latin typeface="Times New Roman"/>
                <a:cs typeface="Times New Roman"/>
              </a:rPr>
              <a:t> </a:t>
            </a:r>
            <a:r>
              <a:rPr sz="2400" spc="-5" dirty="0">
                <a:latin typeface="Times New Roman"/>
                <a:cs typeface="Times New Roman"/>
              </a:rPr>
              <a:t>types</a:t>
            </a:r>
            <a:r>
              <a:rPr sz="2400" spc="225" dirty="0">
                <a:latin typeface="Times New Roman"/>
                <a:cs typeface="Times New Roman"/>
              </a:rPr>
              <a:t> </a:t>
            </a:r>
            <a:r>
              <a:rPr sz="2400" spc="-10" dirty="0">
                <a:latin typeface="Times New Roman"/>
                <a:cs typeface="Times New Roman"/>
              </a:rPr>
              <a:t>of </a:t>
            </a:r>
            <a:r>
              <a:rPr sz="2400" spc="-434" dirty="0">
                <a:latin typeface="Times New Roman"/>
                <a:cs typeface="Times New Roman"/>
              </a:rPr>
              <a:t> </a:t>
            </a:r>
            <a:r>
              <a:rPr sz="2400" dirty="0">
                <a:latin typeface="Times New Roman"/>
                <a:cs typeface="Times New Roman"/>
              </a:rPr>
              <a:t>connections</a:t>
            </a:r>
          </a:p>
          <a:p>
            <a:pPr marL="1647825" indent="-200025">
              <a:lnSpc>
                <a:spcPct val="100000"/>
              </a:lnSpc>
              <a:spcBef>
                <a:spcPts val="600"/>
              </a:spcBef>
              <a:buSzPct val="177777"/>
              <a:buFont typeface="Arial MT"/>
              <a:buChar char="•"/>
              <a:tabLst>
                <a:tab pos="1648460" algn="l"/>
              </a:tabLst>
            </a:pPr>
            <a:r>
              <a:rPr sz="2400" dirty="0">
                <a:latin typeface="Times New Roman"/>
                <a:cs typeface="Times New Roman"/>
              </a:rPr>
              <a:t>Point-to-point</a:t>
            </a:r>
          </a:p>
          <a:p>
            <a:pPr marL="1647825" indent="-200025">
              <a:lnSpc>
                <a:spcPct val="100000"/>
              </a:lnSpc>
              <a:spcBef>
                <a:spcPts val="600"/>
              </a:spcBef>
              <a:buSzPct val="177777"/>
              <a:buFont typeface="Arial MT"/>
              <a:buChar char="•"/>
              <a:tabLst>
                <a:tab pos="1648460" algn="l"/>
              </a:tabLst>
            </a:pPr>
            <a:r>
              <a:rPr sz="2400" dirty="0">
                <a:latin typeface="Times New Roman"/>
                <a:cs typeface="Times New Roman"/>
              </a:rPr>
              <a:t>Multipoint</a:t>
            </a:r>
            <a:r>
              <a:rPr sz="2400" spc="-45" dirty="0">
                <a:latin typeface="Times New Roman"/>
                <a:cs typeface="Times New Roman"/>
              </a:rPr>
              <a:t> </a:t>
            </a:r>
            <a:r>
              <a:rPr sz="2400" dirty="0">
                <a:latin typeface="Times New Roman"/>
                <a:cs typeface="Times New Roman"/>
              </a:rPr>
              <a:t>(multidrop)</a:t>
            </a:r>
          </a:p>
        </p:txBody>
      </p:sp>
      <p:sp>
        <p:nvSpPr>
          <p:cNvPr id="6" name="Slide Number Placeholder 5">
            <a:extLst>
              <a:ext uri="{FF2B5EF4-FFF2-40B4-BE49-F238E27FC236}">
                <a16:creationId xmlns:a16="http://schemas.microsoft.com/office/drawing/2014/main" xmlns="" id="{F7DC769D-92A3-B8FA-392A-81F0FCB29155}"/>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16</a:t>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77592" y="544195"/>
            <a:ext cx="4989195"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4F81BC"/>
                </a:solidFill>
              </a:rPr>
              <a:t>Point-To-Point</a:t>
            </a:r>
            <a:r>
              <a:rPr sz="3600" spc="-10" dirty="0">
                <a:solidFill>
                  <a:srgbClr val="4F81BC"/>
                </a:solidFill>
              </a:rPr>
              <a:t> </a:t>
            </a:r>
            <a:r>
              <a:rPr sz="3600" spc="-5" dirty="0">
                <a:solidFill>
                  <a:srgbClr val="4F81BC"/>
                </a:solidFill>
              </a:rPr>
              <a:t>Connection</a:t>
            </a:r>
            <a:endParaRPr sz="3600"/>
          </a:p>
        </p:txBody>
      </p:sp>
      <p:grpSp>
        <p:nvGrpSpPr>
          <p:cNvPr id="3" name="object 3"/>
          <p:cNvGrpSpPr/>
          <p:nvPr/>
        </p:nvGrpSpPr>
        <p:grpSpPr>
          <a:xfrm>
            <a:off x="1366837" y="3188068"/>
            <a:ext cx="6028055" cy="793115"/>
            <a:chOff x="1366837" y="3188068"/>
            <a:chExt cx="6028055" cy="793115"/>
          </a:xfrm>
        </p:grpSpPr>
        <p:pic>
          <p:nvPicPr>
            <p:cNvPr id="4" name="object 4"/>
            <p:cNvPicPr/>
            <p:nvPr/>
          </p:nvPicPr>
          <p:blipFill>
            <a:blip r:embed="rId2" cstate="print"/>
            <a:stretch>
              <a:fillRect/>
            </a:stretch>
          </p:blipFill>
          <p:spPr>
            <a:xfrm>
              <a:off x="2209800" y="3566160"/>
              <a:ext cx="4343400" cy="76200"/>
            </a:xfrm>
            <a:prstGeom prst="rect">
              <a:avLst/>
            </a:prstGeom>
          </p:spPr>
        </p:pic>
        <p:sp>
          <p:nvSpPr>
            <p:cNvPr id="5" name="object 5"/>
            <p:cNvSpPr/>
            <p:nvPr/>
          </p:nvSpPr>
          <p:spPr>
            <a:xfrm>
              <a:off x="1371600" y="3230930"/>
              <a:ext cx="990600" cy="745490"/>
            </a:xfrm>
            <a:custGeom>
              <a:avLst/>
              <a:gdLst/>
              <a:ahLst/>
              <a:cxnLst/>
              <a:rect l="l" t="t" r="r" b="b"/>
              <a:pathLst>
                <a:path w="990600" h="745489">
                  <a:moveTo>
                    <a:pt x="840486" y="0"/>
                  </a:moveTo>
                  <a:lnTo>
                    <a:pt x="154178" y="0"/>
                  </a:lnTo>
                  <a:lnTo>
                    <a:pt x="154178" y="494995"/>
                  </a:lnTo>
                  <a:lnTo>
                    <a:pt x="840486" y="494995"/>
                  </a:lnTo>
                  <a:lnTo>
                    <a:pt x="840486" y="0"/>
                  </a:lnTo>
                  <a:close/>
                </a:path>
                <a:path w="990600" h="745489">
                  <a:moveTo>
                    <a:pt x="990600" y="685749"/>
                  </a:moveTo>
                  <a:lnTo>
                    <a:pt x="840486" y="519760"/>
                  </a:lnTo>
                  <a:lnTo>
                    <a:pt x="153162" y="519760"/>
                  </a:lnTo>
                  <a:lnTo>
                    <a:pt x="0" y="685749"/>
                  </a:lnTo>
                  <a:lnTo>
                    <a:pt x="0" y="745185"/>
                  </a:lnTo>
                  <a:lnTo>
                    <a:pt x="990600" y="745185"/>
                  </a:lnTo>
                  <a:lnTo>
                    <a:pt x="990600" y="685749"/>
                  </a:lnTo>
                  <a:close/>
                </a:path>
              </a:pathLst>
            </a:custGeom>
            <a:solidFill>
              <a:srgbClr val="C0C0C0"/>
            </a:solidFill>
          </p:spPr>
          <p:txBody>
            <a:bodyPr wrap="square" lIns="0" tIns="0" rIns="0" bIns="0" rtlCol="0"/>
            <a:lstStyle/>
            <a:p>
              <a:endParaRPr/>
            </a:p>
          </p:txBody>
        </p:sp>
        <p:sp>
          <p:nvSpPr>
            <p:cNvPr id="6" name="object 6"/>
            <p:cNvSpPr/>
            <p:nvPr/>
          </p:nvSpPr>
          <p:spPr>
            <a:xfrm>
              <a:off x="1371600" y="3230930"/>
              <a:ext cx="990600" cy="745490"/>
            </a:xfrm>
            <a:custGeom>
              <a:avLst/>
              <a:gdLst/>
              <a:ahLst/>
              <a:cxnLst/>
              <a:rect l="l" t="t" r="r" b="b"/>
              <a:pathLst>
                <a:path w="990600" h="745489">
                  <a:moveTo>
                    <a:pt x="154178" y="494995"/>
                  </a:moveTo>
                  <a:lnTo>
                    <a:pt x="840486" y="494995"/>
                  </a:lnTo>
                  <a:lnTo>
                    <a:pt x="840486" y="0"/>
                  </a:lnTo>
                  <a:lnTo>
                    <a:pt x="154178" y="0"/>
                  </a:lnTo>
                  <a:lnTo>
                    <a:pt x="154178" y="494995"/>
                  </a:lnTo>
                  <a:close/>
                </a:path>
                <a:path w="990600" h="745489">
                  <a:moveTo>
                    <a:pt x="153162" y="519760"/>
                  </a:moveTo>
                  <a:lnTo>
                    <a:pt x="0" y="685749"/>
                  </a:lnTo>
                  <a:lnTo>
                    <a:pt x="990600" y="685749"/>
                  </a:lnTo>
                  <a:lnTo>
                    <a:pt x="840486" y="519760"/>
                  </a:lnTo>
                  <a:lnTo>
                    <a:pt x="153162" y="519760"/>
                  </a:lnTo>
                  <a:close/>
                </a:path>
                <a:path w="990600" h="745489">
                  <a:moveTo>
                    <a:pt x="0" y="745185"/>
                  </a:moveTo>
                  <a:lnTo>
                    <a:pt x="990600" y="745185"/>
                  </a:lnTo>
                  <a:lnTo>
                    <a:pt x="990600" y="685739"/>
                  </a:lnTo>
                  <a:lnTo>
                    <a:pt x="0" y="685739"/>
                  </a:lnTo>
                  <a:lnTo>
                    <a:pt x="0" y="745185"/>
                  </a:lnTo>
                  <a:close/>
                </a:path>
                <a:path w="990600" h="745489">
                  <a:moveTo>
                    <a:pt x="192024" y="439623"/>
                  </a:moveTo>
                  <a:lnTo>
                    <a:pt x="804773" y="439623"/>
                  </a:lnTo>
                  <a:lnTo>
                    <a:pt x="804773" y="52476"/>
                  </a:lnTo>
                  <a:lnTo>
                    <a:pt x="192024" y="52476"/>
                  </a:lnTo>
                  <a:lnTo>
                    <a:pt x="192024" y="439623"/>
                  </a:lnTo>
                  <a:close/>
                </a:path>
                <a:path w="990600" h="745489">
                  <a:moveTo>
                    <a:pt x="152146" y="536397"/>
                  </a:moveTo>
                  <a:lnTo>
                    <a:pt x="133731" y="555828"/>
                  </a:lnTo>
                  <a:lnTo>
                    <a:pt x="858901" y="555828"/>
                  </a:lnTo>
                  <a:lnTo>
                    <a:pt x="840486" y="536397"/>
                  </a:lnTo>
                  <a:lnTo>
                    <a:pt x="152146" y="536397"/>
                  </a:lnTo>
                  <a:close/>
                </a:path>
                <a:path w="990600" h="745489">
                  <a:moveTo>
                    <a:pt x="284988" y="631774"/>
                  </a:moveTo>
                  <a:lnTo>
                    <a:pt x="272669" y="651205"/>
                  </a:lnTo>
                  <a:lnTo>
                    <a:pt x="723011" y="651205"/>
                  </a:lnTo>
                  <a:lnTo>
                    <a:pt x="710819" y="631774"/>
                  </a:lnTo>
                  <a:lnTo>
                    <a:pt x="284988" y="631774"/>
                  </a:lnTo>
                  <a:close/>
                </a:path>
                <a:path w="990600" h="745489">
                  <a:moveTo>
                    <a:pt x="129666" y="568274"/>
                  </a:moveTo>
                  <a:lnTo>
                    <a:pt x="110236" y="588975"/>
                  </a:lnTo>
                  <a:lnTo>
                    <a:pt x="884427" y="588975"/>
                  </a:lnTo>
                  <a:lnTo>
                    <a:pt x="863981" y="568274"/>
                  </a:lnTo>
                  <a:lnTo>
                    <a:pt x="129666" y="568274"/>
                  </a:lnTo>
                  <a:close/>
                </a:path>
                <a:path w="990600" h="745489">
                  <a:moveTo>
                    <a:pt x="106172" y="598627"/>
                  </a:moveTo>
                  <a:lnTo>
                    <a:pt x="85852" y="619328"/>
                  </a:lnTo>
                  <a:lnTo>
                    <a:pt x="910970" y="619328"/>
                  </a:lnTo>
                  <a:lnTo>
                    <a:pt x="889507" y="598627"/>
                  </a:lnTo>
                  <a:lnTo>
                    <a:pt x="106172" y="598627"/>
                  </a:lnTo>
                  <a:close/>
                </a:path>
              </a:pathLst>
            </a:custGeom>
            <a:ln w="9525">
              <a:solidFill>
                <a:srgbClr val="000000"/>
              </a:solidFill>
            </a:ln>
          </p:spPr>
          <p:txBody>
            <a:bodyPr wrap="square" lIns="0" tIns="0" rIns="0" bIns="0" rtlCol="0"/>
            <a:lstStyle/>
            <a:p>
              <a:endParaRPr/>
            </a:p>
          </p:txBody>
        </p:sp>
        <p:sp>
          <p:nvSpPr>
            <p:cNvPr id="7" name="object 7"/>
            <p:cNvSpPr/>
            <p:nvPr/>
          </p:nvSpPr>
          <p:spPr>
            <a:xfrm>
              <a:off x="6399276" y="3192830"/>
              <a:ext cx="990600" cy="745490"/>
            </a:xfrm>
            <a:custGeom>
              <a:avLst/>
              <a:gdLst/>
              <a:ahLst/>
              <a:cxnLst/>
              <a:rect l="l" t="t" r="r" b="b"/>
              <a:pathLst>
                <a:path w="990600" h="745489">
                  <a:moveTo>
                    <a:pt x="840486" y="0"/>
                  </a:moveTo>
                  <a:lnTo>
                    <a:pt x="154178" y="0"/>
                  </a:lnTo>
                  <a:lnTo>
                    <a:pt x="154178" y="494995"/>
                  </a:lnTo>
                  <a:lnTo>
                    <a:pt x="840486" y="494995"/>
                  </a:lnTo>
                  <a:lnTo>
                    <a:pt x="840486" y="0"/>
                  </a:lnTo>
                  <a:close/>
                </a:path>
                <a:path w="990600" h="745489">
                  <a:moveTo>
                    <a:pt x="990600" y="685749"/>
                  </a:moveTo>
                  <a:lnTo>
                    <a:pt x="840486" y="519760"/>
                  </a:lnTo>
                  <a:lnTo>
                    <a:pt x="153162" y="519760"/>
                  </a:lnTo>
                  <a:lnTo>
                    <a:pt x="0" y="685749"/>
                  </a:lnTo>
                  <a:lnTo>
                    <a:pt x="0" y="745185"/>
                  </a:lnTo>
                  <a:lnTo>
                    <a:pt x="990600" y="745185"/>
                  </a:lnTo>
                  <a:lnTo>
                    <a:pt x="990600" y="685749"/>
                  </a:lnTo>
                  <a:close/>
                </a:path>
              </a:pathLst>
            </a:custGeom>
            <a:solidFill>
              <a:srgbClr val="C0C0C0"/>
            </a:solidFill>
          </p:spPr>
          <p:txBody>
            <a:bodyPr wrap="square" lIns="0" tIns="0" rIns="0" bIns="0" rtlCol="0"/>
            <a:lstStyle/>
            <a:p>
              <a:endParaRPr/>
            </a:p>
          </p:txBody>
        </p:sp>
        <p:sp>
          <p:nvSpPr>
            <p:cNvPr id="8" name="object 8"/>
            <p:cNvSpPr/>
            <p:nvPr/>
          </p:nvSpPr>
          <p:spPr>
            <a:xfrm>
              <a:off x="6399276" y="3192830"/>
              <a:ext cx="990600" cy="745490"/>
            </a:xfrm>
            <a:custGeom>
              <a:avLst/>
              <a:gdLst/>
              <a:ahLst/>
              <a:cxnLst/>
              <a:rect l="l" t="t" r="r" b="b"/>
              <a:pathLst>
                <a:path w="990600" h="745489">
                  <a:moveTo>
                    <a:pt x="154177" y="494995"/>
                  </a:moveTo>
                  <a:lnTo>
                    <a:pt x="840485" y="494995"/>
                  </a:lnTo>
                  <a:lnTo>
                    <a:pt x="840485" y="0"/>
                  </a:lnTo>
                  <a:lnTo>
                    <a:pt x="154177" y="0"/>
                  </a:lnTo>
                  <a:lnTo>
                    <a:pt x="154177" y="494995"/>
                  </a:lnTo>
                  <a:close/>
                </a:path>
                <a:path w="990600" h="745489">
                  <a:moveTo>
                    <a:pt x="153162" y="519760"/>
                  </a:moveTo>
                  <a:lnTo>
                    <a:pt x="0" y="685749"/>
                  </a:lnTo>
                  <a:lnTo>
                    <a:pt x="990600" y="685749"/>
                  </a:lnTo>
                  <a:lnTo>
                    <a:pt x="840485" y="519760"/>
                  </a:lnTo>
                  <a:lnTo>
                    <a:pt x="153162" y="519760"/>
                  </a:lnTo>
                  <a:close/>
                </a:path>
                <a:path w="990600" h="745489">
                  <a:moveTo>
                    <a:pt x="0" y="745185"/>
                  </a:moveTo>
                  <a:lnTo>
                    <a:pt x="990600" y="745185"/>
                  </a:lnTo>
                  <a:lnTo>
                    <a:pt x="990600" y="685739"/>
                  </a:lnTo>
                  <a:lnTo>
                    <a:pt x="0" y="685739"/>
                  </a:lnTo>
                  <a:lnTo>
                    <a:pt x="0" y="745185"/>
                  </a:lnTo>
                  <a:close/>
                </a:path>
                <a:path w="990600" h="745489">
                  <a:moveTo>
                    <a:pt x="192024" y="439623"/>
                  </a:moveTo>
                  <a:lnTo>
                    <a:pt x="804773" y="439623"/>
                  </a:lnTo>
                  <a:lnTo>
                    <a:pt x="804773" y="52476"/>
                  </a:lnTo>
                  <a:lnTo>
                    <a:pt x="192024" y="52476"/>
                  </a:lnTo>
                  <a:lnTo>
                    <a:pt x="192024" y="439623"/>
                  </a:lnTo>
                  <a:close/>
                </a:path>
                <a:path w="990600" h="745489">
                  <a:moveTo>
                    <a:pt x="152146" y="536397"/>
                  </a:moveTo>
                  <a:lnTo>
                    <a:pt x="133730" y="555828"/>
                  </a:lnTo>
                  <a:lnTo>
                    <a:pt x="858901" y="555828"/>
                  </a:lnTo>
                  <a:lnTo>
                    <a:pt x="840485" y="536397"/>
                  </a:lnTo>
                  <a:lnTo>
                    <a:pt x="152146" y="536397"/>
                  </a:lnTo>
                  <a:close/>
                </a:path>
                <a:path w="990600" h="745489">
                  <a:moveTo>
                    <a:pt x="284988" y="631774"/>
                  </a:moveTo>
                  <a:lnTo>
                    <a:pt x="272669" y="651205"/>
                  </a:lnTo>
                  <a:lnTo>
                    <a:pt x="723010" y="651205"/>
                  </a:lnTo>
                  <a:lnTo>
                    <a:pt x="710819" y="631774"/>
                  </a:lnTo>
                  <a:lnTo>
                    <a:pt x="284988" y="631774"/>
                  </a:lnTo>
                  <a:close/>
                </a:path>
                <a:path w="990600" h="745489">
                  <a:moveTo>
                    <a:pt x="129667" y="568274"/>
                  </a:moveTo>
                  <a:lnTo>
                    <a:pt x="110235" y="588975"/>
                  </a:lnTo>
                  <a:lnTo>
                    <a:pt x="884427" y="588975"/>
                  </a:lnTo>
                  <a:lnTo>
                    <a:pt x="863980" y="568274"/>
                  </a:lnTo>
                  <a:lnTo>
                    <a:pt x="129667" y="568274"/>
                  </a:lnTo>
                  <a:close/>
                </a:path>
                <a:path w="990600" h="745489">
                  <a:moveTo>
                    <a:pt x="106172" y="598627"/>
                  </a:moveTo>
                  <a:lnTo>
                    <a:pt x="85851" y="619328"/>
                  </a:lnTo>
                  <a:lnTo>
                    <a:pt x="910971" y="619328"/>
                  </a:lnTo>
                  <a:lnTo>
                    <a:pt x="889507" y="598627"/>
                  </a:lnTo>
                  <a:lnTo>
                    <a:pt x="106172" y="598627"/>
                  </a:lnTo>
                  <a:close/>
                </a:path>
              </a:pathLst>
            </a:custGeom>
            <a:ln w="9525">
              <a:solidFill>
                <a:srgbClr val="000000"/>
              </a:solidFill>
            </a:ln>
          </p:spPr>
          <p:txBody>
            <a:bodyPr wrap="square" lIns="0" tIns="0" rIns="0" bIns="0" rtlCol="0"/>
            <a:lstStyle/>
            <a:p>
              <a:endParaRPr/>
            </a:p>
          </p:txBody>
        </p:sp>
      </p:grpSp>
      <p:sp>
        <p:nvSpPr>
          <p:cNvPr id="9" name="object 9"/>
          <p:cNvSpPr txBox="1"/>
          <p:nvPr/>
        </p:nvSpPr>
        <p:spPr>
          <a:xfrm>
            <a:off x="3912870" y="3234944"/>
            <a:ext cx="39751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L</a:t>
            </a:r>
            <a:r>
              <a:rPr sz="1800" spc="-10" dirty="0">
                <a:latin typeface="Calibri"/>
                <a:cs typeface="Calibri"/>
              </a:rPr>
              <a:t>i</a:t>
            </a:r>
            <a:r>
              <a:rPr sz="1800" spc="-5" dirty="0">
                <a:latin typeface="Calibri"/>
                <a:cs typeface="Calibri"/>
              </a:rPr>
              <a:t>nk</a:t>
            </a:r>
            <a:endParaRPr sz="1800">
              <a:latin typeface="Calibri"/>
              <a:cs typeface="Calibri"/>
            </a:endParaRPr>
          </a:p>
        </p:txBody>
      </p:sp>
      <p:sp>
        <p:nvSpPr>
          <p:cNvPr id="10" name="object 10"/>
          <p:cNvSpPr txBox="1"/>
          <p:nvPr/>
        </p:nvSpPr>
        <p:spPr>
          <a:xfrm>
            <a:off x="1008075" y="4392548"/>
            <a:ext cx="3680460"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Times New Roman"/>
                <a:cs typeface="Times New Roman"/>
              </a:rPr>
              <a:t>Provides</a:t>
            </a:r>
            <a:r>
              <a:rPr sz="1600" spc="10" dirty="0">
                <a:latin typeface="Times New Roman"/>
                <a:cs typeface="Times New Roman"/>
              </a:rPr>
              <a:t> </a:t>
            </a:r>
            <a:r>
              <a:rPr sz="1600" spc="-5" dirty="0">
                <a:latin typeface="Times New Roman"/>
                <a:cs typeface="Times New Roman"/>
              </a:rPr>
              <a:t>dedicated</a:t>
            </a:r>
            <a:r>
              <a:rPr sz="1600" spc="25" dirty="0">
                <a:latin typeface="Times New Roman"/>
                <a:cs typeface="Times New Roman"/>
              </a:rPr>
              <a:t> </a:t>
            </a:r>
            <a:r>
              <a:rPr sz="1600" spc="-5" dirty="0">
                <a:latin typeface="Times New Roman"/>
                <a:cs typeface="Times New Roman"/>
              </a:rPr>
              <a:t>link</a:t>
            </a:r>
            <a:r>
              <a:rPr sz="1600" spc="15" dirty="0">
                <a:latin typeface="Times New Roman"/>
                <a:cs typeface="Times New Roman"/>
              </a:rPr>
              <a:t> </a:t>
            </a:r>
            <a:r>
              <a:rPr sz="1600" spc="-5" dirty="0">
                <a:latin typeface="Times New Roman"/>
                <a:cs typeface="Times New Roman"/>
              </a:rPr>
              <a:t>between</a:t>
            </a:r>
            <a:r>
              <a:rPr sz="1600" spc="15" dirty="0">
                <a:latin typeface="Times New Roman"/>
                <a:cs typeface="Times New Roman"/>
              </a:rPr>
              <a:t> </a:t>
            </a:r>
            <a:r>
              <a:rPr sz="1600" spc="-5" dirty="0">
                <a:latin typeface="Times New Roman"/>
                <a:cs typeface="Times New Roman"/>
              </a:rPr>
              <a:t>two</a:t>
            </a:r>
            <a:r>
              <a:rPr sz="1600" spc="5" dirty="0">
                <a:latin typeface="Times New Roman"/>
                <a:cs typeface="Times New Roman"/>
              </a:rPr>
              <a:t> </a:t>
            </a:r>
            <a:r>
              <a:rPr sz="1600" spc="-5" dirty="0">
                <a:latin typeface="Times New Roman"/>
                <a:cs typeface="Times New Roman"/>
              </a:rPr>
              <a:t>devices</a:t>
            </a:r>
            <a:endParaRPr sz="1600" dirty="0">
              <a:latin typeface="Times New Roman"/>
              <a:cs typeface="Times New Roman"/>
            </a:endParaRPr>
          </a:p>
        </p:txBody>
      </p:sp>
      <p:sp>
        <p:nvSpPr>
          <p:cNvPr id="13" name="Slide Number Placeholder 12">
            <a:extLst>
              <a:ext uri="{FF2B5EF4-FFF2-40B4-BE49-F238E27FC236}">
                <a16:creationId xmlns:a16="http://schemas.microsoft.com/office/drawing/2014/main" xmlns="" id="{23E7CD14-23A2-F90E-3904-57D6C2EF5E6B}"/>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17</a:t>
            </a:fld>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57754" y="4756226"/>
            <a:ext cx="4096385"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Times New Roman"/>
                <a:cs typeface="Times New Roman"/>
              </a:rPr>
              <a:t>More</a:t>
            </a:r>
            <a:r>
              <a:rPr sz="1600" spc="15" dirty="0">
                <a:latin typeface="Times New Roman"/>
                <a:cs typeface="Times New Roman"/>
              </a:rPr>
              <a:t> </a:t>
            </a:r>
            <a:r>
              <a:rPr sz="1600" spc="-5" dirty="0">
                <a:latin typeface="Times New Roman"/>
                <a:cs typeface="Times New Roman"/>
              </a:rPr>
              <a:t>than</a:t>
            </a:r>
            <a:r>
              <a:rPr sz="1600" spc="10" dirty="0">
                <a:latin typeface="Times New Roman"/>
                <a:cs typeface="Times New Roman"/>
              </a:rPr>
              <a:t> </a:t>
            </a:r>
            <a:r>
              <a:rPr sz="1600" spc="-5" dirty="0">
                <a:latin typeface="Times New Roman"/>
                <a:cs typeface="Times New Roman"/>
              </a:rPr>
              <a:t>two</a:t>
            </a:r>
            <a:r>
              <a:rPr sz="1600" spc="10" dirty="0">
                <a:latin typeface="Times New Roman"/>
                <a:cs typeface="Times New Roman"/>
              </a:rPr>
              <a:t> </a:t>
            </a:r>
            <a:r>
              <a:rPr sz="1600" spc="-5" dirty="0">
                <a:latin typeface="Times New Roman"/>
                <a:cs typeface="Times New Roman"/>
              </a:rPr>
              <a:t>specific</a:t>
            </a:r>
            <a:r>
              <a:rPr sz="1600" spc="30" dirty="0">
                <a:latin typeface="Times New Roman"/>
                <a:cs typeface="Times New Roman"/>
              </a:rPr>
              <a:t> </a:t>
            </a:r>
            <a:r>
              <a:rPr sz="1600" spc="-5" dirty="0">
                <a:latin typeface="Times New Roman"/>
                <a:cs typeface="Times New Roman"/>
              </a:rPr>
              <a:t>devices</a:t>
            </a:r>
            <a:r>
              <a:rPr sz="1600" spc="10" dirty="0">
                <a:latin typeface="Times New Roman"/>
                <a:cs typeface="Times New Roman"/>
              </a:rPr>
              <a:t> </a:t>
            </a:r>
            <a:r>
              <a:rPr sz="1600" spc="-5" dirty="0">
                <a:latin typeface="Times New Roman"/>
                <a:cs typeface="Times New Roman"/>
              </a:rPr>
              <a:t>share</a:t>
            </a:r>
            <a:r>
              <a:rPr sz="1600" spc="20" dirty="0">
                <a:latin typeface="Times New Roman"/>
                <a:cs typeface="Times New Roman"/>
              </a:rPr>
              <a:t> </a:t>
            </a:r>
            <a:r>
              <a:rPr sz="1600" spc="-5" dirty="0">
                <a:latin typeface="Times New Roman"/>
                <a:cs typeface="Times New Roman"/>
              </a:rPr>
              <a:t>a</a:t>
            </a:r>
            <a:r>
              <a:rPr sz="1600" spc="10" dirty="0">
                <a:latin typeface="Times New Roman"/>
                <a:cs typeface="Times New Roman"/>
              </a:rPr>
              <a:t> </a:t>
            </a:r>
            <a:r>
              <a:rPr sz="1600" spc="-5" dirty="0">
                <a:latin typeface="Times New Roman"/>
                <a:cs typeface="Times New Roman"/>
              </a:rPr>
              <a:t>single</a:t>
            </a:r>
            <a:r>
              <a:rPr sz="1600" spc="5" dirty="0">
                <a:latin typeface="Times New Roman"/>
                <a:cs typeface="Times New Roman"/>
              </a:rPr>
              <a:t> </a:t>
            </a:r>
            <a:r>
              <a:rPr sz="1600" spc="-5" dirty="0">
                <a:latin typeface="Times New Roman"/>
                <a:cs typeface="Times New Roman"/>
              </a:rPr>
              <a:t>link</a:t>
            </a:r>
            <a:endParaRPr sz="1600">
              <a:latin typeface="Times New Roman"/>
              <a:cs typeface="Times New Roman"/>
            </a:endParaRPr>
          </a:p>
        </p:txBody>
      </p:sp>
      <p:sp>
        <p:nvSpPr>
          <p:cNvPr id="3" name="object 3"/>
          <p:cNvSpPr txBox="1">
            <a:spLocks noGrp="1"/>
          </p:cNvSpPr>
          <p:nvPr>
            <p:ph type="title"/>
          </p:nvPr>
        </p:nvSpPr>
        <p:spPr>
          <a:xfrm>
            <a:off x="2470785" y="544195"/>
            <a:ext cx="420497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4F81BC"/>
                </a:solidFill>
              </a:rPr>
              <a:t>Multipoint</a:t>
            </a:r>
            <a:r>
              <a:rPr sz="3600" spc="-45" dirty="0">
                <a:solidFill>
                  <a:srgbClr val="4F81BC"/>
                </a:solidFill>
              </a:rPr>
              <a:t> </a:t>
            </a:r>
            <a:r>
              <a:rPr sz="3600" dirty="0">
                <a:solidFill>
                  <a:srgbClr val="4F81BC"/>
                </a:solidFill>
              </a:rPr>
              <a:t>Connection</a:t>
            </a:r>
            <a:endParaRPr sz="3600"/>
          </a:p>
        </p:txBody>
      </p:sp>
      <p:grpSp>
        <p:nvGrpSpPr>
          <p:cNvPr id="4" name="object 4"/>
          <p:cNvGrpSpPr/>
          <p:nvPr/>
        </p:nvGrpSpPr>
        <p:grpSpPr>
          <a:xfrm>
            <a:off x="2166937" y="1944484"/>
            <a:ext cx="4805680" cy="2355215"/>
            <a:chOff x="2166937" y="1944484"/>
            <a:chExt cx="4805680" cy="2355215"/>
          </a:xfrm>
        </p:grpSpPr>
        <p:pic>
          <p:nvPicPr>
            <p:cNvPr id="5" name="object 5"/>
            <p:cNvPicPr/>
            <p:nvPr/>
          </p:nvPicPr>
          <p:blipFill>
            <a:blip r:embed="rId2" cstate="print"/>
            <a:stretch>
              <a:fillRect/>
            </a:stretch>
          </p:blipFill>
          <p:spPr>
            <a:xfrm>
              <a:off x="2628900" y="3183635"/>
              <a:ext cx="4343400" cy="899159"/>
            </a:xfrm>
            <a:prstGeom prst="rect">
              <a:avLst/>
            </a:prstGeom>
          </p:spPr>
        </p:pic>
        <p:sp>
          <p:nvSpPr>
            <p:cNvPr id="6" name="object 6"/>
            <p:cNvSpPr/>
            <p:nvPr/>
          </p:nvSpPr>
          <p:spPr>
            <a:xfrm>
              <a:off x="4914900" y="3092195"/>
              <a:ext cx="228600" cy="228600"/>
            </a:xfrm>
            <a:custGeom>
              <a:avLst/>
              <a:gdLst/>
              <a:ahLst/>
              <a:cxnLst/>
              <a:rect l="l" t="t" r="r" b="b"/>
              <a:pathLst>
                <a:path w="228600" h="228600">
                  <a:moveTo>
                    <a:pt x="228600" y="0"/>
                  </a:moveTo>
                  <a:lnTo>
                    <a:pt x="0" y="0"/>
                  </a:lnTo>
                  <a:lnTo>
                    <a:pt x="0" y="91440"/>
                  </a:lnTo>
                  <a:lnTo>
                    <a:pt x="0" y="228600"/>
                  </a:lnTo>
                  <a:lnTo>
                    <a:pt x="228600" y="228600"/>
                  </a:lnTo>
                  <a:lnTo>
                    <a:pt x="228600" y="91440"/>
                  </a:lnTo>
                  <a:lnTo>
                    <a:pt x="228600" y="0"/>
                  </a:lnTo>
                  <a:close/>
                </a:path>
              </a:pathLst>
            </a:custGeom>
            <a:solidFill>
              <a:srgbClr val="800080"/>
            </a:solidFill>
          </p:spPr>
          <p:txBody>
            <a:bodyPr wrap="square" lIns="0" tIns="0" rIns="0" bIns="0" rtlCol="0"/>
            <a:lstStyle/>
            <a:p>
              <a:endParaRPr/>
            </a:p>
          </p:txBody>
        </p:sp>
        <p:sp>
          <p:nvSpPr>
            <p:cNvPr id="7" name="object 7"/>
            <p:cNvSpPr/>
            <p:nvPr/>
          </p:nvSpPr>
          <p:spPr>
            <a:xfrm>
              <a:off x="2171700" y="2650286"/>
              <a:ext cx="990600" cy="746760"/>
            </a:xfrm>
            <a:custGeom>
              <a:avLst/>
              <a:gdLst/>
              <a:ahLst/>
              <a:cxnLst/>
              <a:rect l="l" t="t" r="r" b="b"/>
              <a:pathLst>
                <a:path w="990600" h="746760">
                  <a:moveTo>
                    <a:pt x="840473" y="0"/>
                  </a:moveTo>
                  <a:lnTo>
                    <a:pt x="154178" y="0"/>
                  </a:lnTo>
                  <a:lnTo>
                    <a:pt x="154178" y="496011"/>
                  </a:lnTo>
                  <a:lnTo>
                    <a:pt x="840473" y="496011"/>
                  </a:lnTo>
                  <a:lnTo>
                    <a:pt x="840473" y="0"/>
                  </a:lnTo>
                  <a:close/>
                </a:path>
                <a:path w="990600" h="746760">
                  <a:moveTo>
                    <a:pt x="990600" y="687146"/>
                  </a:moveTo>
                  <a:lnTo>
                    <a:pt x="840486" y="520903"/>
                  </a:lnTo>
                  <a:lnTo>
                    <a:pt x="153162" y="520903"/>
                  </a:lnTo>
                  <a:lnTo>
                    <a:pt x="137833" y="537540"/>
                  </a:lnTo>
                  <a:lnTo>
                    <a:pt x="133731" y="537540"/>
                  </a:lnTo>
                  <a:lnTo>
                    <a:pt x="133731" y="541997"/>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8" name="object 8"/>
            <p:cNvSpPr/>
            <p:nvPr/>
          </p:nvSpPr>
          <p:spPr>
            <a:xfrm>
              <a:off x="2171700" y="2650286"/>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1" y="569417"/>
                  </a:lnTo>
                  <a:lnTo>
                    <a:pt x="129667" y="569417"/>
                  </a:lnTo>
                  <a:close/>
                </a:path>
                <a:path w="990600" h="746760">
                  <a:moveTo>
                    <a:pt x="106172" y="599897"/>
                  </a:moveTo>
                  <a:lnTo>
                    <a:pt x="85851" y="620598"/>
                  </a:lnTo>
                  <a:lnTo>
                    <a:pt x="910970" y="620598"/>
                  </a:lnTo>
                  <a:lnTo>
                    <a:pt x="889507" y="599897"/>
                  </a:lnTo>
                  <a:lnTo>
                    <a:pt x="106172" y="599897"/>
                  </a:lnTo>
                  <a:close/>
                </a:path>
              </a:pathLst>
            </a:custGeom>
            <a:ln w="9525">
              <a:solidFill>
                <a:srgbClr val="000000"/>
              </a:solidFill>
            </a:ln>
          </p:spPr>
          <p:txBody>
            <a:bodyPr wrap="square" lIns="0" tIns="0" rIns="0" bIns="0" rtlCol="0"/>
            <a:lstStyle/>
            <a:p>
              <a:endParaRPr/>
            </a:p>
          </p:txBody>
        </p:sp>
        <p:sp>
          <p:nvSpPr>
            <p:cNvPr id="9" name="object 9"/>
            <p:cNvSpPr/>
            <p:nvPr/>
          </p:nvSpPr>
          <p:spPr>
            <a:xfrm>
              <a:off x="4533900" y="3549459"/>
              <a:ext cx="990600" cy="745490"/>
            </a:xfrm>
            <a:custGeom>
              <a:avLst/>
              <a:gdLst/>
              <a:ahLst/>
              <a:cxnLst/>
              <a:rect l="l" t="t" r="r" b="b"/>
              <a:pathLst>
                <a:path w="990600" h="745489">
                  <a:moveTo>
                    <a:pt x="840486" y="0"/>
                  </a:moveTo>
                  <a:lnTo>
                    <a:pt x="154178" y="0"/>
                  </a:lnTo>
                  <a:lnTo>
                    <a:pt x="154178" y="494982"/>
                  </a:lnTo>
                  <a:lnTo>
                    <a:pt x="840486" y="494982"/>
                  </a:lnTo>
                  <a:lnTo>
                    <a:pt x="840486" y="0"/>
                  </a:lnTo>
                  <a:close/>
                </a:path>
                <a:path w="990600" h="745489">
                  <a:moveTo>
                    <a:pt x="990600" y="685736"/>
                  </a:moveTo>
                  <a:lnTo>
                    <a:pt x="840486" y="519747"/>
                  </a:lnTo>
                  <a:lnTo>
                    <a:pt x="153162" y="519747"/>
                  </a:lnTo>
                  <a:lnTo>
                    <a:pt x="0" y="685736"/>
                  </a:lnTo>
                  <a:lnTo>
                    <a:pt x="0" y="745172"/>
                  </a:lnTo>
                  <a:lnTo>
                    <a:pt x="990600" y="745172"/>
                  </a:lnTo>
                  <a:lnTo>
                    <a:pt x="990600" y="685736"/>
                  </a:lnTo>
                  <a:close/>
                </a:path>
              </a:pathLst>
            </a:custGeom>
            <a:solidFill>
              <a:srgbClr val="C0C0C0"/>
            </a:solidFill>
          </p:spPr>
          <p:txBody>
            <a:bodyPr wrap="square" lIns="0" tIns="0" rIns="0" bIns="0" rtlCol="0"/>
            <a:lstStyle/>
            <a:p>
              <a:endParaRPr/>
            </a:p>
          </p:txBody>
        </p:sp>
        <p:sp>
          <p:nvSpPr>
            <p:cNvPr id="10" name="object 10"/>
            <p:cNvSpPr/>
            <p:nvPr/>
          </p:nvSpPr>
          <p:spPr>
            <a:xfrm>
              <a:off x="4533900" y="3549446"/>
              <a:ext cx="990600" cy="745490"/>
            </a:xfrm>
            <a:custGeom>
              <a:avLst/>
              <a:gdLst/>
              <a:ahLst/>
              <a:cxnLst/>
              <a:rect l="l" t="t" r="r" b="b"/>
              <a:pathLst>
                <a:path w="990600" h="745489">
                  <a:moveTo>
                    <a:pt x="154177" y="494995"/>
                  </a:moveTo>
                  <a:lnTo>
                    <a:pt x="840486" y="494995"/>
                  </a:lnTo>
                  <a:lnTo>
                    <a:pt x="840486" y="0"/>
                  </a:lnTo>
                  <a:lnTo>
                    <a:pt x="154177" y="0"/>
                  </a:lnTo>
                  <a:lnTo>
                    <a:pt x="154177" y="494995"/>
                  </a:lnTo>
                  <a:close/>
                </a:path>
                <a:path w="990600" h="745489">
                  <a:moveTo>
                    <a:pt x="153162" y="519760"/>
                  </a:moveTo>
                  <a:lnTo>
                    <a:pt x="0" y="685749"/>
                  </a:lnTo>
                  <a:lnTo>
                    <a:pt x="990600" y="685749"/>
                  </a:lnTo>
                  <a:lnTo>
                    <a:pt x="840486" y="519760"/>
                  </a:lnTo>
                  <a:lnTo>
                    <a:pt x="153162" y="519760"/>
                  </a:lnTo>
                  <a:close/>
                </a:path>
                <a:path w="990600" h="745489">
                  <a:moveTo>
                    <a:pt x="0" y="745185"/>
                  </a:moveTo>
                  <a:lnTo>
                    <a:pt x="990600" y="745185"/>
                  </a:lnTo>
                  <a:lnTo>
                    <a:pt x="990600" y="685739"/>
                  </a:lnTo>
                  <a:lnTo>
                    <a:pt x="0" y="685739"/>
                  </a:lnTo>
                  <a:lnTo>
                    <a:pt x="0" y="745185"/>
                  </a:lnTo>
                  <a:close/>
                </a:path>
                <a:path w="990600" h="745489">
                  <a:moveTo>
                    <a:pt x="192024" y="439623"/>
                  </a:moveTo>
                  <a:lnTo>
                    <a:pt x="804773" y="439623"/>
                  </a:lnTo>
                  <a:lnTo>
                    <a:pt x="804773" y="52476"/>
                  </a:lnTo>
                  <a:lnTo>
                    <a:pt x="192024" y="52476"/>
                  </a:lnTo>
                  <a:lnTo>
                    <a:pt x="192024" y="439623"/>
                  </a:lnTo>
                  <a:close/>
                </a:path>
                <a:path w="990600" h="745489">
                  <a:moveTo>
                    <a:pt x="152146" y="536397"/>
                  </a:moveTo>
                  <a:lnTo>
                    <a:pt x="133730" y="555828"/>
                  </a:lnTo>
                  <a:lnTo>
                    <a:pt x="858901" y="555828"/>
                  </a:lnTo>
                  <a:lnTo>
                    <a:pt x="840486" y="536397"/>
                  </a:lnTo>
                  <a:lnTo>
                    <a:pt x="152146" y="536397"/>
                  </a:lnTo>
                  <a:close/>
                </a:path>
                <a:path w="990600" h="745489">
                  <a:moveTo>
                    <a:pt x="284988" y="631774"/>
                  </a:moveTo>
                  <a:lnTo>
                    <a:pt x="272669" y="651205"/>
                  </a:lnTo>
                  <a:lnTo>
                    <a:pt x="723011" y="651205"/>
                  </a:lnTo>
                  <a:lnTo>
                    <a:pt x="710819" y="631774"/>
                  </a:lnTo>
                  <a:lnTo>
                    <a:pt x="284988" y="631774"/>
                  </a:lnTo>
                  <a:close/>
                </a:path>
                <a:path w="990600" h="745489">
                  <a:moveTo>
                    <a:pt x="129666" y="568274"/>
                  </a:moveTo>
                  <a:lnTo>
                    <a:pt x="110236" y="588975"/>
                  </a:lnTo>
                  <a:lnTo>
                    <a:pt x="884427" y="588975"/>
                  </a:lnTo>
                  <a:lnTo>
                    <a:pt x="863980" y="568274"/>
                  </a:lnTo>
                  <a:lnTo>
                    <a:pt x="129666" y="568274"/>
                  </a:lnTo>
                  <a:close/>
                </a:path>
                <a:path w="990600" h="745489">
                  <a:moveTo>
                    <a:pt x="106172" y="598627"/>
                  </a:moveTo>
                  <a:lnTo>
                    <a:pt x="85851" y="619328"/>
                  </a:lnTo>
                  <a:lnTo>
                    <a:pt x="910971" y="619328"/>
                  </a:lnTo>
                  <a:lnTo>
                    <a:pt x="889508" y="598627"/>
                  </a:lnTo>
                  <a:lnTo>
                    <a:pt x="106172" y="598627"/>
                  </a:lnTo>
                  <a:close/>
                </a:path>
              </a:pathLst>
            </a:custGeom>
            <a:ln w="9525">
              <a:solidFill>
                <a:srgbClr val="000000"/>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6134100" y="2330195"/>
              <a:ext cx="76200" cy="838200"/>
            </a:xfrm>
            <a:prstGeom prst="rect">
              <a:avLst/>
            </a:prstGeom>
          </p:spPr>
        </p:pic>
        <p:sp>
          <p:nvSpPr>
            <p:cNvPr id="12" name="object 12"/>
            <p:cNvSpPr/>
            <p:nvPr/>
          </p:nvSpPr>
          <p:spPr>
            <a:xfrm>
              <a:off x="6057900" y="3092195"/>
              <a:ext cx="228600" cy="228600"/>
            </a:xfrm>
            <a:custGeom>
              <a:avLst/>
              <a:gdLst/>
              <a:ahLst/>
              <a:cxnLst/>
              <a:rect l="l" t="t" r="r" b="b"/>
              <a:pathLst>
                <a:path w="228600" h="228600">
                  <a:moveTo>
                    <a:pt x="228600" y="0"/>
                  </a:moveTo>
                  <a:lnTo>
                    <a:pt x="0" y="0"/>
                  </a:lnTo>
                  <a:lnTo>
                    <a:pt x="0" y="76200"/>
                  </a:lnTo>
                  <a:lnTo>
                    <a:pt x="0" y="228600"/>
                  </a:lnTo>
                  <a:lnTo>
                    <a:pt x="228600" y="228600"/>
                  </a:lnTo>
                  <a:lnTo>
                    <a:pt x="228600" y="76200"/>
                  </a:lnTo>
                  <a:lnTo>
                    <a:pt x="228600" y="0"/>
                  </a:lnTo>
                  <a:close/>
                </a:path>
              </a:pathLst>
            </a:custGeom>
            <a:solidFill>
              <a:srgbClr val="800080"/>
            </a:solidFill>
          </p:spPr>
          <p:txBody>
            <a:bodyPr wrap="square" lIns="0" tIns="0" rIns="0" bIns="0" rtlCol="0"/>
            <a:lstStyle/>
            <a:p>
              <a:endParaRPr/>
            </a:p>
          </p:txBody>
        </p:sp>
        <p:sp>
          <p:nvSpPr>
            <p:cNvPr id="13" name="object 13"/>
            <p:cNvSpPr/>
            <p:nvPr/>
          </p:nvSpPr>
          <p:spPr>
            <a:xfrm>
              <a:off x="5676900" y="1949246"/>
              <a:ext cx="990600" cy="745490"/>
            </a:xfrm>
            <a:custGeom>
              <a:avLst/>
              <a:gdLst/>
              <a:ahLst/>
              <a:cxnLst/>
              <a:rect l="l" t="t" r="r" b="b"/>
              <a:pathLst>
                <a:path w="990600" h="745489">
                  <a:moveTo>
                    <a:pt x="840473" y="0"/>
                  </a:moveTo>
                  <a:lnTo>
                    <a:pt x="154178" y="0"/>
                  </a:lnTo>
                  <a:lnTo>
                    <a:pt x="154178" y="494995"/>
                  </a:lnTo>
                  <a:lnTo>
                    <a:pt x="840473" y="494995"/>
                  </a:lnTo>
                  <a:lnTo>
                    <a:pt x="840473" y="0"/>
                  </a:lnTo>
                  <a:close/>
                </a:path>
                <a:path w="990600" h="745489">
                  <a:moveTo>
                    <a:pt x="990600" y="685749"/>
                  </a:moveTo>
                  <a:lnTo>
                    <a:pt x="840473" y="519760"/>
                  </a:lnTo>
                  <a:lnTo>
                    <a:pt x="153162" y="519760"/>
                  </a:lnTo>
                  <a:lnTo>
                    <a:pt x="0" y="685749"/>
                  </a:lnTo>
                  <a:lnTo>
                    <a:pt x="0" y="745185"/>
                  </a:lnTo>
                  <a:lnTo>
                    <a:pt x="990600" y="745185"/>
                  </a:lnTo>
                  <a:lnTo>
                    <a:pt x="990600" y="685749"/>
                  </a:lnTo>
                  <a:close/>
                </a:path>
              </a:pathLst>
            </a:custGeom>
            <a:solidFill>
              <a:srgbClr val="C0C0C0"/>
            </a:solidFill>
          </p:spPr>
          <p:txBody>
            <a:bodyPr wrap="square" lIns="0" tIns="0" rIns="0" bIns="0" rtlCol="0"/>
            <a:lstStyle/>
            <a:p>
              <a:endParaRPr/>
            </a:p>
          </p:txBody>
        </p:sp>
        <p:sp>
          <p:nvSpPr>
            <p:cNvPr id="14" name="object 14"/>
            <p:cNvSpPr/>
            <p:nvPr/>
          </p:nvSpPr>
          <p:spPr>
            <a:xfrm>
              <a:off x="5676900" y="1949246"/>
              <a:ext cx="990600" cy="745490"/>
            </a:xfrm>
            <a:custGeom>
              <a:avLst/>
              <a:gdLst/>
              <a:ahLst/>
              <a:cxnLst/>
              <a:rect l="l" t="t" r="r" b="b"/>
              <a:pathLst>
                <a:path w="990600" h="745489">
                  <a:moveTo>
                    <a:pt x="154177" y="494995"/>
                  </a:moveTo>
                  <a:lnTo>
                    <a:pt x="840485" y="494995"/>
                  </a:lnTo>
                  <a:lnTo>
                    <a:pt x="840485" y="0"/>
                  </a:lnTo>
                  <a:lnTo>
                    <a:pt x="154177" y="0"/>
                  </a:lnTo>
                  <a:lnTo>
                    <a:pt x="154177" y="494995"/>
                  </a:lnTo>
                  <a:close/>
                </a:path>
                <a:path w="990600" h="745489">
                  <a:moveTo>
                    <a:pt x="153162" y="519760"/>
                  </a:moveTo>
                  <a:lnTo>
                    <a:pt x="0" y="685749"/>
                  </a:lnTo>
                  <a:lnTo>
                    <a:pt x="990600" y="685749"/>
                  </a:lnTo>
                  <a:lnTo>
                    <a:pt x="840485" y="519760"/>
                  </a:lnTo>
                  <a:lnTo>
                    <a:pt x="153162" y="519760"/>
                  </a:lnTo>
                  <a:close/>
                </a:path>
                <a:path w="990600" h="745489">
                  <a:moveTo>
                    <a:pt x="0" y="745185"/>
                  </a:moveTo>
                  <a:lnTo>
                    <a:pt x="990600" y="745185"/>
                  </a:lnTo>
                  <a:lnTo>
                    <a:pt x="990600" y="685739"/>
                  </a:lnTo>
                  <a:lnTo>
                    <a:pt x="0" y="685739"/>
                  </a:lnTo>
                  <a:lnTo>
                    <a:pt x="0" y="745185"/>
                  </a:lnTo>
                  <a:close/>
                </a:path>
                <a:path w="990600" h="745489">
                  <a:moveTo>
                    <a:pt x="192024" y="439623"/>
                  </a:moveTo>
                  <a:lnTo>
                    <a:pt x="804773" y="439623"/>
                  </a:lnTo>
                  <a:lnTo>
                    <a:pt x="804773" y="52476"/>
                  </a:lnTo>
                  <a:lnTo>
                    <a:pt x="192024" y="52476"/>
                  </a:lnTo>
                  <a:lnTo>
                    <a:pt x="192024" y="439623"/>
                  </a:lnTo>
                  <a:close/>
                </a:path>
                <a:path w="990600" h="745489">
                  <a:moveTo>
                    <a:pt x="152146" y="536397"/>
                  </a:moveTo>
                  <a:lnTo>
                    <a:pt x="133730" y="555828"/>
                  </a:lnTo>
                  <a:lnTo>
                    <a:pt x="858901" y="555828"/>
                  </a:lnTo>
                  <a:lnTo>
                    <a:pt x="840485" y="536397"/>
                  </a:lnTo>
                  <a:lnTo>
                    <a:pt x="152146" y="536397"/>
                  </a:lnTo>
                  <a:close/>
                </a:path>
                <a:path w="990600" h="745489">
                  <a:moveTo>
                    <a:pt x="284988" y="631774"/>
                  </a:moveTo>
                  <a:lnTo>
                    <a:pt x="272669" y="651205"/>
                  </a:lnTo>
                  <a:lnTo>
                    <a:pt x="723011" y="651205"/>
                  </a:lnTo>
                  <a:lnTo>
                    <a:pt x="710819" y="631774"/>
                  </a:lnTo>
                  <a:lnTo>
                    <a:pt x="284988" y="631774"/>
                  </a:lnTo>
                  <a:close/>
                </a:path>
                <a:path w="990600" h="745489">
                  <a:moveTo>
                    <a:pt x="129666" y="568274"/>
                  </a:moveTo>
                  <a:lnTo>
                    <a:pt x="110236" y="588975"/>
                  </a:lnTo>
                  <a:lnTo>
                    <a:pt x="884427" y="588975"/>
                  </a:lnTo>
                  <a:lnTo>
                    <a:pt x="863980" y="568274"/>
                  </a:lnTo>
                  <a:lnTo>
                    <a:pt x="129666" y="568274"/>
                  </a:lnTo>
                  <a:close/>
                </a:path>
                <a:path w="990600" h="745489">
                  <a:moveTo>
                    <a:pt x="106172" y="598627"/>
                  </a:moveTo>
                  <a:lnTo>
                    <a:pt x="85851" y="619328"/>
                  </a:lnTo>
                  <a:lnTo>
                    <a:pt x="910971" y="619328"/>
                  </a:lnTo>
                  <a:lnTo>
                    <a:pt x="889507" y="598627"/>
                  </a:lnTo>
                  <a:lnTo>
                    <a:pt x="106172" y="598627"/>
                  </a:lnTo>
                  <a:close/>
                </a:path>
              </a:pathLst>
            </a:custGeom>
            <a:ln w="9525">
              <a:solidFill>
                <a:srgbClr val="000000"/>
              </a:solidFill>
            </a:ln>
          </p:spPr>
          <p:txBody>
            <a:bodyPr wrap="square" lIns="0" tIns="0" rIns="0" bIns="0" rtlCol="0"/>
            <a:lstStyle/>
            <a:p>
              <a:endParaRPr/>
            </a:p>
          </p:txBody>
        </p:sp>
      </p:grpSp>
      <p:sp>
        <p:nvSpPr>
          <p:cNvPr id="15" name="object 15"/>
          <p:cNvSpPr txBox="1"/>
          <p:nvPr/>
        </p:nvSpPr>
        <p:spPr>
          <a:xfrm>
            <a:off x="3226054" y="2823413"/>
            <a:ext cx="398145"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Link</a:t>
            </a:r>
            <a:endParaRPr sz="1800">
              <a:latin typeface="Calibri"/>
              <a:cs typeface="Calibri"/>
            </a:endParaRPr>
          </a:p>
        </p:txBody>
      </p:sp>
      <p:grpSp>
        <p:nvGrpSpPr>
          <p:cNvPr id="16" name="object 16"/>
          <p:cNvGrpSpPr/>
          <p:nvPr/>
        </p:nvGrpSpPr>
        <p:grpSpPr>
          <a:xfrm>
            <a:off x="3005137" y="2858833"/>
            <a:ext cx="3248025" cy="634365"/>
            <a:chOff x="3005137" y="2858833"/>
            <a:chExt cx="3248025" cy="634365"/>
          </a:xfrm>
        </p:grpSpPr>
        <p:sp>
          <p:nvSpPr>
            <p:cNvPr id="17" name="object 17"/>
            <p:cNvSpPr/>
            <p:nvPr/>
          </p:nvSpPr>
          <p:spPr>
            <a:xfrm>
              <a:off x="3009900" y="3145535"/>
              <a:ext cx="304800" cy="152400"/>
            </a:xfrm>
            <a:custGeom>
              <a:avLst/>
              <a:gdLst/>
              <a:ahLst/>
              <a:cxnLst/>
              <a:rect l="l" t="t" r="r" b="b"/>
              <a:pathLst>
                <a:path w="304800" h="152400">
                  <a:moveTo>
                    <a:pt x="304800" y="0"/>
                  </a:moveTo>
                  <a:lnTo>
                    <a:pt x="0" y="0"/>
                  </a:lnTo>
                  <a:lnTo>
                    <a:pt x="0" y="152400"/>
                  </a:lnTo>
                  <a:lnTo>
                    <a:pt x="304800" y="152400"/>
                  </a:lnTo>
                  <a:lnTo>
                    <a:pt x="304800" y="0"/>
                  </a:lnTo>
                  <a:close/>
                </a:path>
              </a:pathLst>
            </a:custGeom>
            <a:solidFill>
              <a:srgbClr val="4F81BC"/>
            </a:solidFill>
          </p:spPr>
          <p:txBody>
            <a:bodyPr wrap="square" lIns="0" tIns="0" rIns="0" bIns="0" rtlCol="0"/>
            <a:lstStyle/>
            <a:p>
              <a:endParaRPr/>
            </a:p>
          </p:txBody>
        </p:sp>
        <p:sp>
          <p:nvSpPr>
            <p:cNvPr id="18" name="object 18"/>
            <p:cNvSpPr/>
            <p:nvPr/>
          </p:nvSpPr>
          <p:spPr>
            <a:xfrm>
              <a:off x="3009900" y="3145535"/>
              <a:ext cx="304800" cy="152400"/>
            </a:xfrm>
            <a:custGeom>
              <a:avLst/>
              <a:gdLst/>
              <a:ahLst/>
              <a:cxnLst/>
              <a:rect l="l" t="t" r="r" b="b"/>
              <a:pathLst>
                <a:path w="304800" h="152400">
                  <a:moveTo>
                    <a:pt x="0" y="152400"/>
                  </a:moveTo>
                  <a:lnTo>
                    <a:pt x="304800" y="152400"/>
                  </a:lnTo>
                  <a:lnTo>
                    <a:pt x="304800" y="0"/>
                  </a:lnTo>
                  <a:lnTo>
                    <a:pt x="0" y="0"/>
                  </a:lnTo>
                  <a:lnTo>
                    <a:pt x="0" y="152400"/>
                  </a:lnTo>
                  <a:close/>
                </a:path>
              </a:pathLst>
            </a:custGeom>
            <a:ln w="9525">
              <a:solidFill>
                <a:srgbClr val="000000"/>
              </a:solidFill>
            </a:ln>
          </p:spPr>
          <p:txBody>
            <a:bodyPr wrap="square" lIns="0" tIns="0" rIns="0" bIns="0" rtlCol="0"/>
            <a:lstStyle/>
            <a:p>
              <a:endParaRPr/>
            </a:p>
          </p:txBody>
        </p:sp>
        <p:sp>
          <p:nvSpPr>
            <p:cNvPr id="19" name="object 19"/>
            <p:cNvSpPr/>
            <p:nvPr/>
          </p:nvSpPr>
          <p:spPr>
            <a:xfrm>
              <a:off x="4953000" y="3183635"/>
              <a:ext cx="152400" cy="304800"/>
            </a:xfrm>
            <a:custGeom>
              <a:avLst/>
              <a:gdLst/>
              <a:ahLst/>
              <a:cxnLst/>
              <a:rect l="l" t="t" r="r" b="b"/>
              <a:pathLst>
                <a:path w="152400" h="304800">
                  <a:moveTo>
                    <a:pt x="152400" y="0"/>
                  </a:moveTo>
                  <a:lnTo>
                    <a:pt x="0" y="0"/>
                  </a:lnTo>
                  <a:lnTo>
                    <a:pt x="0" y="304800"/>
                  </a:lnTo>
                  <a:lnTo>
                    <a:pt x="152400" y="304800"/>
                  </a:lnTo>
                  <a:lnTo>
                    <a:pt x="152400" y="0"/>
                  </a:lnTo>
                  <a:close/>
                </a:path>
              </a:pathLst>
            </a:custGeom>
            <a:solidFill>
              <a:srgbClr val="4F81BC"/>
            </a:solidFill>
          </p:spPr>
          <p:txBody>
            <a:bodyPr wrap="square" lIns="0" tIns="0" rIns="0" bIns="0" rtlCol="0"/>
            <a:lstStyle/>
            <a:p>
              <a:endParaRPr/>
            </a:p>
          </p:txBody>
        </p:sp>
        <p:sp>
          <p:nvSpPr>
            <p:cNvPr id="20" name="object 20"/>
            <p:cNvSpPr/>
            <p:nvPr/>
          </p:nvSpPr>
          <p:spPr>
            <a:xfrm>
              <a:off x="4953000" y="3183635"/>
              <a:ext cx="152400" cy="304800"/>
            </a:xfrm>
            <a:custGeom>
              <a:avLst/>
              <a:gdLst/>
              <a:ahLst/>
              <a:cxnLst/>
              <a:rect l="l" t="t" r="r" b="b"/>
              <a:pathLst>
                <a:path w="152400" h="304800">
                  <a:moveTo>
                    <a:pt x="0" y="304800"/>
                  </a:moveTo>
                  <a:lnTo>
                    <a:pt x="152400" y="304800"/>
                  </a:lnTo>
                  <a:lnTo>
                    <a:pt x="152400" y="0"/>
                  </a:lnTo>
                  <a:lnTo>
                    <a:pt x="0" y="0"/>
                  </a:lnTo>
                  <a:lnTo>
                    <a:pt x="0" y="304800"/>
                  </a:lnTo>
                  <a:close/>
                </a:path>
              </a:pathLst>
            </a:custGeom>
            <a:ln w="9525">
              <a:solidFill>
                <a:srgbClr val="000000"/>
              </a:solidFill>
            </a:ln>
          </p:spPr>
          <p:txBody>
            <a:bodyPr wrap="square" lIns="0" tIns="0" rIns="0" bIns="0" rtlCol="0"/>
            <a:lstStyle/>
            <a:p>
              <a:endParaRPr/>
            </a:p>
          </p:txBody>
        </p:sp>
        <p:sp>
          <p:nvSpPr>
            <p:cNvPr id="21" name="object 21"/>
            <p:cNvSpPr/>
            <p:nvPr/>
          </p:nvSpPr>
          <p:spPr>
            <a:xfrm>
              <a:off x="6096000" y="2863595"/>
              <a:ext cx="152400" cy="304800"/>
            </a:xfrm>
            <a:custGeom>
              <a:avLst/>
              <a:gdLst/>
              <a:ahLst/>
              <a:cxnLst/>
              <a:rect l="l" t="t" r="r" b="b"/>
              <a:pathLst>
                <a:path w="152400" h="304800">
                  <a:moveTo>
                    <a:pt x="152400" y="0"/>
                  </a:moveTo>
                  <a:lnTo>
                    <a:pt x="0" y="0"/>
                  </a:lnTo>
                  <a:lnTo>
                    <a:pt x="0" y="304800"/>
                  </a:lnTo>
                  <a:lnTo>
                    <a:pt x="152400" y="304800"/>
                  </a:lnTo>
                  <a:lnTo>
                    <a:pt x="152400" y="0"/>
                  </a:lnTo>
                  <a:close/>
                </a:path>
              </a:pathLst>
            </a:custGeom>
            <a:solidFill>
              <a:srgbClr val="4F81BC"/>
            </a:solidFill>
          </p:spPr>
          <p:txBody>
            <a:bodyPr wrap="square" lIns="0" tIns="0" rIns="0" bIns="0" rtlCol="0"/>
            <a:lstStyle/>
            <a:p>
              <a:endParaRPr/>
            </a:p>
          </p:txBody>
        </p:sp>
        <p:sp>
          <p:nvSpPr>
            <p:cNvPr id="22" name="object 22"/>
            <p:cNvSpPr/>
            <p:nvPr/>
          </p:nvSpPr>
          <p:spPr>
            <a:xfrm>
              <a:off x="6096000" y="2863595"/>
              <a:ext cx="152400" cy="304800"/>
            </a:xfrm>
            <a:custGeom>
              <a:avLst/>
              <a:gdLst/>
              <a:ahLst/>
              <a:cxnLst/>
              <a:rect l="l" t="t" r="r" b="b"/>
              <a:pathLst>
                <a:path w="152400" h="304800">
                  <a:moveTo>
                    <a:pt x="0" y="304800"/>
                  </a:moveTo>
                  <a:lnTo>
                    <a:pt x="152400" y="304800"/>
                  </a:lnTo>
                  <a:lnTo>
                    <a:pt x="152400" y="0"/>
                  </a:lnTo>
                  <a:lnTo>
                    <a:pt x="0" y="0"/>
                  </a:lnTo>
                  <a:lnTo>
                    <a:pt x="0" y="304800"/>
                  </a:lnTo>
                  <a:close/>
                </a:path>
              </a:pathLst>
            </a:custGeom>
            <a:ln w="9525">
              <a:solidFill>
                <a:srgbClr val="000000"/>
              </a:solidFill>
            </a:ln>
          </p:spPr>
          <p:txBody>
            <a:bodyPr wrap="square" lIns="0" tIns="0" rIns="0" bIns="0" rtlCol="0"/>
            <a:lstStyle/>
            <a:p>
              <a:endParaRPr/>
            </a:p>
          </p:txBody>
        </p:sp>
      </p:grpSp>
      <p:sp>
        <p:nvSpPr>
          <p:cNvPr id="25" name="Slide Number Placeholder 24">
            <a:extLst>
              <a:ext uri="{FF2B5EF4-FFF2-40B4-BE49-F238E27FC236}">
                <a16:creationId xmlns:a16="http://schemas.microsoft.com/office/drawing/2014/main" xmlns="" id="{E1C74799-A26C-B97C-C5C6-89AF4F44D72A}"/>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18</a:t>
            </a:fld>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19</a:t>
            </a:fld>
            <a:endParaRPr dirty="0"/>
          </a:p>
        </p:txBody>
      </p:sp>
      <p:sp>
        <p:nvSpPr>
          <p:cNvPr id="2" name="object 2"/>
          <p:cNvSpPr txBox="1">
            <a:spLocks noGrp="1"/>
          </p:cNvSpPr>
          <p:nvPr>
            <p:ph type="title"/>
          </p:nvPr>
        </p:nvSpPr>
        <p:spPr>
          <a:xfrm>
            <a:off x="2838450" y="312165"/>
            <a:ext cx="346710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4F81BC"/>
                </a:solidFill>
              </a:rPr>
              <a:t>Physical</a:t>
            </a:r>
            <a:r>
              <a:rPr sz="3600" spc="-25" dirty="0">
                <a:solidFill>
                  <a:srgbClr val="4F81BC"/>
                </a:solidFill>
              </a:rPr>
              <a:t> </a:t>
            </a:r>
            <a:r>
              <a:rPr sz="3600" spc="-5" dirty="0">
                <a:solidFill>
                  <a:srgbClr val="4F81BC"/>
                </a:solidFill>
              </a:rPr>
              <a:t>Topology</a:t>
            </a:r>
            <a:endParaRPr sz="3600"/>
          </a:p>
        </p:txBody>
      </p:sp>
      <p:sp>
        <p:nvSpPr>
          <p:cNvPr id="3" name="object 3"/>
          <p:cNvSpPr txBox="1"/>
          <p:nvPr/>
        </p:nvSpPr>
        <p:spPr>
          <a:xfrm>
            <a:off x="535940" y="977900"/>
            <a:ext cx="8150860" cy="5009705"/>
          </a:xfrm>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4965" algn="l"/>
                <a:tab pos="355600" algn="l"/>
              </a:tabLst>
            </a:pPr>
            <a:r>
              <a:rPr sz="2800" dirty="0">
                <a:latin typeface="Times New Roman"/>
                <a:cs typeface="Times New Roman"/>
              </a:rPr>
              <a:t>The</a:t>
            </a:r>
            <a:r>
              <a:rPr sz="2800" spc="40" dirty="0">
                <a:latin typeface="Times New Roman"/>
                <a:cs typeface="Times New Roman"/>
              </a:rPr>
              <a:t> </a:t>
            </a:r>
            <a:r>
              <a:rPr sz="2800" spc="-5" dirty="0">
                <a:latin typeface="Times New Roman"/>
                <a:cs typeface="Times New Roman"/>
              </a:rPr>
              <a:t>term</a:t>
            </a:r>
            <a:r>
              <a:rPr sz="2800" spc="25" dirty="0">
                <a:latin typeface="Times New Roman"/>
                <a:cs typeface="Times New Roman"/>
              </a:rPr>
              <a:t> </a:t>
            </a:r>
            <a:r>
              <a:rPr sz="2800" b="1" i="1" spc="-5" dirty="0">
                <a:solidFill>
                  <a:srgbClr val="C00000"/>
                </a:solidFill>
                <a:latin typeface="Times New Roman"/>
                <a:cs typeface="Times New Roman"/>
              </a:rPr>
              <a:t>physical</a:t>
            </a:r>
            <a:r>
              <a:rPr sz="2800" b="1" i="1" spc="50" dirty="0">
                <a:solidFill>
                  <a:srgbClr val="C00000"/>
                </a:solidFill>
                <a:latin typeface="Times New Roman"/>
                <a:cs typeface="Times New Roman"/>
              </a:rPr>
              <a:t> </a:t>
            </a:r>
            <a:r>
              <a:rPr sz="2800" b="1" i="1" spc="-5" dirty="0">
                <a:solidFill>
                  <a:srgbClr val="C00000"/>
                </a:solidFill>
                <a:latin typeface="Times New Roman"/>
                <a:cs typeface="Times New Roman"/>
              </a:rPr>
              <a:t>topology</a:t>
            </a:r>
            <a:r>
              <a:rPr sz="2800" b="1" i="1" spc="20" dirty="0">
                <a:solidFill>
                  <a:srgbClr val="C00000"/>
                </a:solidFill>
                <a:latin typeface="Times New Roman"/>
                <a:cs typeface="Times New Roman"/>
              </a:rPr>
              <a:t> </a:t>
            </a:r>
            <a:r>
              <a:rPr sz="2800" spc="-5" dirty="0">
                <a:latin typeface="Times New Roman"/>
                <a:cs typeface="Times New Roman"/>
              </a:rPr>
              <a:t>refers</a:t>
            </a:r>
            <a:r>
              <a:rPr sz="2800" spc="50" dirty="0">
                <a:latin typeface="Times New Roman"/>
                <a:cs typeface="Times New Roman"/>
              </a:rPr>
              <a:t> </a:t>
            </a:r>
            <a:r>
              <a:rPr sz="2800" spc="-10" dirty="0">
                <a:latin typeface="Times New Roman"/>
                <a:cs typeface="Times New Roman"/>
              </a:rPr>
              <a:t>to</a:t>
            </a:r>
            <a:r>
              <a:rPr sz="2800" spc="55" dirty="0">
                <a:latin typeface="Times New Roman"/>
                <a:cs typeface="Times New Roman"/>
              </a:rPr>
              <a:t> </a:t>
            </a:r>
            <a:r>
              <a:rPr sz="2800" spc="-5" dirty="0">
                <a:latin typeface="Times New Roman"/>
                <a:cs typeface="Times New Roman"/>
              </a:rPr>
              <a:t>the</a:t>
            </a:r>
            <a:r>
              <a:rPr sz="2800" spc="40" dirty="0">
                <a:latin typeface="Times New Roman"/>
                <a:cs typeface="Times New Roman"/>
              </a:rPr>
              <a:t> </a:t>
            </a:r>
            <a:r>
              <a:rPr sz="2800" dirty="0">
                <a:latin typeface="Times New Roman"/>
                <a:cs typeface="Times New Roman"/>
              </a:rPr>
              <a:t>way</a:t>
            </a:r>
            <a:r>
              <a:rPr sz="2800" spc="35" dirty="0">
                <a:latin typeface="Times New Roman"/>
                <a:cs typeface="Times New Roman"/>
              </a:rPr>
              <a:t> </a:t>
            </a:r>
            <a:r>
              <a:rPr sz="2800" spc="-5" dirty="0">
                <a:latin typeface="Times New Roman"/>
                <a:cs typeface="Times New Roman"/>
              </a:rPr>
              <a:t>in</a:t>
            </a:r>
            <a:r>
              <a:rPr sz="2800" spc="50" dirty="0">
                <a:latin typeface="Times New Roman"/>
                <a:cs typeface="Times New Roman"/>
              </a:rPr>
              <a:t> </a:t>
            </a:r>
            <a:r>
              <a:rPr sz="2800" spc="-5" dirty="0">
                <a:latin typeface="Times New Roman"/>
                <a:cs typeface="Times New Roman"/>
              </a:rPr>
              <a:t>which</a:t>
            </a:r>
            <a:r>
              <a:rPr sz="2800" spc="50" dirty="0">
                <a:latin typeface="Times New Roman"/>
                <a:cs typeface="Times New Roman"/>
              </a:rPr>
              <a:t> </a:t>
            </a:r>
            <a:r>
              <a:rPr sz="2800" dirty="0">
                <a:latin typeface="Times New Roman"/>
                <a:cs typeface="Times New Roman"/>
              </a:rPr>
              <a:t>a</a:t>
            </a:r>
            <a:r>
              <a:rPr sz="2800" spc="30" dirty="0">
                <a:latin typeface="Times New Roman"/>
                <a:cs typeface="Times New Roman"/>
              </a:rPr>
              <a:t> </a:t>
            </a:r>
            <a:r>
              <a:rPr sz="2800" spc="-5" dirty="0">
                <a:latin typeface="Times New Roman"/>
                <a:cs typeface="Times New Roman"/>
              </a:rPr>
              <a:t>network</a:t>
            </a:r>
            <a:r>
              <a:rPr sz="2800" spc="40" dirty="0">
                <a:latin typeface="Times New Roman"/>
                <a:cs typeface="Times New Roman"/>
              </a:rPr>
              <a:t> </a:t>
            </a:r>
            <a:r>
              <a:rPr sz="2800" spc="-5" dirty="0">
                <a:latin typeface="Times New Roman"/>
                <a:cs typeface="Times New Roman"/>
              </a:rPr>
              <a:t>is</a:t>
            </a:r>
            <a:r>
              <a:rPr sz="2800" spc="50" dirty="0">
                <a:latin typeface="Times New Roman"/>
                <a:cs typeface="Times New Roman"/>
              </a:rPr>
              <a:t> </a:t>
            </a:r>
            <a:r>
              <a:rPr sz="2800" spc="-5" dirty="0">
                <a:latin typeface="Times New Roman"/>
                <a:cs typeface="Times New Roman"/>
              </a:rPr>
              <a:t>laid</a:t>
            </a:r>
            <a:r>
              <a:rPr sz="2800" spc="30" dirty="0">
                <a:latin typeface="Times New Roman"/>
                <a:cs typeface="Times New Roman"/>
              </a:rPr>
              <a:t> </a:t>
            </a:r>
            <a:r>
              <a:rPr sz="2800" spc="-10" dirty="0">
                <a:latin typeface="Times New Roman"/>
                <a:cs typeface="Times New Roman"/>
              </a:rPr>
              <a:t>out </a:t>
            </a:r>
            <a:r>
              <a:rPr sz="2800" spc="-484" dirty="0">
                <a:latin typeface="Times New Roman"/>
                <a:cs typeface="Times New Roman"/>
              </a:rPr>
              <a:t> </a:t>
            </a:r>
            <a:r>
              <a:rPr sz="2800" spc="-5" dirty="0">
                <a:latin typeface="Times New Roman"/>
                <a:cs typeface="Times New Roman"/>
              </a:rPr>
              <a:t>physically.</a:t>
            </a:r>
            <a:endParaRPr sz="2800" dirty="0">
              <a:latin typeface="Times New Roman"/>
              <a:cs typeface="Times New Roman"/>
            </a:endParaRPr>
          </a:p>
          <a:p>
            <a:pPr marL="355600" indent="-342900">
              <a:lnSpc>
                <a:spcPct val="100000"/>
              </a:lnSpc>
              <a:buFont typeface="Arial MT"/>
              <a:buChar char="•"/>
              <a:tabLst>
                <a:tab pos="354965" algn="l"/>
                <a:tab pos="355600" algn="l"/>
              </a:tabLst>
            </a:pPr>
            <a:r>
              <a:rPr sz="2800" dirty="0">
                <a:latin typeface="Times New Roman"/>
                <a:cs typeface="Times New Roman"/>
              </a:rPr>
              <a:t>Two</a:t>
            </a:r>
            <a:r>
              <a:rPr sz="2800" spc="-10" dirty="0">
                <a:latin typeface="Times New Roman"/>
                <a:cs typeface="Times New Roman"/>
              </a:rPr>
              <a:t> </a:t>
            </a:r>
            <a:r>
              <a:rPr sz="2800" dirty="0">
                <a:latin typeface="Times New Roman"/>
                <a:cs typeface="Times New Roman"/>
              </a:rPr>
              <a:t>or</a:t>
            </a:r>
            <a:r>
              <a:rPr sz="2800" spc="-20" dirty="0">
                <a:latin typeface="Times New Roman"/>
                <a:cs typeface="Times New Roman"/>
              </a:rPr>
              <a:t> </a:t>
            </a:r>
            <a:r>
              <a:rPr sz="2800" spc="-5" dirty="0">
                <a:latin typeface="Times New Roman"/>
                <a:cs typeface="Times New Roman"/>
              </a:rPr>
              <a:t>more</a:t>
            </a:r>
            <a:r>
              <a:rPr sz="2800" spc="-15" dirty="0">
                <a:latin typeface="Times New Roman"/>
                <a:cs typeface="Times New Roman"/>
              </a:rPr>
              <a:t> </a:t>
            </a:r>
            <a:r>
              <a:rPr sz="2800" dirty="0">
                <a:latin typeface="Times New Roman"/>
                <a:cs typeface="Times New Roman"/>
              </a:rPr>
              <a:t>device</a:t>
            </a:r>
            <a:r>
              <a:rPr sz="2800" spc="-5" dirty="0">
                <a:latin typeface="Times New Roman"/>
                <a:cs typeface="Times New Roman"/>
              </a:rPr>
              <a:t> </a:t>
            </a:r>
            <a:r>
              <a:rPr sz="2800" dirty="0">
                <a:latin typeface="Times New Roman"/>
                <a:cs typeface="Times New Roman"/>
              </a:rPr>
              <a:t>connect</a:t>
            </a:r>
            <a:r>
              <a:rPr sz="2800" spc="-45" dirty="0">
                <a:latin typeface="Times New Roman"/>
                <a:cs typeface="Times New Roman"/>
              </a:rPr>
              <a:t> </a:t>
            </a:r>
            <a:r>
              <a:rPr sz="2800" spc="-5" dirty="0">
                <a:latin typeface="Times New Roman"/>
                <a:cs typeface="Times New Roman"/>
              </a:rPr>
              <a:t>to </a:t>
            </a:r>
            <a:r>
              <a:rPr sz="2800" dirty="0">
                <a:latin typeface="Times New Roman"/>
                <a:cs typeface="Times New Roman"/>
              </a:rPr>
              <a:t>a</a:t>
            </a:r>
            <a:r>
              <a:rPr sz="2800" spc="-20" dirty="0">
                <a:latin typeface="Times New Roman"/>
                <a:cs typeface="Times New Roman"/>
              </a:rPr>
              <a:t> </a:t>
            </a:r>
            <a:r>
              <a:rPr sz="2800" spc="-5" dirty="0">
                <a:solidFill>
                  <a:srgbClr val="C0504D"/>
                </a:solidFill>
                <a:latin typeface="Times New Roman"/>
                <a:cs typeface="Times New Roman"/>
              </a:rPr>
              <a:t>link</a:t>
            </a:r>
            <a:endParaRPr sz="2800" dirty="0">
              <a:latin typeface="Times New Roman"/>
              <a:cs typeface="Times New Roman"/>
            </a:endParaRPr>
          </a:p>
          <a:p>
            <a:pPr marL="355600" marR="5080" indent="-342900">
              <a:lnSpc>
                <a:spcPct val="100000"/>
              </a:lnSpc>
              <a:buFont typeface="Arial MT"/>
              <a:buChar char="•"/>
              <a:tabLst>
                <a:tab pos="354965" algn="l"/>
                <a:tab pos="355600" algn="l"/>
                <a:tab pos="932815" algn="l"/>
                <a:tab pos="2013585" algn="l"/>
                <a:tab pos="2405380" algn="l"/>
                <a:tab pos="2698115" algn="l"/>
                <a:tab pos="3711575" algn="l"/>
                <a:tab pos="4058920" algn="l"/>
                <a:tab pos="4548505" algn="l"/>
                <a:tab pos="5741670" algn="l"/>
                <a:tab pos="7357745" algn="l"/>
                <a:tab pos="7749540" algn="l"/>
              </a:tabLst>
            </a:pPr>
            <a:r>
              <a:rPr sz="2800" dirty="0">
                <a:latin typeface="Times New Roman"/>
                <a:cs typeface="Times New Roman"/>
              </a:rPr>
              <a:t>T</a:t>
            </a:r>
            <a:r>
              <a:rPr sz="2800" spc="5" dirty="0">
                <a:latin typeface="Times New Roman"/>
                <a:cs typeface="Times New Roman"/>
              </a:rPr>
              <a:t>h</a:t>
            </a:r>
            <a:r>
              <a:rPr sz="2800" dirty="0">
                <a:latin typeface="Times New Roman"/>
                <a:cs typeface="Times New Roman"/>
              </a:rPr>
              <a:t>e	</a:t>
            </a:r>
            <a:r>
              <a:rPr lang="en-US" sz="2800" dirty="0">
                <a:latin typeface="Times New Roman"/>
                <a:cs typeface="Times New Roman"/>
              </a:rPr>
              <a:t> </a:t>
            </a:r>
            <a:r>
              <a:rPr sz="2800" spc="-20" dirty="0">
                <a:solidFill>
                  <a:srgbClr val="C0504D"/>
                </a:solidFill>
                <a:latin typeface="Times New Roman"/>
                <a:cs typeface="Times New Roman"/>
              </a:rPr>
              <a:t>t</a:t>
            </a:r>
            <a:r>
              <a:rPr sz="2800" dirty="0">
                <a:solidFill>
                  <a:srgbClr val="C0504D"/>
                </a:solidFill>
                <a:latin typeface="Times New Roman"/>
                <a:cs typeface="Times New Roman"/>
              </a:rPr>
              <a:t>opo</a:t>
            </a:r>
            <a:r>
              <a:rPr sz="2800" spc="-15" dirty="0">
                <a:solidFill>
                  <a:srgbClr val="C0504D"/>
                </a:solidFill>
                <a:latin typeface="Times New Roman"/>
                <a:cs typeface="Times New Roman"/>
              </a:rPr>
              <a:t>l</a:t>
            </a:r>
            <a:r>
              <a:rPr sz="2800" dirty="0">
                <a:solidFill>
                  <a:srgbClr val="C0504D"/>
                </a:solidFill>
                <a:latin typeface="Times New Roman"/>
                <a:cs typeface="Times New Roman"/>
              </a:rPr>
              <a:t>ogy	</a:t>
            </a:r>
            <a:r>
              <a:rPr sz="2800" spc="-10" dirty="0">
                <a:latin typeface="Times New Roman"/>
                <a:cs typeface="Times New Roman"/>
              </a:rPr>
              <a:t>o</a:t>
            </a:r>
            <a:r>
              <a:rPr sz="2800" dirty="0">
                <a:latin typeface="Times New Roman"/>
                <a:cs typeface="Times New Roman"/>
              </a:rPr>
              <a:t>f</a:t>
            </a:r>
            <a:r>
              <a:rPr lang="en-US" sz="2800" dirty="0">
                <a:latin typeface="Times New Roman"/>
                <a:cs typeface="Times New Roman"/>
              </a:rPr>
              <a:t> </a:t>
            </a:r>
            <a:r>
              <a:rPr sz="2800" dirty="0">
                <a:latin typeface="Times New Roman"/>
                <a:cs typeface="Times New Roman"/>
              </a:rPr>
              <a:t>a</a:t>
            </a:r>
            <a:r>
              <a:rPr lang="en-US" sz="2800" dirty="0">
                <a:latin typeface="Times New Roman"/>
                <a:cs typeface="Times New Roman"/>
              </a:rPr>
              <a:t> </a:t>
            </a:r>
            <a:r>
              <a:rPr sz="2800" dirty="0">
                <a:latin typeface="Times New Roman"/>
                <a:cs typeface="Times New Roman"/>
              </a:rPr>
              <a:t>ne</a:t>
            </a:r>
            <a:r>
              <a:rPr sz="2800" spc="-15" dirty="0">
                <a:latin typeface="Times New Roman"/>
                <a:cs typeface="Times New Roman"/>
              </a:rPr>
              <a:t>t</a:t>
            </a:r>
            <a:r>
              <a:rPr sz="2800" dirty="0">
                <a:latin typeface="Times New Roman"/>
                <a:cs typeface="Times New Roman"/>
              </a:rPr>
              <a:t>wor</a:t>
            </a:r>
            <a:r>
              <a:rPr lang="en-US" sz="2800" dirty="0">
                <a:latin typeface="Times New Roman"/>
                <a:cs typeface="Times New Roman"/>
              </a:rPr>
              <a:t>k </a:t>
            </a:r>
            <a:r>
              <a:rPr sz="2800" spc="-20" dirty="0">
                <a:latin typeface="Times New Roman"/>
                <a:cs typeface="Times New Roman"/>
              </a:rPr>
              <a:t>i</a:t>
            </a:r>
            <a:r>
              <a:rPr sz="2800" dirty="0">
                <a:latin typeface="Times New Roman"/>
                <a:cs typeface="Times New Roman"/>
              </a:rPr>
              <a:t>s	</a:t>
            </a:r>
            <a:r>
              <a:rPr lang="en-US" sz="2800" dirty="0">
                <a:latin typeface="Times New Roman"/>
                <a:cs typeface="Times New Roman"/>
              </a:rPr>
              <a:t> </a:t>
            </a:r>
            <a:r>
              <a:rPr sz="2800" dirty="0">
                <a:latin typeface="Times New Roman"/>
                <a:cs typeface="Times New Roman"/>
              </a:rPr>
              <a:t>the</a:t>
            </a:r>
            <a:r>
              <a:rPr lang="en-US" sz="2800" dirty="0">
                <a:latin typeface="Times New Roman"/>
                <a:cs typeface="Times New Roman"/>
              </a:rPr>
              <a:t> </a:t>
            </a:r>
            <a:r>
              <a:rPr sz="2800" dirty="0">
                <a:latin typeface="Times New Roman"/>
                <a:cs typeface="Times New Roman"/>
              </a:rPr>
              <a:t>g</a:t>
            </a:r>
            <a:r>
              <a:rPr sz="2800" spc="-10" dirty="0">
                <a:latin typeface="Times New Roman"/>
                <a:cs typeface="Times New Roman"/>
              </a:rPr>
              <a:t>e</a:t>
            </a:r>
            <a:r>
              <a:rPr sz="2800" dirty="0">
                <a:latin typeface="Times New Roman"/>
                <a:cs typeface="Times New Roman"/>
              </a:rPr>
              <a:t>o</a:t>
            </a:r>
            <a:r>
              <a:rPr sz="2800" spc="-20" dirty="0">
                <a:latin typeface="Times New Roman"/>
                <a:cs typeface="Times New Roman"/>
              </a:rPr>
              <a:t>m</a:t>
            </a:r>
            <a:r>
              <a:rPr sz="2800" dirty="0">
                <a:latin typeface="Times New Roman"/>
                <a:cs typeface="Times New Roman"/>
              </a:rPr>
              <a:t>e</a:t>
            </a:r>
            <a:r>
              <a:rPr sz="2800" spc="-10" dirty="0">
                <a:latin typeface="Times New Roman"/>
                <a:cs typeface="Times New Roman"/>
              </a:rPr>
              <a:t>t</a:t>
            </a:r>
            <a:r>
              <a:rPr sz="2800" dirty="0">
                <a:latin typeface="Times New Roman"/>
                <a:cs typeface="Times New Roman"/>
              </a:rPr>
              <a:t>ric</a:t>
            </a:r>
            <a:r>
              <a:rPr lang="en-US" sz="2800" dirty="0">
                <a:latin typeface="Times New Roman"/>
                <a:cs typeface="Times New Roman"/>
              </a:rPr>
              <a:t> </a:t>
            </a:r>
            <a:r>
              <a:rPr sz="2800" dirty="0">
                <a:latin typeface="Times New Roman"/>
                <a:cs typeface="Times New Roman"/>
              </a:rPr>
              <a:t>r</a:t>
            </a:r>
            <a:r>
              <a:rPr sz="2800" spc="-10" dirty="0">
                <a:latin typeface="Times New Roman"/>
                <a:cs typeface="Times New Roman"/>
              </a:rPr>
              <a:t>e</a:t>
            </a:r>
            <a:r>
              <a:rPr sz="2800" dirty="0">
                <a:latin typeface="Times New Roman"/>
                <a:cs typeface="Times New Roman"/>
              </a:rPr>
              <a:t>pr</a:t>
            </a:r>
            <a:r>
              <a:rPr sz="2800" spc="-20" dirty="0">
                <a:latin typeface="Times New Roman"/>
                <a:cs typeface="Times New Roman"/>
              </a:rPr>
              <a:t>e</a:t>
            </a:r>
            <a:r>
              <a:rPr sz="2800" dirty="0">
                <a:latin typeface="Times New Roman"/>
                <a:cs typeface="Times New Roman"/>
              </a:rPr>
              <a:t>sent</a:t>
            </a:r>
            <a:r>
              <a:rPr sz="2800" spc="-15" dirty="0">
                <a:latin typeface="Times New Roman"/>
                <a:cs typeface="Times New Roman"/>
              </a:rPr>
              <a:t>a</a:t>
            </a:r>
            <a:r>
              <a:rPr sz="2800" dirty="0">
                <a:latin typeface="Times New Roman"/>
                <a:cs typeface="Times New Roman"/>
              </a:rPr>
              <a:t>t</a:t>
            </a:r>
            <a:r>
              <a:rPr sz="2800" spc="-10" dirty="0">
                <a:latin typeface="Times New Roman"/>
                <a:cs typeface="Times New Roman"/>
              </a:rPr>
              <a:t>i</a:t>
            </a:r>
            <a:r>
              <a:rPr sz="2800" dirty="0">
                <a:latin typeface="Times New Roman"/>
                <a:cs typeface="Times New Roman"/>
              </a:rPr>
              <a:t>on</a:t>
            </a:r>
            <a:r>
              <a:rPr lang="en-US" sz="2800" dirty="0">
                <a:latin typeface="Times New Roman"/>
                <a:cs typeface="Times New Roman"/>
              </a:rPr>
              <a:t> </a:t>
            </a:r>
            <a:r>
              <a:rPr sz="2800" spc="-10" dirty="0">
                <a:latin typeface="Times New Roman"/>
                <a:cs typeface="Times New Roman"/>
              </a:rPr>
              <a:t>o</a:t>
            </a:r>
            <a:r>
              <a:rPr sz="2800" dirty="0">
                <a:latin typeface="Times New Roman"/>
                <a:cs typeface="Times New Roman"/>
              </a:rPr>
              <a:t>f</a:t>
            </a:r>
            <a:r>
              <a:rPr lang="en-US" sz="2800" dirty="0">
                <a:latin typeface="Times New Roman"/>
                <a:cs typeface="Times New Roman"/>
              </a:rPr>
              <a:t> </a:t>
            </a:r>
            <a:r>
              <a:rPr sz="2800" spc="-20" dirty="0">
                <a:latin typeface="Times New Roman"/>
                <a:cs typeface="Times New Roman"/>
              </a:rPr>
              <a:t>t</a:t>
            </a:r>
            <a:r>
              <a:rPr sz="2800" dirty="0">
                <a:latin typeface="Times New Roman"/>
                <a:cs typeface="Times New Roman"/>
              </a:rPr>
              <a:t>he  relationship</a:t>
            </a:r>
            <a:r>
              <a:rPr sz="2800" spc="-60" dirty="0">
                <a:latin typeface="Times New Roman"/>
                <a:cs typeface="Times New Roman"/>
              </a:rPr>
              <a:t> </a:t>
            </a:r>
            <a:r>
              <a:rPr sz="2800" dirty="0">
                <a:latin typeface="Times New Roman"/>
                <a:cs typeface="Times New Roman"/>
              </a:rPr>
              <a:t>of</a:t>
            </a:r>
            <a:r>
              <a:rPr sz="2800" spc="-20" dirty="0">
                <a:latin typeface="Times New Roman"/>
                <a:cs typeface="Times New Roman"/>
              </a:rPr>
              <a:t> </a:t>
            </a:r>
            <a:r>
              <a:rPr sz="2800" spc="-5" dirty="0">
                <a:latin typeface="Times New Roman"/>
                <a:cs typeface="Times New Roman"/>
              </a:rPr>
              <a:t>all </a:t>
            </a:r>
            <a:r>
              <a:rPr sz="2800" dirty="0">
                <a:latin typeface="Times New Roman"/>
                <a:cs typeface="Times New Roman"/>
              </a:rPr>
              <a:t>the</a:t>
            </a:r>
            <a:r>
              <a:rPr sz="2800" spc="-20" dirty="0">
                <a:latin typeface="Times New Roman"/>
                <a:cs typeface="Times New Roman"/>
              </a:rPr>
              <a:t> </a:t>
            </a:r>
            <a:r>
              <a:rPr sz="2800" dirty="0">
                <a:latin typeface="Times New Roman"/>
                <a:cs typeface="Times New Roman"/>
              </a:rPr>
              <a:t>links</a:t>
            </a:r>
            <a:r>
              <a:rPr sz="2800" spc="-20" dirty="0">
                <a:latin typeface="Times New Roman"/>
                <a:cs typeface="Times New Roman"/>
              </a:rPr>
              <a:t> </a:t>
            </a:r>
            <a:r>
              <a:rPr sz="2800" dirty="0">
                <a:latin typeface="Times New Roman"/>
                <a:cs typeface="Times New Roman"/>
              </a:rPr>
              <a:t>and</a:t>
            </a:r>
            <a:r>
              <a:rPr sz="2800" spc="-10" dirty="0">
                <a:latin typeface="Times New Roman"/>
                <a:cs typeface="Times New Roman"/>
              </a:rPr>
              <a:t> </a:t>
            </a:r>
            <a:r>
              <a:rPr sz="2800" dirty="0">
                <a:latin typeface="Times New Roman"/>
                <a:cs typeface="Times New Roman"/>
              </a:rPr>
              <a:t>linking</a:t>
            </a:r>
            <a:r>
              <a:rPr sz="2800" spc="-25" dirty="0">
                <a:latin typeface="Times New Roman"/>
                <a:cs typeface="Times New Roman"/>
              </a:rPr>
              <a:t> </a:t>
            </a:r>
            <a:r>
              <a:rPr sz="2800" dirty="0">
                <a:latin typeface="Times New Roman"/>
                <a:cs typeface="Times New Roman"/>
              </a:rPr>
              <a:t>devices</a:t>
            </a:r>
            <a:r>
              <a:rPr sz="2800" spc="-35" dirty="0">
                <a:latin typeface="Times New Roman"/>
                <a:cs typeface="Times New Roman"/>
              </a:rPr>
              <a:t> </a:t>
            </a:r>
            <a:r>
              <a:rPr sz="2800" spc="-5" dirty="0">
                <a:latin typeface="Times New Roman"/>
                <a:cs typeface="Times New Roman"/>
              </a:rPr>
              <a:t>to </a:t>
            </a:r>
            <a:r>
              <a:rPr sz="2800" spc="5" dirty="0">
                <a:latin typeface="Times New Roman"/>
                <a:cs typeface="Times New Roman"/>
              </a:rPr>
              <a:t>one</a:t>
            </a:r>
            <a:r>
              <a:rPr sz="2800" spc="-25" dirty="0">
                <a:latin typeface="Times New Roman"/>
                <a:cs typeface="Times New Roman"/>
              </a:rPr>
              <a:t> </a:t>
            </a:r>
            <a:r>
              <a:rPr sz="2800" dirty="0">
                <a:latin typeface="Times New Roman"/>
                <a:cs typeface="Times New Roman"/>
              </a:rPr>
              <a:t>another.</a:t>
            </a:r>
          </a:p>
          <a:p>
            <a:pPr marL="355600" indent="-342900">
              <a:lnSpc>
                <a:spcPct val="100000"/>
              </a:lnSpc>
              <a:buFont typeface="Arial MT"/>
              <a:buChar char="•"/>
              <a:tabLst>
                <a:tab pos="354965" algn="l"/>
                <a:tab pos="355600" algn="l"/>
              </a:tabLst>
            </a:pPr>
            <a:r>
              <a:rPr sz="2800" dirty="0">
                <a:latin typeface="Times New Roman"/>
                <a:cs typeface="Times New Roman"/>
              </a:rPr>
              <a:t>There</a:t>
            </a:r>
            <a:r>
              <a:rPr sz="2800" spc="-40" dirty="0">
                <a:latin typeface="Times New Roman"/>
                <a:cs typeface="Times New Roman"/>
              </a:rPr>
              <a:t> </a:t>
            </a:r>
            <a:r>
              <a:rPr sz="2800" dirty="0">
                <a:latin typeface="Times New Roman"/>
                <a:cs typeface="Times New Roman"/>
              </a:rPr>
              <a:t>are</a:t>
            </a:r>
            <a:r>
              <a:rPr sz="2800" spc="-20" dirty="0">
                <a:latin typeface="Times New Roman"/>
                <a:cs typeface="Times New Roman"/>
              </a:rPr>
              <a:t> </a:t>
            </a:r>
            <a:r>
              <a:rPr sz="2800" dirty="0">
                <a:latin typeface="Times New Roman"/>
                <a:cs typeface="Times New Roman"/>
              </a:rPr>
              <a:t>four</a:t>
            </a:r>
            <a:r>
              <a:rPr sz="2800" spc="-30" dirty="0">
                <a:latin typeface="Times New Roman"/>
                <a:cs typeface="Times New Roman"/>
              </a:rPr>
              <a:t> </a:t>
            </a:r>
            <a:r>
              <a:rPr sz="2800" dirty="0">
                <a:latin typeface="Times New Roman"/>
                <a:cs typeface="Times New Roman"/>
              </a:rPr>
              <a:t>basic</a:t>
            </a:r>
            <a:r>
              <a:rPr sz="2800" spc="-30" dirty="0">
                <a:latin typeface="Times New Roman"/>
                <a:cs typeface="Times New Roman"/>
              </a:rPr>
              <a:t> </a:t>
            </a:r>
            <a:r>
              <a:rPr sz="2800" dirty="0">
                <a:latin typeface="Times New Roman"/>
                <a:cs typeface="Times New Roman"/>
              </a:rPr>
              <a:t>topologies.</a:t>
            </a:r>
          </a:p>
          <a:p>
            <a:pPr marL="984885" lvl="1" indent="-515620">
              <a:lnSpc>
                <a:spcPct val="100000"/>
              </a:lnSpc>
              <a:spcBef>
                <a:spcPts val="505"/>
              </a:spcBef>
              <a:buAutoNum type="arabicPeriod"/>
              <a:tabLst>
                <a:tab pos="984885" algn="l"/>
                <a:tab pos="985519" algn="l"/>
              </a:tabLst>
            </a:pPr>
            <a:r>
              <a:rPr sz="2800" dirty="0">
                <a:latin typeface="Times New Roman"/>
                <a:cs typeface="Times New Roman"/>
              </a:rPr>
              <a:t>Mesh</a:t>
            </a:r>
          </a:p>
          <a:p>
            <a:pPr marL="984885" lvl="1" indent="-515620">
              <a:lnSpc>
                <a:spcPct val="100000"/>
              </a:lnSpc>
              <a:spcBef>
                <a:spcPts val="495"/>
              </a:spcBef>
              <a:buAutoNum type="arabicPeriod"/>
              <a:tabLst>
                <a:tab pos="984885" algn="l"/>
                <a:tab pos="985519" algn="l"/>
              </a:tabLst>
            </a:pPr>
            <a:r>
              <a:rPr sz="2800" dirty="0">
                <a:latin typeface="Times New Roman"/>
                <a:cs typeface="Times New Roman"/>
              </a:rPr>
              <a:t>Star</a:t>
            </a:r>
          </a:p>
          <a:p>
            <a:pPr marL="984885" lvl="1" indent="-515620">
              <a:lnSpc>
                <a:spcPct val="100000"/>
              </a:lnSpc>
              <a:spcBef>
                <a:spcPts val="500"/>
              </a:spcBef>
              <a:buAutoNum type="arabicPeriod"/>
              <a:tabLst>
                <a:tab pos="984885" algn="l"/>
                <a:tab pos="985519" algn="l"/>
              </a:tabLst>
            </a:pPr>
            <a:r>
              <a:rPr sz="2800" dirty="0">
                <a:latin typeface="Times New Roman"/>
                <a:cs typeface="Times New Roman"/>
              </a:rPr>
              <a:t>Bus</a:t>
            </a:r>
            <a:endParaRPr sz="2000" dirty="0">
              <a:latin typeface="Times New Roman"/>
              <a:cs typeface="Times New Roman"/>
            </a:endParaRPr>
          </a:p>
          <a:p>
            <a:pPr marL="984885" lvl="1" indent="-515620">
              <a:lnSpc>
                <a:spcPct val="100000"/>
              </a:lnSpc>
              <a:spcBef>
                <a:spcPts val="505"/>
              </a:spcBef>
              <a:buAutoNum type="arabicPeriod"/>
              <a:tabLst>
                <a:tab pos="984885" algn="l"/>
                <a:tab pos="985519" algn="l"/>
              </a:tabLst>
            </a:pPr>
            <a:r>
              <a:rPr sz="2800" spc="-5" dirty="0">
                <a:latin typeface="Times New Roman"/>
                <a:cs typeface="Times New Roman"/>
              </a:rPr>
              <a:t>Ring</a:t>
            </a:r>
            <a:endParaRPr sz="2800" dirty="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069401" y="1295400"/>
            <a:ext cx="5140960" cy="3797045"/>
            <a:chOff x="2069401" y="1720456"/>
            <a:chExt cx="5140960" cy="3789045"/>
          </a:xfrm>
        </p:grpSpPr>
        <p:sp>
          <p:nvSpPr>
            <p:cNvPr id="3" name="object 3"/>
            <p:cNvSpPr/>
            <p:nvPr/>
          </p:nvSpPr>
          <p:spPr>
            <a:xfrm>
              <a:off x="2783586" y="2349245"/>
              <a:ext cx="3657600" cy="2743200"/>
            </a:xfrm>
            <a:custGeom>
              <a:avLst/>
              <a:gdLst/>
              <a:ahLst/>
              <a:cxnLst/>
              <a:rect l="l" t="t" r="r" b="b"/>
              <a:pathLst>
                <a:path w="3657600" h="2743200">
                  <a:moveTo>
                    <a:pt x="0" y="1143000"/>
                  </a:moveTo>
                  <a:lnTo>
                    <a:pt x="1752600" y="0"/>
                  </a:lnTo>
                </a:path>
                <a:path w="3657600" h="2743200">
                  <a:moveTo>
                    <a:pt x="3657600" y="1143000"/>
                  </a:moveTo>
                  <a:lnTo>
                    <a:pt x="1828800" y="0"/>
                  </a:lnTo>
                </a:path>
                <a:path w="3657600" h="2743200">
                  <a:moveTo>
                    <a:pt x="2895600" y="2743199"/>
                  </a:moveTo>
                  <a:lnTo>
                    <a:pt x="3657600" y="1143000"/>
                  </a:lnTo>
                </a:path>
                <a:path w="3657600" h="2743200">
                  <a:moveTo>
                    <a:pt x="947927" y="2743199"/>
                  </a:moveTo>
                  <a:lnTo>
                    <a:pt x="2826512" y="2743199"/>
                  </a:lnTo>
                </a:path>
                <a:path w="3657600" h="2743200">
                  <a:moveTo>
                    <a:pt x="0" y="1143000"/>
                  </a:moveTo>
                  <a:lnTo>
                    <a:pt x="762000" y="2743199"/>
                  </a:lnTo>
                </a:path>
                <a:path w="3657600" h="2743200">
                  <a:moveTo>
                    <a:pt x="131063" y="1143000"/>
                  </a:moveTo>
                  <a:lnTo>
                    <a:pt x="3585464" y="1143000"/>
                  </a:lnTo>
                </a:path>
                <a:path w="3657600" h="2743200">
                  <a:moveTo>
                    <a:pt x="3581400" y="1143000"/>
                  </a:moveTo>
                  <a:lnTo>
                    <a:pt x="762000" y="2743199"/>
                  </a:lnTo>
                </a:path>
                <a:path w="3657600" h="2743200">
                  <a:moveTo>
                    <a:pt x="2895600" y="2743199"/>
                  </a:moveTo>
                  <a:lnTo>
                    <a:pt x="76200" y="1143000"/>
                  </a:lnTo>
                </a:path>
                <a:path w="3657600" h="2743200">
                  <a:moveTo>
                    <a:pt x="1828800" y="0"/>
                  </a:moveTo>
                  <a:lnTo>
                    <a:pt x="762000" y="2743199"/>
                  </a:lnTo>
                </a:path>
                <a:path w="3657600" h="2743200">
                  <a:moveTo>
                    <a:pt x="2895600" y="2743199"/>
                  </a:moveTo>
                  <a:lnTo>
                    <a:pt x="1752600" y="0"/>
                  </a:lnTo>
                </a:path>
              </a:pathLst>
            </a:custGeom>
            <a:ln w="38100">
              <a:solidFill>
                <a:srgbClr val="000000"/>
              </a:solidFill>
            </a:ln>
          </p:spPr>
          <p:txBody>
            <a:bodyPr wrap="square" lIns="0" tIns="0" rIns="0" bIns="0" rtlCol="0"/>
            <a:lstStyle/>
            <a:p>
              <a:endParaRPr/>
            </a:p>
          </p:txBody>
        </p:sp>
        <p:sp>
          <p:nvSpPr>
            <p:cNvPr id="4" name="object 4"/>
            <p:cNvSpPr/>
            <p:nvPr/>
          </p:nvSpPr>
          <p:spPr>
            <a:xfrm>
              <a:off x="2074164" y="3122726"/>
              <a:ext cx="990600" cy="745490"/>
            </a:xfrm>
            <a:custGeom>
              <a:avLst/>
              <a:gdLst/>
              <a:ahLst/>
              <a:cxnLst/>
              <a:rect l="l" t="t" r="r" b="b"/>
              <a:pathLst>
                <a:path w="990600" h="745489">
                  <a:moveTo>
                    <a:pt x="840486" y="0"/>
                  </a:moveTo>
                  <a:lnTo>
                    <a:pt x="154178" y="0"/>
                  </a:lnTo>
                  <a:lnTo>
                    <a:pt x="154178" y="494995"/>
                  </a:lnTo>
                  <a:lnTo>
                    <a:pt x="840486" y="494995"/>
                  </a:lnTo>
                  <a:lnTo>
                    <a:pt x="840486" y="0"/>
                  </a:lnTo>
                  <a:close/>
                </a:path>
                <a:path w="990600" h="745489">
                  <a:moveTo>
                    <a:pt x="990600" y="685749"/>
                  </a:moveTo>
                  <a:lnTo>
                    <a:pt x="840486" y="519760"/>
                  </a:lnTo>
                  <a:lnTo>
                    <a:pt x="153162" y="519760"/>
                  </a:lnTo>
                  <a:lnTo>
                    <a:pt x="0" y="685749"/>
                  </a:lnTo>
                  <a:lnTo>
                    <a:pt x="0" y="745185"/>
                  </a:lnTo>
                  <a:lnTo>
                    <a:pt x="990600" y="745185"/>
                  </a:lnTo>
                  <a:lnTo>
                    <a:pt x="990600" y="685749"/>
                  </a:lnTo>
                  <a:close/>
                </a:path>
              </a:pathLst>
            </a:custGeom>
            <a:solidFill>
              <a:srgbClr val="C0C0C0"/>
            </a:solidFill>
          </p:spPr>
          <p:txBody>
            <a:bodyPr wrap="square" lIns="0" tIns="0" rIns="0" bIns="0" rtlCol="0"/>
            <a:lstStyle/>
            <a:p>
              <a:endParaRPr/>
            </a:p>
          </p:txBody>
        </p:sp>
        <p:sp>
          <p:nvSpPr>
            <p:cNvPr id="5" name="object 5"/>
            <p:cNvSpPr/>
            <p:nvPr/>
          </p:nvSpPr>
          <p:spPr>
            <a:xfrm>
              <a:off x="2074164" y="3122726"/>
              <a:ext cx="990600" cy="745490"/>
            </a:xfrm>
            <a:custGeom>
              <a:avLst/>
              <a:gdLst/>
              <a:ahLst/>
              <a:cxnLst/>
              <a:rect l="l" t="t" r="r" b="b"/>
              <a:pathLst>
                <a:path w="990600" h="745489">
                  <a:moveTo>
                    <a:pt x="154178" y="494995"/>
                  </a:moveTo>
                  <a:lnTo>
                    <a:pt x="840486" y="494995"/>
                  </a:lnTo>
                  <a:lnTo>
                    <a:pt x="840486" y="0"/>
                  </a:lnTo>
                  <a:lnTo>
                    <a:pt x="154178" y="0"/>
                  </a:lnTo>
                  <a:lnTo>
                    <a:pt x="154178" y="494995"/>
                  </a:lnTo>
                  <a:close/>
                </a:path>
                <a:path w="990600" h="745489">
                  <a:moveTo>
                    <a:pt x="153162" y="519760"/>
                  </a:moveTo>
                  <a:lnTo>
                    <a:pt x="0" y="685749"/>
                  </a:lnTo>
                  <a:lnTo>
                    <a:pt x="990600" y="685749"/>
                  </a:lnTo>
                  <a:lnTo>
                    <a:pt x="840486" y="519760"/>
                  </a:lnTo>
                  <a:lnTo>
                    <a:pt x="153162" y="519760"/>
                  </a:lnTo>
                  <a:close/>
                </a:path>
                <a:path w="990600" h="745489">
                  <a:moveTo>
                    <a:pt x="0" y="745185"/>
                  </a:moveTo>
                  <a:lnTo>
                    <a:pt x="990600" y="745185"/>
                  </a:lnTo>
                  <a:lnTo>
                    <a:pt x="990600" y="685739"/>
                  </a:lnTo>
                  <a:lnTo>
                    <a:pt x="0" y="685739"/>
                  </a:lnTo>
                  <a:lnTo>
                    <a:pt x="0" y="745185"/>
                  </a:lnTo>
                  <a:close/>
                </a:path>
                <a:path w="990600" h="745489">
                  <a:moveTo>
                    <a:pt x="192024" y="439623"/>
                  </a:moveTo>
                  <a:lnTo>
                    <a:pt x="804773" y="439623"/>
                  </a:lnTo>
                  <a:lnTo>
                    <a:pt x="804773" y="52476"/>
                  </a:lnTo>
                  <a:lnTo>
                    <a:pt x="192024" y="52476"/>
                  </a:lnTo>
                  <a:lnTo>
                    <a:pt x="192024" y="439623"/>
                  </a:lnTo>
                  <a:close/>
                </a:path>
                <a:path w="990600" h="745489">
                  <a:moveTo>
                    <a:pt x="152146" y="536397"/>
                  </a:moveTo>
                  <a:lnTo>
                    <a:pt x="133731" y="555828"/>
                  </a:lnTo>
                  <a:lnTo>
                    <a:pt x="858901" y="555828"/>
                  </a:lnTo>
                  <a:lnTo>
                    <a:pt x="840486" y="536397"/>
                  </a:lnTo>
                  <a:lnTo>
                    <a:pt x="152146" y="536397"/>
                  </a:lnTo>
                  <a:close/>
                </a:path>
                <a:path w="990600" h="745489">
                  <a:moveTo>
                    <a:pt x="284988" y="631774"/>
                  </a:moveTo>
                  <a:lnTo>
                    <a:pt x="272669" y="651205"/>
                  </a:lnTo>
                  <a:lnTo>
                    <a:pt x="723011" y="651205"/>
                  </a:lnTo>
                  <a:lnTo>
                    <a:pt x="710819" y="631774"/>
                  </a:lnTo>
                  <a:lnTo>
                    <a:pt x="284988" y="631774"/>
                  </a:lnTo>
                  <a:close/>
                </a:path>
                <a:path w="990600" h="745489">
                  <a:moveTo>
                    <a:pt x="129667" y="568274"/>
                  </a:moveTo>
                  <a:lnTo>
                    <a:pt x="110236" y="588975"/>
                  </a:lnTo>
                  <a:lnTo>
                    <a:pt x="884428" y="588975"/>
                  </a:lnTo>
                  <a:lnTo>
                    <a:pt x="863981" y="568274"/>
                  </a:lnTo>
                  <a:lnTo>
                    <a:pt x="129667" y="568274"/>
                  </a:lnTo>
                  <a:close/>
                </a:path>
                <a:path w="990600" h="745489">
                  <a:moveTo>
                    <a:pt x="106172" y="598627"/>
                  </a:moveTo>
                  <a:lnTo>
                    <a:pt x="85852" y="619328"/>
                  </a:lnTo>
                  <a:lnTo>
                    <a:pt x="910971" y="619328"/>
                  </a:lnTo>
                  <a:lnTo>
                    <a:pt x="889508" y="598627"/>
                  </a:lnTo>
                  <a:lnTo>
                    <a:pt x="106172" y="598627"/>
                  </a:lnTo>
                  <a:close/>
                </a:path>
              </a:pathLst>
            </a:custGeom>
            <a:ln w="9525">
              <a:solidFill>
                <a:srgbClr val="000000"/>
              </a:solidFill>
            </a:ln>
          </p:spPr>
          <p:txBody>
            <a:bodyPr wrap="square" lIns="0" tIns="0" rIns="0" bIns="0" rtlCol="0"/>
            <a:lstStyle/>
            <a:p>
              <a:endParaRPr/>
            </a:p>
          </p:txBody>
        </p:sp>
        <p:sp>
          <p:nvSpPr>
            <p:cNvPr id="6" name="object 6"/>
            <p:cNvSpPr/>
            <p:nvPr/>
          </p:nvSpPr>
          <p:spPr>
            <a:xfrm>
              <a:off x="2891028" y="4759502"/>
              <a:ext cx="990600" cy="745490"/>
            </a:xfrm>
            <a:custGeom>
              <a:avLst/>
              <a:gdLst/>
              <a:ahLst/>
              <a:cxnLst/>
              <a:rect l="l" t="t" r="r" b="b"/>
              <a:pathLst>
                <a:path w="990600" h="745489">
                  <a:moveTo>
                    <a:pt x="840486" y="0"/>
                  </a:moveTo>
                  <a:lnTo>
                    <a:pt x="154178" y="0"/>
                  </a:lnTo>
                  <a:lnTo>
                    <a:pt x="154178" y="494995"/>
                  </a:lnTo>
                  <a:lnTo>
                    <a:pt x="840486" y="494995"/>
                  </a:lnTo>
                  <a:lnTo>
                    <a:pt x="840486" y="0"/>
                  </a:lnTo>
                  <a:close/>
                </a:path>
                <a:path w="990600" h="745489">
                  <a:moveTo>
                    <a:pt x="990600" y="685749"/>
                  </a:moveTo>
                  <a:lnTo>
                    <a:pt x="840486" y="519760"/>
                  </a:lnTo>
                  <a:lnTo>
                    <a:pt x="153162" y="519760"/>
                  </a:lnTo>
                  <a:lnTo>
                    <a:pt x="0" y="685749"/>
                  </a:lnTo>
                  <a:lnTo>
                    <a:pt x="0" y="745185"/>
                  </a:lnTo>
                  <a:lnTo>
                    <a:pt x="990600" y="745185"/>
                  </a:lnTo>
                  <a:lnTo>
                    <a:pt x="990600" y="685749"/>
                  </a:lnTo>
                  <a:close/>
                </a:path>
              </a:pathLst>
            </a:custGeom>
            <a:solidFill>
              <a:srgbClr val="C0C0C0"/>
            </a:solidFill>
          </p:spPr>
          <p:txBody>
            <a:bodyPr wrap="square" lIns="0" tIns="0" rIns="0" bIns="0" rtlCol="0"/>
            <a:lstStyle/>
            <a:p>
              <a:endParaRPr/>
            </a:p>
          </p:txBody>
        </p:sp>
        <p:sp>
          <p:nvSpPr>
            <p:cNvPr id="7" name="object 7"/>
            <p:cNvSpPr/>
            <p:nvPr/>
          </p:nvSpPr>
          <p:spPr>
            <a:xfrm>
              <a:off x="2891028" y="4759502"/>
              <a:ext cx="990600" cy="745490"/>
            </a:xfrm>
            <a:custGeom>
              <a:avLst/>
              <a:gdLst/>
              <a:ahLst/>
              <a:cxnLst/>
              <a:rect l="l" t="t" r="r" b="b"/>
              <a:pathLst>
                <a:path w="990600" h="745489">
                  <a:moveTo>
                    <a:pt x="154178" y="494995"/>
                  </a:moveTo>
                  <a:lnTo>
                    <a:pt x="840486" y="494995"/>
                  </a:lnTo>
                  <a:lnTo>
                    <a:pt x="840486" y="0"/>
                  </a:lnTo>
                  <a:lnTo>
                    <a:pt x="154178" y="0"/>
                  </a:lnTo>
                  <a:lnTo>
                    <a:pt x="154178" y="494995"/>
                  </a:lnTo>
                  <a:close/>
                </a:path>
                <a:path w="990600" h="745489">
                  <a:moveTo>
                    <a:pt x="153162" y="519760"/>
                  </a:moveTo>
                  <a:lnTo>
                    <a:pt x="0" y="685749"/>
                  </a:lnTo>
                  <a:lnTo>
                    <a:pt x="990600" y="685749"/>
                  </a:lnTo>
                  <a:lnTo>
                    <a:pt x="840486" y="519760"/>
                  </a:lnTo>
                  <a:lnTo>
                    <a:pt x="153162" y="519760"/>
                  </a:lnTo>
                  <a:close/>
                </a:path>
                <a:path w="990600" h="745489">
                  <a:moveTo>
                    <a:pt x="0" y="745185"/>
                  </a:moveTo>
                  <a:lnTo>
                    <a:pt x="990600" y="745185"/>
                  </a:lnTo>
                  <a:lnTo>
                    <a:pt x="990600" y="685739"/>
                  </a:lnTo>
                  <a:lnTo>
                    <a:pt x="0" y="685739"/>
                  </a:lnTo>
                  <a:lnTo>
                    <a:pt x="0" y="745185"/>
                  </a:lnTo>
                  <a:close/>
                </a:path>
                <a:path w="990600" h="745489">
                  <a:moveTo>
                    <a:pt x="192024" y="439623"/>
                  </a:moveTo>
                  <a:lnTo>
                    <a:pt x="804773" y="439623"/>
                  </a:lnTo>
                  <a:lnTo>
                    <a:pt x="804773" y="52476"/>
                  </a:lnTo>
                  <a:lnTo>
                    <a:pt x="192024" y="52476"/>
                  </a:lnTo>
                  <a:lnTo>
                    <a:pt x="192024" y="439623"/>
                  </a:lnTo>
                  <a:close/>
                </a:path>
                <a:path w="990600" h="745489">
                  <a:moveTo>
                    <a:pt x="152146" y="536397"/>
                  </a:moveTo>
                  <a:lnTo>
                    <a:pt x="133731" y="555828"/>
                  </a:lnTo>
                  <a:lnTo>
                    <a:pt x="858901" y="555828"/>
                  </a:lnTo>
                  <a:lnTo>
                    <a:pt x="840486" y="536397"/>
                  </a:lnTo>
                  <a:lnTo>
                    <a:pt x="152146" y="536397"/>
                  </a:lnTo>
                  <a:close/>
                </a:path>
                <a:path w="990600" h="745489">
                  <a:moveTo>
                    <a:pt x="284988" y="631774"/>
                  </a:moveTo>
                  <a:lnTo>
                    <a:pt x="272669" y="651205"/>
                  </a:lnTo>
                  <a:lnTo>
                    <a:pt x="723011" y="651205"/>
                  </a:lnTo>
                  <a:lnTo>
                    <a:pt x="710819" y="631774"/>
                  </a:lnTo>
                  <a:lnTo>
                    <a:pt x="284988" y="631774"/>
                  </a:lnTo>
                  <a:close/>
                </a:path>
                <a:path w="990600" h="745489">
                  <a:moveTo>
                    <a:pt x="129667" y="568274"/>
                  </a:moveTo>
                  <a:lnTo>
                    <a:pt x="110236" y="588975"/>
                  </a:lnTo>
                  <a:lnTo>
                    <a:pt x="884427" y="588975"/>
                  </a:lnTo>
                  <a:lnTo>
                    <a:pt x="863981" y="568274"/>
                  </a:lnTo>
                  <a:lnTo>
                    <a:pt x="129667" y="568274"/>
                  </a:lnTo>
                  <a:close/>
                </a:path>
                <a:path w="990600" h="745489">
                  <a:moveTo>
                    <a:pt x="106172" y="598627"/>
                  </a:moveTo>
                  <a:lnTo>
                    <a:pt x="85852" y="619328"/>
                  </a:lnTo>
                  <a:lnTo>
                    <a:pt x="910971" y="619328"/>
                  </a:lnTo>
                  <a:lnTo>
                    <a:pt x="889508" y="598627"/>
                  </a:lnTo>
                  <a:lnTo>
                    <a:pt x="106172" y="598627"/>
                  </a:lnTo>
                  <a:close/>
                </a:path>
              </a:pathLst>
            </a:custGeom>
            <a:ln w="9525">
              <a:solidFill>
                <a:srgbClr val="000000"/>
              </a:solidFill>
            </a:ln>
          </p:spPr>
          <p:txBody>
            <a:bodyPr wrap="square" lIns="0" tIns="0" rIns="0" bIns="0" rtlCol="0"/>
            <a:lstStyle/>
            <a:p>
              <a:endParaRPr/>
            </a:p>
          </p:txBody>
        </p:sp>
        <p:sp>
          <p:nvSpPr>
            <p:cNvPr id="8" name="object 8"/>
            <p:cNvSpPr/>
            <p:nvPr/>
          </p:nvSpPr>
          <p:spPr>
            <a:xfrm>
              <a:off x="4104132" y="1725218"/>
              <a:ext cx="990600" cy="745490"/>
            </a:xfrm>
            <a:custGeom>
              <a:avLst/>
              <a:gdLst/>
              <a:ahLst/>
              <a:cxnLst/>
              <a:rect l="l" t="t" r="r" b="b"/>
              <a:pathLst>
                <a:path w="990600" h="745489">
                  <a:moveTo>
                    <a:pt x="840486" y="0"/>
                  </a:moveTo>
                  <a:lnTo>
                    <a:pt x="154178" y="0"/>
                  </a:lnTo>
                  <a:lnTo>
                    <a:pt x="154178" y="494995"/>
                  </a:lnTo>
                  <a:lnTo>
                    <a:pt x="840486" y="494995"/>
                  </a:lnTo>
                  <a:lnTo>
                    <a:pt x="840486" y="0"/>
                  </a:lnTo>
                  <a:close/>
                </a:path>
                <a:path w="990600" h="745489">
                  <a:moveTo>
                    <a:pt x="990600" y="685749"/>
                  </a:moveTo>
                  <a:lnTo>
                    <a:pt x="840486" y="519760"/>
                  </a:lnTo>
                  <a:lnTo>
                    <a:pt x="153162" y="519760"/>
                  </a:lnTo>
                  <a:lnTo>
                    <a:pt x="0" y="685749"/>
                  </a:lnTo>
                  <a:lnTo>
                    <a:pt x="0" y="745185"/>
                  </a:lnTo>
                  <a:lnTo>
                    <a:pt x="990600" y="745185"/>
                  </a:lnTo>
                  <a:lnTo>
                    <a:pt x="990600" y="685749"/>
                  </a:lnTo>
                  <a:close/>
                </a:path>
              </a:pathLst>
            </a:custGeom>
            <a:solidFill>
              <a:srgbClr val="C0C0C0"/>
            </a:solidFill>
          </p:spPr>
          <p:txBody>
            <a:bodyPr wrap="square" lIns="0" tIns="0" rIns="0" bIns="0" rtlCol="0"/>
            <a:lstStyle/>
            <a:p>
              <a:endParaRPr/>
            </a:p>
          </p:txBody>
        </p:sp>
        <p:sp>
          <p:nvSpPr>
            <p:cNvPr id="9" name="object 9"/>
            <p:cNvSpPr/>
            <p:nvPr/>
          </p:nvSpPr>
          <p:spPr>
            <a:xfrm>
              <a:off x="4104132" y="1725218"/>
              <a:ext cx="990600" cy="745490"/>
            </a:xfrm>
            <a:custGeom>
              <a:avLst/>
              <a:gdLst/>
              <a:ahLst/>
              <a:cxnLst/>
              <a:rect l="l" t="t" r="r" b="b"/>
              <a:pathLst>
                <a:path w="990600" h="745489">
                  <a:moveTo>
                    <a:pt x="154177" y="494995"/>
                  </a:moveTo>
                  <a:lnTo>
                    <a:pt x="840486" y="494995"/>
                  </a:lnTo>
                  <a:lnTo>
                    <a:pt x="840486" y="0"/>
                  </a:lnTo>
                  <a:lnTo>
                    <a:pt x="154177" y="0"/>
                  </a:lnTo>
                  <a:lnTo>
                    <a:pt x="154177" y="494995"/>
                  </a:lnTo>
                  <a:close/>
                </a:path>
                <a:path w="990600" h="745489">
                  <a:moveTo>
                    <a:pt x="153162" y="519760"/>
                  </a:moveTo>
                  <a:lnTo>
                    <a:pt x="0" y="685749"/>
                  </a:lnTo>
                  <a:lnTo>
                    <a:pt x="990600" y="685749"/>
                  </a:lnTo>
                  <a:lnTo>
                    <a:pt x="840485" y="519760"/>
                  </a:lnTo>
                  <a:lnTo>
                    <a:pt x="153162" y="519760"/>
                  </a:lnTo>
                  <a:close/>
                </a:path>
                <a:path w="990600" h="745489">
                  <a:moveTo>
                    <a:pt x="0" y="745185"/>
                  </a:moveTo>
                  <a:lnTo>
                    <a:pt x="990600" y="745185"/>
                  </a:lnTo>
                  <a:lnTo>
                    <a:pt x="990600" y="685739"/>
                  </a:lnTo>
                  <a:lnTo>
                    <a:pt x="0" y="685739"/>
                  </a:lnTo>
                  <a:lnTo>
                    <a:pt x="0" y="745185"/>
                  </a:lnTo>
                  <a:close/>
                </a:path>
                <a:path w="990600" h="745489">
                  <a:moveTo>
                    <a:pt x="192023" y="439623"/>
                  </a:moveTo>
                  <a:lnTo>
                    <a:pt x="804773" y="439623"/>
                  </a:lnTo>
                  <a:lnTo>
                    <a:pt x="804773" y="52476"/>
                  </a:lnTo>
                  <a:lnTo>
                    <a:pt x="192023" y="52476"/>
                  </a:lnTo>
                  <a:lnTo>
                    <a:pt x="192023" y="439623"/>
                  </a:lnTo>
                  <a:close/>
                </a:path>
                <a:path w="990600" h="745489">
                  <a:moveTo>
                    <a:pt x="152145" y="536397"/>
                  </a:moveTo>
                  <a:lnTo>
                    <a:pt x="133730" y="555828"/>
                  </a:lnTo>
                  <a:lnTo>
                    <a:pt x="858901" y="555828"/>
                  </a:lnTo>
                  <a:lnTo>
                    <a:pt x="840485" y="536397"/>
                  </a:lnTo>
                  <a:lnTo>
                    <a:pt x="152145" y="536397"/>
                  </a:lnTo>
                  <a:close/>
                </a:path>
                <a:path w="990600" h="745489">
                  <a:moveTo>
                    <a:pt x="284988" y="631774"/>
                  </a:moveTo>
                  <a:lnTo>
                    <a:pt x="272668" y="651205"/>
                  </a:lnTo>
                  <a:lnTo>
                    <a:pt x="723010" y="651205"/>
                  </a:lnTo>
                  <a:lnTo>
                    <a:pt x="710818" y="631774"/>
                  </a:lnTo>
                  <a:lnTo>
                    <a:pt x="284988" y="631774"/>
                  </a:lnTo>
                  <a:close/>
                </a:path>
                <a:path w="990600" h="745489">
                  <a:moveTo>
                    <a:pt x="129666" y="568274"/>
                  </a:moveTo>
                  <a:lnTo>
                    <a:pt x="110235" y="588975"/>
                  </a:lnTo>
                  <a:lnTo>
                    <a:pt x="884427" y="588975"/>
                  </a:lnTo>
                  <a:lnTo>
                    <a:pt x="863980" y="568274"/>
                  </a:lnTo>
                  <a:lnTo>
                    <a:pt x="129666" y="568274"/>
                  </a:lnTo>
                  <a:close/>
                </a:path>
                <a:path w="990600" h="745489">
                  <a:moveTo>
                    <a:pt x="106171" y="598627"/>
                  </a:moveTo>
                  <a:lnTo>
                    <a:pt x="85851" y="619328"/>
                  </a:lnTo>
                  <a:lnTo>
                    <a:pt x="910970" y="619328"/>
                  </a:lnTo>
                  <a:lnTo>
                    <a:pt x="889507" y="598627"/>
                  </a:lnTo>
                  <a:lnTo>
                    <a:pt x="106171" y="598627"/>
                  </a:lnTo>
                  <a:close/>
                </a:path>
              </a:pathLst>
            </a:custGeom>
            <a:ln w="9525">
              <a:solidFill>
                <a:srgbClr val="000000"/>
              </a:solidFill>
            </a:ln>
          </p:spPr>
          <p:txBody>
            <a:bodyPr wrap="square" lIns="0" tIns="0" rIns="0" bIns="0" rtlCol="0"/>
            <a:lstStyle/>
            <a:p>
              <a:endParaRPr/>
            </a:p>
          </p:txBody>
        </p:sp>
        <p:sp>
          <p:nvSpPr>
            <p:cNvPr id="10" name="object 10"/>
            <p:cNvSpPr/>
            <p:nvPr/>
          </p:nvSpPr>
          <p:spPr>
            <a:xfrm>
              <a:off x="5455920" y="4661966"/>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1" name="object 11"/>
            <p:cNvSpPr/>
            <p:nvPr/>
          </p:nvSpPr>
          <p:spPr>
            <a:xfrm>
              <a:off x="5455920" y="4661966"/>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5"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8"/>
                  </a:lnTo>
                  <a:lnTo>
                    <a:pt x="192024" y="52578"/>
                  </a:lnTo>
                  <a:lnTo>
                    <a:pt x="192024" y="440512"/>
                  </a:lnTo>
                  <a:close/>
                </a:path>
                <a:path w="990600" h="746760">
                  <a:moveTo>
                    <a:pt x="152145" y="537540"/>
                  </a:moveTo>
                  <a:lnTo>
                    <a:pt x="133730" y="556844"/>
                  </a:lnTo>
                  <a:lnTo>
                    <a:pt x="858901" y="556844"/>
                  </a:lnTo>
                  <a:lnTo>
                    <a:pt x="840485" y="537540"/>
                  </a:lnTo>
                  <a:lnTo>
                    <a:pt x="152145" y="537540"/>
                  </a:lnTo>
                  <a:close/>
                </a:path>
                <a:path w="990600" h="746760">
                  <a:moveTo>
                    <a:pt x="284988" y="633044"/>
                  </a:moveTo>
                  <a:lnTo>
                    <a:pt x="272668" y="652475"/>
                  </a:lnTo>
                  <a:lnTo>
                    <a:pt x="723010" y="652475"/>
                  </a:lnTo>
                  <a:lnTo>
                    <a:pt x="710818" y="633044"/>
                  </a:lnTo>
                  <a:lnTo>
                    <a:pt x="284988" y="633044"/>
                  </a:lnTo>
                  <a:close/>
                </a:path>
                <a:path w="990600" h="746760">
                  <a:moveTo>
                    <a:pt x="129666" y="569417"/>
                  </a:moveTo>
                  <a:lnTo>
                    <a:pt x="110235" y="590118"/>
                  </a:lnTo>
                  <a:lnTo>
                    <a:pt x="884427" y="590118"/>
                  </a:lnTo>
                  <a:lnTo>
                    <a:pt x="863980" y="569417"/>
                  </a:lnTo>
                  <a:lnTo>
                    <a:pt x="129666" y="569417"/>
                  </a:lnTo>
                  <a:close/>
                </a:path>
                <a:path w="990600" h="746760">
                  <a:moveTo>
                    <a:pt x="106171" y="599897"/>
                  </a:moveTo>
                  <a:lnTo>
                    <a:pt x="85851" y="620598"/>
                  </a:lnTo>
                  <a:lnTo>
                    <a:pt x="910970" y="620598"/>
                  </a:lnTo>
                  <a:lnTo>
                    <a:pt x="889507" y="599897"/>
                  </a:lnTo>
                  <a:lnTo>
                    <a:pt x="106171" y="599897"/>
                  </a:lnTo>
                  <a:close/>
                </a:path>
              </a:pathLst>
            </a:custGeom>
            <a:ln w="9525">
              <a:solidFill>
                <a:srgbClr val="000000"/>
              </a:solidFill>
            </a:ln>
          </p:spPr>
          <p:txBody>
            <a:bodyPr wrap="square" lIns="0" tIns="0" rIns="0" bIns="0" rtlCol="0"/>
            <a:lstStyle/>
            <a:p>
              <a:endParaRPr/>
            </a:p>
          </p:txBody>
        </p:sp>
        <p:sp>
          <p:nvSpPr>
            <p:cNvPr id="12" name="object 12"/>
            <p:cNvSpPr/>
            <p:nvPr/>
          </p:nvSpPr>
          <p:spPr>
            <a:xfrm>
              <a:off x="6214872" y="3151682"/>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3" name="object 13"/>
            <p:cNvSpPr/>
            <p:nvPr/>
          </p:nvSpPr>
          <p:spPr>
            <a:xfrm>
              <a:off x="6214872" y="3151682"/>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5"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8"/>
                  </a:lnTo>
                  <a:lnTo>
                    <a:pt x="192024" y="52578"/>
                  </a:lnTo>
                  <a:lnTo>
                    <a:pt x="192024" y="440512"/>
                  </a:lnTo>
                  <a:close/>
                </a:path>
                <a:path w="990600" h="746760">
                  <a:moveTo>
                    <a:pt x="152145" y="537540"/>
                  </a:moveTo>
                  <a:lnTo>
                    <a:pt x="133730" y="556844"/>
                  </a:lnTo>
                  <a:lnTo>
                    <a:pt x="858901" y="556844"/>
                  </a:lnTo>
                  <a:lnTo>
                    <a:pt x="840485" y="537540"/>
                  </a:lnTo>
                  <a:lnTo>
                    <a:pt x="152145" y="537540"/>
                  </a:lnTo>
                  <a:close/>
                </a:path>
                <a:path w="990600" h="746760">
                  <a:moveTo>
                    <a:pt x="284988" y="633044"/>
                  </a:moveTo>
                  <a:lnTo>
                    <a:pt x="272668" y="652475"/>
                  </a:lnTo>
                  <a:lnTo>
                    <a:pt x="723010"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7" y="599897"/>
                  </a:lnTo>
                  <a:lnTo>
                    <a:pt x="106172" y="599897"/>
                  </a:lnTo>
                  <a:close/>
                </a:path>
              </a:pathLst>
            </a:custGeom>
            <a:ln w="9525">
              <a:solidFill>
                <a:srgbClr val="000000"/>
              </a:solidFill>
            </a:ln>
          </p:spPr>
          <p:txBody>
            <a:bodyPr wrap="square" lIns="0" tIns="0" rIns="0" bIns="0" rtlCol="0"/>
            <a:lstStyle/>
            <a:p>
              <a:endParaRPr/>
            </a:p>
          </p:txBody>
        </p:sp>
      </p:grpSp>
      <p:sp>
        <p:nvSpPr>
          <p:cNvPr id="14" name="object 14"/>
          <p:cNvSpPr txBox="1">
            <a:spLocks noGrp="1"/>
          </p:cNvSpPr>
          <p:nvPr>
            <p:ph type="title"/>
          </p:nvPr>
        </p:nvSpPr>
        <p:spPr>
          <a:xfrm>
            <a:off x="2942082" y="252475"/>
            <a:ext cx="3257550" cy="635000"/>
          </a:xfrm>
          <a:prstGeom prst="rect">
            <a:avLst/>
          </a:prstGeom>
        </p:spPr>
        <p:txBody>
          <a:bodyPr vert="horz" wrap="square" lIns="0" tIns="12065" rIns="0" bIns="0" rtlCol="0">
            <a:spAutoFit/>
          </a:bodyPr>
          <a:lstStyle/>
          <a:p>
            <a:pPr marL="12700">
              <a:lnSpc>
                <a:spcPct val="100000"/>
              </a:lnSpc>
              <a:spcBef>
                <a:spcPts val="95"/>
              </a:spcBef>
            </a:pPr>
            <a:r>
              <a:rPr sz="4000" spc="-5" dirty="0"/>
              <a:t>Mesh</a:t>
            </a:r>
            <a:r>
              <a:rPr sz="4000" spc="-75" dirty="0"/>
              <a:t> </a:t>
            </a:r>
            <a:r>
              <a:rPr sz="4000" dirty="0"/>
              <a:t>Topology</a:t>
            </a:r>
            <a:endParaRPr sz="4000"/>
          </a:p>
        </p:txBody>
      </p:sp>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20</a:t>
            </a:fld>
            <a:endParaRPr dirty="0"/>
          </a:p>
        </p:txBody>
      </p:sp>
      <p:sp>
        <p:nvSpPr>
          <p:cNvPr id="15" name="object 15"/>
          <p:cNvSpPr txBox="1"/>
          <p:nvPr/>
        </p:nvSpPr>
        <p:spPr>
          <a:xfrm>
            <a:off x="1995106" y="2804096"/>
            <a:ext cx="158115"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A</a:t>
            </a:r>
            <a:endParaRPr sz="1800" dirty="0">
              <a:latin typeface="Calibri"/>
              <a:cs typeface="Calibri"/>
            </a:endParaRPr>
          </a:p>
        </p:txBody>
      </p:sp>
      <p:sp>
        <p:nvSpPr>
          <p:cNvPr id="16" name="object 16"/>
          <p:cNvSpPr txBox="1"/>
          <p:nvPr/>
        </p:nvSpPr>
        <p:spPr>
          <a:xfrm>
            <a:off x="6373812" y="4425985"/>
            <a:ext cx="145415"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C</a:t>
            </a:r>
            <a:endParaRPr sz="1800" dirty="0">
              <a:latin typeface="Calibri"/>
              <a:cs typeface="Calibri"/>
            </a:endParaRPr>
          </a:p>
        </p:txBody>
      </p:sp>
      <p:sp>
        <p:nvSpPr>
          <p:cNvPr id="17" name="object 17"/>
          <p:cNvSpPr txBox="1"/>
          <p:nvPr/>
        </p:nvSpPr>
        <p:spPr>
          <a:xfrm>
            <a:off x="2708338" y="4524331"/>
            <a:ext cx="150495" cy="30035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B</a:t>
            </a:r>
            <a:endParaRPr sz="1800" dirty="0">
              <a:latin typeface="Calibri"/>
              <a:cs typeface="Calibri"/>
            </a:endParaRPr>
          </a:p>
        </p:txBody>
      </p:sp>
      <p:sp>
        <p:nvSpPr>
          <p:cNvPr id="18" name="object 18"/>
          <p:cNvSpPr txBox="1"/>
          <p:nvPr/>
        </p:nvSpPr>
        <p:spPr>
          <a:xfrm>
            <a:off x="7210044" y="2924303"/>
            <a:ext cx="166370"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D</a:t>
            </a:r>
            <a:endParaRPr sz="1800" dirty="0">
              <a:latin typeface="Calibri"/>
              <a:cs typeface="Calibri"/>
            </a:endParaRPr>
          </a:p>
        </p:txBody>
      </p:sp>
      <p:sp>
        <p:nvSpPr>
          <p:cNvPr id="19" name="object 19"/>
          <p:cNvSpPr txBox="1"/>
          <p:nvPr/>
        </p:nvSpPr>
        <p:spPr>
          <a:xfrm>
            <a:off x="4035552" y="1447800"/>
            <a:ext cx="137160"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E</a:t>
            </a:r>
            <a:endParaRPr sz="1800" dirty="0">
              <a:latin typeface="Calibri"/>
              <a:cs typeface="Calibri"/>
            </a:endParaRPr>
          </a:p>
        </p:txBody>
      </p:sp>
      <p:sp>
        <p:nvSpPr>
          <p:cNvPr id="21" name="object 20"/>
          <p:cNvSpPr txBox="1"/>
          <p:nvPr/>
        </p:nvSpPr>
        <p:spPr>
          <a:xfrm>
            <a:off x="457200" y="5410200"/>
            <a:ext cx="8374380" cy="1123315"/>
          </a:xfrm>
          <a:prstGeom prst="rect">
            <a:avLst/>
          </a:prstGeom>
        </p:spPr>
        <p:txBody>
          <a:bodyPr vert="horz" wrap="square" lIns="0" tIns="12700" rIns="0" bIns="0" rtlCol="0">
            <a:spAutoFit/>
          </a:bodyPr>
          <a:lstStyle/>
          <a:p>
            <a:pPr marL="299085" indent="-287020">
              <a:lnSpc>
                <a:spcPct val="100000"/>
              </a:lnSpc>
              <a:spcBef>
                <a:spcPts val="100"/>
              </a:spcBef>
              <a:buFont typeface="Arial MT"/>
              <a:buChar char="•"/>
              <a:tabLst>
                <a:tab pos="299085" algn="l"/>
                <a:tab pos="299720" algn="l"/>
              </a:tabLst>
            </a:pPr>
            <a:r>
              <a:rPr sz="1800" dirty="0">
                <a:latin typeface="Times New Roman"/>
                <a:cs typeface="Times New Roman"/>
              </a:rPr>
              <a:t>In</a:t>
            </a:r>
            <a:r>
              <a:rPr sz="1800" spc="-5" dirty="0">
                <a:latin typeface="Times New Roman"/>
                <a:cs typeface="Times New Roman"/>
              </a:rPr>
              <a:t> mesh</a:t>
            </a:r>
            <a:r>
              <a:rPr sz="1800" spc="15" dirty="0">
                <a:latin typeface="Times New Roman"/>
                <a:cs typeface="Times New Roman"/>
              </a:rPr>
              <a:t> </a:t>
            </a:r>
            <a:r>
              <a:rPr sz="1800" dirty="0">
                <a:latin typeface="Times New Roman"/>
                <a:cs typeface="Times New Roman"/>
              </a:rPr>
              <a:t>topology</a:t>
            </a:r>
            <a:r>
              <a:rPr sz="1800" spc="-15" dirty="0">
                <a:latin typeface="Times New Roman"/>
                <a:cs typeface="Times New Roman"/>
              </a:rPr>
              <a:t> </a:t>
            </a:r>
            <a:r>
              <a:rPr sz="1800" dirty="0">
                <a:latin typeface="Times New Roman"/>
                <a:cs typeface="Times New Roman"/>
              </a:rPr>
              <a:t>every</a:t>
            </a:r>
            <a:r>
              <a:rPr sz="1800" spc="-20" dirty="0">
                <a:latin typeface="Times New Roman"/>
                <a:cs typeface="Times New Roman"/>
              </a:rPr>
              <a:t> </a:t>
            </a:r>
            <a:r>
              <a:rPr sz="1800" dirty="0">
                <a:latin typeface="Times New Roman"/>
                <a:cs typeface="Times New Roman"/>
              </a:rPr>
              <a:t>device</a:t>
            </a:r>
            <a:r>
              <a:rPr sz="1800" spc="-5" dirty="0">
                <a:latin typeface="Times New Roman"/>
                <a:cs typeface="Times New Roman"/>
              </a:rPr>
              <a:t> has</a:t>
            </a:r>
            <a:r>
              <a:rPr sz="1800" spc="-10"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dedicated</a:t>
            </a:r>
            <a:r>
              <a:rPr sz="1800" spc="-20" dirty="0">
                <a:latin typeface="Times New Roman"/>
                <a:cs typeface="Times New Roman"/>
              </a:rPr>
              <a:t> </a:t>
            </a:r>
            <a:r>
              <a:rPr sz="1800" dirty="0">
                <a:latin typeface="Times New Roman"/>
                <a:cs typeface="Times New Roman"/>
              </a:rPr>
              <a:t>point to</a:t>
            </a:r>
            <a:r>
              <a:rPr sz="1800" spc="-5" dirty="0">
                <a:latin typeface="Times New Roman"/>
                <a:cs typeface="Times New Roman"/>
              </a:rPr>
              <a:t> </a:t>
            </a:r>
            <a:r>
              <a:rPr sz="1800" dirty="0">
                <a:latin typeface="Times New Roman"/>
                <a:cs typeface="Times New Roman"/>
              </a:rPr>
              <a:t>point link</a:t>
            </a:r>
            <a:r>
              <a:rPr sz="1800" spc="-25"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every</a:t>
            </a:r>
            <a:r>
              <a:rPr sz="1800" spc="-25" dirty="0">
                <a:latin typeface="Times New Roman"/>
                <a:cs typeface="Times New Roman"/>
              </a:rPr>
              <a:t> </a:t>
            </a:r>
            <a:r>
              <a:rPr sz="1800" dirty="0">
                <a:latin typeface="Times New Roman"/>
                <a:cs typeface="Times New Roman"/>
              </a:rPr>
              <a:t>other device</a:t>
            </a:r>
          </a:p>
          <a:p>
            <a:pPr marL="299085" indent="-287020">
              <a:lnSpc>
                <a:spcPct val="100000"/>
              </a:lnSpc>
              <a:buFont typeface="Arial MT"/>
              <a:buChar char="•"/>
              <a:tabLst>
                <a:tab pos="299085" algn="l"/>
                <a:tab pos="299720" algn="l"/>
              </a:tabLst>
            </a:pPr>
            <a:r>
              <a:rPr sz="1800" spc="-5" dirty="0">
                <a:latin typeface="Times New Roman"/>
                <a:cs typeface="Times New Roman"/>
              </a:rPr>
              <a:t>We</a:t>
            </a:r>
            <a:r>
              <a:rPr sz="1800" spc="-20" dirty="0">
                <a:latin typeface="Times New Roman"/>
                <a:cs typeface="Times New Roman"/>
              </a:rPr>
              <a:t> </a:t>
            </a:r>
            <a:r>
              <a:rPr sz="1800" dirty="0">
                <a:latin typeface="Times New Roman"/>
                <a:cs typeface="Times New Roman"/>
              </a:rPr>
              <a:t>need</a:t>
            </a:r>
            <a:r>
              <a:rPr sz="1800" spc="-30" dirty="0">
                <a:latin typeface="Times New Roman"/>
                <a:cs typeface="Times New Roman"/>
              </a:rPr>
              <a:t> </a:t>
            </a:r>
            <a:r>
              <a:rPr sz="1800" dirty="0">
                <a:latin typeface="Times New Roman"/>
                <a:cs typeface="Times New Roman"/>
              </a:rPr>
              <a:t>n(n-1)</a:t>
            </a:r>
            <a:r>
              <a:rPr sz="1800" spc="-25" dirty="0">
                <a:latin typeface="Times New Roman"/>
                <a:cs typeface="Times New Roman"/>
              </a:rPr>
              <a:t> </a:t>
            </a:r>
            <a:r>
              <a:rPr sz="1800" dirty="0">
                <a:latin typeface="Times New Roman"/>
                <a:cs typeface="Times New Roman"/>
              </a:rPr>
              <a:t>links</a:t>
            </a:r>
          </a:p>
          <a:p>
            <a:pPr marL="299085" indent="-287020">
              <a:lnSpc>
                <a:spcPct val="100000"/>
              </a:lnSpc>
              <a:buFont typeface="Arial MT"/>
              <a:buChar char="•"/>
              <a:tabLst>
                <a:tab pos="299085" algn="l"/>
                <a:tab pos="299720" algn="l"/>
              </a:tabLst>
            </a:pPr>
            <a:r>
              <a:rPr sz="1800" spc="-5" dirty="0">
                <a:latin typeface="Times New Roman"/>
                <a:cs typeface="Times New Roman"/>
              </a:rPr>
              <a:t>Communication is </a:t>
            </a:r>
            <a:r>
              <a:rPr sz="1800" dirty="0">
                <a:latin typeface="Times New Roman"/>
                <a:cs typeface="Times New Roman"/>
              </a:rPr>
              <a:t>duplex</a:t>
            </a:r>
            <a:r>
              <a:rPr sz="1800" spc="-5" dirty="0">
                <a:latin typeface="Times New Roman"/>
                <a:cs typeface="Times New Roman"/>
              </a:rPr>
              <a:t> mode</a:t>
            </a:r>
            <a:endParaRPr sz="1800" dirty="0">
              <a:latin typeface="Times New Roman"/>
              <a:cs typeface="Times New Roman"/>
            </a:endParaRPr>
          </a:p>
          <a:p>
            <a:pPr marL="299085" indent="-287020">
              <a:lnSpc>
                <a:spcPct val="100000"/>
              </a:lnSpc>
              <a:buFont typeface="Arial MT"/>
              <a:buChar char="•"/>
              <a:tabLst>
                <a:tab pos="299085" algn="l"/>
                <a:tab pos="299720" algn="l"/>
              </a:tabLst>
            </a:pPr>
            <a:r>
              <a:rPr sz="1800" dirty="0">
                <a:latin typeface="Times New Roman"/>
                <a:cs typeface="Times New Roman"/>
              </a:rPr>
              <a:t>Every</a:t>
            </a:r>
            <a:r>
              <a:rPr sz="1800" spc="-15" dirty="0">
                <a:latin typeface="Times New Roman"/>
                <a:cs typeface="Times New Roman"/>
              </a:rPr>
              <a:t> </a:t>
            </a:r>
            <a:r>
              <a:rPr sz="1800" dirty="0">
                <a:latin typeface="Times New Roman"/>
                <a:cs typeface="Times New Roman"/>
              </a:rPr>
              <a:t>device</a:t>
            </a:r>
            <a:r>
              <a:rPr sz="1800" spc="-15" dirty="0">
                <a:latin typeface="Times New Roman"/>
                <a:cs typeface="Times New Roman"/>
              </a:rPr>
              <a:t> </a:t>
            </a:r>
            <a:r>
              <a:rPr sz="1800" dirty="0">
                <a:latin typeface="Times New Roman"/>
                <a:cs typeface="Times New Roman"/>
              </a:rPr>
              <a:t>on</a:t>
            </a:r>
            <a:r>
              <a:rPr sz="1800" spc="-15" dirty="0">
                <a:latin typeface="Times New Roman"/>
                <a:cs typeface="Times New Roman"/>
              </a:rPr>
              <a:t> </a:t>
            </a:r>
            <a:r>
              <a:rPr sz="1800" dirty="0">
                <a:latin typeface="Times New Roman"/>
                <a:cs typeface="Times New Roman"/>
              </a:rPr>
              <a:t>the network</a:t>
            </a:r>
            <a:r>
              <a:rPr sz="1800" spc="-5" dirty="0">
                <a:latin typeface="Times New Roman"/>
                <a:cs typeface="Times New Roman"/>
              </a:rPr>
              <a:t> must</a:t>
            </a:r>
            <a:r>
              <a:rPr sz="1800" dirty="0">
                <a:latin typeface="Times New Roman"/>
                <a:cs typeface="Times New Roman"/>
              </a:rPr>
              <a:t> have</a:t>
            </a:r>
            <a:r>
              <a:rPr sz="1800" spc="-5" dirty="0">
                <a:latin typeface="Times New Roman"/>
                <a:cs typeface="Times New Roman"/>
              </a:rPr>
              <a:t> </a:t>
            </a:r>
            <a:r>
              <a:rPr sz="1800" spc="5" dirty="0">
                <a:latin typeface="Times New Roman"/>
                <a:cs typeface="Times New Roman"/>
              </a:rPr>
              <a:t>n-1</a:t>
            </a:r>
            <a:r>
              <a:rPr sz="1800" spc="-10" dirty="0">
                <a:latin typeface="Times New Roman"/>
                <a:cs typeface="Times New Roman"/>
              </a:rPr>
              <a:t> </a:t>
            </a:r>
            <a:r>
              <a:rPr sz="1800" dirty="0">
                <a:latin typeface="Times New Roman"/>
                <a:cs typeface="Times New Roman"/>
              </a:rPr>
              <a:t>i/o</a:t>
            </a:r>
            <a:r>
              <a:rPr sz="1800" spc="-5" dirty="0">
                <a:latin typeface="Times New Roman"/>
                <a:cs typeface="Times New Roman"/>
              </a:rPr>
              <a:t> </a:t>
            </a:r>
            <a:r>
              <a:rPr sz="1800" dirty="0">
                <a:latin typeface="Times New Roman"/>
                <a:cs typeface="Times New Roman"/>
              </a:rPr>
              <a:t>ports</a:t>
            </a:r>
            <a:r>
              <a:rPr sz="1800" spc="-10" dirty="0">
                <a:latin typeface="Times New Roman"/>
                <a:cs typeface="Times New Roman"/>
              </a:rPr>
              <a:t> </a:t>
            </a:r>
            <a:r>
              <a:rPr sz="1800" dirty="0">
                <a:latin typeface="Times New Roman"/>
                <a:cs typeface="Times New Roman"/>
              </a:rPr>
              <a:t>to connect</a:t>
            </a:r>
            <a:r>
              <a:rPr sz="1800" spc="-15"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other</a:t>
            </a:r>
            <a:r>
              <a:rPr sz="1800" spc="-5" dirty="0">
                <a:latin typeface="Times New Roman"/>
                <a:cs typeface="Times New Roman"/>
              </a:rPr>
              <a:t> </a:t>
            </a:r>
            <a:r>
              <a:rPr sz="1800" dirty="0">
                <a:latin typeface="Times New Roman"/>
                <a:cs typeface="Times New Roman"/>
              </a:rPr>
              <a:t>n-1 devices.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grpSp>
        <p:nvGrpSpPr>
          <p:cNvPr id="2" name="object 2"/>
          <p:cNvGrpSpPr/>
          <p:nvPr/>
        </p:nvGrpSpPr>
        <p:grpSpPr>
          <a:xfrm>
            <a:off x="2281237" y="1366888"/>
            <a:ext cx="4733925" cy="3895725"/>
            <a:chOff x="2281237" y="1366888"/>
            <a:chExt cx="4733925" cy="3895725"/>
          </a:xfrm>
        </p:grpSpPr>
        <p:sp>
          <p:nvSpPr>
            <p:cNvPr id="3" name="object 3"/>
            <p:cNvSpPr/>
            <p:nvPr/>
          </p:nvSpPr>
          <p:spPr>
            <a:xfrm>
              <a:off x="4572761" y="1829561"/>
              <a:ext cx="1905000" cy="3200400"/>
            </a:xfrm>
            <a:custGeom>
              <a:avLst/>
              <a:gdLst/>
              <a:ahLst/>
              <a:cxnLst/>
              <a:rect l="l" t="t" r="r" b="b"/>
              <a:pathLst>
                <a:path w="1905000" h="3200400">
                  <a:moveTo>
                    <a:pt x="0" y="457200"/>
                  </a:moveTo>
                  <a:lnTo>
                    <a:pt x="1905000" y="0"/>
                  </a:lnTo>
                </a:path>
                <a:path w="1905000" h="3200400">
                  <a:moveTo>
                    <a:pt x="1143000" y="3200400"/>
                  </a:moveTo>
                  <a:lnTo>
                    <a:pt x="1905000" y="0"/>
                  </a:lnTo>
                </a:path>
              </a:pathLst>
            </a:custGeom>
            <a:ln w="38100">
              <a:solidFill>
                <a:srgbClr val="000000"/>
              </a:solidFill>
            </a:ln>
          </p:spPr>
          <p:txBody>
            <a:bodyPr wrap="square" lIns="0" tIns="0" rIns="0" bIns="0" rtlCol="0"/>
            <a:lstStyle/>
            <a:p>
              <a:endParaRPr/>
            </a:p>
          </p:txBody>
        </p:sp>
        <p:sp>
          <p:nvSpPr>
            <p:cNvPr id="4" name="object 4"/>
            <p:cNvSpPr/>
            <p:nvPr/>
          </p:nvSpPr>
          <p:spPr>
            <a:xfrm>
              <a:off x="6458711" y="3418332"/>
              <a:ext cx="38100" cy="0"/>
            </a:xfrm>
            <a:custGeom>
              <a:avLst/>
              <a:gdLst/>
              <a:ahLst/>
              <a:cxnLst/>
              <a:rect l="l" t="t" r="r" b="b"/>
              <a:pathLst>
                <a:path w="38100">
                  <a:moveTo>
                    <a:pt x="0" y="0"/>
                  </a:moveTo>
                  <a:lnTo>
                    <a:pt x="38100" y="0"/>
                  </a:lnTo>
                </a:path>
              </a:pathLst>
            </a:custGeom>
            <a:ln w="22860">
              <a:solidFill>
                <a:srgbClr val="000000"/>
              </a:solidFill>
            </a:ln>
          </p:spPr>
          <p:txBody>
            <a:bodyPr wrap="square" lIns="0" tIns="0" rIns="0" bIns="0" rtlCol="0"/>
            <a:lstStyle/>
            <a:p>
              <a:endParaRPr/>
            </a:p>
          </p:txBody>
        </p:sp>
        <p:sp>
          <p:nvSpPr>
            <p:cNvPr id="5" name="object 5"/>
            <p:cNvSpPr/>
            <p:nvPr/>
          </p:nvSpPr>
          <p:spPr>
            <a:xfrm>
              <a:off x="6477761" y="1867661"/>
              <a:ext cx="0" cy="1043305"/>
            </a:xfrm>
            <a:custGeom>
              <a:avLst/>
              <a:gdLst/>
              <a:ahLst/>
              <a:cxnLst/>
              <a:rect l="l" t="t" r="r" b="b"/>
              <a:pathLst>
                <a:path h="1043305">
                  <a:moveTo>
                    <a:pt x="0" y="250698"/>
                  </a:moveTo>
                  <a:lnTo>
                    <a:pt x="0" y="1043228"/>
                  </a:lnTo>
                </a:path>
                <a:path h="1043305">
                  <a:moveTo>
                    <a:pt x="0" y="0"/>
                  </a:moveTo>
                  <a:lnTo>
                    <a:pt x="0" y="191129"/>
                  </a:lnTo>
                </a:path>
              </a:pathLst>
            </a:custGeom>
            <a:ln w="22860">
              <a:solidFill>
                <a:srgbClr val="000000"/>
              </a:solidFill>
            </a:ln>
          </p:spPr>
          <p:txBody>
            <a:bodyPr wrap="square" lIns="0" tIns="0" rIns="0" bIns="0" rtlCol="0"/>
            <a:lstStyle/>
            <a:p>
              <a:endParaRPr/>
            </a:p>
          </p:txBody>
        </p:sp>
        <p:sp>
          <p:nvSpPr>
            <p:cNvPr id="6" name="object 6"/>
            <p:cNvSpPr/>
            <p:nvPr/>
          </p:nvSpPr>
          <p:spPr>
            <a:xfrm>
              <a:off x="2820162" y="1829561"/>
              <a:ext cx="3733800" cy="3200400"/>
            </a:xfrm>
            <a:custGeom>
              <a:avLst/>
              <a:gdLst/>
              <a:ahLst/>
              <a:cxnLst/>
              <a:rect l="l" t="t" r="r" b="b"/>
              <a:pathLst>
                <a:path w="3733800" h="3200400">
                  <a:moveTo>
                    <a:pt x="3733799" y="0"/>
                  </a:moveTo>
                  <a:lnTo>
                    <a:pt x="76200" y="1524000"/>
                  </a:lnTo>
                </a:path>
                <a:path w="3733800" h="3200400">
                  <a:moveTo>
                    <a:pt x="838200" y="3200400"/>
                  </a:moveTo>
                  <a:lnTo>
                    <a:pt x="3657600" y="0"/>
                  </a:lnTo>
                </a:path>
                <a:path w="3733800" h="3200400">
                  <a:moveTo>
                    <a:pt x="0" y="1600200"/>
                  </a:moveTo>
                  <a:lnTo>
                    <a:pt x="1752600" y="457200"/>
                  </a:lnTo>
                </a:path>
                <a:path w="3733800" h="3200400">
                  <a:moveTo>
                    <a:pt x="3657600" y="1600200"/>
                  </a:moveTo>
                  <a:lnTo>
                    <a:pt x="1828800" y="457200"/>
                  </a:lnTo>
                </a:path>
                <a:path w="3733800" h="3200400">
                  <a:moveTo>
                    <a:pt x="2895600" y="3200400"/>
                  </a:moveTo>
                  <a:lnTo>
                    <a:pt x="3657600" y="1600200"/>
                  </a:lnTo>
                </a:path>
                <a:path w="3733800" h="3200400">
                  <a:moveTo>
                    <a:pt x="762000" y="3200400"/>
                  </a:moveTo>
                  <a:lnTo>
                    <a:pt x="2895600" y="3200400"/>
                  </a:lnTo>
                </a:path>
                <a:path w="3733800" h="3200400">
                  <a:moveTo>
                    <a:pt x="0" y="1600200"/>
                  </a:moveTo>
                  <a:lnTo>
                    <a:pt x="762000" y="3200400"/>
                  </a:lnTo>
                </a:path>
                <a:path w="3733800" h="3200400">
                  <a:moveTo>
                    <a:pt x="3657600" y="1600200"/>
                  </a:moveTo>
                  <a:lnTo>
                    <a:pt x="0" y="1600200"/>
                  </a:lnTo>
                </a:path>
                <a:path w="3733800" h="3200400">
                  <a:moveTo>
                    <a:pt x="3581400" y="1600200"/>
                  </a:moveTo>
                  <a:lnTo>
                    <a:pt x="762000" y="3200400"/>
                  </a:lnTo>
                </a:path>
                <a:path w="3733800" h="3200400">
                  <a:moveTo>
                    <a:pt x="2895600" y="3200400"/>
                  </a:moveTo>
                  <a:lnTo>
                    <a:pt x="76200" y="1600200"/>
                  </a:lnTo>
                </a:path>
                <a:path w="3733800" h="3200400">
                  <a:moveTo>
                    <a:pt x="1828800" y="457200"/>
                  </a:moveTo>
                  <a:lnTo>
                    <a:pt x="762000" y="3200400"/>
                  </a:lnTo>
                </a:path>
                <a:path w="3733800" h="3200400">
                  <a:moveTo>
                    <a:pt x="2895600" y="3200400"/>
                  </a:moveTo>
                  <a:lnTo>
                    <a:pt x="1752600" y="457200"/>
                  </a:lnTo>
                </a:path>
              </a:pathLst>
            </a:custGeom>
            <a:ln w="38100">
              <a:solidFill>
                <a:srgbClr val="000000"/>
              </a:solidFill>
            </a:ln>
          </p:spPr>
          <p:txBody>
            <a:bodyPr wrap="square" lIns="0" tIns="0" rIns="0" bIns="0" rtlCol="0"/>
            <a:lstStyle/>
            <a:p>
              <a:endParaRPr/>
            </a:p>
          </p:txBody>
        </p:sp>
        <p:sp>
          <p:nvSpPr>
            <p:cNvPr id="7" name="object 7"/>
            <p:cNvSpPr/>
            <p:nvPr/>
          </p:nvSpPr>
          <p:spPr>
            <a:xfrm>
              <a:off x="2286000" y="2895650"/>
              <a:ext cx="990600" cy="746760"/>
            </a:xfrm>
            <a:custGeom>
              <a:avLst/>
              <a:gdLst/>
              <a:ahLst/>
              <a:cxnLst/>
              <a:rect l="l" t="t" r="r" b="b"/>
              <a:pathLst>
                <a:path w="990600" h="746760">
                  <a:moveTo>
                    <a:pt x="840473" y="0"/>
                  </a:moveTo>
                  <a:lnTo>
                    <a:pt x="154178" y="0"/>
                  </a:lnTo>
                  <a:lnTo>
                    <a:pt x="154178" y="496011"/>
                  </a:lnTo>
                  <a:lnTo>
                    <a:pt x="840473" y="496011"/>
                  </a:lnTo>
                  <a:lnTo>
                    <a:pt x="840473"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8" name="object 8"/>
            <p:cNvSpPr/>
            <p:nvPr/>
          </p:nvSpPr>
          <p:spPr>
            <a:xfrm>
              <a:off x="2286000" y="289565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1" y="569417"/>
                  </a:lnTo>
                  <a:lnTo>
                    <a:pt x="129667" y="569417"/>
                  </a:lnTo>
                  <a:close/>
                </a:path>
                <a:path w="990600" h="746760">
                  <a:moveTo>
                    <a:pt x="106172" y="599897"/>
                  </a:moveTo>
                  <a:lnTo>
                    <a:pt x="85851" y="620598"/>
                  </a:lnTo>
                  <a:lnTo>
                    <a:pt x="910970" y="620598"/>
                  </a:lnTo>
                  <a:lnTo>
                    <a:pt x="889507" y="599897"/>
                  </a:lnTo>
                  <a:lnTo>
                    <a:pt x="106172" y="599897"/>
                  </a:lnTo>
                  <a:close/>
                </a:path>
              </a:pathLst>
            </a:custGeom>
            <a:ln w="9525">
              <a:solidFill>
                <a:srgbClr val="000000"/>
              </a:solidFill>
            </a:ln>
          </p:spPr>
          <p:txBody>
            <a:bodyPr wrap="square" lIns="0" tIns="0" rIns="0" bIns="0" rtlCol="0"/>
            <a:lstStyle/>
            <a:p>
              <a:endParaRPr/>
            </a:p>
          </p:txBody>
        </p:sp>
        <p:sp>
          <p:nvSpPr>
            <p:cNvPr id="9" name="object 9"/>
            <p:cNvSpPr/>
            <p:nvPr/>
          </p:nvSpPr>
          <p:spPr>
            <a:xfrm>
              <a:off x="3124200" y="4495863"/>
              <a:ext cx="990600" cy="746760"/>
            </a:xfrm>
            <a:custGeom>
              <a:avLst/>
              <a:gdLst/>
              <a:ahLst/>
              <a:cxnLst/>
              <a:rect l="l" t="t" r="r" b="b"/>
              <a:pathLst>
                <a:path w="990600" h="746760">
                  <a:moveTo>
                    <a:pt x="840486" y="0"/>
                  </a:moveTo>
                  <a:lnTo>
                    <a:pt x="154178" y="0"/>
                  </a:lnTo>
                  <a:lnTo>
                    <a:pt x="154178" y="495998"/>
                  </a:lnTo>
                  <a:lnTo>
                    <a:pt x="840486" y="495998"/>
                  </a:lnTo>
                  <a:lnTo>
                    <a:pt x="840486" y="0"/>
                  </a:lnTo>
                  <a:close/>
                </a:path>
                <a:path w="990600" h="746760">
                  <a:moveTo>
                    <a:pt x="990600" y="687133"/>
                  </a:moveTo>
                  <a:lnTo>
                    <a:pt x="840486" y="520890"/>
                  </a:lnTo>
                  <a:lnTo>
                    <a:pt x="153162" y="520890"/>
                  </a:lnTo>
                  <a:lnTo>
                    <a:pt x="0" y="687133"/>
                  </a:lnTo>
                  <a:lnTo>
                    <a:pt x="0" y="746696"/>
                  </a:lnTo>
                  <a:lnTo>
                    <a:pt x="990600" y="746696"/>
                  </a:lnTo>
                  <a:lnTo>
                    <a:pt x="990600" y="687133"/>
                  </a:lnTo>
                  <a:close/>
                </a:path>
              </a:pathLst>
            </a:custGeom>
            <a:solidFill>
              <a:srgbClr val="C0C0C0"/>
            </a:solidFill>
          </p:spPr>
          <p:txBody>
            <a:bodyPr wrap="square" lIns="0" tIns="0" rIns="0" bIns="0" rtlCol="0"/>
            <a:lstStyle/>
            <a:p>
              <a:endParaRPr/>
            </a:p>
          </p:txBody>
        </p:sp>
        <p:sp>
          <p:nvSpPr>
            <p:cNvPr id="10" name="object 10"/>
            <p:cNvSpPr/>
            <p:nvPr/>
          </p:nvSpPr>
          <p:spPr>
            <a:xfrm>
              <a:off x="3124200" y="44958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1" name="object 11"/>
            <p:cNvSpPr/>
            <p:nvPr/>
          </p:nvSpPr>
          <p:spPr>
            <a:xfrm>
              <a:off x="4114800" y="1752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2" name="object 12"/>
            <p:cNvSpPr/>
            <p:nvPr/>
          </p:nvSpPr>
          <p:spPr>
            <a:xfrm>
              <a:off x="4114800" y="1752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3" name="object 13"/>
            <p:cNvSpPr/>
            <p:nvPr/>
          </p:nvSpPr>
          <p:spPr>
            <a:xfrm>
              <a:off x="5181600" y="451109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4" name="object 14"/>
            <p:cNvSpPr/>
            <p:nvPr/>
          </p:nvSpPr>
          <p:spPr>
            <a:xfrm>
              <a:off x="5181600" y="451109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5" name="object 15"/>
            <p:cNvSpPr/>
            <p:nvPr/>
          </p:nvSpPr>
          <p:spPr>
            <a:xfrm>
              <a:off x="5943600" y="291089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6" name="object 16"/>
            <p:cNvSpPr/>
            <p:nvPr/>
          </p:nvSpPr>
          <p:spPr>
            <a:xfrm>
              <a:off x="5943600" y="291089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5"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5" y="537540"/>
                  </a:lnTo>
                  <a:lnTo>
                    <a:pt x="152146" y="537540"/>
                  </a:lnTo>
                  <a:close/>
                </a:path>
                <a:path w="990600" h="746760">
                  <a:moveTo>
                    <a:pt x="284988" y="633044"/>
                  </a:moveTo>
                  <a:lnTo>
                    <a:pt x="272669" y="652475"/>
                  </a:lnTo>
                  <a:lnTo>
                    <a:pt x="723010"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7" y="599897"/>
                  </a:lnTo>
                  <a:lnTo>
                    <a:pt x="106172" y="599897"/>
                  </a:lnTo>
                  <a:close/>
                </a:path>
              </a:pathLst>
            </a:custGeom>
            <a:ln w="9525">
              <a:solidFill>
                <a:srgbClr val="000000"/>
              </a:solidFill>
            </a:ln>
          </p:spPr>
          <p:txBody>
            <a:bodyPr wrap="square" lIns="0" tIns="0" rIns="0" bIns="0" rtlCol="0"/>
            <a:lstStyle/>
            <a:p>
              <a:endParaRPr/>
            </a:p>
          </p:txBody>
        </p:sp>
        <p:sp>
          <p:nvSpPr>
            <p:cNvPr id="17" name="object 17"/>
            <p:cNvSpPr/>
            <p:nvPr/>
          </p:nvSpPr>
          <p:spPr>
            <a:xfrm>
              <a:off x="6019800" y="1371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8" name="object 18"/>
            <p:cNvSpPr/>
            <p:nvPr/>
          </p:nvSpPr>
          <p:spPr>
            <a:xfrm>
              <a:off x="6019800" y="137165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5"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5" y="537540"/>
                  </a:lnTo>
                  <a:lnTo>
                    <a:pt x="152146" y="537540"/>
                  </a:lnTo>
                  <a:close/>
                </a:path>
                <a:path w="990600" h="746760">
                  <a:moveTo>
                    <a:pt x="284988" y="633044"/>
                  </a:moveTo>
                  <a:lnTo>
                    <a:pt x="272669" y="652475"/>
                  </a:lnTo>
                  <a:lnTo>
                    <a:pt x="723010"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7" y="599897"/>
                  </a:lnTo>
                  <a:lnTo>
                    <a:pt x="106172" y="599897"/>
                  </a:lnTo>
                  <a:close/>
                </a:path>
              </a:pathLst>
            </a:custGeom>
            <a:ln w="9525">
              <a:solidFill>
                <a:srgbClr val="000000"/>
              </a:solidFill>
            </a:ln>
          </p:spPr>
          <p:txBody>
            <a:bodyPr wrap="square" lIns="0" tIns="0" rIns="0" bIns="0" rtlCol="0"/>
            <a:lstStyle/>
            <a:p>
              <a:endParaRPr/>
            </a:p>
          </p:txBody>
        </p:sp>
      </p:grpSp>
      <p:sp>
        <p:nvSpPr>
          <p:cNvPr id="19" name="object 19"/>
          <p:cNvSpPr txBox="1">
            <a:spLocks noGrp="1"/>
          </p:cNvSpPr>
          <p:nvPr>
            <p:ph type="title"/>
          </p:nvPr>
        </p:nvSpPr>
        <p:spPr>
          <a:xfrm>
            <a:off x="2780538" y="466470"/>
            <a:ext cx="3583304" cy="696595"/>
          </a:xfrm>
          <a:prstGeom prst="rect">
            <a:avLst/>
          </a:prstGeom>
        </p:spPr>
        <p:txBody>
          <a:bodyPr vert="horz" wrap="square" lIns="0" tIns="13335" rIns="0" bIns="0" rtlCol="0">
            <a:spAutoFit/>
          </a:bodyPr>
          <a:lstStyle/>
          <a:p>
            <a:pPr marL="12700">
              <a:lnSpc>
                <a:spcPct val="100000"/>
              </a:lnSpc>
              <a:spcBef>
                <a:spcPts val="105"/>
              </a:spcBef>
            </a:pPr>
            <a:r>
              <a:rPr dirty="0"/>
              <a:t>Mesh</a:t>
            </a:r>
            <a:r>
              <a:rPr spc="-85" dirty="0"/>
              <a:t> </a:t>
            </a:r>
            <a:r>
              <a:rPr dirty="0"/>
              <a:t>Topology</a:t>
            </a:r>
          </a:p>
        </p:txBody>
      </p:sp>
      <p:sp>
        <p:nvSpPr>
          <p:cNvPr id="20" name="object 20"/>
          <p:cNvSpPr txBox="1"/>
          <p:nvPr/>
        </p:nvSpPr>
        <p:spPr>
          <a:xfrm>
            <a:off x="319836" y="5522467"/>
            <a:ext cx="8374380" cy="1123315"/>
          </a:xfrm>
          <a:prstGeom prst="rect">
            <a:avLst/>
          </a:prstGeom>
        </p:spPr>
        <p:txBody>
          <a:bodyPr vert="horz" wrap="square" lIns="0" tIns="12700" rIns="0" bIns="0" rtlCol="0">
            <a:spAutoFit/>
          </a:bodyPr>
          <a:lstStyle/>
          <a:p>
            <a:pPr marL="299085" indent="-287020">
              <a:lnSpc>
                <a:spcPct val="100000"/>
              </a:lnSpc>
              <a:spcBef>
                <a:spcPts val="100"/>
              </a:spcBef>
              <a:buFont typeface="Arial MT"/>
              <a:buChar char="•"/>
              <a:tabLst>
                <a:tab pos="299085" algn="l"/>
                <a:tab pos="299720" algn="l"/>
              </a:tabLst>
            </a:pPr>
            <a:r>
              <a:rPr sz="1800" dirty="0">
                <a:latin typeface="Times New Roman"/>
                <a:cs typeface="Times New Roman"/>
              </a:rPr>
              <a:t>In</a:t>
            </a:r>
            <a:r>
              <a:rPr sz="1800" spc="-5" dirty="0">
                <a:latin typeface="Times New Roman"/>
                <a:cs typeface="Times New Roman"/>
              </a:rPr>
              <a:t> mesh</a:t>
            </a:r>
            <a:r>
              <a:rPr sz="1800" spc="15" dirty="0">
                <a:latin typeface="Times New Roman"/>
                <a:cs typeface="Times New Roman"/>
              </a:rPr>
              <a:t> </a:t>
            </a:r>
            <a:r>
              <a:rPr sz="1800" dirty="0">
                <a:latin typeface="Times New Roman"/>
                <a:cs typeface="Times New Roman"/>
              </a:rPr>
              <a:t>topology</a:t>
            </a:r>
            <a:r>
              <a:rPr sz="1800" spc="-15" dirty="0">
                <a:latin typeface="Times New Roman"/>
                <a:cs typeface="Times New Roman"/>
              </a:rPr>
              <a:t> </a:t>
            </a:r>
            <a:r>
              <a:rPr sz="1800" dirty="0">
                <a:latin typeface="Times New Roman"/>
                <a:cs typeface="Times New Roman"/>
              </a:rPr>
              <a:t>every</a:t>
            </a:r>
            <a:r>
              <a:rPr sz="1800" spc="-20" dirty="0">
                <a:latin typeface="Times New Roman"/>
                <a:cs typeface="Times New Roman"/>
              </a:rPr>
              <a:t> </a:t>
            </a:r>
            <a:r>
              <a:rPr sz="1800" dirty="0">
                <a:latin typeface="Times New Roman"/>
                <a:cs typeface="Times New Roman"/>
              </a:rPr>
              <a:t>device</a:t>
            </a:r>
            <a:r>
              <a:rPr sz="1800" spc="-5" dirty="0">
                <a:latin typeface="Times New Roman"/>
                <a:cs typeface="Times New Roman"/>
              </a:rPr>
              <a:t> has</a:t>
            </a:r>
            <a:r>
              <a:rPr sz="1800" spc="-10"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dedicated</a:t>
            </a:r>
            <a:r>
              <a:rPr sz="1800" spc="-20" dirty="0">
                <a:latin typeface="Times New Roman"/>
                <a:cs typeface="Times New Roman"/>
              </a:rPr>
              <a:t> </a:t>
            </a:r>
            <a:r>
              <a:rPr sz="1800" dirty="0">
                <a:latin typeface="Times New Roman"/>
                <a:cs typeface="Times New Roman"/>
              </a:rPr>
              <a:t>point to</a:t>
            </a:r>
            <a:r>
              <a:rPr sz="1800" spc="-5" dirty="0">
                <a:latin typeface="Times New Roman"/>
                <a:cs typeface="Times New Roman"/>
              </a:rPr>
              <a:t> </a:t>
            </a:r>
            <a:r>
              <a:rPr sz="1800" dirty="0">
                <a:latin typeface="Times New Roman"/>
                <a:cs typeface="Times New Roman"/>
              </a:rPr>
              <a:t>point link</a:t>
            </a:r>
            <a:r>
              <a:rPr sz="1800" spc="-25"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every</a:t>
            </a:r>
            <a:r>
              <a:rPr sz="1800" spc="-25" dirty="0">
                <a:latin typeface="Times New Roman"/>
                <a:cs typeface="Times New Roman"/>
              </a:rPr>
              <a:t> </a:t>
            </a:r>
            <a:r>
              <a:rPr sz="1800" dirty="0">
                <a:latin typeface="Times New Roman"/>
                <a:cs typeface="Times New Roman"/>
              </a:rPr>
              <a:t>other device</a:t>
            </a:r>
          </a:p>
          <a:p>
            <a:pPr marL="299085" indent="-287020">
              <a:lnSpc>
                <a:spcPct val="100000"/>
              </a:lnSpc>
              <a:buFont typeface="Arial MT"/>
              <a:buChar char="•"/>
              <a:tabLst>
                <a:tab pos="299085" algn="l"/>
                <a:tab pos="299720" algn="l"/>
              </a:tabLst>
            </a:pPr>
            <a:r>
              <a:rPr sz="1800" spc="-5" dirty="0">
                <a:latin typeface="Times New Roman"/>
                <a:cs typeface="Times New Roman"/>
              </a:rPr>
              <a:t>We</a:t>
            </a:r>
            <a:r>
              <a:rPr sz="1800" spc="-20" dirty="0">
                <a:latin typeface="Times New Roman"/>
                <a:cs typeface="Times New Roman"/>
              </a:rPr>
              <a:t> </a:t>
            </a:r>
            <a:r>
              <a:rPr sz="1800" dirty="0">
                <a:latin typeface="Times New Roman"/>
                <a:cs typeface="Times New Roman"/>
              </a:rPr>
              <a:t>need</a:t>
            </a:r>
            <a:r>
              <a:rPr sz="1800" spc="-30" dirty="0">
                <a:latin typeface="Times New Roman"/>
                <a:cs typeface="Times New Roman"/>
              </a:rPr>
              <a:t> </a:t>
            </a:r>
            <a:r>
              <a:rPr sz="1800" dirty="0">
                <a:latin typeface="Times New Roman"/>
                <a:cs typeface="Times New Roman"/>
              </a:rPr>
              <a:t>n(n-1)</a:t>
            </a:r>
            <a:r>
              <a:rPr sz="1800" spc="-25" dirty="0">
                <a:latin typeface="Times New Roman"/>
                <a:cs typeface="Times New Roman"/>
              </a:rPr>
              <a:t> </a:t>
            </a:r>
            <a:r>
              <a:rPr sz="1800" dirty="0">
                <a:latin typeface="Times New Roman"/>
                <a:cs typeface="Times New Roman"/>
              </a:rPr>
              <a:t>links</a:t>
            </a:r>
          </a:p>
          <a:p>
            <a:pPr marL="299085" indent="-287020">
              <a:lnSpc>
                <a:spcPct val="100000"/>
              </a:lnSpc>
              <a:buFont typeface="Arial MT"/>
              <a:buChar char="•"/>
              <a:tabLst>
                <a:tab pos="299085" algn="l"/>
                <a:tab pos="299720" algn="l"/>
              </a:tabLst>
            </a:pPr>
            <a:r>
              <a:rPr sz="1800" spc="-5" dirty="0">
                <a:latin typeface="Times New Roman"/>
                <a:cs typeface="Times New Roman"/>
              </a:rPr>
              <a:t>Communication is </a:t>
            </a:r>
            <a:r>
              <a:rPr sz="1800" dirty="0">
                <a:latin typeface="Times New Roman"/>
                <a:cs typeface="Times New Roman"/>
              </a:rPr>
              <a:t>duplex</a:t>
            </a:r>
            <a:r>
              <a:rPr sz="1800" spc="-5" dirty="0">
                <a:latin typeface="Times New Roman"/>
                <a:cs typeface="Times New Roman"/>
              </a:rPr>
              <a:t> mode</a:t>
            </a:r>
            <a:endParaRPr sz="1800" dirty="0">
              <a:latin typeface="Times New Roman"/>
              <a:cs typeface="Times New Roman"/>
            </a:endParaRPr>
          </a:p>
          <a:p>
            <a:pPr marL="299085" indent="-287020">
              <a:lnSpc>
                <a:spcPct val="100000"/>
              </a:lnSpc>
              <a:buFont typeface="Arial MT"/>
              <a:buChar char="•"/>
              <a:tabLst>
                <a:tab pos="299085" algn="l"/>
                <a:tab pos="299720" algn="l"/>
              </a:tabLst>
            </a:pPr>
            <a:r>
              <a:rPr sz="1800" dirty="0">
                <a:latin typeface="Times New Roman"/>
                <a:cs typeface="Times New Roman"/>
              </a:rPr>
              <a:t>Every</a:t>
            </a:r>
            <a:r>
              <a:rPr sz="1800" spc="-15" dirty="0">
                <a:latin typeface="Times New Roman"/>
                <a:cs typeface="Times New Roman"/>
              </a:rPr>
              <a:t> </a:t>
            </a:r>
            <a:r>
              <a:rPr sz="1800" dirty="0">
                <a:latin typeface="Times New Roman"/>
                <a:cs typeface="Times New Roman"/>
              </a:rPr>
              <a:t>device</a:t>
            </a:r>
            <a:r>
              <a:rPr sz="1800" spc="-15" dirty="0">
                <a:latin typeface="Times New Roman"/>
                <a:cs typeface="Times New Roman"/>
              </a:rPr>
              <a:t> </a:t>
            </a:r>
            <a:r>
              <a:rPr sz="1800" dirty="0">
                <a:latin typeface="Times New Roman"/>
                <a:cs typeface="Times New Roman"/>
              </a:rPr>
              <a:t>on</a:t>
            </a:r>
            <a:r>
              <a:rPr sz="1800" spc="-15" dirty="0">
                <a:latin typeface="Times New Roman"/>
                <a:cs typeface="Times New Roman"/>
              </a:rPr>
              <a:t> </a:t>
            </a:r>
            <a:r>
              <a:rPr sz="1800" dirty="0">
                <a:latin typeface="Times New Roman"/>
                <a:cs typeface="Times New Roman"/>
              </a:rPr>
              <a:t>the network</a:t>
            </a:r>
            <a:r>
              <a:rPr sz="1800" spc="-5" dirty="0">
                <a:latin typeface="Times New Roman"/>
                <a:cs typeface="Times New Roman"/>
              </a:rPr>
              <a:t> must</a:t>
            </a:r>
            <a:r>
              <a:rPr sz="1800" dirty="0">
                <a:latin typeface="Times New Roman"/>
                <a:cs typeface="Times New Roman"/>
              </a:rPr>
              <a:t> have</a:t>
            </a:r>
            <a:r>
              <a:rPr sz="1800" spc="-5" dirty="0">
                <a:latin typeface="Times New Roman"/>
                <a:cs typeface="Times New Roman"/>
              </a:rPr>
              <a:t> </a:t>
            </a:r>
            <a:r>
              <a:rPr sz="1800" spc="5" dirty="0">
                <a:latin typeface="Times New Roman"/>
                <a:cs typeface="Times New Roman"/>
              </a:rPr>
              <a:t>n-1</a:t>
            </a:r>
            <a:r>
              <a:rPr sz="1800" spc="-10" dirty="0">
                <a:latin typeface="Times New Roman"/>
                <a:cs typeface="Times New Roman"/>
              </a:rPr>
              <a:t> </a:t>
            </a:r>
            <a:r>
              <a:rPr sz="1800" dirty="0">
                <a:latin typeface="Times New Roman"/>
                <a:cs typeface="Times New Roman"/>
              </a:rPr>
              <a:t>i/o</a:t>
            </a:r>
            <a:r>
              <a:rPr sz="1800" spc="-5" dirty="0">
                <a:latin typeface="Times New Roman"/>
                <a:cs typeface="Times New Roman"/>
              </a:rPr>
              <a:t> </a:t>
            </a:r>
            <a:r>
              <a:rPr sz="1800" dirty="0">
                <a:latin typeface="Times New Roman"/>
                <a:cs typeface="Times New Roman"/>
              </a:rPr>
              <a:t>ports</a:t>
            </a:r>
            <a:r>
              <a:rPr sz="1800" spc="-10" dirty="0">
                <a:latin typeface="Times New Roman"/>
                <a:cs typeface="Times New Roman"/>
              </a:rPr>
              <a:t> </a:t>
            </a:r>
            <a:r>
              <a:rPr sz="1800" dirty="0">
                <a:latin typeface="Times New Roman"/>
                <a:cs typeface="Times New Roman"/>
              </a:rPr>
              <a:t>to connect</a:t>
            </a:r>
            <a:r>
              <a:rPr sz="1800" spc="-15"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other</a:t>
            </a:r>
            <a:r>
              <a:rPr sz="1800" spc="-5" dirty="0">
                <a:latin typeface="Times New Roman"/>
                <a:cs typeface="Times New Roman"/>
              </a:rPr>
              <a:t> </a:t>
            </a:r>
            <a:r>
              <a:rPr sz="1800" dirty="0">
                <a:latin typeface="Times New Roman"/>
                <a:cs typeface="Times New Roman"/>
              </a:rPr>
              <a:t>n-1 devices.</a:t>
            </a:r>
          </a:p>
        </p:txBody>
      </p:sp>
      <p:sp>
        <p:nvSpPr>
          <p:cNvPr id="23" name="Slide Number Placeholder 22">
            <a:extLst>
              <a:ext uri="{FF2B5EF4-FFF2-40B4-BE49-F238E27FC236}">
                <a16:creationId xmlns:a16="http://schemas.microsoft.com/office/drawing/2014/main" xmlns="" id="{25DD7B3F-494F-1FA4-D3D6-A6CA37019D54}"/>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21</a:t>
            </a:fld>
            <a:endParaRPr lang="en-IN"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26957" y="6427114"/>
            <a:ext cx="18161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878787"/>
                </a:solidFill>
                <a:latin typeface="Calibri"/>
                <a:cs typeface="Calibri"/>
              </a:rPr>
              <a:t>17</a:t>
            </a:r>
            <a:endParaRPr sz="1200">
              <a:latin typeface="Calibri"/>
              <a:cs typeface="Calibri"/>
            </a:endParaRPr>
          </a:p>
        </p:txBody>
      </p:sp>
      <p:grpSp>
        <p:nvGrpSpPr>
          <p:cNvPr id="3" name="object 3"/>
          <p:cNvGrpSpPr/>
          <p:nvPr/>
        </p:nvGrpSpPr>
        <p:grpSpPr>
          <a:xfrm>
            <a:off x="681037" y="1747888"/>
            <a:ext cx="4657725" cy="3514725"/>
            <a:chOff x="681037" y="1747888"/>
            <a:chExt cx="4657725" cy="3514725"/>
          </a:xfrm>
        </p:grpSpPr>
        <p:sp>
          <p:nvSpPr>
            <p:cNvPr id="4" name="object 4"/>
            <p:cNvSpPr/>
            <p:nvPr/>
          </p:nvSpPr>
          <p:spPr>
            <a:xfrm>
              <a:off x="1219962" y="2286761"/>
              <a:ext cx="3657600" cy="2743200"/>
            </a:xfrm>
            <a:custGeom>
              <a:avLst/>
              <a:gdLst/>
              <a:ahLst/>
              <a:cxnLst/>
              <a:rect l="l" t="t" r="r" b="b"/>
              <a:pathLst>
                <a:path w="3657600" h="2743200">
                  <a:moveTo>
                    <a:pt x="0" y="1143000"/>
                  </a:moveTo>
                  <a:lnTo>
                    <a:pt x="1752600" y="0"/>
                  </a:lnTo>
                </a:path>
                <a:path w="3657600" h="2743200">
                  <a:moveTo>
                    <a:pt x="3657600" y="1143000"/>
                  </a:moveTo>
                  <a:lnTo>
                    <a:pt x="1828800" y="0"/>
                  </a:lnTo>
                </a:path>
                <a:path w="3657600" h="2743200">
                  <a:moveTo>
                    <a:pt x="2895600" y="2743200"/>
                  </a:moveTo>
                  <a:lnTo>
                    <a:pt x="3657600" y="1143000"/>
                  </a:lnTo>
                </a:path>
                <a:path w="3657600" h="2743200">
                  <a:moveTo>
                    <a:pt x="762000" y="2743200"/>
                  </a:moveTo>
                  <a:lnTo>
                    <a:pt x="2895600" y="2743200"/>
                  </a:lnTo>
                </a:path>
                <a:path w="3657600" h="2743200">
                  <a:moveTo>
                    <a:pt x="0" y="1143000"/>
                  </a:moveTo>
                  <a:lnTo>
                    <a:pt x="762000" y="2743200"/>
                  </a:lnTo>
                </a:path>
                <a:path w="3657600" h="2743200">
                  <a:moveTo>
                    <a:pt x="3657600" y="1143000"/>
                  </a:moveTo>
                  <a:lnTo>
                    <a:pt x="0" y="1143000"/>
                  </a:lnTo>
                </a:path>
                <a:path w="3657600" h="2743200">
                  <a:moveTo>
                    <a:pt x="3581400" y="1143000"/>
                  </a:moveTo>
                  <a:lnTo>
                    <a:pt x="762000" y="2743200"/>
                  </a:lnTo>
                </a:path>
                <a:path w="3657600" h="2743200">
                  <a:moveTo>
                    <a:pt x="2895600" y="2743200"/>
                  </a:moveTo>
                  <a:lnTo>
                    <a:pt x="76200" y="1143000"/>
                  </a:lnTo>
                </a:path>
                <a:path w="3657600" h="2743200">
                  <a:moveTo>
                    <a:pt x="1828800" y="0"/>
                  </a:moveTo>
                  <a:lnTo>
                    <a:pt x="762000" y="2743200"/>
                  </a:lnTo>
                </a:path>
                <a:path w="3657600" h="2743200">
                  <a:moveTo>
                    <a:pt x="2895600" y="2743200"/>
                  </a:moveTo>
                  <a:lnTo>
                    <a:pt x="1752600" y="0"/>
                  </a:lnTo>
                </a:path>
              </a:pathLst>
            </a:custGeom>
            <a:ln w="38100">
              <a:solidFill>
                <a:srgbClr val="000000"/>
              </a:solidFill>
            </a:ln>
          </p:spPr>
          <p:txBody>
            <a:bodyPr wrap="square" lIns="0" tIns="0" rIns="0" bIns="0" rtlCol="0"/>
            <a:lstStyle/>
            <a:p>
              <a:endParaRPr/>
            </a:p>
          </p:txBody>
        </p:sp>
        <p:sp>
          <p:nvSpPr>
            <p:cNvPr id="5" name="object 5"/>
            <p:cNvSpPr/>
            <p:nvPr/>
          </p:nvSpPr>
          <p:spPr>
            <a:xfrm>
              <a:off x="685800" y="2895650"/>
              <a:ext cx="990600" cy="746760"/>
            </a:xfrm>
            <a:custGeom>
              <a:avLst/>
              <a:gdLst/>
              <a:ahLst/>
              <a:cxnLst/>
              <a:rect l="l" t="t" r="r" b="b"/>
              <a:pathLst>
                <a:path w="990600" h="746760">
                  <a:moveTo>
                    <a:pt x="840498" y="0"/>
                  </a:moveTo>
                  <a:lnTo>
                    <a:pt x="154190" y="0"/>
                  </a:lnTo>
                  <a:lnTo>
                    <a:pt x="154190" y="496011"/>
                  </a:lnTo>
                  <a:lnTo>
                    <a:pt x="840498" y="496011"/>
                  </a:lnTo>
                  <a:lnTo>
                    <a:pt x="840498" y="0"/>
                  </a:lnTo>
                  <a:close/>
                </a:path>
                <a:path w="990600" h="746760">
                  <a:moveTo>
                    <a:pt x="990600" y="687146"/>
                  </a:moveTo>
                  <a:lnTo>
                    <a:pt x="840486" y="520903"/>
                  </a:lnTo>
                  <a:lnTo>
                    <a:pt x="153174"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6" name="object 6"/>
            <p:cNvSpPr/>
            <p:nvPr/>
          </p:nvSpPr>
          <p:spPr>
            <a:xfrm>
              <a:off x="685800" y="2895650"/>
              <a:ext cx="990600" cy="746760"/>
            </a:xfrm>
            <a:custGeom>
              <a:avLst/>
              <a:gdLst/>
              <a:ahLst/>
              <a:cxnLst/>
              <a:rect l="l" t="t" r="r" b="b"/>
              <a:pathLst>
                <a:path w="990600" h="746760">
                  <a:moveTo>
                    <a:pt x="154190" y="496011"/>
                  </a:moveTo>
                  <a:lnTo>
                    <a:pt x="840498" y="496011"/>
                  </a:lnTo>
                  <a:lnTo>
                    <a:pt x="840498" y="0"/>
                  </a:lnTo>
                  <a:lnTo>
                    <a:pt x="154190" y="0"/>
                  </a:lnTo>
                  <a:lnTo>
                    <a:pt x="154190" y="496011"/>
                  </a:lnTo>
                  <a:close/>
                </a:path>
                <a:path w="990600" h="746760">
                  <a:moveTo>
                    <a:pt x="153174" y="520903"/>
                  </a:moveTo>
                  <a:lnTo>
                    <a:pt x="0" y="687146"/>
                  </a:lnTo>
                  <a:lnTo>
                    <a:pt x="990600" y="687146"/>
                  </a:lnTo>
                  <a:lnTo>
                    <a:pt x="840486" y="520903"/>
                  </a:lnTo>
                  <a:lnTo>
                    <a:pt x="153174" y="520903"/>
                  </a:lnTo>
                  <a:close/>
                </a:path>
                <a:path w="990600" h="746760">
                  <a:moveTo>
                    <a:pt x="0" y="746709"/>
                  </a:moveTo>
                  <a:lnTo>
                    <a:pt x="990600" y="746709"/>
                  </a:lnTo>
                  <a:lnTo>
                    <a:pt x="990600" y="687141"/>
                  </a:lnTo>
                  <a:lnTo>
                    <a:pt x="0" y="687141"/>
                  </a:lnTo>
                  <a:lnTo>
                    <a:pt x="0" y="746709"/>
                  </a:lnTo>
                  <a:close/>
                </a:path>
                <a:path w="990600" h="746760">
                  <a:moveTo>
                    <a:pt x="191973" y="440512"/>
                  </a:moveTo>
                  <a:lnTo>
                    <a:pt x="804722" y="440512"/>
                  </a:lnTo>
                  <a:lnTo>
                    <a:pt x="804722" y="52577"/>
                  </a:lnTo>
                  <a:lnTo>
                    <a:pt x="191973" y="52577"/>
                  </a:lnTo>
                  <a:lnTo>
                    <a:pt x="191973" y="440512"/>
                  </a:lnTo>
                  <a:close/>
                </a:path>
                <a:path w="990600" h="746760">
                  <a:moveTo>
                    <a:pt x="152171" y="537540"/>
                  </a:moveTo>
                  <a:lnTo>
                    <a:pt x="133781" y="556844"/>
                  </a:lnTo>
                  <a:lnTo>
                    <a:pt x="858901" y="556844"/>
                  </a:lnTo>
                  <a:lnTo>
                    <a:pt x="840486" y="537540"/>
                  </a:lnTo>
                  <a:lnTo>
                    <a:pt x="152171" y="537540"/>
                  </a:lnTo>
                  <a:close/>
                </a:path>
                <a:path w="990600" h="746760">
                  <a:moveTo>
                    <a:pt x="284937" y="633044"/>
                  </a:moveTo>
                  <a:lnTo>
                    <a:pt x="272694" y="652475"/>
                  </a:lnTo>
                  <a:lnTo>
                    <a:pt x="723011" y="652475"/>
                  </a:lnTo>
                  <a:lnTo>
                    <a:pt x="710819" y="633044"/>
                  </a:lnTo>
                  <a:lnTo>
                    <a:pt x="284937" y="633044"/>
                  </a:lnTo>
                  <a:close/>
                </a:path>
                <a:path w="990600" h="746760">
                  <a:moveTo>
                    <a:pt x="129692" y="569417"/>
                  </a:moveTo>
                  <a:lnTo>
                    <a:pt x="110299" y="590118"/>
                  </a:lnTo>
                  <a:lnTo>
                    <a:pt x="884428" y="590118"/>
                  </a:lnTo>
                  <a:lnTo>
                    <a:pt x="863981" y="569417"/>
                  </a:lnTo>
                  <a:lnTo>
                    <a:pt x="129692" y="569417"/>
                  </a:lnTo>
                  <a:close/>
                </a:path>
                <a:path w="990600" h="746760">
                  <a:moveTo>
                    <a:pt x="106210" y="599897"/>
                  </a:moveTo>
                  <a:lnTo>
                    <a:pt x="85801" y="620598"/>
                  </a:lnTo>
                  <a:lnTo>
                    <a:pt x="910971" y="620598"/>
                  </a:lnTo>
                  <a:lnTo>
                    <a:pt x="889508" y="599897"/>
                  </a:lnTo>
                  <a:lnTo>
                    <a:pt x="106210" y="599897"/>
                  </a:lnTo>
                  <a:close/>
                </a:path>
              </a:pathLst>
            </a:custGeom>
            <a:ln w="9525">
              <a:solidFill>
                <a:srgbClr val="000000"/>
              </a:solidFill>
            </a:ln>
          </p:spPr>
          <p:txBody>
            <a:bodyPr wrap="square" lIns="0" tIns="0" rIns="0" bIns="0" rtlCol="0"/>
            <a:lstStyle/>
            <a:p>
              <a:endParaRPr/>
            </a:p>
          </p:txBody>
        </p:sp>
        <p:sp>
          <p:nvSpPr>
            <p:cNvPr id="7" name="object 7"/>
            <p:cNvSpPr/>
            <p:nvPr/>
          </p:nvSpPr>
          <p:spPr>
            <a:xfrm>
              <a:off x="1524000" y="4495863"/>
              <a:ext cx="990600" cy="746760"/>
            </a:xfrm>
            <a:custGeom>
              <a:avLst/>
              <a:gdLst/>
              <a:ahLst/>
              <a:cxnLst/>
              <a:rect l="l" t="t" r="r" b="b"/>
              <a:pathLst>
                <a:path w="990600" h="746760">
                  <a:moveTo>
                    <a:pt x="840473" y="0"/>
                  </a:moveTo>
                  <a:lnTo>
                    <a:pt x="154178" y="0"/>
                  </a:lnTo>
                  <a:lnTo>
                    <a:pt x="154178" y="495998"/>
                  </a:lnTo>
                  <a:lnTo>
                    <a:pt x="840473" y="495998"/>
                  </a:lnTo>
                  <a:lnTo>
                    <a:pt x="840473" y="0"/>
                  </a:lnTo>
                  <a:close/>
                </a:path>
                <a:path w="990600" h="746760">
                  <a:moveTo>
                    <a:pt x="990600" y="687133"/>
                  </a:moveTo>
                  <a:lnTo>
                    <a:pt x="840486" y="520890"/>
                  </a:lnTo>
                  <a:lnTo>
                    <a:pt x="153162" y="520890"/>
                  </a:lnTo>
                  <a:lnTo>
                    <a:pt x="0" y="687133"/>
                  </a:lnTo>
                  <a:lnTo>
                    <a:pt x="0" y="746696"/>
                  </a:lnTo>
                  <a:lnTo>
                    <a:pt x="990600" y="746696"/>
                  </a:lnTo>
                  <a:lnTo>
                    <a:pt x="990600" y="687133"/>
                  </a:lnTo>
                  <a:close/>
                </a:path>
              </a:pathLst>
            </a:custGeom>
            <a:solidFill>
              <a:srgbClr val="C0C0C0"/>
            </a:solidFill>
          </p:spPr>
          <p:txBody>
            <a:bodyPr wrap="square" lIns="0" tIns="0" rIns="0" bIns="0" rtlCol="0"/>
            <a:lstStyle/>
            <a:p>
              <a:endParaRPr/>
            </a:p>
          </p:txBody>
        </p:sp>
        <p:sp>
          <p:nvSpPr>
            <p:cNvPr id="8" name="object 8"/>
            <p:cNvSpPr/>
            <p:nvPr/>
          </p:nvSpPr>
          <p:spPr>
            <a:xfrm>
              <a:off x="1524000" y="449585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1" y="569417"/>
                  </a:lnTo>
                  <a:lnTo>
                    <a:pt x="129667" y="569417"/>
                  </a:lnTo>
                  <a:close/>
                </a:path>
                <a:path w="990600" h="746760">
                  <a:moveTo>
                    <a:pt x="106172" y="599897"/>
                  </a:moveTo>
                  <a:lnTo>
                    <a:pt x="85852" y="620598"/>
                  </a:lnTo>
                  <a:lnTo>
                    <a:pt x="910970" y="620598"/>
                  </a:lnTo>
                  <a:lnTo>
                    <a:pt x="889507" y="599897"/>
                  </a:lnTo>
                  <a:lnTo>
                    <a:pt x="106172" y="599897"/>
                  </a:lnTo>
                  <a:close/>
                </a:path>
              </a:pathLst>
            </a:custGeom>
            <a:ln w="9525">
              <a:solidFill>
                <a:srgbClr val="000000"/>
              </a:solidFill>
            </a:ln>
          </p:spPr>
          <p:txBody>
            <a:bodyPr wrap="square" lIns="0" tIns="0" rIns="0" bIns="0" rtlCol="0"/>
            <a:lstStyle/>
            <a:p>
              <a:endParaRPr/>
            </a:p>
          </p:txBody>
        </p:sp>
        <p:sp>
          <p:nvSpPr>
            <p:cNvPr id="9" name="object 9"/>
            <p:cNvSpPr/>
            <p:nvPr/>
          </p:nvSpPr>
          <p:spPr>
            <a:xfrm>
              <a:off x="2514600" y="1752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0" name="object 10"/>
            <p:cNvSpPr/>
            <p:nvPr/>
          </p:nvSpPr>
          <p:spPr>
            <a:xfrm>
              <a:off x="2514600" y="1752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0" y="569417"/>
                  </a:lnTo>
                  <a:lnTo>
                    <a:pt x="129667"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1" name="object 11"/>
            <p:cNvSpPr/>
            <p:nvPr/>
          </p:nvSpPr>
          <p:spPr>
            <a:xfrm>
              <a:off x="3581400" y="451109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2" name="object 12"/>
            <p:cNvSpPr/>
            <p:nvPr/>
          </p:nvSpPr>
          <p:spPr>
            <a:xfrm>
              <a:off x="3581400" y="451109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3" name="object 13"/>
            <p:cNvSpPr/>
            <p:nvPr/>
          </p:nvSpPr>
          <p:spPr>
            <a:xfrm>
              <a:off x="4343400" y="291089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4" name="object 14"/>
            <p:cNvSpPr/>
            <p:nvPr/>
          </p:nvSpPr>
          <p:spPr>
            <a:xfrm>
              <a:off x="4343400" y="291089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grpSp>
      <p:sp>
        <p:nvSpPr>
          <p:cNvPr id="15" name="object 15"/>
          <p:cNvSpPr txBox="1">
            <a:spLocks noGrp="1"/>
          </p:cNvSpPr>
          <p:nvPr>
            <p:ph type="title"/>
          </p:nvPr>
        </p:nvSpPr>
        <p:spPr>
          <a:xfrm>
            <a:off x="2780538" y="466470"/>
            <a:ext cx="3583304" cy="696595"/>
          </a:xfrm>
          <a:prstGeom prst="rect">
            <a:avLst/>
          </a:prstGeom>
        </p:spPr>
        <p:txBody>
          <a:bodyPr vert="horz" wrap="square" lIns="0" tIns="13335" rIns="0" bIns="0" rtlCol="0">
            <a:spAutoFit/>
          </a:bodyPr>
          <a:lstStyle/>
          <a:p>
            <a:pPr marL="12700">
              <a:lnSpc>
                <a:spcPct val="100000"/>
              </a:lnSpc>
              <a:spcBef>
                <a:spcPts val="105"/>
              </a:spcBef>
            </a:pPr>
            <a:r>
              <a:rPr dirty="0"/>
              <a:t>Mesh</a:t>
            </a:r>
            <a:r>
              <a:rPr spc="-85" dirty="0"/>
              <a:t> </a:t>
            </a:r>
            <a:r>
              <a:rPr dirty="0"/>
              <a:t>Topology</a:t>
            </a:r>
          </a:p>
        </p:txBody>
      </p:sp>
      <p:sp>
        <p:nvSpPr>
          <p:cNvPr id="16" name="object 16"/>
          <p:cNvSpPr txBox="1"/>
          <p:nvPr/>
        </p:nvSpPr>
        <p:spPr>
          <a:xfrm>
            <a:off x="5489828" y="1320725"/>
            <a:ext cx="2887345" cy="3378835"/>
          </a:xfrm>
          <a:prstGeom prst="rect">
            <a:avLst/>
          </a:prstGeom>
        </p:spPr>
        <p:txBody>
          <a:bodyPr vert="horz" wrap="square" lIns="0" tIns="76835" rIns="0" bIns="0" rtlCol="0">
            <a:spAutoFit/>
          </a:bodyPr>
          <a:lstStyle/>
          <a:p>
            <a:pPr marL="355600" indent="-342900">
              <a:lnSpc>
                <a:spcPct val="100000"/>
              </a:lnSpc>
              <a:spcBef>
                <a:spcPts val="605"/>
              </a:spcBef>
              <a:buFont typeface="Arial MT"/>
              <a:buChar char="•"/>
              <a:tabLst>
                <a:tab pos="354965" algn="l"/>
                <a:tab pos="355600" algn="l"/>
              </a:tabLst>
            </a:pPr>
            <a:r>
              <a:rPr sz="2400" b="1" u="heavy" spc="-5" dirty="0">
                <a:solidFill>
                  <a:srgbClr val="1F487C"/>
                </a:solidFill>
                <a:uFill>
                  <a:solidFill>
                    <a:srgbClr val="1F487C"/>
                  </a:solidFill>
                </a:uFill>
                <a:latin typeface="Calibri"/>
                <a:cs typeface="Calibri"/>
              </a:rPr>
              <a:t>Pros:</a:t>
            </a:r>
            <a:endParaRPr sz="2400">
              <a:latin typeface="Calibri"/>
              <a:cs typeface="Calibri"/>
            </a:endParaRPr>
          </a:p>
          <a:p>
            <a:pPr marL="756285" lvl="1" indent="-287020">
              <a:lnSpc>
                <a:spcPct val="100000"/>
              </a:lnSpc>
              <a:spcBef>
                <a:spcPts val="425"/>
              </a:spcBef>
              <a:buFont typeface="Arial MT"/>
              <a:buChar char="–"/>
              <a:tabLst>
                <a:tab pos="756285" algn="l"/>
                <a:tab pos="756920" algn="l"/>
              </a:tabLst>
            </a:pPr>
            <a:r>
              <a:rPr sz="2000" spc="-5" dirty="0">
                <a:solidFill>
                  <a:srgbClr val="1F487C"/>
                </a:solidFill>
                <a:latin typeface="Calibri"/>
                <a:cs typeface="Calibri"/>
              </a:rPr>
              <a:t>Dedicated</a:t>
            </a:r>
            <a:r>
              <a:rPr sz="2000" spc="-35" dirty="0">
                <a:solidFill>
                  <a:srgbClr val="1F487C"/>
                </a:solidFill>
                <a:latin typeface="Calibri"/>
                <a:cs typeface="Calibri"/>
              </a:rPr>
              <a:t> </a:t>
            </a:r>
            <a:r>
              <a:rPr sz="2000" spc="-5" dirty="0">
                <a:solidFill>
                  <a:srgbClr val="1F487C"/>
                </a:solidFill>
                <a:latin typeface="Calibri"/>
                <a:cs typeface="Calibri"/>
              </a:rPr>
              <a:t>links</a:t>
            </a:r>
            <a:endParaRPr sz="2000">
              <a:latin typeface="Calibri"/>
              <a:cs typeface="Calibri"/>
            </a:endParaRPr>
          </a:p>
          <a:p>
            <a:pPr marL="756285" lvl="1" indent="-287020">
              <a:lnSpc>
                <a:spcPct val="100000"/>
              </a:lnSpc>
              <a:spcBef>
                <a:spcPts val="409"/>
              </a:spcBef>
              <a:buFont typeface="Arial MT"/>
              <a:buChar char="–"/>
              <a:tabLst>
                <a:tab pos="756285" algn="l"/>
                <a:tab pos="756920" algn="l"/>
              </a:tabLst>
            </a:pPr>
            <a:r>
              <a:rPr sz="2000" spc="-5" dirty="0">
                <a:solidFill>
                  <a:srgbClr val="1F487C"/>
                </a:solidFill>
                <a:latin typeface="Calibri"/>
                <a:cs typeface="Calibri"/>
              </a:rPr>
              <a:t>Robustness</a:t>
            </a:r>
            <a:endParaRPr sz="2000">
              <a:latin typeface="Calibri"/>
              <a:cs typeface="Calibri"/>
            </a:endParaRPr>
          </a:p>
          <a:p>
            <a:pPr marL="756285" lvl="1" indent="-287020">
              <a:lnSpc>
                <a:spcPct val="100000"/>
              </a:lnSpc>
              <a:spcBef>
                <a:spcPts val="395"/>
              </a:spcBef>
              <a:buFont typeface="Arial MT"/>
              <a:buChar char="–"/>
              <a:tabLst>
                <a:tab pos="756285" algn="l"/>
                <a:tab pos="756920" algn="l"/>
              </a:tabLst>
            </a:pPr>
            <a:r>
              <a:rPr sz="2000" spc="-5" dirty="0">
                <a:solidFill>
                  <a:srgbClr val="1F487C"/>
                </a:solidFill>
                <a:latin typeface="Calibri"/>
                <a:cs typeface="Calibri"/>
              </a:rPr>
              <a:t>Privacy</a:t>
            </a:r>
            <a:endParaRPr sz="2000">
              <a:latin typeface="Calibri"/>
              <a:cs typeface="Calibri"/>
            </a:endParaRPr>
          </a:p>
          <a:p>
            <a:pPr marL="756285" lvl="1" indent="-287020">
              <a:lnSpc>
                <a:spcPct val="100000"/>
              </a:lnSpc>
              <a:spcBef>
                <a:spcPts val="395"/>
              </a:spcBef>
              <a:buFont typeface="Arial MT"/>
              <a:buChar char="–"/>
              <a:tabLst>
                <a:tab pos="756285" algn="l"/>
                <a:tab pos="756920" algn="l"/>
              </a:tabLst>
            </a:pPr>
            <a:r>
              <a:rPr sz="2000" dirty="0">
                <a:solidFill>
                  <a:srgbClr val="1F487C"/>
                </a:solidFill>
                <a:latin typeface="Calibri"/>
                <a:cs typeface="Calibri"/>
              </a:rPr>
              <a:t>Easy</a:t>
            </a:r>
            <a:r>
              <a:rPr sz="2000" spc="-35" dirty="0">
                <a:solidFill>
                  <a:srgbClr val="1F487C"/>
                </a:solidFill>
                <a:latin typeface="Calibri"/>
                <a:cs typeface="Calibri"/>
              </a:rPr>
              <a:t> </a:t>
            </a:r>
            <a:r>
              <a:rPr sz="2000" dirty="0">
                <a:solidFill>
                  <a:srgbClr val="1F487C"/>
                </a:solidFill>
                <a:latin typeface="Calibri"/>
                <a:cs typeface="Calibri"/>
              </a:rPr>
              <a:t>to</a:t>
            </a:r>
            <a:r>
              <a:rPr sz="2000" spc="-30" dirty="0">
                <a:solidFill>
                  <a:srgbClr val="1F487C"/>
                </a:solidFill>
                <a:latin typeface="Calibri"/>
                <a:cs typeface="Calibri"/>
              </a:rPr>
              <a:t> </a:t>
            </a:r>
            <a:r>
              <a:rPr sz="2000" dirty="0">
                <a:solidFill>
                  <a:srgbClr val="1F487C"/>
                </a:solidFill>
                <a:latin typeface="Calibri"/>
                <a:cs typeface="Calibri"/>
              </a:rPr>
              <a:t>identify</a:t>
            </a:r>
            <a:r>
              <a:rPr sz="2000" spc="-30" dirty="0">
                <a:solidFill>
                  <a:srgbClr val="1F487C"/>
                </a:solidFill>
                <a:latin typeface="Calibri"/>
                <a:cs typeface="Calibri"/>
              </a:rPr>
              <a:t> </a:t>
            </a:r>
            <a:r>
              <a:rPr sz="2000" spc="-5" dirty="0">
                <a:solidFill>
                  <a:srgbClr val="1F487C"/>
                </a:solidFill>
                <a:latin typeface="Calibri"/>
                <a:cs typeface="Calibri"/>
              </a:rPr>
              <a:t>fault</a:t>
            </a:r>
            <a:endParaRPr sz="2000">
              <a:latin typeface="Calibri"/>
              <a:cs typeface="Calibri"/>
            </a:endParaRPr>
          </a:p>
          <a:p>
            <a:pPr marL="355600" indent="-342900">
              <a:lnSpc>
                <a:spcPct val="100000"/>
              </a:lnSpc>
              <a:spcBef>
                <a:spcPts val="480"/>
              </a:spcBef>
              <a:buFont typeface="Arial MT"/>
              <a:buChar char="•"/>
              <a:tabLst>
                <a:tab pos="354965" algn="l"/>
                <a:tab pos="355600" algn="l"/>
              </a:tabLst>
            </a:pPr>
            <a:r>
              <a:rPr sz="2400" b="1" u="heavy" spc="-5" dirty="0">
                <a:solidFill>
                  <a:srgbClr val="1F487C"/>
                </a:solidFill>
                <a:uFill>
                  <a:solidFill>
                    <a:srgbClr val="1F487C"/>
                  </a:solidFill>
                </a:uFill>
                <a:latin typeface="Calibri"/>
                <a:cs typeface="Calibri"/>
              </a:rPr>
              <a:t>Cons:</a:t>
            </a:r>
            <a:endParaRPr sz="2400">
              <a:latin typeface="Calibri"/>
              <a:cs typeface="Calibri"/>
            </a:endParaRPr>
          </a:p>
          <a:p>
            <a:pPr marL="756285" lvl="1" indent="-287020">
              <a:lnSpc>
                <a:spcPct val="100000"/>
              </a:lnSpc>
              <a:spcBef>
                <a:spcPts val="425"/>
              </a:spcBef>
              <a:buFont typeface="Arial MT"/>
              <a:buChar char="–"/>
              <a:tabLst>
                <a:tab pos="756285" algn="l"/>
                <a:tab pos="756920" algn="l"/>
              </a:tabLst>
            </a:pPr>
            <a:r>
              <a:rPr sz="2000" dirty="0">
                <a:solidFill>
                  <a:srgbClr val="1F487C"/>
                </a:solidFill>
                <a:latin typeface="Calibri"/>
                <a:cs typeface="Calibri"/>
              </a:rPr>
              <a:t>A</a:t>
            </a:r>
            <a:r>
              <a:rPr sz="2000" spc="-15" dirty="0">
                <a:solidFill>
                  <a:srgbClr val="1F487C"/>
                </a:solidFill>
                <a:latin typeface="Calibri"/>
                <a:cs typeface="Calibri"/>
              </a:rPr>
              <a:t> </a:t>
            </a:r>
            <a:r>
              <a:rPr sz="2000" spc="-5" dirty="0">
                <a:solidFill>
                  <a:srgbClr val="1F487C"/>
                </a:solidFill>
                <a:latin typeface="Calibri"/>
                <a:cs typeface="Calibri"/>
              </a:rPr>
              <a:t>lot</a:t>
            </a:r>
            <a:r>
              <a:rPr sz="2000" spc="-20" dirty="0">
                <a:solidFill>
                  <a:srgbClr val="1F487C"/>
                </a:solidFill>
                <a:latin typeface="Calibri"/>
                <a:cs typeface="Calibri"/>
              </a:rPr>
              <a:t> </a:t>
            </a:r>
            <a:r>
              <a:rPr sz="2000" spc="-5" dirty="0">
                <a:solidFill>
                  <a:srgbClr val="1F487C"/>
                </a:solidFill>
                <a:latin typeface="Calibri"/>
                <a:cs typeface="Calibri"/>
              </a:rPr>
              <a:t>of</a:t>
            </a:r>
            <a:r>
              <a:rPr sz="2000" spc="-15" dirty="0">
                <a:solidFill>
                  <a:srgbClr val="1F487C"/>
                </a:solidFill>
                <a:latin typeface="Calibri"/>
                <a:cs typeface="Calibri"/>
              </a:rPr>
              <a:t> </a:t>
            </a:r>
            <a:r>
              <a:rPr sz="2000" spc="-5" dirty="0">
                <a:solidFill>
                  <a:srgbClr val="1F487C"/>
                </a:solidFill>
                <a:latin typeface="Calibri"/>
                <a:cs typeface="Calibri"/>
              </a:rPr>
              <a:t>cabling</a:t>
            </a:r>
            <a:endParaRPr sz="2000">
              <a:latin typeface="Calibri"/>
              <a:cs typeface="Calibri"/>
            </a:endParaRPr>
          </a:p>
          <a:p>
            <a:pPr marL="756285" lvl="1" indent="-287020">
              <a:lnSpc>
                <a:spcPct val="100000"/>
              </a:lnSpc>
              <a:spcBef>
                <a:spcPts val="405"/>
              </a:spcBef>
              <a:buFont typeface="Arial MT"/>
              <a:buChar char="–"/>
              <a:tabLst>
                <a:tab pos="756285" algn="l"/>
                <a:tab pos="756920" algn="l"/>
              </a:tabLst>
            </a:pPr>
            <a:r>
              <a:rPr sz="2000" dirty="0">
                <a:solidFill>
                  <a:srgbClr val="1F487C"/>
                </a:solidFill>
                <a:latin typeface="Calibri"/>
                <a:cs typeface="Calibri"/>
              </a:rPr>
              <a:t>I/O</a:t>
            </a:r>
            <a:r>
              <a:rPr sz="2000" spc="-50" dirty="0">
                <a:solidFill>
                  <a:srgbClr val="1F487C"/>
                </a:solidFill>
                <a:latin typeface="Calibri"/>
                <a:cs typeface="Calibri"/>
              </a:rPr>
              <a:t> </a:t>
            </a:r>
            <a:r>
              <a:rPr sz="2000" spc="-5" dirty="0">
                <a:solidFill>
                  <a:srgbClr val="1F487C"/>
                </a:solidFill>
                <a:latin typeface="Calibri"/>
                <a:cs typeface="Calibri"/>
              </a:rPr>
              <a:t>ports</a:t>
            </a:r>
            <a:endParaRPr sz="2000">
              <a:latin typeface="Calibri"/>
              <a:cs typeface="Calibri"/>
            </a:endParaRPr>
          </a:p>
          <a:p>
            <a:pPr marL="756285" lvl="1" indent="-287020">
              <a:lnSpc>
                <a:spcPct val="100000"/>
              </a:lnSpc>
              <a:spcBef>
                <a:spcPts val="400"/>
              </a:spcBef>
              <a:buFont typeface="Arial MT"/>
              <a:buChar char="–"/>
              <a:tabLst>
                <a:tab pos="756285" algn="l"/>
                <a:tab pos="756920" algn="l"/>
              </a:tabLst>
            </a:pPr>
            <a:r>
              <a:rPr sz="2000" spc="-5" dirty="0">
                <a:solidFill>
                  <a:srgbClr val="1F487C"/>
                </a:solidFill>
                <a:latin typeface="Calibri"/>
                <a:cs typeface="Calibri"/>
              </a:rPr>
              <a:t>Difficult</a:t>
            </a:r>
            <a:r>
              <a:rPr sz="2000" spc="-15" dirty="0">
                <a:solidFill>
                  <a:srgbClr val="1F487C"/>
                </a:solidFill>
                <a:latin typeface="Calibri"/>
                <a:cs typeface="Calibri"/>
              </a:rPr>
              <a:t> </a:t>
            </a:r>
            <a:r>
              <a:rPr sz="2000" dirty="0">
                <a:solidFill>
                  <a:srgbClr val="1F487C"/>
                </a:solidFill>
                <a:latin typeface="Calibri"/>
                <a:cs typeface="Calibri"/>
              </a:rPr>
              <a:t>to</a:t>
            </a:r>
            <a:r>
              <a:rPr sz="2000" spc="-25" dirty="0">
                <a:solidFill>
                  <a:srgbClr val="1F487C"/>
                </a:solidFill>
                <a:latin typeface="Calibri"/>
                <a:cs typeface="Calibri"/>
              </a:rPr>
              <a:t> </a:t>
            </a:r>
            <a:r>
              <a:rPr sz="2000" spc="-5" dirty="0">
                <a:solidFill>
                  <a:srgbClr val="1F487C"/>
                </a:solidFill>
                <a:latin typeface="Calibri"/>
                <a:cs typeface="Calibri"/>
              </a:rPr>
              <a:t>move</a:t>
            </a:r>
            <a:endParaRPr sz="2000">
              <a:latin typeface="Calibri"/>
              <a:cs typeface="Calibri"/>
            </a:endParaRPr>
          </a:p>
        </p:txBody>
      </p:sp>
      <p:sp>
        <p:nvSpPr>
          <p:cNvPr id="19" name="Slide Number Placeholder 18">
            <a:extLst>
              <a:ext uri="{FF2B5EF4-FFF2-40B4-BE49-F238E27FC236}">
                <a16:creationId xmlns:a16="http://schemas.microsoft.com/office/drawing/2014/main" xmlns="" id="{E1A87754-E067-13D6-C724-4686CEB929DA}"/>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22</a:t>
            </a:fld>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471737" y="2128888"/>
            <a:ext cx="3705225" cy="2524125"/>
            <a:chOff x="2471737" y="2128888"/>
            <a:chExt cx="3705225" cy="2524125"/>
          </a:xfrm>
        </p:grpSpPr>
        <p:sp>
          <p:nvSpPr>
            <p:cNvPr id="3" name="object 3"/>
            <p:cNvSpPr/>
            <p:nvPr/>
          </p:nvSpPr>
          <p:spPr>
            <a:xfrm>
              <a:off x="3124962" y="2591561"/>
              <a:ext cx="2590800" cy="1828800"/>
            </a:xfrm>
            <a:custGeom>
              <a:avLst/>
              <a:gdLst/>
              <a:ahLst/>
              <a:cxnLst/>
              <a:rect l="l" t="t" r="r" b="b"/>
              <a:pathLst>
                <a:path w="2590800" h="1828800">
                  <a:moveTo>
                    <a:pt x="76200" y="0"/>
                  </a:moveTo>
                  <a:lnTo>
                    <a:pt x="1295400" y="838200"/>
                  </a:lnTo>
                </a:path>
                <a:path w="2590800" h="1828800">
                  <a:moveTo>
                    <a:pt x="1295400" y="838200"/>
                  </a:moveTo>
                  <a:lnTo>
                    <a:pt x="2514600" y="0"/>
                  </a:lnTo>
                </a:path>
                <a:path w="2590800" h="1828800">
                  <a:moveTo>
                    <a:pt x="1295400" y="838200"/>
                  </a:moveTo>
                  <a:lnTo>
                    <a:pt x="0" y="1828800"/>
                  </a:lnTo>
                </a:path>
                <a:path w="2590800" h="1828800">
                  <a:moveTo>
                    <a:pt x="2590800" y="1828800"/>
                  </a:moveTo>
                  <a:lnTo>
                    <a:pt x="1295400" y="838200"/>
                  </a:lnTo>
                </a:path>
              </a:pathLst>
            </a:custGeom>
            <a:ln w="38100">
              <a:solidFill>
                <a:srgbClr val="000000"/>
              </a:solidFill>
            </a:ln>
          </p:spPr>
          <p:txBody>
            <a:bodyPr wrap="square" lIns="0" tIns="0" rIns="0" bIns="0" rtlCol="0"/>
            <a:lstStyle/>
            <a:p>
              <a:endParaRPr/>
            </a:p>
          </p:txBody>
        </p:sp>
        <p:sp>
          <p:nvSpPr>
            <p:cNvPr id="4" name="object 4"/>
            <p:cNvSpPr/>
            <p:nvPr/>
          </p:nvSpPr>
          <p:spPr>
            <a:xfrm>
              <a:off x="2667000" y="390149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5" name="object 5"/>
            <p:cNvSpPr/>
            <p:nvPr/>
          </p:nvSpPr>
          <p:spPr>
            <a:xfrm>
              <a:off x="2667000" y="390149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0" y="569417"/>
                  </a:lnTo>
                  <a:lnTo>
                    <a:pt x="129667"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6" name="object 6"/>
            <p:cNvSpPr/>
            <p:nvPr/>
          </p:nvSpPr>
          <p:spPr>
            <a:xfrm>
              <a:off x="51816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7" name="object 7"/>
            <p:cNvSpPr/>
            <p:nvPr/>
          </p:nvSpPr>
          <p:spPr>
            <a:xfrm>
              <a:off x="5181600" y="2133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8" name="object 8"/>
            <p:cNvSpPr/>
            <p:nvPr/>
          </p:nvSpPr>
          <p:spPr>
            <a:xfrm>
              <a:off x="2476500" y="2196134"/>
              <a:ext cx="990600" cy="745490"/>
            </a:xfrm>
            <a:custGeom>
              <a:avLst/>
              <a:gdLst/>
              <a:ahLst/>
              <a:cxnLst/>
              <a:rect l="l" t="t" r="r" b="b"/>
              <a:pathLst>
                <a:path w="990600" h="745489">
                  <a:moveTo>
                    <a:pt x="840486" y="0"/>
                  </a:moveTo>
                  <a:lnTo>
                    <a:pt x="154178" y="0"/>
                  </a:lnTo>
                  <a:lnTo>
                    <a:pt x="154178" y="494995"/>
                  </a:lnTo>
                  <a:lnTo>
                    <a:pt x="840486" y="494995"/>
                  </a:lnTo>
                  <a:lnTo>
                    <a:pt x="840486" y="0"/>
                  </a:lnTo>
                  <a:close/>
                </a:path>
                <a:path w="990600" h="745489">
                  <a:moveTo>
                    <a:pt x="990600" y="685749"/>
                  </a:moveTo>
                  <a:lnTo>
                    <a:pt x="840486" y="519760"/>
                  </a:lnTo>
                  <a:lnTo>
                    <a:pt x="153162" y="519760"/>
                  </a:lnTo>
                  <a:lnTo>
                    <a:pt x="0" y="685749"/>
                  </a:lnTo>
                  <a:lnTo>
                    <a:pt x="0" y="745185"/>
                  </a:lnTo>
                  <a:lnTo>
                    <a:pt x="990600" y="745185"/>
                  </a:lnTo>
                  <a:lnTo>
                    <a:pt x="990600" y="685749"/>
                  </a:lnTo>
                  <a:close/>
                </a:path>
              </a:pathLst>
            </a:custGeom>
            <a:solidFill>
              <a:srgbClr val="C0C0C0"/>
            </a:solidFill>
          </p:spPr>
          <p:txBody>
            <a:bodyPr wrap="square" lIns="0" tIns="0" rIns="0" bIns="0" rtlCol="0"/>
            <a:lstStyle/>
            <a:p>
              <a:endParaRPr/>
            </a:p>
          </p:txBody>
        </p:sp>
        <p:sp>
          <p:nvSpPr>
            <p:cNvPr id="9" name="object 9"/>
            <p:cNvSpPr/>
            <p:nvPr/>
          </p:nvSpPr>
          <p:spPr>
            <a:xfrm>
              <a:off x="2476500" y="2196134"/>
              <a:ext cx="990600" cy="745490"/>
            </a:xfrm>
            <a:custGeom>
              <a:avLst/>
              <a:gdLst/>
              <a:ahLst/>
              <a:cxnLst/>
              <a:rect l="l" t="t" r="r" b="b"/>
              <a:pathLst>
                <a:path w="990600" h="745489">
                  <a:moveTo>
                    <a:pt x="154177" y="494995"/>
                  </a:moveTo>
                  <a:lnTo>
                    <a:pt x="840486" y="494995"/>
                  </a:lnTo>
                  <a:lnTo>
                    <a:pt x="840486" y="0"/>
                  </a:lnTo>
                  <a:lnTo>
                    <a:pt x="154177" y="0"/>
                  </a:lnTo>
                  <a:lnTo>
                    <a:pt x="154177" y="494995"/>
                  </a:lnTo>
                  <a:close/>
                </a:path>
                <a:path w="990600" h="745489">
                  <a:moveTo>
                    <a:pt x="153162" y="519760"/>
                  </a:moveTo>
                  <a:lnTo>
                    <a:pt x="0" y="685749"/>
                  </a:lnTo>
                  <a:lnTo>
                    <a:pt x="990600" y="685749"/>
                  </a:lnTo>
                  <a:lnTo>
                    <a:pt x="840486" y="519760"/>
                  </a:lnTo>
                  <a:lnTo>
                    <a:pt x="153162" y="519760"/>
                  </a:lnTo>
                  <a:close/>
                </a:path>
                <a:path w="990600" h="745489">
                  <a:moveTo>
                    <a:pt x="0" y="745185"/>
                  </a:moveTo>
                  <a:lnTo>
                    <a:pt x="990600" y="745185"/>
                  </a:lnTo>
                  <a:lnTo>
                    <a:pt x="990600" y="685739"/>
                  </a:lnTo>
                  <a:lnTo>
                    <a:pt x="0" y="685739"/>
                  </a:lnTo>
                  <a:lnTo>
                    <a:pt x="0" y="745185"/>
                  </a:lnTo>
                  <a:close/>
                </a:path>
                <a:path w="990600" h="745489">
                  <a:moveTo>
                    <a:pt x="192024" y="439623"/>
                  </a:moveTo>
                  <a:lnTo>
                    <a:pt x="804773" y="439623"/>
                  </a:lnTo>
                  <a:lnTo>
                    <a:pt x="804773" y="52476"/>
                  </a:lnTo>
                  <a:lnTo>
                    <a:pt x="192024" y="52476"/>
                  </a:lnTo>
                  <a:lnTo>
                    <a:pt x="192024" y="439623"/>
                  </a:lnTo>
                  <a:close/>
                </a:path>
                <a:path w="990600" h="745489">
                  <a:moveTo>
                    <a:pt x="152145" y="536397"/>
                  </a:moveTo>
                  <a:lnTo>
                    <a:pt x="133731" y="555828"/>
                  </a:lnTo>
                  <a:lnTo>
                    <a:pt x="858901" y="555828"/>
                  </a:lnTo>
                  <a:lnTo>
                    <a:pt x="840486" y="536397"/>
                  </a:lnTo>
                  <a:lnTo>
                    <a:pt x="152145" y="536397"/>
                  </a:lnTo>
                  <a:close/>
                </a:path>
                <a:path w="990600" h="745489">
                  <a:moveTo>
                    <a:pt x="284988" y="631774"/>
                  </a:moveTo>
                  <a:lnTo>
                    <a:pt x="272669" y="651205"/>
                  </a:lnTo>
                  <a:lnTo>
                    <a:pt x="723011" y="651205"/>
                  </a:lnTo>
                  <a:lnTo>
                    <a:pt x="710819" y="631774"/>
                  </a:lnTo>
                  <a:lnTo>
                    <a:pt x="284988" y="631774"/>
                  </a:lnTo>
                  <a:close/>
                </a:path>
                <a:path w="990600" h="745489">
                  <a:moveTo>
                    <a:pt x="129667" y="568274"/>
                  </a:moveTo>
                  <a:lnTo>
                    <a:pt x="110236" y="588975"/>
                  </a:lnTo>
                  <a:lnTo>
                    <a:pt x="884427" y="588975"/>
                  </a:lnTo>
                  <a:lnTo>
                    <a:pt x="863980" y="568274"/>
                  </a:lnTo>
                  <a:lnTo>
                    <a:pt x="129667" y="568274"/>
                  </a:lnTo>
                  <a:close/>
                </a:path>
                <a:path w="990600" h="745489">
                  <a:moveTo>
                    <a:pt x="106172" y="598627"/>
                  </a:moveTo>
                  <a:lnTo>
                    <a:pt x="85851" y="619328"/>
                  </a:lnTo>
                  <a:lnTo>
                    <a:pt x="910971" y="619328"/>
                  </a:lnTo>
                  <a:lnTo>
                    <a:pt x="889508" y="598627"/>
                  </a:lnTo>
                  <a:lnTo>
                    <a:pt x="106172" y="598627"/>
                  </a:lnTo>
                  <a:close/>
                </a:path>
              </a:pathLst>
            </a:custGeom>
            <a:ln w="9525">
              <a:solidFill>
                <a:srgbClr val="000000"/>
              </a:solidFill>
            </a:ln>
          </p:spPr>
          <p:txBody>
            <a:bodyPr wrap="square" lIns="0" tIns="0" rIns="0" bIns="0" rtlCol="0"/>
            <a:lstStyle/>
            <a:p>
              <a:endParaRPr/>
            </a:p>
          </p:txBody>
        </p:sp>
        <p:sp>
          <p:nvSpPr>
            <p:cNvPr id="10" name="object 10"/>
            <p:cNvSpPr/>
            <p:nvPr/>
          </p:nvSpPr>
          <p:spPr>
            <a:xfrm>
              <a:off x="5181600" y="390149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1" name="object 11"/>
            <p:cNvSpPr/>
            <p:nvPr/>
          </p:nvSpPr>
          <p:spPr>
            <a:xfrm>
              <a:off x="5181600" y="390149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2" name="object 12"/>
            <p:cNvSpPr/>
            <p:nvPr/>
          </p:nvSpPr>
          <p:spPr>
            <a:xfrm>
              <a:off x="3962400" y="3276600"/>
              <a:ext cx="838200" cy="381000"/>
            </a:xfrm>
            <a:custGeom>
              <a:avLst/>
              <a:gdLst/>
              <a:ahLst/>
              <a:cxnLst/>
              <a:rect l="l" t="t" r="r" b="b"/>
              <a:pathLst>
                <a:path w="838200" h="381000">
                  <a:moveTo>
                    <a:pt x="838200" y="0"/>
                  </a:moveTo>
                  <a:lnTo>
                    <a:pt x="0" y="0"/>
                  </a:lnTo>
                  <a:lnTo>
                    <a:pt x="0" y="381000"/>
                  </a:lnTo>
                  <a:lnTo>
                    <a:pt x="838200" y="381000"/>
                  </a:lnTo>
                  <a:lnTo>
                    <a:pt x="838200" y="0"/>
                  </a:lnTo>
                  <a:close/>
                </a:path>
              </a:pathLst>
            </a:custGeom>
            <a:solidFill>
              <a:srgbClr val="4F81BC"/>
            </a:solidFill>
          </p:spPr>
          <p:txBody>
            <a:bodyPr wrap="square" lIns="0" tIns="0" rIns="0" bIns="0" rtlCol="0"/>
            <a:lstStyle/>
            <a:p>
              <a:endParaRPr/>
            </a:p>
          </p:txBody>
        </p:sp>
      </p:grpSp>
      <p:sp>
        <p:nvSpPr>
          <p:cNvPr id="13" name="object 13"/>
          <p:cNvSpPr txBox="1">
            <a:spLocks noGrp="1"/>
          </p:cNvSpPr>
          <p:nvPr>
            <p:ph type="title"/>
          </p:nvPr>
        </p:nvSpPr>
        <p:spPr>
          <a:xfrm>
            <a:off x="2381058" y="457200"/>
            <a:ext cx="3241802" cy="696594"/>
          </a:xfrm>
          <a:prstGeom prst="rect">
            <a:avLst/>
          </a:prstGeom>
        </p:spPr>
        <p:txBody>
          <a:bodyPr vert="horz" wrap="square" lIns="0" tIns="13335" rIns="0" bIns="0" rtlCol="0">
            <a:spAutoFit/>
          </a:bodyPr>
          <a:lstStyle/>
          <a:p>
            <a:pPr marL="12700">
              <a:lnSpc>
                <a:spcPct val="100000"/>
              </a:lnSpc>
              <a:spcBef>
                <a:spcPts val="105"/>
              </a:spcBef>
            </a:pPr>
            <a:r>
              <a:rPr dirty="0"/>
              <a:t>Star</a:t>
            </a:r>
            <a:r>
              <a:rPr spc="-80" dirty="0"/>
              <a:t> </a:t>
            </a:r>
            <a:r>
              <a:rPr dirty="0"/>
              <a:t>Topology</a:t>
            </a:r>
          </a:p>
        </p:txBody>
      </p:sp>
      <p:sp>
        <p:nvSpPr>
          <p:cNvPr id="14" name="object 14"/>
          <p:cNvSpPr txBox="1"/>
          <p:nvPr/>
        </p:nvSpPr>
        <p:spPr>
          <a:xfrm>
            <a:off x="4178046" y="3305936"/>
            <a:ext cx="40767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H</a:t>
            </a:r>
            <a:r>
              <a:rPr sz="1800" spc="-5" dirty="0">
                <a:latin typeface="Calibri"/>
                <a:cs typeface="Calibri"/>
              </a:rPr>
              <a:t>ub</a:t>
            </a:r>
            <a:endParaRPr sz="1800" dirty="0">
              <a:latin typeface="Calibri"/>
              <a:cs typeface="Calibri"/>
            </a:endParaRPr>
          </a:p>
        </p:txBody>
      </p:sp>
      <p:grpSp>
        <p:nvGrpSpPr>
          <p:cNvPr id="15" name="object 15"/>
          <p:cNvGrpSpPr/>
          <p:nvPr/>
        </p:nvGrpSpPr>
        <p:grpSpPr>
          <a:xfrm>
            <a:off x="3885755" y="3043999"/>
            <a:ext cx="1068070" cy="813435"/>
            <a:chOff x="3885755" y="3043999"/>
            <a:chExt cx="1068070" cy="813435"/>
          </a:xfrm>
        </p:grpSpPr>
        <p:sp>
          <p:nvSpPr>
            <p:cNvPr id="16" name="object 16"/>
            <p:cNvSpPr/>
            <p:nvPr/>
          </p:nvSpPr>
          <p:spPr>
            <a:xfrm>
              <a:off x="3924426" y="3065779"/>
              <a:ext cx="337820" cy="297815"/>
            </a:xfrm>
            <a:custGeom>
              <a:avLst/>
              <a:gdLst/>
              <a:ahLst/>
              <a:cxnLst/>
              <a:rect l="l" t="t" r="r" b="b"/>
              <a:pathLst>
                <a:path w="337820" h="297814">
                  <a:moveTo>
                    <a:pt x="85978" y="0"/>
                  </a:moveTo>
                  <a:lnTo>
                    <a:pt x="0" y="125984"/>
                  </a:lnTo>
                  <a:lnTo>
                    <a:pt x="251713" y="297815"/>
                  </a:lnTo>
                  <a:lnTo>
                    <a:pt x="337693" y="171831"/>
                  </a:lnTo>
                  <a:lnTo>
                    <a:pt x="85978" y="0"/>
                  </a:lnTo>
                  <a:close/>
                </a:path>
              </a:pathLst>
            </a:custGeom>
            <a:solidFill>
              <a:srgbClr val="4F81BC"/>
            </a:solidFill>
          </p:spPr>
          <p:txBody>
            <a:bodyPr wrap="square" lIns="0" tIns="0" rIns="0" bIns="0" rtlCol="0"/>
            <a:lstStyle/>
            <a:p>
              <a:endParaRPr/>
            </a:p>
          </p:txBody>
        </p:sp>
        <p:sp>
          <p:nvSpPr>
            <p:cNvPr id="17" name="object 17"/>
            <p:cNvSpPr/>
            <p:nvPr/>
          </p:nvSpPr>
          <p:spPr>
            <a:xfrm>
              <a:off x="3924426" y="3065779"/>
              <a:ext cx="337820" cy="297815"/>
            </a:xfrm>
            <a:custGeom>
              <a:avLst/>
              <a:gdLst/>
              <a:ahLst/>
              <a:cxnLst/>
              <a:rect l="l" t="t" r="r" b="b"/>
              <a:pathLst>
                <a:path w="337820" h="297814">
                  <a:moveTo>
                    <a:pt x="85978" y="0"/>
                  </a:moveTo>
                  <a:lnTo>
                    <a:pt x="337693" y="171831"/>
                  </a:lnTo>
                  <a:lnTo>
                    <a:pt x="251713" y="297815"/>
                  </a:lnTo>
                  <a:lnTo>
                    <a:pt x="0" y="125984"/>
                  </a:lnTo>
                  <a:lnTo>
                    <a:pt x="85978" y="0"/>
                  </a:lnTo>
                  <a:close/>
                </a:path>
              </a:pathLst>
            </a:custGeom>
            <a:ln w="9525">
              <a:solidFill>
                <a:srgbClr val="000000"/>
              </a:solidFill>
            </a:ln>
          </p:spPr>
          <p:txBody>
            <a:bodyPr wrap="square" lIns="0" tIns="0" rIns="0" bIns="0" rtlCol="0"/>
            <a:lstStyle/>
            <a:p>
              <a:endParaRPr/>
            </a:p>
          </p:txBody>
        </p:sp>
        <p:sp>
          <p:nvSpPr>
            <p:cNvPr id="18" name="object 18"/>
            <p:cNvSpPr/>
            <p:nvPr/>
          </p:nvSpPr>
          <p:spPr>
            <a:xfrm>
              <a:off x="4598923" y="3048761"/>
              <a:ext cx="337820" cy="297815"/>
            </a:xfrm>
            <a:custGeom>
              <a:avLst/>
              <a:gdLst/>
              <a:ahLst/>
              <a:cxnLst/>
              <a:rect l="l" t="t" r="r" b="b"/>
              <a:pathLst>
                <a:path w="337820" h="297814">
                  <a:moveTo>
                    <a:pt x="251713" y="0"/>
                  </a:moveTo>
                  <a:lnTo>
                    <a:pt x="0" y="171830"/>
                  </a:lnTo>
                  <a:lnTo>
                    <a:pt x="85851" y="297688"/>
                  </a:lnTo>
                  <a:lnTo>
                    <a:pt x="337692" y="125857"/>
                  </a:lnTo>
                  <a:lnTo>
                    <a:pt x="251713" y="0"/>
                  </a:lnTo>
                  <a:close/>
                </a:path>
              </a:pathLst>
            </a:custGeom>
            <a:solidFill>
              <a:srgbClr val="4F81BC"/>
            </a:solidFill>
          </p:spPr>
          <p:txBody>
            <a:bodyPr wrap="square" lIns="0" tIns="0" rIns="0" bIns="0" rtlCol="0"/>
            <a:lstStyle/>
            <a:p>
              <a:endParaRPr/>
            </a:p>
          </p:txBody>
        </p:sp>
        <p:sp>
          <p:nvSpPr>
            <p:cNvPr id="19" name="object 19"/>
            <p:cNvSpPr/>
            <p:nvPr/>
          </p:nvSpPr>
          <p:spPr>
            <a:xfrm>
              <a:off x="4598923" y="3048761"/>
              <a:ext cx="337820" cy="297815"/>
            </a:xfrm>
            <a:custGeom>
              <a:avLst/>
              <a:gdLst/>
              <a:ahLst/>
              <a:cxnLst/>
              <a:rect l="l" t="t" r="r" b="b"/>
              <a:pathLst>
                <a:path w="337820" h="297814">
                  <a:moveTo>
                    <a:pt x="251713" y="0"/>
                  </a:moveTo>
                  <a:lnTo>
                    <a:pt x="0" y="171830"/>
                  </a:lnTo>
                  <a:lnTo>
                    <a:pt x="85851" y="297688"/>
                  </a:lnTo>
                  <a:lnTo>
                    <a:pt x="337692" y="125857"/>
                  </a:lnTo>
                  <a:lnTo>
                    <a:pt x="251713" y="0"/>
                  </a:lnTo>
                  <a:close/>
                </a:path>
              </a:pathLst>
            </a:custGeom>
            <a:ln w="9525">
              <a:solidFill>
                <a:srgbClr val="000000"/>
              </a:solidFill>
            </a:ln>
          </p:spPr>
          <p:txBody>
            <a:bodyPr wrap="square" lIns="0" tIns="0" rIns="0" bIns="0" rtlCol="0"/>
            <a:lstStyle/>
            <a:p>
              <a:endParaRPr/>
            </a:p>
          </p:txBody>
        </p:sp>
        <p:sp>
          <p:nvSpPr>
            <p:cNvPr id="20" name="object 20"/>
            <p:cNvSpPr/>
            <p:nvPr/>
          </p:nvSpPr>
          <p:spPr>
            <a:xfrm>
              <a:off x="3890517" y="3534155"/>
              <a:ext cx="332740" cy="310515"/>
            </a:xfrm>
            <a:custGeom>
              <a:avLst/>
              <a:gdLst/>
              <a:ahLst/>
              <a:cxnLst/>
              <a:rect l="l" t="t" r="r" b="b"/>
              <a:pathLst>
                <a:path w="332739" h="310514">
                  <a:moveTo>
                    <a:pt x="236601" y="0"/>
                  </a:moveTo>
                  <a:lnTo>
                    <a:pt x="0" y="192151"/>
                  </a:lnTo>
                  <a:lnTo>
                    <a:pt x="96139" y="310388"/>
                  </a:lnTo>
                  <a:lnTo>
                    <a:pt x="332740" y="118237"/>
                  </a:lnTo>
                  <a:lnTo>
                    <a:pt x="236601" y="0"/>
                  </a:lnTo>
                  <a:close/>
                </a:path>
              </a:pathLst>
            </a:custGeom>
            <a:solidFill>
              <a:srgbClr val="4F81BC"/>
            </a:solidFill>
          </p:spPr>
          <p:txBody>
            <a:bodyPr wrap="square" lIns="0" tIns="0" rIns="0" bIns="0" rtlCol="0"/>
            <a:lstStyle/>
            <a:p>
              <a:endParaRPr/>
            </a:p>
          </p:txBody>
        </p:sp>
        <p:sp>
          <p:nvSpPr>
            <p:cNvPr id="21" name="object 21"/>
            <p:cNvSpPr/>
            <p:nvPr/>
          </p:nvSpPr>
          <p:spPr>
            <a:xfrm>
              <a:off x="3890517" y="3534155"/>
              <a:ext cx="332740" cy="310515"/>
            </a:xfrm>
            <a:custGeom>
              <a:avLst/>
              <a:gdLst/>
              <a:ahLst/>
              <a:cxnLst/>
              <a:rect l="l" t="t" r="r" b="b"/>
              <a:pathLst>
                <a:path w="332739" h="310514">
                  <a:moveTo>
                    <a:pt x="236601" y="0"/>
                  </a:moveTo>
                  <a:lnTo>
                    <a:pt x="0" y="192151"/>
                  </a:lnTo>
                  <a:lnTo>
                    <a:pt x="96139" y="310388"/>
                  </a:lnTo>
                  <a:lnTo>
                    <a:pt x="332740" y="118237"/>
                  </a:lnTo>
                  <a:lnTo>
                    <a:pt x="236601" y="0"/>
                  </a:lnTo>
                  <a:close/>
                </a:path>
              </a:pathLst>
            </a:custGeom>
            <a:ln w="9525">
              <a:solidFill>
                <a:srgbClr val="000000"/>
              </a:solidFill>
            </a:ln>
          </p:spPr>
          <p:txBody>
            <a:bodyPr wrap="square" lIns="0" tIns="0" rIns="0" bIns="0" rtlCol="0"/>
            <a:lstStyle/>
            <a:p>
              <a:endParaRPr/>
            </a:p>
          </p:txBody>
        </p:sp>
        <p:sp>
          <p:nvSpPr>
            <p:cNvPr id="22" name="object 22"/>
            <p:cNvSpPr/>
            <p:nvPr/>
          </p:nvSpPr>
          <p:spPr>
            <a:xfrm>
              <a:off x="4616195" y="3541902"/>
              <a:ext cx="332740" cy="310515"/>
            </a:xfrm>
            <a:custGeom>
              <a:avLst/>
              <a:gdLst/>
              <a:ahLst/>
              <a:cxnLst/>
              <a:rect l="l" t="t" r="r" b="b"/>
              <a:pathLst>
                <a:path w="332739" h="310514">
                  <a:moveTo>
                    <a:pt x="96012" y="0"/>
                  </a:moveTo>
                  <a:lnTo>
                    <a:pt x="0" y="118237"/>
                  </a:lnTo>
                  <a:lnTo>
                    <a:pt x="236600" y="310388"/>
                  </a:lnTo>
                  <a:lnTo>
                    <a:pt x="332613" y="192151"/>
                  </a:lnTo>
                  <a:lnTo>
                    <a:pt x="96012" y="0"/>
                  </a:lnTo>
                  <a:close/>
                </a:path>
              </a:pathLst>
            </a:custGeom>
            <a:solidFill>
              <a:srgbClr val="4F81BC"/>
            </a:solidFill>
          </p:spPr>
          <p:txBody>
            <a:bodyPr wrap="square" lIns="0" tIns="0" rIns="0" bIns="0" rtlCol="0"/>
            <a:lstStyle/>
            <a:p>
              <a:endParaRPr/>
            </a:p>
          </p:txBody>
        </p:sp>
        <p:sp>
          <p:nvSpPr>
            <p:cNvPr id="23" name="object 23"/>
            <p:cNvSpPr/>
            <p:nvPr/>
          </p:nvSpPr>
          <p:spPr>
            <a:xfrm>
              <a:off x="4616195" y="3541902"/>
              <a:ext cx="332740" cy="310515"/>
            </a:xfrm>
            <a:custGeom>
              <a:avLst/>
              <a:gdLst/>
              <a:ahLst/>
              <a:cxnLst/>
              <a:rect l="l" t="t" r="r" b="b"/>
              <a:pathLst>
                <a:path w="332739" h="310514">
                  <a:moveTo>
                    <a:pt x="96012" y="0"/>
                  </a:moveTo>
                  <a:lnTo>
                    <a:pt x="332613" y="192151"/>
                  </a:lnTo>
                  <a:lnTo>
                    <a:pt x="236600" y="310388"/>
                  </a:lnTo>
                  <a:lnTo>
                    <a:pt x="0" y="118237"/>
                  </a:lnTo>
                  <a:lnTo>
                    <a:pt x="96012" y="0"/>
                  </a:lnTo>
                  <a:close/>
                </a:path>
              </a:pathLst>
            </a:custGeom>
            <a:ln w="9525">
              <a:solidFill>
                <a:srgbClr val="000000"/>
              </a:solidFill>
            </a:ln>
          </p:spPr>
          <p:txBody>
            <a:bodyPr wrap="square" lIns="0" tIns="0" rIns="0" bIns="0" rtlCol="0"/>
            <a:lstStyle/>
            <a:p>
              <a:endParaRPr/>
            </a:p>
          </p:txBody>
        </p:sp>
      </p:grpSp>
      <p:sp>
        <p:nvSpPr>
          <p:cNvPr id="24" name="object 24"/>
          <p:cNvSpPr txBox="1"/>
          <p:nvPr/>
        </p:nvSpPr>
        <p:spPr>
          <a:xfrm>
            <a:off x="3051175" y="1850263"/>
            <a:ext cx="158115"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A</a:t>
            </a:r>
            <a:endParaRPr sz="1800">
              <a:latin typeface="Calibri"/>
              <a:cs typeface="Calibri"/>
            </a:endParaRPr>
          </a:p>
        </p:txBody>
      </p:sp>
      <p:sp>
        <p:nvSpPr>
          <p:cNvPr id="25" name="object 25"/>
          <p:cNvSpPr txBox="1"/>
          <p:nvPr/>
        </p:nvSpPr>
        <p:spPr>
          <a:xfrm>
            <a:off x="5566028" y="1863928"/>
            <a:ext cx="166370" cy="30035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D</a:t>
            </a:r>
            <a:endParaRPr sz="1800">
              <a:latin typeface="Calibri"/>
              <a:cs typeface="Calibri"/>
            </a:endParaRPr>
          </a:p>
        </p:txBody>
      </p:sp>
      <p:sp>
        <p:nvSpPr>
          <p:cNvPr id="26" name="object 26"/>
          <p:cNvSpPr txBox="1"/>
          <p:nvPr/>
        </p:nvSpPr>
        <p:spPr>
          <a:xfrm>
            <a:off x="3051175" y="4607763"/>
            <a:ext cx="150495" cy="30035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B</a:t>
            </a:r>
            <a:endParaRPr sz="1800">
              <a:latin typeface="Calibri"/>
              <a:cs typeface="Calibri"/>
            </a:endParaRPr>
          </a:p>
        </p:txBody>
      </p:sp>
      <p:sp>
        <p:nvSpPr>
          <p:cNvPr id="27" name="object 27"/>
          <p:cNvSpPr txBox="1"/>
          <p:nvPr/>
        </p:nvSpPr>
        <p:spPr>
          <a:xfrm>
            <a:off x="5550153" y="4607763"/>
            <a:ext cx="145415" cy="30035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C</a:t>
            </a:r>
            <a:endParaRPr sz="1800">
              <a:latin typeface="Calibri"/>
              <a:cs typeface="Calibri"/>
            </a:endParaRPr>
          </a:p>
        </p:txBody>
      </p:sp>
      <p:pic>
        <p:nvPicPr>
          <p:cNvPr id="28" name="object 28"/>
          <p:cNvPicPr/>
          <p:nvPr/>
        </p:nvPicPr>
        <p:blipFill>
          <a:blip r:embed="rId3" cstate="print"/>
          <a:stretch>
            <a:fillRect/>
          </a:stretch>
        </p:blipFill>
        <p:spPr>
          <a:xfrm>
            <a:off x="6155267" y="359446"/>
            <a:ext cx="2887980" cy="1524684"/>
          </a:xfrm>
          <a:prstGeom prst="rect">
            <a:avLst/>
          </a:prstGeom>
        </p:spPr>
      </p:pic>
      <p:sp>
        <p:nvSpPr>
          <p:cNvPr id="31" name="Slide Number Placeholder 30">
            <a:extLst>
              <a:ext uri="{FF2B5EF4-FFF2-40B4-BE49-F238E27FC236}">
                <a16:creationId xmlns:a16="http://schemas.microsoft.com/office/drawing/2014/main" xmlns="" id="{35B2BA7A-E49E-3864-4BCD-91869D524188}"/>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23</a:t>
            </a:fld>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662237" y="2128888"/>
            <a:ext cx="3514725" cy="2524125"/>
            <a:chOff x="2662237" y="2128888"/>
            <a:chExt cx="3514725" cy="2524125"/>
          </a:xfrm>
        </p:grpSpPr>
        <p:sp>
          <p:nvSpPr>
            <p:cNvPr id="3" name="object 3"/>
            <p:cNvSpPr/>
            <p:nvPr/>
          </p:nvSpPr>
          <p:spPr>
            <a:xfrm>
              <a:off x="3124962" y="2591561"/>
              <a:ext cx="2590800" cy="1828800"/>
            </a:xfrm>
            <a:custGeom>
              <a:avLst/>
              <a:gdLst/>
              <a:ahLst/>
              <a:cxnLst/>
              <a:rect l="l" t="t" r="r" b="b"/>
              <a:pathLst>
                <a:path w="2590800" h="1828800">
                  <a:moveTo>
                    <a:pt x="76200" y="0"/>
                  </a:moveTo>
                  <a:lnTo>
                    <a:pt x="1295400" y="838200"/>
                  </a:lnTo>
                </a:path>
                <a:path w="2590800" h="1828800">
                  <a:moveTo>
                    <a:pt x="1295400" y="838200"/>
                  </a:moveTo>
                  <a:lnTo>
                    <a:pt x="2514600" y="0"/>
                  </a:lnTo>
                </a:path>
                <a:path w="2590800" h="1828800">
                  <a:moveTo>
                    <a:pt x="1295400" y="838200"/>
                  </a:moveTo>
                  <a:lnTo>
                    <a:pt x="0" y="1828800"/>
                  </a:lnTo>
                </a:path>
                <a:path w="2590800" h="1828800">
                  <a:moveTo>
                    <a:pt x="2590800" y="1828800"/>
                  </a:moveTo>
                  <a:lnTo>
                    <a:pt x="1295400" y="838200"/>
                  </a:lnTo>
                </a:path>
              </a:pathLst>
            </a:custGeom>
            <a:ln w="38100">
              <a:solidFill>
                <a:srgbClr val="000000"/>
              </a:solidFill>
            </a:ln>
          </p:spPr>
          <p:txBody>
            <a:bodyPr wrap="square" lIns="0" tIns="0" rIns="0" bIns="0" rtlCol="0"/>
            <a:lstStyle/>
            <a:p>
              <a:endParaRPr/>
            </a:p>
          </p:txBody>
        </p:sp>
        <p:sp>
          <p:nvSpPr>
            <p:cNvPr id="4" name="object 4"/>
            <p:cNvSpPr/>
            <p:nvPr/>
          </p:nvSpPr>
          <p:spPr>
            <a:xfrm>
              <a:off x="2667000" y="390149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5" name="object 5"/>
            <p:cNvSpPr/>
            <p:nvPr/>
          </p:nvSpPr>
          <p:spPr>
            <a:xfrm>
              <a:off x="2667000" y="390149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0" y="569417"/>
                  </a:lnTo>
                  <a:lnTo>
                    <a:pt x="129667"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6" name="object 6"/>
            <p:cNvSpPr/>
            <p:nvPr/>
          </p:nvSpPr>
          <p:spPr>
            <a:xfrm>
              <a:off x="51816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7" name="object 7"/>
            <p:cNvSpPr/>
            <p:nvPr/>
          </p:nvSpPr>
          <p:spPr>
            <a:xfrm>
              <a:off x="5181600" y="2133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8" name="object 8"/>
            <p:cNvSpPr/>
            <p:nvPr/>
          </p:nvSpPr>
          <p:spPr>
            <a:xfrm>
              <a:off x="26670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9" name="object 9"/>
            <p:cNvSpPr/>
            <p:nvPr/>
          </p:nvSpPr>
          <p:spPr>
            <a:xfrm>
              <a:off x="2667000" y="2133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0" y="569417"/>
                  </a:lnTo>
                  <a:lnTo>
                    <a:pt x="129667"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0" name="object 10"/>
            <p:cNvSpPr/>
            <p:nvPr/>
          </p:nvSpPr>
          <p:spPr>
            <a:xfrm>
              <a:off x="5181600" y="390149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1" name="object 11"/>
            <p:cNvSpPr/>
            <p:nvPr/>
          </p:nvSpPr>
          <p:spPr>
            <a:xfrm>
              <a:off x="5181600" y="390149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grpSp>
      <p:sp>
        <p:nvSpPr>
          <p:cNvPr id="12" name="object 1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Star</a:t>
            </a:r>
            <a:r>
              <a:rPr spc="-80" dirty="0"/>
              <a:t> </a:t>
            </a:r>
            <a:r>
              <a:rPr dirty="0"/>
              <a:t>Topology</a:t>
            </a:r>
          </a:p>
        </p:txBody>
      </p:sp>
      <p:sp>
        <p:nvSpPr>
          <p:cNvPr id="13" name="object 13"/>
          <p:cNvSpPr txBox="1"/>
          <p:nvPr/>
        </p:nvSpPr>
        <p:spPr>
          <a:xfrm>
            <a:off x="1074216" y="5959855"/>
            <a:ext cx="4090035" cy="269240"/>
          </a:xfrm>
          <a:prstGeom prst="rect">
            <a:avLst/>
          </a:prstGeom>
        </p:spPr>
        <p:txBody>
          <a:bodyPr vert="horz" wrap="square" lIns="0" tIns="12065" rIns="0" bIns="0" rtlCol="0">
            <a:spAutoFit/>
          </a:bodyPr>
          <a:lstStyle/>
          <a:p>
            <a:pPr marL="299085" indent="-287020">
              <a:lnSpc>
                <a:spcPct val="100000"/>
              </a:lnSpc>
              <a:spcBef>
                <a:spcPts val="95"/>
              </a:spcBef>
              <a:buFont typeface="Wingdings"/>
              <a:buChar char=""/>
              <a:tabLst>
                <a:tab pos="299085" algn="l"/>
                <a:tab pos="299720" algn="l"/>
              </a:tabLst>
            </a:pPr>
            <a:r>
              <a:rPr sz="1600" spc="-5" dirty="0">
                <a:latin typeface="Times New Roman"/>
                <a:cs typeface="Times New Roman"/>
              </a:rPr>
              <a:t>More</a:t>
            </a:r>
            <a:r>
              <a:rPr sz="1600" spc="20" dirty="0">
                <a:latin typeface="Times New Roman"/>
                <a:cs typeface="Times New Roman"/>
              </a:rPr>
              <a:t> </a:t>
            </a:r>
            <a:r>
              <a:rPr sz="1600" spc="-5" dirty="0">
                <a:latin typeface="Times New Roman"/>
                <a:cs typeface="Times New Roman"/>
              </a:rPr>
              <a:t>cabling</a:t>
            </a:r>
            <a:r>
              <a:rPr sz="1600" spc="15" dirty="0">
                <a:latin typeface="Times New Roman"/>
                <a:cs typeface="Times New Roman"/>
              </a:rPr>
              <a:t> </a:t>
            </a:r>
            <a:r>
              <a:rPr sz="1600" spc="-5" dirty="0">
                <a:latin typeface="Times New Roman"/>
                <a:cs typeface="Times New Roman"/>
              </a:rPr>
              <a:t>is</a:t>
            </a:r>
            <a:r>
              <a:rPr sz="1600" spc="15" dirty="0">
                <a:latin typeface="Times New Roman"/>
                <a:cs typeface="Times New Roman"/>
              </a:rPr>
              <a:t> </a:t>
            </a:r>
            <a:r>
              <a:rPr sz="1600" spc="-5" dirty="0">
                <a:latin typeface="Times New Roman"/>
                <a:cs typeface="Times New Roman"/>
              </a:rPr>
              <a:t>required</a:t>
            </a:r>
            <a:r>
              <a:rPr sz="1600" spc="25" dirty="0">
                <a:latin typeface="Times New Roman"/>
                <a:cs typeface="Times New Roman"/>
              </a:rPr>
              <a:t> </a:t>
            </a:r>
            <a:r>
              <a:rPr sz="1600" spc="-5" dirty="0">
                <a:latin typeface="Times New Roman"/>
                <a:cs typeface="Times New Roman"/>
              </a:rPr>
              <a:t>than</a:t>
            </a:r>
            <a:r>
              <a:rPr sz="1600" spc="15" dirty="0">
                <a:latin typeface="Times New Roman"/>
                <a:cs typeface="Times New Roman"/>
              </a:rPr>
              <a:t> </a:t>
            </a:r>
            <a:r>
              <a:rPr sz="1600" spc="-5" dirty="0">
                <a:latin typeface="Times New Roman"/>
                <a:cs typeface="Times New Roman"/>
              </a:rPr>
              <a:t>other</a:t>
            </a:r>
            <a:r>
              <a:rPr sz="1600" spc="5" dirty="0">
                <a:latin typeface="Times New Roman"/>
                <a:cs typeface="Times New Roman"/>
              </a:rPr>
              <a:t> </a:t>
            </a:r>
            <a:r>
              <a:rPr sz="1600" spc="-5" dirty="0">
                <a:latin typeface="Times New Roman"/>
                <a:cs typeface="Times New Roman"/>
              </a:rPr>
              <a:t>topologies</a:t>
            </a:r>
            <a:endParaRPr sz="1600">
              <a:latin typeface="Times New Roman"/>
              <a:cs typeface="Times New Roman"/>
            </a:endParaRPr>
          </a:p>
        </p:txBody>
      </p:sp>
      <p:sp>
        <p:nvSpPr>
          <p:cNvPr id="14" name="object 14"/>
          <p:cNvSpPr txBox="1"/>
          <p:nvPr/>
        </p:nvSpPr>
        <p:spPr>
          <a:xfrm>
            <a:off x="3051175" y="1850263"/>
            <a:ext cx="158115"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A</a:t>
            </a:r>
            <a:endParaRPr sz="1800">
              <a:latin typeface="Calibri"/>
              <a:cs typeface="Calibri"/>
            </a:endParaRPr>
          </a:p>
        </p:txBody>
      </p:sp>
      <p:sp>
        <p:nvSpPr>
          <p:cNvPr id="15" name="object 15"/>
          <p:cNvSpPr txBox="1"/>
          <p:nvPr/>
        </p:nvSpPr>
        <p:spPr>
          <a:xfrm>
            <a:off x="5566028" y="1863928"/>
            <a:ext cx="166370" cy="30035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D</a:t>
            </a:r>
            <a:endParaRPr sz="1800">
              <a:latin typeface="Calibri"/>
              <a:cs typeface="Calibri"/>
            </a:endParaRPr>
          </a:p>
        </p:txBody>
      </p:sp>
      <p:sp>
        <p:nvSpPr>
          <p:cNvPr id="16" name="object 16"/>
          <p:cNvSpPr txBox="1"/>
          <p:nvPr/>
        </p:nvSpPr>
        <p:spPr>
          <a:xfrm>
            <a:off x="3051175" y="4607763"/>
            <a:ext cx="150495" cy="30035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B</a:t>
            </a:r>
            <a:endParaRPr sz="1800">
              <a:latin typeface="Calibri"/>
              <a:cs typeface="Calibri"/>
            </a:endParaRPr>
          </a:p>
        </p:txBody>
      </p:sp>
      <p:sp>
        <p:nvSpPr>
          <p:cNvPr id="17" name="object 17"/>
          <p:cNvSpPr txBox="1"/>
          <p:nvPr/>
        </p:nvSpPr>
        <p:spPr>
          <a:xfrm>
            <a:off x="5550153" y="4607763"/>
            <a:ext cx="145415" cy="30035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C</a:t>
            </a:r>
            <a:endParaRPr sz="1800">
              <a:latin typeface="Calibri"/>
              <a:cs typeface="Calibri"/>
            </a:endParaRPr>
          </a:p>
        </p:txBody>
      </p:sp>
      <p:pic>
        <p:nvPicPr>
          <p:cNvPr id="18" name="object 18"/>
          <p:cNvPicPr/>
          <p:nvPr/>
        </p:nvPicPr>
        <p:blipFill>
          <a:blip r:embed="rId2" cstate="print"/>
          <a:stretch>
            <a:fillRect/>
          </a:stretch>
        </p:blipFill>
        <p:spPr>
          <a:xfrm>
            <a:off x="556259" y="1548383"/>
            <a:ext cx="7908035" cy="4212336"/>
          </a:xfrm>
          <a:prstGeom prst="rect">
            <a:avLst/>
          </a:prstGeom>
        </p:spPr>
      </p:pic>
      <p:sp>
        <p:nvSpPr>
          <p:cNvPr id="21" name="Slide Number Placeholder 20">
            <a:extLst>
              <a:ext uri="{FF2B5EF4-FFF2-40B4-BE49-F238E27FC236}">
                <a16:creationId xmlns:a16="http://schemas.microsoft.com/office/drawing/2014/main" xmlns="" id="{E810751C-FF3C-03D5-10EE-D84A43F46AC1}"/>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24</a:t>
            </a:fld>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26957" y="6427114"/>
            <a:ext cx="18161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878787"/>
                </a:solidFill>
                <a:latin typeface="Calibri"/>
                <a:cs typeface="Calibri"/>
              </a:rPr>
              <a:t>20</a:t>
            </a:r>
            <a:endParaRPr sz="1200">
              <a:latin typeface="Calibri"/>
              <a:cs typeface="Calibri"/>
            </a:endParaRPr>
          </a:p>
        </p:txBody>
      </p:sp>
      <p:grpSp>
        <p:nvGrpSpPr>
          <p:cNvPr id="3" name="object 3"/>
          <p:cNvGrpSpPr/>
          <p:nvPr/>
        </p:nvGrpSpPr>
        <p:grpSpPr>
          <a:xfrm>
            <a:off x="838200" y="2128888"/>
            <a:ext cx="7315200" cy="1986280"/>
            <a:chOff x="838200" y="2128888"/>
            <a:chExt cx="7315200" cy="1986280"/>
          </a:xfrm>
        </p:grpSpPr>
        <p:pic>
          <p:nvPicPr>
            <p:cNvPr id="4" name="object 4"/>
            <p:cNvPicPr/>
            <p:nvPr/>
          </p:nvPicPr>
          <p:blipFill>
            <a:blip r:embed="rId2" cstate="print"/>
            <a:stretch>
              <a:fillRect/>
            </a:stretch>
          </p:blipFill>
          <p:spPr>
            <a:xfrm>
              <a:off x="914400" y="2628899"/>
              <a:ext cx="7162800" cy="1485900"/>
            </a:xfrm>
            <a:prstGeom prst="rect">
              <a:avLst/>
            </a:prstGeom>
          </p:spPr>
        </p:pic>
        <p:sp>
          <p:nvSpPr>
            <p:cNvPr id="5" name="object 5"/>
            <p:cNvSpPr/>
            <p:nvPr/>
          </p:nvSpPr>
          <p:spPr>
            <a:xfrm>
              <a:off x="1828800" y="2133650"/>
              <a:ext cx="990600" cy="746760"/>
            </a:xfrm>
            <a:custGeom>
              <a:avLst/>
              <a:gdLst/>
              <a:ahLst/>
              <a:cxnLst/>
              <a:rect l="l" t="t" r="r" b="b"/>
              <a:pathLst>
                <a:path w="990600" h="746760">
                  <a:moveTo>
                    <a:pt x="840473" y="0"/>
                  </a:moveTo>
                  <a:lnTo>
                    <a:pt x="154178" y="0"/>
                  </a:lnTo>
                  <a:lnTo>
                    <a:pt x="154178" y="496011"/>
                  </a:lnTo>
                  <a:lnTo>
                    <a:pt x="840473" y="496011"/>
                  </a:lnTo>
                  <a:lnTo>
                    <a:pt x="840473"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6" name="object 6"/>
            <p:cNvSpPr/>
            <p:nvPr/>
          </p:nvSpPr>
          <p:spPr>
            <a:xfrm>
              <a:off x="1828800" y="213365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1" y="569417"/>
                  </a:lnTo>
                  <a:lnTo>
                    <a:pt x="129667" y="569417"/>
                  </a:lnTo>
                  <a:close/>
                </a:path>
                <a:path w="990600" h="746760">
                  <a:moveTo>
                    <a:pt x="106172" y="599897"/>
                  </a:moveTo>
                  <a:lnTo>
                    <a:pt x="85851" y="620598"/>
                  </a:lnTo>
                  <a:lnTo>
                    <a:pt x="910970" y="620598"/>
                  </a:lnTo>
                  <a:lnTo>
                    <a:pt x="889507" y="599897"/>
                  </a:lnTo>
                  <a:lnTo>
                    <a:pt x="106172" y="599897"/>
                  </a:lnTo>
                  <a:close/>
                </a:path>
              </a:pathLst>
            </a:custGeom>
            <a:ln w="952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838200" y="3886200"/>
              <a:ext cx="76200" cy="228600"/>
            </a:xfrm>
            <a:prstGeom prst="rect">
              <a:avLst/>
            </a:prstGeom>
          </p:spPr>
        </p:pic>
        <p:pic>
          <p:nvPicPr>
            <p:cNvPr id="8" name="object 8"/>
            <p:cNvPicPr/>
            <p:nvPr/>
          </p:nvPicPr>
          <p:blipFill>
            <a:blip r:embed="rId3" cstate="print"/>
            <a:stretch>
              <a:fillRect/>
            </a:stretch>
          </p:blipFill>
          <p:spPr>
            <a:xfrm>
              <a:off x="8077200" y="3886200"/>
              <a:ext cx="76200" cy="228600"/>
            </a:xfrm>
            <a:prstGeom prst="rect">
              <a:avLst/>
            </a:prstGeom>
          </p:spPr>
        </p:pic>
        <p:sp>
          <p:nvSpPr>
            <p:cNvPr id="9" name="object 9"/>
            <p:cNvSpPr/>
            <p:nvPr/>
          </p:nvSpPr>
          <p:spPr>
            <a:xfrm>
              <a:off x="32766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0" name="object 10"/>
            <p:cNvSpPr/>
            <p:nvPr/>
          </p:nvSpPr>
          <p:spPr>
            <a:xfrm>
              <a:off x="3276600" y="2133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1" name="object 11"/>
            <p:cNvSpPr/>
            <p:nvPr/>
          </p:nvSpPr>
          <p:spPr>
            <a:xfrm>
              <a:off x="47244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2" name="object 12"/>
            <p:cNvSpPr/>
            <p:nvPr/>
          </p:nvSpPr>
          <p:spPr>
            <a:xfrm>
              <a:off x="4724400" y="2133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3" name="object 13"/>
            <p:cNvSpPr/>
            <p:nvPr/>
          </p:nvSpPr>
          <p:spPr>
            <a:xfrm>
              <a:off x="60960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4" name="object 14"/>
            <p:cNvSpPr/>
            <p:nvPr/>
          </p:nvSpPr>
          <p:spPr>
            <a:xfrm>
              <a:off x="6096000" y="213365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5"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5" y="537540"/>
                  </a:lnTo>
                  <a:lnTo>
                    <a:pt x="152146" y="537540"/>
                  </a:lnTo>
                  <a:close/>
                </a:path>
                <a:path w="990600" h="746760">
                  <a:moveTo>
                    <a:pt x="284988" y="633044"/>
                  </a:moveTo>
                  <a:lnTo>
                    <a:pt x="272669" y="652475"/>
                  </a:lnTo>
                  <a:lnTo>
                    <a:pt x="723010"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7" y="599897"/>
                  </a:lnTo>
                  <a:lnTo>
                    <a:pt x="106172" y="599897"/>
                  </a:lnTo>
                  <a:close/>
                </a:path>
              </a:pathLst>
            </a:custGeom>
            <a:ln w="9525">
              <a:solidFill>
                <a:srgbClr val="000000"/>
              </a:solidFill>
            </a:ln>
          </p:spPr>
          <p:txBody>
            <a:bodyPr wrap="square" lIns="0" tIns="0" rIns="0" bIns="0" rtlCol="0"/>
            <a:lstStyle/>
            <a:p>
              <a:endParaRPr/>
            </a:p>
          </p:txBody>
        </p:sp>
      </p:grpSp>
      <p:sp>
        <p:nvSpPr>
          <p:cNvPr id="15" name="object 15"/>
          <p:cNvSpPr txBox="1">
            <a:spLocks noGrp="1"/>
          </p:cNvSpPr>
          <p:nvPr>
            <p:ph type="title"/>
          </p:nvPr>
        </p:nvSpPr>
        <p:spPr>
          <a:xfrm>
            <a:off x="2964942" y="478663"/>
            <a:ext cx="3213100" cy="696595"/>
          </a:xfrm>
          <a:prstGeom prst="rect">
            <a:avLst/>
          </a:prstGeom>
        </p:spPr>
        <p:txBody>
          <a:bodyPr vert="horz" wrap="square" lIns="0" tIns="13335" rIns="0" bIns="0" rtlCol="0">
            <a:spAutoFit/>
          </a:bodyPr>
          <a:lstStyle/>
          <a:p>
            <a:pPr marL="12700">
              <a:lnSpc>
                <a:spcPct val="100000"/>
              </a:lnSpc>
              <a:spcBef>
                <a:spcPts val="105"/>
              </a:spcBef>
            </a:pPr>
            <a:r>
              <a:rPr dirty="0"/>
              <a:t>Bus</a:t>
            </a:r>
            <a:r>
              <a:rPr spc="-65" dirty="0"/>
              <a:t> </a:t>
            </a:r>
            <a:r>
              <a:rPr dirty="0"/>
              <a:t>Topology</a:t>
            </a:r>
          </a:p>
        </p:txBody>
      </p:sp>
      <p:sp>
        <p:nvSpPr>
          <p:cNvPr id="16" name="object 16"/>
          <p:cNvSpPr txBox="1"/>
          <p:nvPr/>
        </p:nvSpPr>
        <p:spPr>
          <a:xfrm>
            <a:off x="2425445" y="3098419"/>
            <a:ext cx="485775" cy="577215"/>
          </a:xfrm>
          <a:prstGeom prst="rect">
            <a:avLst/>
          </a:prstGeom>
        </p:spPr>
        <p:txBody>
          <a:bodyPr vert="horz" wrap="square" lIns="0" tIns="9525" rIns="0" bIns="0" rtlCol="0">
            <a:spAutoFit/>
          </a:bodyPr>
          <a:lstStyle/>
          <a:p>
            <a:pPr marL="12700" marR="5080">
              <a:lnSpc>
                <a:spcPct val="101099"/>
              </a:lnSpc>
              <a:spcBef>
                <a:spcPts val="75"/>
              </a:spcBef>
            </a:pPr>
            <a:r>
              <a:rPr sz="1800" spc="-5" dirty="0">
                <a:latin typeface="Calibri"/>
                <a:cs typeface="Calibri"/>
              </a:rPr>
              <a:t>D</a:t>
            </a:r>
            <a:r>
              <a:rPr sz="1800" spc="-10" dirty="0">
                <a:latin typeface="Calibri"/>
                <a:cs typeface="Calibri"/>
              </a:rPr>
              <a:t>r</a:t>
            </a:r>
            <a:r>
              <a:rPr sz="1800" spc="-5" dirty="0">
                <a:latin typeface="Calibri"/>
                <a:cs typeface="Calibri"/>
              </a:rPr>
              <a:t>op  line</a:t>
            </a:r>
            <a:endParaRPr sz="1800">
              <a:latin typeface="Calibri"/>
              <a:cs typeface="Calibri"/>
            </a:endParaRPr>
          </a:p>
        </p:txBody>
      </p:sp>
      <p:sp>
        <p:nvSpPr>
          <p:cNvPr id="17" name="object 17"/>
          <p:cNvSpPr txBox="1"/>
          <p:nvPr/>
        </p:nvSpPr>
        <p:spPr>
          <a:xfrm>
            <a:off x="2120645" y="4091762"/>
            <a:ext cx="367030"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Tap</a:t>
            </a:r>
            <a:endParaRPr sz="1800">
              <a:latin typeface="Calibri"/>
              <a:cs typeface="Calibri"/>
            </a:endParaRPr>
          </a:p>
        </p:txBody>
      </p:sp>
      <p:grpSp>
        <p:nvGrpSpPr>
          <p:cNvPr id="18" name="object 18"/>
          <p:cNvGrpSpPr/>
          <p:nvPr/>
        </p:nvGrpSpPr>
        <p:grpSpPr>
          <a:xfrm>
            <a:off x="833437" y="4170997"/>
            <a:ext cx="1093470" cy="786765"/>
            <a:chOff x="833437" y="4170997"/>
            <a:chExt cx="1093470" cy="786765"/>
          </a:xfrm>
        </p:grpSpPr>
        <p:sp>
          <p:nvSpPr>
            <p:cNvPr id="19" name="object 19"/>
            <p:cNvSpPr/>
            <p:nvPr/>
          </p:nvSpPr>
          <p:spPr>
            <a:xfrm>
              <a:off x="838200" y="4175759"/>
              <a:ext cx="1083945" cy="777240"/>
            </a:xfrm>
            <a:custGeom>
              <a:avLst/>
              <a:gdLst/>
              <a:ahLst/>
              <a:cxnLst/>
              <a:rect l="l" t="t" r="r" b="b"/>
              <a:pathLst>
                <a:path w="1083945" h="777239">
                  <a:moveTo>
                    <a:pt x="1022604" y="411479"/>
                  </a:moveTo>
                  <a:lnTo>
                    <a:pt x="60959" y="411479"/>
                  </a:lnTo>
                  <a:lnTo>
                    <a:pt x="37231" y="416272"/>
                  </a:lnTo>
                  <a:lnTo>
                    <a:pt x="17854" y="429339"/>
                  </a:lnTo>
                  <a:lnTo>
                    <a:pt x="4790" y="448716"/>
                  </a:lnTo>
                  <a:lnTo>
                    <a:pt x="0" y="472439"/>
                  </a:lnTo>
                  <a:lnTo>
                    <a:pt x="0" y="716279"/>
                  </a:lnTo>
                  <a:lnTo>
                    <a:pt x="4790" y="740003"/>
                  </a:lnTo>
                  <a:lnTo>
                    <a:pt x="17854" y="759380"/>
                  </a:lnTo>
                  <a:lnTo>
                    <a:pt x="37231" y="772447"/>
                  </a:lnTo>
                  <a:lnTo>
                    <a:pt x="60959" y="777239"/>
                  </a:lnTo>
                  <a:lnTo>
                    <a:pt x="1022604" y="777239"/>
                  </a:lnTo>
                  <a:lnTo>
                    <a:pt x="1046327" y="772447"/>
                  </a:lnTo>
                  <a:lnTo>
                    <a:pt x="1065704" y="759380"/>
                  </a:lnTo>
                  <a:lnTo>
                    <a:pt x="1078771" y="740003"/>
                  </a:lnTo>
                  <a:lnTo>
                    <a:pt x="1083564" y="716279"/>
                  </a:lnTo>
                  <a:lnTo>
                    <a:pt x="1083564" y="472439"/>
                  </a:lnTo>
                  <a:lnTo>
                    <a:pt x="1078771" y="448716"/>
                  </a:lnTo>
                  <a:lnTo>
                    <a:pt x="1065704" y="429339"/>
                  </a:lnTo>
                  <a:lnTo>
                    <a:pt x="1046327" y="416272"/>
                  </a:lnTo>
                  <a:lnTo>
                    <a:pt x="1022604" y="411479"/>
                  </a:lnTo>
                  <a:close/>
                </a:path>
                <a:path w="1083945" h="777239">
                  <a:moveTo>
                    <a:pt x="35318" y="0"/>
                  </a:moveTo>
                  <a:lnTo>
                    <a:pt x="180594" y="411479"/>
                  </a:lnTo>
                  <a:lnTo>
                    <a:pt x="451484" y="411479"/>
                  </a:lnTo>
                  <a:lnTo>
                    <a:pt x="35318" y="0"/>
                  </a:lnTo>
                  <a:close/>
                </a:path>
              </a:pathLst>
            </a:custGeom>
            <a:solidFill>
              <a:srgbClr val="4F81BC"/>
            </a:solidFill>
          </p:spPr>
          <p:txBody>
            <a:bodyPr wrap="square" lIns="0" tIns="0" rIns="0" bIns="0" rtlCol="0"/>
            <a:lstStyle/>
            <a:p>
              <a:endParaRPr/>
            </a:p>
          </p:txBody>
        </p:sp>
        <p:sp>
          <p:nvSpPr>
            <p:cNvPr id="20" name="object 20"/>
            <p:cNvSpPr/>
            <p:nvPr/>
          </p:nvSpPr>
          <p:spPr>
            <a:xfrm>
              <a:off x="838200" y="4175759"/>
              <a:ext cx="1083945" cy="777240"/>
            </a:xfrm>
            <a:custGeom>
              <a:avLst/>
              <a:gdLst/>
              <a:ahLst/>
              <a:cxnLst/>
              <a:rect l="l" t="t" r="r" b="b"/>
              <a:pathLst>
                <a:path w="1083945" h="777239">
                  <a:moveTo>
                    <a:pt x="0" y="472439"/>
                  </a:moveTo>
                  <a:lnTo>
                    <a:pt x="4790" y="448716"/>
                  </a:lnTo>
                  <a:lnTo>
                    <a:pt x="17854" y="429339"/>
                  </a:lnTo>
                  <a:lnTo>
                    <a:pt x="37231" y="416272"/>
                  </a:lnTo>
                  <a:lnTo>
                    <a:pt x="60959" y="411479"/>
                  </a:lnTo>
                  <a:lnTo>
                    <a:pt x="180594" y="411479"/>
                  </a:lnTo>
                  <a:lnTo>
                    <a:pt x="35318" y="0"/>
                  </a:lnTo>
                  <a:lnTo>
                    <a:pt x="451484" y="411479"/>
                  </a:lnTo>
                  <a:lnTo>
                    <a:pt x="1022604" y="411479"/>
                  </a:lnTo>
                  <a:lnTo>
                    <a:pt x="1046327" y="416272"/>
                  </a:lnTo>
                  <a:lnTo>
                    <a:pt x="1065704" y="429339"/>
                  </a:lnTo>
                  <a:lnTo>
                    <a:pt x="1078771" y="448716"/>
                  </a:lnTo>
                  <a:lnTo>
                    <a:pt x="1083564" y="472439"/>
                  </a:lnTo>
                  <a:lnTo>
                    <a:pt x="1083564" y="563879"/>
                  </a:lnTo>
                  <a:lnTo>
                    <a:pt x="1083564" y="716279"/>
                  </a:lnTo>
                  <a:lnTo>
                    <a:pt x="1078771" y="740003"/>
                  </a:lnTo>
                  <a:lnTo>
                    <a:pt x="1065704" y="759380"/>
                  </a:lnTo>
                  <a:lnTo>
                    <a:pt x="1046327" y="772447"/>
                  </a:lnTo>
                  <a:lnTo>
                    <a:pt x="1022604" y="777239"/>
                  </a:lnTo>
                  <a:lnTo>
                    <a:pt x="451484" y="777239"/>
                  </a:lnTo>
                  <a:lnTo>
                    <a:pt x="180594" y="777239"/>
                  </a:lnTo>
                  <a:lnTo>
                    <a:pt x="60959" y="777239"/>
                  </a:lnTo>
                  <a:lnTo>
                    <a:pt x="37231" y="772447"/>
                  </a:lnTo>
                  <a:lnTo>
                    <a:pt x="17854" y="759380"/>
                  </a:lnTo>
                  <a:lnTo>
                    <a:pt x="4790" y="740003"/>
                  </a:lnTo>
                  <a:lnTo>
                    <a:pt x="0" y="716279"/>
                  </a:lnTo>
                  <a:lnTo>
                    <a:pt x="0" y="563879"/>
                  </a:lnTo>
                  <a:lnTo>
                    <a:pt x="0" y="472439"/>
                  </a:lnTo>
                  <a:close/>
                </a:path>
              </a:pathLst>
            </a:custGeom>
            <a:ln w="9525">
              <a:solidFill>
                <a:srgbClr val="000000"/>
              </a:solidFill>
            </a:ln>
          </p:spPr>
          <p:txBody>
            <a:bodyPr wrap="square" lIns="0" tIns="0" rIns="0" bIns="0" rtlCol="0"/>
            <a:lstStyle/>
            <a:p>
              <a:endParaRPr/>
            </a:p>
          </p:txBody>
        </p:sp>
      </p:grpSp>
      <p:sp>
        <p:nvSpPr>
          <p:cNvPr id="21" name="object 21"/>
          <p:cNvSpPr txBox="1"/>
          <p:nvPr/>
        </p:nvSpPr>
        <p:spPr>
          <a:xfrm>
            <a:off x="1011732" y="4629150"/>
            <a:ext cx="736600" cy="757555"/>
          </a:xfrm>
          <a:prstGeom prst="rect">
            <a:avLst/>
          </a:prstGeom>
        </p:spPr>
        <p:txBody>
          <a:bodyPr vert="horz" wrap="square" lIns="0" tIns="12700" rIns="0" bIns="0" rtlCol="0">
            <a:spAutoFit/>
          </a:bodyPr>
          <a:lstStyle/>
          <a:p>
            <a:pPr marL="121920" marR="5080" indent="-109855">
              <a:lnSpc>
                <a:spcPct val="100000"/>
              </a:lnSpc>
              <a:spcBef>
                <a:spcPts val="100"/>
              </a:spcBef>
            </a:pPr>
            <a:r>
              <a:rPr sz="2400" dirty="0">
                <a:latin typeface="Times New Roman"/>
                <a:cs typeface="Times New Roman"/>
              </a:rPr>
              <a:t>Cable  End</a:t>
            </a:r>
            <a:endParaRPr sz="2400">
              <a:latin typeface="Times New Roman"/>
              <a:cs typeface="Times New Roman"/>
            </a:endParaRPr>
          </a:p>
        </p:txBody>
      </p:sp>
      <p:grpSp>
        <p:nvGrpSpPr>
          <p:cNvPr id="22" name="object 22"/>
          <p:cNvGrpSpPr/>
          <p:nvPr/>
        </p:nvGrpSpPr>
        <p:grpSpPr>
          <a:xfrm>
            <a:off x="8072437" y="4094797"/>
            <a:ext cx="962025" cy="786765"/>
            <a:chOff x="8072437" y="4094797"/>
            <a:chExt cx="962025" cy="786765"/>
          </a:xfrm>
        </p:grpSpPr>
        <p:sp>
          <p:nvSpPr>
            <p:cNvPr id="23" name="object 23"/>
            <p:cNvSpPr/>
            <p:nvPr/>
          </p:nvSpPr>
          <p:spPr>
            <a:xfrm>
              <a:off x="8077200" y="4099559"/>
              <a:ext cx="952500" cy="777240"/>
            </a:xfrm>
            <a:custGeom>
              <a:avLst/>
              <a:gdLst/>
              <a:ahLst/>
              <a:cxnLst/>
              <a:rect l="l" t="t" r="r" b="b"/>
              <a:pathLst>
                <a:path w="952500" h="777239">
                  <a:moveTo>
                    <a:pt x="891540" y="411479"/>
                  </a:moveTo>
                  <a:lnTo>
                    <a:pt x="60959" y="411479"/>
                  </a:lnTo>
                  <a:lnTo>
                    <a:pt x="37236" y="416272"/>
                  </a:lnTo>
                  <a:lnTo>
                    <a:pt x="17859" y="429339"/>
                  </a:lnTo>
                  <a:lnTo>
                    <a:pt x="4792" y="448716"/>
                  </a:lnTo>
                  <a:lnTo>
                    <a:pt x="0" y="472439"/>
                  </a:lnTo>
                  <a:lnTo>
                    <a:pt x="0" y="716279"/>
                  </a:lnTo>
                  <a:lnTo>
                    <a:pt x="4792" y="740003"/>
                  </a:lnTo>
                  <a:lnTo>
                    <a:pt x="17859" y="759380"/>
                  </a:lnTo>
                  <a:lnTo>
                    <a:pt x="37236" y="772447"/>
                  </a:lnTo>
                  <a:lnTo>
                    <a:pt x="60959" y="777239"/>
                  </a:lnTo>
                  <a:lnTo>
                    <a:pt x="891540" y="777239"/>
                  </a:lnTo>
                  <a:lnTo>
                    <a:pt x="915263" y="772447"/>
                  </a:lnTo>
                  <a:lnTo>
                    <a:pt x="934640" y="759380"/>
                  </a:lnTo>
                  <a:lnTo>
                    <a:pt x="947707" y="740003"/>
                  </a:lnTo>
                  <a:lnTo>
                    <a:pt x="952500" y="716279"/>
                  </a:lnTo>
                  <a:lnTo>
                    <a:pt x="952500" y="472439"/>
                  </a:lnTo>
                  <a:lnTo>
                    <a:pt x="947707" y="448716"/>
                  </a:lnTo>
                  <a:lnTo>
                    <a:pt x="934640" y="429339"/>
                  </a:lnTo>
                  <a:lnTo>
                    <a:pt x="915263" y="416272"/>
                  </a:lnTo>
                  <a:lnTo>
                    <a:pt x="891540" y="411479"/>
                  </a:lnTo>
                  <a:close/>
                </a:path>
                <a:path w="952500" h="777239">
                  <a:moveTo>
                    <a:pt x="30988" y="0"/>
                  </a:moveTo>
                  <a:lnTo>
                    <a:pt x="158750" y="411479"/>
                  </a:lnTo>
                  <a:lnTo>
                    <a:pt x="396875" y="411479"/>
                  </a:lnTo>
                  <a:lnTo>
                    <a:pt x="30988" y="0"/>
                  </a:lnTo>
                  <a:close/>
                </a:path>
              </a:pathLst>
            </a:custGeom>
            <a:solidFill>
              <a:srgbClr val="4F81BC"/>
            </a:solidFill>
          </p:spPr>
          <p:txBody>
            <a:bodyPr wrap="square" lIns="0" tIns="0" rIns="0" bIns="0" rtlCol="0"/>
            <a:lstStyle/>
            <a:p>
              <a:endParaRPr/>
            </a:p>
          </p:txBody>
        </p:sp>
        <p:sp>
          <p:nvSpPr>
            <p:cNvPr id="24" name="object 24"/>
            <p:cNvSpPr/>
            <p:nvPr/>
          </p:nvSpPr>
          <p:spPr>
            <a:xfrm>
              <a:off x="8077200" y="4099559"/>
              <a:ext cx="952500" cy="777240"/>
            </a:xfrm>
            <a:custGeom>
              <a:avLst/>
              <a:gdLst/>
              <a:ahLst/>
              <a:cxnLst/>
              <a:rect l="l" t="t" r="r" b="b"/>
              <a:pathLst>
                <a:path w="952500" h="777239">
                  <a:moveTo>
                    <a:pt x="0" y="472439"/>
                  </a:moveTo>
                  <a:lnTo>
                    <a:pt x="4792" y="448716"/>
                  </a:lnTo>
                  <a:lnTo>
                    <a:pt x="17859" y="429339"/>
                  </a:lnTo>
                  <a:lnTo>
                    <a:pt x="37236" y="416272"/>
                  </a:lnTo>
                  <a:lnTo>
                    <a:pt x="60959" y="411479"/>
                  </a:lnTo>
                  <a:lnTo>
                    <a:pt x="158750" y="411479"/>
                  </a:lnTo>
                  <a:lnTo>
                    <a:pt x="30988" y="0"/>
                  </a:lnTo>
                  <a:lnTo>
                    <a:pt x="396875" y="411479"/>
                  </a:lnTo>
                  <a:lnTo>
                    <a:pt x="891540" y="411479"/>
                  </a:lnTo>
                  <a:lnTo>
                    <a:pt x="915263" y="416272"/>
                  </a:lnTo>
                  <a:lnTo>
                    <a:pt x="934640" y="429339"/>
                  </a:lnTo>
                  <a:lnTo>
                    <a:pt x="947707" y="448716"/>
                  </a:lnTo>
                  <a:lnTo>
                    <a:pt x="952500" y="472439"/>
                  </a:lnTo>
                  <a:lnTo>
                    <a:pt x="952500" y="563879"/>
                  </a:lnTo>
                  <a:lnTo>
                    <a:pt x="952500" y="716279"/>
                  </a:lnTo>
                  <a:lnTo>
                    <a:pt x="947707" y="740003"/>
                  </a:lnTo>
                  <a:lnTo>
                    <a:pt x="934640" y="759380"/>
                  </a:lnTo>
                  <a:lnTo>
                    <a:pt x="915263" y="772447"/>
                  </a:lnTo>
                  <a:lnTo>
                    <a:pt x="891540" y="777239"/>
                  </a:lnTo>
                  <a:lnTo>
                    <a:pt x="396875" y="777239"/>
                  </a:lnTo>
                  <a:lnTo>
                    <a:pt x="158750" y="777239"/>
                  </a:lnTo>
                  <a:lnTo>
                    <a:pt x="60959" y="777239"/>
                  </a:lnTo>
                  <a:lnTo>
                    <a:pt x="37236" y="772447"/>
                  </a:lnTo>
                  <a:lnTo>
                    <a:pt x="17859" y="759380"/>
                  </a:lnTo>
                  <a:lnTo>
                    <a:pt x="4792" y="740003"/>
                  </a:lnTo>
                  <a:lnTo>
                    <a:pt x="0" y="716279"/>
                  </a:lnTo>
                  <a:lnTo>
                    <a:pt x="0" y="563879"/>
                  </a:lnTo>
                  <a:lnTo>
                    <a:pt x="0" y="472439"/>
                  </a:lnTo>
                  <a:close/>
                </a:path>
              </a:pathLst>
            </a:custGeom>
            <a:ln w="9525">
              <a:solidFill>
                <a:srgbClr val="000000"/>
              </a:solidFill>
            </a:ln>
          </p:spPr>
          <p:txBody>
            <a:bodyPr wrap="square" lIns="0" tIns="0" rIns="0" bIns="0" rtlCol="0"/>
            <a:lstStyle/>
            <a:p>
              <a:endParaRPr/>
            </a:p>
          </p:txBody>
        </p:sp>
      </p:grpSp>
      <p:sp>
        <p:nvSpPr>
          <p:cNvPr id="25" name="object 25"/>
          <p:cNvSpPr txBox="1"/>
          <p:nvPr/>
        </p:nvSpPr>
        <p:spPr>
          <a:xfrm>
            <a:off x="8186166" y="4552950"/>
            <a:ext cx="736600" cy="757555"/>
          </a:xfrm>
          <a:prstGeom prst="rect">
            <a:avLst/>
          </a:prstGeom>
        </p:spPr>
        <p:txBody>
          <a:bodyPr vert="horz" wrap="square" lIns="0" tIns="12700" rIns="0" bIns="0" rtlCol="0">
            <a:spAutoFit/>
          </a:bodyPr>
          <a:lstStyle/>
          <a:p>
            <a:pPr marL="121920" marR="5080" indent="-109855">
              <a:lnSpc>
                <a:spcPct val="100000"/>
              </a:lnSpc>
              <a:spcBef>
                <a:spcPts val="100"/>
              </a:spcBef>
            </a:pPr>
            <a:r>
              <a:rPr sz="2400" dirty="0">
                <a:latin typeface="Times New Roman"/>
                <a:cs typeface="Times New Roman"/>
              </a:rPr>
              <a:t>Cable  End</a:t>
            </a:r>
            <a:endParaRPr sz="2400">
              <a:latin typeface="Times New Roman"/>
              <a:cs typeface="Times New Roman"/>
            </a:endParaRPr>
          </a:p>
        </p:txBody>
      </p:sp>
      <p:sp>
        <p:nvSpPr>
          <p:cNvPr id="26" name="object 26"/>
          <p:cNvSpPr txBox="1"/>
          <p:nvPr/>
        </p:nvSpPr>
        <p:spPr>
          <a:xfrm>
            <a:off x="3546475" y="4142358"/>
            <a:ext cx="3663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Tap</a:t>
            </a:r>
            <a:endParaRPr sz="1800">
              <a:latin typeface="Calibri"/>
              <a:cs typeface="Calibri"/>
            </a:endParaRPr>
          </a:p>
        </p:txBody>
      </p:sp>
      <p:sp>
        <p:nvSpPr>
          <p:cNvPr id="27" name="object 27"/>
          <p:cNvSpPr txBox="1"/>
          <p:nvPr/>
        </p:nvSpPr>
        <p:spPr>
          <a:xfrm>
            <a:off x="5054853" y="4136517"/>
            <a:ext cx="3663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Tap</a:t>
            </a:r>
            <a:endParaRPr sz="1800">
              <a:latin typeface="Calibri"/>
              <a:cs typeface="Calibri"/>
            </a:endParaRPr>
          </a:p>
        </p:txBody>
      </p:sp>
      <p:sp>
        <p:nvSpPr>
          <p:cNvPr id="28" name="object 28"/>
          <p:cNvSpPr txBox="1"/>
          <p:nvPr/>
        </p:nvSpPr>
        <p:spPr>
          <a:xfrm>
            <a:off x="6404228" y="4091762"/>
            <a:ext cx="367030"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Tap</a:t>
            </a:r>
            <a:endParaRPr sz="1800">
              <a:latin typeface="Calibri"/>
              <a:cs typeface="Calibri"/>
            </a:endParaRPr>
          </a:p>
        </p:txBody>
      </p:sp>
      <p:sp>
        <p:nvSpPr>
          <p:cNvPr id="31" name="Slide Number Placeholder 30">
            <a:extLst>
              <a:ext uri="{FF2B5EF4-FFF2-40B4-BE49-F238E27FC236}">
                <a16:creationId xmlns:a16="http://schemas.microsoft.com/office/drawing/2014/main" xmlns="" id="{F75B1204-92EA-50B9-29F4-76D842217BFA}"/>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25</a:t>
            </a:fld>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85800" y="1598612"/>
            <a:ext cx="7943215" cy="5032375"/>
            <a:chOff x="524255" y="1688592"/>
            <a:chExt cx="7943215" cy="5032375"/>
          </a:xfrm>
        </p:grpSpPr>
        <p:pic>
          <p:nvPicPr>
            <p:cNvPr id="3" name="object 3"/>
            <p:cNvPicPr/>
            <p:nvPr/>
          </p:nvPicPr>
          <p:blipFill>
            <a:blip r:embed="rId2" cstate="print"/>
            <a:stretch>
              <a:fillRect/>
            </a:stretch>
          </p:blipFill>
          <p:spPr>
            <a:xfrm>
              <a:off x="914399" y="2667000"/>
              <a:ext cx="7162800" cy="2667000"/>
            </a:xfrm>
            <a:prstGeom prst="rect">
              <a:avLst/>
            </a:prstGeom>
          </p:spPr>
        </p:pic>
        <p:sp>
          <p:nvSpPr>
            <p:cNvPr id="4" name="object 4"/>
            <p:cNvSpPr/>
            <p:nvPr/>
          </p:nvSpPr>
          <p:spPr>
            <a:xfrm>
              <a:off x="1828800" y="2133650"/>
              <a:ext cx="990600" cy="746760"/>
            </a:xfrm>
            <a:custGeom>
              <a:avLst/>
              <a:gdLst/>
              <a:ahLst/>
              <a:cxnLst/>
              <a:rect l="l" t="t" r="r" b="b"/>
              <a:pathLst>
                <a:path w="990600" h="746760">
                  <a:moveTo>
                    <a:pt x="840473" y="0"/>
                  </a:moveTo>
                  <a:lnTo>
                    <a:pt x="154178" y="0"/>
                  </a:lnTo>
                  <a:lnTo>
                    <a:pt x="154178" y="496011"/>
                  </a:lnTo>
                  <a:lnTo>
                    <a:pt x="840473" y="496011"/>
                  </a:lnTo>
                  <a:lnTo>
                    <a:pt x="840473"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5" name="object 5"/>
            <p:cNvSpPr/>
            <p:nvPr/>
          </p:nvSpPr>
          <p:spPr>
            <a:xfrm>
              <a:off x="1828800" y="213365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1" y="569417"/>
                  </a:lnTo>
                  <a:lnTo>
                    <a:pt x="129667" y="569417"/>
                  </a:lnTo>
                  <a:close/>
                </a:path>
                <a:path w="990600" h="746760">
                  <a:moveTo>
                    <a:pt x="106172" y="599897"/>
                  </a:moveTo>
                  <a:lnTo>
                    <a:pt x="85851" y="620598"/>
                  </a:lnTo>
                  <a:lnTo>
                    <a:pt x="910970" y="620598"/>
                  </a:lnTo>
                  <a:lnTo>
                    <a:pt x="889507" y="599897"/>
                  </a:lnTo>
                  <a:lnTo>
                    <a:pt x="106172" y="599897"/>
                  </a:lnTo>
                  <a:close/>
                </a:path>
              </a:pathLst>
            </a:custGeom>
            <a:ln w="952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838199" y="3886200"/>
              <a:ext cx="76200" cy="228600"/>
            </a:xfrm>
            <a:prstGeom prst="rect">
              <a:avLst/>
            </a:prstGeom>
          </p:spPr>
        </p:pic>
        <p:pic>
          <p:nvPicPr>
            <p:cNvPr id="7" name="object 7"/>
            <p:cNvPicPr/>
            <p:nvPr/>
          </p:nvPicPr>
          <p:blipFill>
            <a:blip r:embed="rId3" cstate="print"/>
            <a:stretch>
              <a:fillRect/>
            </a:stretch>
          </p:blipFill>
          <p:spPr>
            <a:xfrm>
              <a:off x="8077199" y="3886200"/>
              <a:ext cx="76200" cy="228600"/>
            </a:xfrm>
            <a:prstGeom prst="rect">
              <a:avLst/>
            </a:prstGeom>
          </p:spPr>
        </p:pic>
        <p:sp>
          <p:nvSpPr>
            <p:cNvPr id="8" name="object 8"/>
            <p:cNvSpPr/>
            <p:nvPr/>
          </p:nvSpPr>
          <p:spPr>
            <a:xfrm>
              <a:off x="32766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9" name="object 9"/>
            <p:cNvSpPr/>
            <p:nvPr/>
          </p:nvSpPr>
          <p:spPr>
            <a:xfrm>
              <a:off x="3276600" y="2133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0" name="object 10"/>
            <p:cNvSpPr/>
            <p:nvPr/>
          </p:nvSpPr>
          <p:spPr>
            <a:xfrm>
              <a:off x="47244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1" name="object 11"/>
            <p:cNvSpPr/>
            <p:nvPr/>
          </p:nvSpPr>
          <p:spPr>
            <a:xfrm>
              <a:off x="4724400" y="2133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2" name="object 12"/>
            <p:cNvSpPr/>
            <p:nvPr/>
          </p:nvSpPr>
          <p:spPr>
            <a:xfrm>
              <a:off x="60960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3" name="object 13"/>
            <p:cNvSpPr/>
            <p:nvPr/>
          </p:nvSpPr>
          <p:spPr>
            <a:xfrm>
              <a:off x="6096000" y="213365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5"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5" y="537540"/>
                  </a:lnTo>
                  <a:lnTo>
                    <a:pt x="152146" y="537540"/>
                  </a:lnTo>
                  <a:close/>
                </a:path>
                <a:path w="990600" h="746760">
                  <a:moveTo>
                    <a:pt x="284988" y="633044"/>
                  </a:moveTo>
                  <a:lnTo>
                    <a:pt x="272669" y="652475"/>
                  </a:lnTo>
                  <a:lnTo>
                    <a:pt x="723010"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7" y="599897"/>
                  </a:lnTo>
                  <a:lnTo>
                    <a:pt x="106172" y="599897"/>
                  </a:lnTo>
                  <a:close/>
                </a:path>
              </a:pathLst>
            </a:custGeom>
            <a:ln w="9525">
              <a:solidFill>
                <a:srgbClr val="000000"/>
              </a:solidFill>
            </a:ln>
          </p:spPr>
          <p:txBody>
            <a:bodyPr wrap="square" lIns="0" tIns="0" rIns="0" bIns="0" rtlCol="0"/>
            <a:lstStyle/>
            <a:p>
              <a:endParaRPr/>
            </a:p>
          </p:txBody>
        </p:sp>
        <p:sp>
          <p:nvSpPr>
            <p:cNvPr id="14" name="object 14"/>
            <p:cNvSpPr/>
            <p:nvPr/>
          </p:nvSpPr>
          <p:spPr>
            <a:xfrm>
              <a:off x="5410200" y="4800663"/>
              <a:ext cx="990600" cy="746760"/>
            </a:xfrm>
            <a:custGeom>
              <a:avLst/>
              <a:gdLst/>
              <a:ahLst/>
              <a:cxnLst/>
              <a:rect l="l" t="t" r="r" b="b"/>
              <a:pathLst>
                <a:path w="990600" h="746760">
                  <a:moveTo>
                    <a:pt x="840486" y="0"/>
                  </a:moveTo>
                  <a:lnTo>
                    <a:pt x="154178" y="0"/>
                  </a:lnTo>
                  <a:lnTo>
                    <a:pt x="154178" y="495998"/>
                  </a:lnTo>
                  <a:lnTo>
                    <a:pt x="840486" y="495998"/>
                  </a:lnTo>
                  <a:lnTo>
                    <a:pt x="840486" y="0"/>
                  </a:lnTo>
                  <a:close/>
                </a:path>
                <a:path w="990600" h="746760">
                  <a:moveTo>
                    <a:pt x="990600" y="687133"/>
                  </a:moveTo>
                  <a:lnTo>
                    <a:pt x="840486" y="520890"/>
                  </a:lnTo>
                  <a:lnTo>
                    <a:pt x="153162" y="520890"/>
                  </a:lnTo>
                  <a:lnTo>
                    <a:pt x="0" y="687133"/>
                  </a:lnTo>
                  <a:lnTo>
                    <a:pt x="0" y="746696"/>
                  </a:lnTo>
                  <a:lnTo>
                    <a:pt x="990600" y="746696"/>
                  </a:lnTo>
                  <a:lnTo>
                    <a:pt x="990600" y="687133"/>
                  </a:lnTo>
                  <a:close/>
                </a:path>
              </a:pathLst>
            </a:custGeom>
            <a:solidFill>
              <a:srgbClr val="C0C0C0"/>
            </a:solidFill>
          </p:spPr>
          <p:txBody>
            <a:bodyPr wrap="square" lIns="0" tIns="0" rIns="0" bIns="0" rtlCol="0"/>
            <a:lstStyle/>
            <a:p>
              <a:endParaRPr/>
            </a:p>
          </p:txBody>
        </p:sp>
        <p:sp>
          <p:nvSpPr>
            <p:cNvPr id="15" name="object 15"/>
            <p:cNvSpPr/>
            <p:nvPr/>
          </p:nvSpPr>
          <p:spPr>
            <a:xfrm>
              <a:off x="5410200" y="4800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pic>
          <p:nvPicPr>
            <p:cNvPr id="16" name="object 16"/>
            <p:cNvPicPr/>
            <p:nvPr/>
          </p:nvPicPr>
          <p:blipFill>
            <a:blip r:embed="rId4" cstate="print"/>
            <a:stretch>
              <a:fillRect/>
            </a:stretch>
          </p:blipFill>
          <p:spPr>
            <a:xfrm>
              <a:off x="524255" y="1688592"/>
              <a:ext cx="7943088" cy="5032248"/>
            </a:xfrm>
            <a:prstGeom prst="rect">
              <a:avLst/>
            </a:prstGeom>
          </p:spPr>
        </p:pic>
      </p:grpSp>
      <p:sp>
        <p:nvSpPr>
          <p:cNvPr id="17" name="object 17"/>
          <p:cNvSpPr txBox="1">
            <a:spLocks noGrp="1"/>
          </p:cNvSpPr>
          <p:nvPr>
            <p:ph type="title"/>
          </p:nvPr>
        </p:nvSpPr>
        <p:spPr>
          <a:xfrm>
            <a:off x="2964942" y="478663"/>
            <a:ext cx="3213100" cy="696595"/>
          </a:xfrm>
          <a:prstGeom prst="rect">
            <a:avLst/>
          </a:prstGeom>
        </p:spPr>
        <p:txBody>
          <a:bodyPr vert="horz" wrap="square" lIns="0" tIns="13335" rIns="0" bIns="0" rtlCol="0">
            <a:spAutoFit/>
          </a:bodyPr>
          <a:lstStyle/>
          <a:p>
            <a:pPr marL="12700">
              <a:lnSpc>
                <a:spcPct val="100000"/>
              </a:lnSpc>
              <a:spcBef>
                <a:spcPts val="105"/>
              </a:spcBef>
            </a:pPr>
            <a:r>
              <a:rPr dirty="0"/>
              <a:t>Bus</a:t>
            </a:r>
            <a:r>
              <a:rPr spc="-65" dirty="0"/>
              <a:t> </a:t>
            </a:r>
            <a:r>
              <a:rPr dirty="0"/>
              <a:t>Topology</a:t>
            </a:r>
          </a:p>
        </p:txBody>
      </p:sp>
      <p:sp>
        <p:nvSpPr>
          <p:cNvPr id="20" name="Slide Number Placeholder 19">
            <a:extLst>
              <a:ext uri="{FF2B5EF4-FFF2-40B4-BE49-F238E27FC236}">
                <a16:creationId xmlns:a16="http://schemas.microsoft.com/office/drawing/2014/main" xmlns="" id="{3169E9ED-8EFD-9835-968F-769056D09A05}"/>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26</a:t>
            </a:fld>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38237" y="2128888"/>
            <a:ext cx="6486525" cy="2676525"/>
            <a:chOff x="1138237" y="2128888"/>
            <a:chExt cx="6486525" cy="2676525"/>
          </a:xfrm>
        </p:grpSpPr>
        <p:sp>
          <p:nvSpPr>
            <p:cNvPr id="3" name="object 3"/>
            <p:cNvSpPr/>
            <p:nvPr/>
          </p:nvSpPr>
          <p:spPr>
            <a:xfrm>
              <a:off x="1905762" y="2743961"/>
              <a:ext cx="4953000" cy="1524000"/>
            </a:xfrm>
            <a:custGeom>
              <a:avLst/>
              <a:gdLst/>
              <a:ahLst/>
              <a:cxnLst/>
              <a:rect l="l" t="t" r="r" b="b"/>
              <a:pathLst>
                <a:path w="4953000" h="1524000">
                  <a:moveTo>
                    <a:pt x="1600200" y="1524000"/>
                  </a:moveTo>
                  <a:lnTo>
                    <a:pt x="1600200" y="1219200"/>
                  </a:lnTo>
                  <a:lnTo>
                    <a:pt x="304800" y="1219200"/>
                  </a:lnTo>
                  <a:lnTo>
                    <a:pt x="304800" y="914400"/>
                  </a:lnTo>
                  <a:lnTo>
                    <a:pt x="0" y="914400"/>
                  </a:lnTo>
                  <a:lnTo>
                    <a:pt x="0" y="762000"/>
                  </a:lnTo>
                  <a:lnTo>
                    <a:pt x="304800" y="762000"/>
                  </a:lnTo>
                  <a:lnTo>
                    <a:pt x="304800" y="304800"/>
                  </a:lnTo>
                  <a:lnTo>
                    <a:pt x="3124200" y="304800"/>
                  </a:lnTo>
                  <a:lnTo>
                    <a:pt x="3124200" y="0"/>
                  </a:lnTo>
                  <a:lnTo>
                    <a:pt x="3352800" y="0"/>
                  </a:lnTo>
                  <a:lnTo>
                    <a:pt x="3352800" y="304800"/>
                  </a:lnTo>
                  <a:lnTo>
                    <a:pt x="4648199" y="304800"/>
                  </a:lnTo>
                  <a:lnTo>
                    <a:pt x="4648199" y="457200"/>
                  </a:lnTo>
                  <a:lnTo>
                    <a:pt x="4952999" y="457200"/>
                  </a:lnTo>
                  <a:lnTo>
                    <a:pt x="4952999" y="609600"/>
                  </a:lnTo>
                  <a:lnTo>
                    <a:pt x="4648199" y="609600"/>
                  </a:lnTo>
                  <a:lnTo>
                    <a:pt x="4632324" y="1211199"/>
                  </a:lnTo>
                  <a:lnTo>
                    <a:pt x="1752600" y="1219200"/>
                  </a:lnTo>
                  <a:lnTo>
                    <a:pt x="1752600" y="1524000"/>
                  </a:lnTo>
                </a:path>
              </a:pathLst>
            </a:custGeom>
            <a:ln w="38100">
              <a:solidFill>
                <a:srgbClr val="000000"/>
              </a:solidFill>
            </a:ln>
          </p:spPr>
          <p:txBody>
            <a:bodyPr wrap="square" lIns="0" tIns="0" rIns="0" bIns="0" rtlCol="0"/>
            <a:lstStyle/>
            <a:p>
              <a:endParaRPr/>
            </a:p>
          </p:txBody>
        </p:sp>
        <p:sp>
          <p:nvSpPr>
            <p:cNvPr id="4" name="object 4"/>
            <p:cNvSpPr/>
            <p:nvPr/>
          </p:nvSpPr>
          <p:spPr>
            <a:xfrm>
              <a:off x="4648200" y="21336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5" name="object 5"/>
            <p:cNvSpPr/>
            <p:nvPr/>
          </p:nvSpPr>
          <p:spPr>
            <a:xfrm>
              <a:off x="4648200" y="21336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6" name="object 6"/>
            <p:cNvSpPr/>
            <p:nvPr/>
          </p:nvSpPr>
          <p:spPr>
            <a:xfrm>
              <a:off x="6629400" y="29718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7" name="object 7"/>
            <p:cNvSpPr/>
            <p:nvPr/>
          </p:nvSpPr>
          <p:spPr>
            <a:xfrm>
              <a:off x="6629400" y="297185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1" y="520903"/>
                  </a:moveTo>
                  <a:lnTo>
                    <a:pt x="0" y="687146"/>
                  </a:lnTo>
                  <a:lnTo>
                    <a:pt x="990600" y="687146"/>
                  </a:lnTo>
                  <a:lnTo>
                    <a:pt x="840485" y="520903"/>
                  </a:lnTo>
                  <a:lnTo>
                    <a:pt x="153161"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5" y="537540"/>
                  </a:lnTo>
                  <a:lnTo>
                    <a:pt x="152146" y="537540"/>
                  </a:lnTo>
                  <a:close/>
                </a:path>
                <a:path w="990600" h="746760">
                  <a:moveTo>
                    <a:pt x="284988" y="633044"/>
                  </a:moveTo>
                  <a:lnTo>
                    <a:pt x="272669" y="652475"/>
                  </a:lnTo>
                  <a:lnTo>
                    <a:pt x="723010" y="652475"/>
                  </a:lnTo>
                  <a:lnTo>
                    <a:pt x="710819" y="633044"/>
                  </a:lnTo>
                  <a:lnTo>
                    <a:pt x="284988" y="633044"/>
                  </a:lnTo>
                  <a:close/>
                </a:path>
                <a:path w="990600" h="746760">
                  <a:moveTo>
                    <a:pt x="129667" y="569417"/>
                  </a:moveTo>
                  <a:lnTo>
                    <a:pt x="110235" y="590118"/>
                  </a:lnTo>
                  <a:lnTo>
                    <a:pt x="884427" y="590118"/>
                  </a:lnTo>
                  <a:lnTo>
                    <a:pt x="863980" y="569417"/>
                  </a:lnTo>
                  <a:lnTo>
                    <a:pt x="129667" y="569417"/>
                  </a:lnTo>
                  <a:close/>
                </a:path>
                <a:path w="990600" h="746760">
                  <a:moveTo>
                    <a:pt x="106172" y="599897"/>
                  </a:moveTo>
                  <a:lnTo>
                    <a:pt x="85851" y="620598"/>
                  </a:lnTo>
                  <a:lnTo>
                    <a:pt x="910971" y="620598"/>
                  </a:lnTo>
                  <a:lnTo>
                    <a:pt x="889507" y="599897"/>
                  </a:lnTo>
                  <a:lnTo>
                    <a:pt x="106172" y="599897"/>
                  </a:lnTo>
                  <a:close/>
                </a:path>
              </a:pathLst>
            </a:custGeom>
            <a:ln w="9525">
              <a:solidFill>
                <a:srgbClr val="000000"/>
              </a:solidFill>
            </a:ln>
          </p:spPr>
          <p:txBody>
            <a:bodyPr wrap="square" lIns="0" tIns="0" rIns="0" bIns="0" rtlCol="0"/>
            <a:lstStyle/>
            <a:p>
              <a:endParaRPr/>
            </a:p>
          </p:txBody>
        </p:sp>
        <p:sp>
          <p:nvSpPr>
            <p:cNvPr id="8" name="object 8"/>
            <p:cNvSpPr/>
            <p:nvPr/>
          </p:nvSpPr>
          <p:spPr>
            <a:xfrm>
              <a:off x="1143000" y="29718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9" name="object 9"/>
            <p:cNvSpPr/>
            <p:nvPr/>
          </p:nvSpPr>
          <p:spPr>
            <a:xfrm>
              <a:off x="1143000" y="2971850"/>
              <a:ext cx="990600" cy="746760"/>
            </a:xfrm>
            <a:custGeom>
              <a:avLst/>
              <a:gdLst/>
              <a:ahLst/>
              <a:cxnLst/>
              <a:rect l="l" t="t" r="r" b="b"/>
              <a:pathLst>
                <a:path w="990600" h="746760">
                  <a:moveTo>
                    <a:pt x="154178" y="496011"/>
                  </a:moveTo>
                  <a:lnTo>
                    <a:pt x="840486" y="496011"/>
                  </a:lnTo>
                  <a:lnTo>
                    <a:pt x="840486" y="0"/>
                  </a:lnTo>
                  <a:lnTo>
                    <a:pt x="154178" y="0"/>
                  </a:lnTo>
                  <a:lnTo>
                    <a:pt x="154178"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1"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99" y="590118"/>
                  </a:lnTo>
                  <a:lnTo>
                    <a:pt x="884427" y="590118"/>
                  </a:lnTo>
                  <a:lnTo>
                    <a:pt x="863981" y="569417"/>
                  </a:lnTo>
                  <a:lnTo>
                    <a:pt x="129666" y="569417"/>
                  </a:lnTo>
                  <a:close/>
                </a:path>
                <a:path w="990600" h="746760">
                  <a:moveTo>
                    <a:pt x="106210" y="599897"/>
                  </a:moveTo>
                  <a:lnTo>
                    <a:pt x="85801" y="620598"/>
                  </a:lnTo>
                  <a:lnTo>
                    <a:pt x="910970" y="620598"/>
                  </a:lnTo>
                  <a:lnTo>
                    <a:pt x="889507" y="599897"/>
                  </a:lnTo>
                  <a:lnTo>
                    <a:pt x="106210" y="599897"/>
                  </a:lnTo>
                  <a:close/>
                </a:path>
              </a:pathLst>
            </a:custGeom>
            <a:ln w="9525">
              <a:solidFill>
                <a:srgbClr val="000000"/>
              </a:solidFill>
            </a:ln>
          </p:spPr>
          <p:txBody>
            <a:bodyPr wrap="square" lIns="0" tIns="0" rIns="0" bIns="0" rtlCol="0"/>
            <a:lstStyle/>
            <a:p>
              <a:endParaRPr/>
            </a:p>
          </p:txBody>
        </p:sp>
        <p:sp>
          <p:nvSpPr>
            <p:cNvPr id="10" name="object 10"/>
            <p:cNvSpPr/>
            <p:nvPr/>
          </p:nvSpPr>
          <p:spPr>
            <a:xfrm>
              <a:off x="3048000" y="405389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1" name="object 11"/>
            <p:cNvSpPr/>
            <p:nvPr/>
          </p:nvSpPr>
          <p:spPr>
            <a:xfrm>
              <a:off x="3048000" y="405389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0" y="569417"/>
                  </a:lnTo>
                  <a:lnTo>
                    <a:pt x="129667"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12" name="object 12"/>
            <p:cNvSpPr/>
            <p:nvPr/>
          </p:nvSpPr>
          <p:spPr>
            <a:xfrm>
              <a:off x="3482339" y="3901439"/>
              <a:ext cx="381000" cy="152400"/>
            </a:xfrm>
            <a:custGeom>
              <a:avLst/>
              <a:gdLst/>
              <a:ahLst/>
              <a:cxnLst/>
              <a:rect l="l" t="t" r="r" b="b"/>
              <a:pathLst>
                <a:path w="381000" h="152400">
                  <a:moveTo>
                    <a:pt x="381000" y="0"/>
                  </a:moveTo>
                  <a:lnTo>
                    <a:pt x="0" y="0"/>
                  </a:lnTo>
                  <a:lnTo>
                    <a:pt x="0" y="152400"/>
                  </a:lnTo>
                  <a:lnTo>
                    <a:pt x="381000" y="152400"/>
                  </a:lnTo>
                  <a:lnTo>
                    <a:pt x="381000" y="0"/>
                  </a:lnTo>
                  <a:close/>
                </a:path>
              </a:pathLst>
            </a:custGeom>
            <a:solidFill>
              <a:srgbClr val="4F81BC"/>
            </a:solidFill>
          </p:spPr>
          <p:txBody>
            <a:bodyPr wrap="square" lIns="0" tIns="0" rIns="0" bIns="0" rtlCol="0"/>
            <a:lstStyle/>
            <a:p>
              <a:endParaRPr/>
            </a:p>
          </p:txBody>
        </p:sp>
        <p:sp>
          <p:nvSpPr>
            <p:cNvPr id="13" name="object 13"/>
            <p:cNvSpPr/>
            <p:nvPr/>
          </p:nvSpPr>
          <p:spPr>
            <a:xfrm>
              <a:off x="3482339" y="3901439"/>
              <a:ext cx="381000" cy="152400"/>
            </a:xfrm>
            <a:custGeom>
              <a:avLst/>
              <a:gdLst/>
              <a:ahLst/>
              <a:cxnLst/>
              <a:rect l="l" t="t" r="r" b="b"/>
              <a:pathLst>
                <a:path w="381000" h="152400">
                  <a:moveTo>
                    <a:pt x="0" y="152400"/>
                  </a:moveTo>
                  <a:lnTo>
                    <a:pt x="381000" y="152400"/>
                  </a:lnTo>
                  <a:lnTo>
                    <a:pt x="381000" y="0"/>
                  </a:lnTo>
                  <a:lnTo>
                    <a:pt x="0" y="0"/>
                  </a:lnTo>
                  <a:lnTo>
                    <a:pt x="0" y="152400"/>
                  </a:lnTo>
                  <a:close/>
                </a:path>
              </a:pathLst>
            </a:custGeom>
            <a:ln w="9525">
              <a:solidFill>
                <a:srgbClr val="000000"/>
              </a:solidFill>
            </a:ln>
          </p:spPr>
          <p:txBody>
            <a:bodyPr wrap="square" lIns="0" tIns="0" rIns="0" bIns="0" rtlCol="0"/>
            <a:lstStyle/>
            <a:p>
              <a:endParaRPr/>
            </a:p>
          </p:txBody>
        </p:sp>
        <p:sp>
          <p:nvSpPr>
            <p:cNvPr id="14" name="object 14"/>
            <p:cNvSpPr/>
            <p:nvPr/>
          </p:nvSpPr>
          <p:spPr>
            <a:xfrm>
              <a:off x="2142744" y="3375659"/>
              <a:ext cx="152400" cy="381000"/>
            </a:xfrm>
            <a:custGeom>
              <a:avLst/>
              <a:gdLst/>
              <a:ahLst/>
              <a:cxnLst/>
              <a:rect l="l" t="t" r="r" b="b"/>
              <a:pathLst>
                <a:path w="152400" h="381000">
                  <a:moveTo>
                    <a:pt x="152400" y="0"/>
                  </a:moveTo>
                  <a:lnTo>
                    <a:pt x="0" y="0"/>
                  </a:lnTo>
                  <a:lnTo>
                    <a:pt x="0" y="381000"/>
                  </a:lnTo>
                  <a:lnTo>
                    <a:pt x="152400" y="381000"/>
                  </a:lnTo>
                  <a:lnTo>
                    <a:pt x="152400" y="0"/>
                  </a:lnTo>
                  <a:close/>
                </a:path>
              </a:pathLst>
            </a:custGeom>
            <a:solidFill>
              <a:srgbClr val="4F81BC"/>
            </a:solidFill>
          </p:spPr>
          <p:txBody>
            <a:bodyPr wrap="square" lIns="0" tIns="0" rIns="0" bIns="0" rtlCol="0"/>
            <a:lstStyle/>
            <a:p>
              <a:endParaRPr/>
            </a:p>
          </p:txBody>
        </p:sp>
        <p:sp>
          <p:nvSpPr>
            <p:cNvPr id="15" name="object 15"/>
            <p:cNvSpPr/>
            <p:nvPr/>
          </p:nvSpPr>
          <p:spPr>
            <a:xfrm>
              <a:off x="2142744" y="3375659"/>
              <a:ext cx="152400" cy="381000"/>
            </a:xfrm>
            <a:custGeom>
              <a:avLst/>
              <a:gdLst/>
              <a:ahLst/>
              <a:cxnLst/>
              <a:rect l="l" t="t" r="r" b="b"/>
              <a:pathLst>
                <a:path w="152400" h="381000">
                  <a:moveTo>
                    <a:pt x="0" y="381000"/>
                  </a:moveTo>
                  <a:lnTo>
                    <a:pt x="152400" y="381000"/>
                  </a:lnTo>
                  <a:lnTo>
                    <a:pt x="152400" y="0"/>
                  </a:lnTo>
                  <a:lnTo>
                    <a:pt x="0" y="0"/>
                  </a:lnTo>
                  <a:lnTo>
                    <a:pt x="0" y="381000"/>
                  </a:lnTo>
                  <a:close/>
                </a:path>
              </a:pathLst>
            </a:custGeom>
            <a:ln w="9525">
              <a:solidFill>
                <a:srgbClr val="000000"/>
              </a:solidFill>
            </a:ln>
          </p:spPr>
          <p:txBody>
            <a:bodyPr wrap="square" lIns="0" tIns="0" rIns="0" bIns="0" rtlCol="0"/>
            <a:lstStyle/>
            <a:p>
              <a:endParaRPr/>
            </a:p>
          </p:txBody>
        </p:sp>
        <p:sp>
          <p:nvSpPr>
            <p:cNvPr id="16" name="object 16"/>
            <p:cNvSpPr/>
            <p:nvPr/>
          </p:nvSpPr>
          <p:spPr>
            <a:xfrm>
              <a:off x="4953000" y="2895599"/>
              <a:ext cx="381000" cy="152400"/>
            </a:xfrm>
            <a:custGeom>
              <a:avLst/>
              <a:gdLst/>
              <a:ahLst/>
              <a:cxnLst/>
              <a:rect l="l" t="t" r="r" b="b"/>
              <a:pathLst>
                <a:path w="381000" h="152400">
                  <a:moveTo>
                    <a:pt x="381000" y="0"/>
                  </a:moveTo>
                  <a:lnTo>
                    <a:pt x="0" y="0"/>
                  </a:lnTo>
                  <a:lnTo>
                    <a:pt x="0" y="152400"/>
                  </a:lnTo>
                  <a:lnTo>
                    <a:pt x="381000" y="152400"/>
                  </a:lnTo>
                  <a:lnTo>
                    <a:pt x="381000" y="0"/>
                  </a:lnTo>
                  <a:close/>
                </a:path>
              </a:pathLst>
            </a:custGeom>
            <a:solidFill>
              <a:srgbClr val="4F81BC"/>
            </a:solidFill>
          </p:spPr>
          <p:txBody>
            <a:bodyPr wrap="square" lIns="0" tIns="0" rIns="0" bIns="0" rtlCol="0"/>
            <a:lstStyle/>
            <a:p>
              <a:endParaRPr/>
            </a:p>
          </p:txBody>
        </p:sp>
        <p:sp>
          <p:nvSpPr>
            <p:cNvPr id="17" name="object 17"/>
            <p:cNvSpPr/>
            <p:nvPr/>
          </p:nvSpPr>
          <p:spPr>
            <a:xfrm>
              <a:off x="4953000" y="2895599"/>
              <a:ext cx="381000" cy="152400"/>
            </a:xfrm>
            <a:custGeom>
              <a:avLst/>
              <a:gdLst/>
              <a:ahLst/>
              <a:cxnLst/>
              <a:rect l="l" t="t" r="r" b="b"/>
              <a:pathLst>
                <a:path w="381000" h="152400">
                  <a:moveTo>
                    <a:pt x="0" y="152400"/>
                  </a:moveTo>
                  <a:lnTo>
                    <a:pt x="381000" y="152400"/>
                  </a:lnTo>
                  <a:lnTo>
                    <a:pt x="381000" y="0"/>
                  </a:lnTo>
                  <a:lnTo>
                    <a:pt x="0" y="0"/>
                  </a:lnTo>
                  <a:lnTo>
                    <a:pt x="0" y="152400"/>
                  </a:lnTo>
                  <a:close/>
                </a:path>
              </a:pathLst>
            </a:custGeom>
            <a:ln w="9525">
              <a:solidFill>
                <a:srgbClr val="000000"/>
              </a:solidFill>
            </a:ln>
          </p:spPr>
          <p:txBody>
            <a:bodyPr wrap="square" lIns="0" tIns="0" rIns="0" bIns="0" rtlCol="0"/>
            <a:lstStyle/>
            <a:p>
              <a:endParaRPr/>
            </a:p>
          </p:txBody>
        </p:sp>
      </p:grpSp>
      <p:sp>
        <p:nvSpPr>
          <p:cNvPr id="18" name="object 18"/>
          <p:cNvSpPr txBox="1">
            <a:spLocks noGrp="1"/>
          </p:cNvSpPr>
          <p:nvPr>
            <p:ph type="title"/>
          </p:nvPr>
        </p:nvSpPr>
        <p:spPr>
          <a:xfrm>
            <a:off x="3169157" y="544195"/>
            <a:ext cx="2805430" cy="574040"/>
          </a:xfrm>
          <a:prstGeom prst="rect">
            <a:avLst/>
          </a:prstGeom>
        </p:spPr>
        <p:txBody>
          <a:bodyPr vert="horz" wrap="square" lIns="0" tIns="12700" rIns="0" bIns="0" rtlCol="0">
            <a:spAutoFit/>
          </a:bodyPr>
          <a:lstStyle/>
          <a:p>
            <a:pPr marL="12700">
              <a:lnSpc>
                <a:spcPct val="100000"/>
              </a:lnSpc>
              <a:spcBef>
                <a:spcPts val="100"/>
              </a:spcBef>
            </a:pPr>
            <a:r>
              <a:rPr sz="3600" dirty="0"/>
              <a:t>Ring</a:t>
            </a:r>
            <a:r>
              <a:rPr sz="3600" spc="-70" dirty="0"/>
              <a:t> </a:t>
            </a:r>
            <a:r>
              <a:rPr sz="3600" spc="-5" dirty="0"/>
              <a:t>Topology</a:t>
            </a:r>
            <a:endParaRPr sz="3600"/>
          </a:p>
        </p:txBody>
      </p:sp>
      <p:sp>
        <p:nvSpPr>
          <p:cNvPr id="19" name="object 19"/>
          <p:cNvSpPr txBox="1"/>
          <p:nvPr/>
        </p:nvSpPr>
        <p:spPr>
          <a:xfrm>
            <a:off x="3432175" y="4822697"/>
            <a:ext cx="158115"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A</a:t>
            </a:r>
            <a:endParaRPr sz="1800">
              <a:latin typeface="Calibri"/>
              <a:cs typeface="Calibri"/>
            </a:endParaRPr>
          </a:p>
        </p:txBody>
      </p:sp>
      <p:sp>
        <p:nvSpPr>
          <p:cNvPr id="20" name="object 20"/>
          <p:cNvSpPr txBox="1"/>
          <p:nvPr/>
        </p:nvSpPr>
        <p:spPr>
          <a:xfrm>
            <a:off x="1055319" y="3083509"/>
            <a:ext cx="150495" cy="30035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B</a:t>
            </a:r>
            <a:endParaRPr sz="1800">
              <a:latin typeface="Calibri"/>
              <a:cs typeface="Calibri"/>
            </a:endParaRPr>
          </a:p>
        </p:txBody>
      </p:sp>
      <p:sp>
        <p:nvSpPr>
          <p:cNvPr id="21" name="object 21"/>
          <p:cNvSpPr txBox="1"/>
          <p:nvPr/>
        </p:nvSpPr>
        <p:spPr>
          <a:xfrm>
            <a:off x="5032628" y="1863928"/>
            <a:ext cx="145415" cy="30035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C</a:t>
            </a:r>
            <a:endParaRPr sz="1800">
              <a:latin typeface="Calibri"/>
              <a:cs typeface="Calibri"/>
            </a:endParaRPr>
          </a:p>
        </p:txBody>
      </p:sp>
      <p:sp>
        <p:nvSpPr>
          <p:cNvPr id="22" name="object 22"/>
          <p:cNvSpPr txBox="1"/>
          <p:nvPr/>
        </p:nvSpPr>
        <p:spPr>
          <a:xfrm>
            <a:off x="7014209" y="2688463"/>
            <a:ext cx="166370"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800080"/>
                </a:solidFill>
                <a:latin typeface="Calibri"/>
                <a:cs typeface="Calibri"/>
              </a:rPr>
              <a:t>D</a:t>
            </a:r>
            <a:endParaRPr sz="1800">
              <a:latin typeface="Calibri"/>
              <a:cs typeface="Calibri"/>
            </a:endParaRPr>
          </a:p>
        </p:txBody>
      </p:sp>
      <p:grpSp>
        <p:nvGrpSpPr>
          <p:cNvPr id="23" name="object 23"/>
          <p:cNvGrpSpPr/>
          <p:nvPr/>
        </p:nvGrpSpPr>
        <p:grpSpPr>
          <a:xfrm>
            <a:off x="6624637" y="3058477"/>
            <a:ext cx="161925" cy="390525"/>
            <a:chOff x="6624637" y="3058477"/>
            <a:chExt cx="161925" cy="390525"/>
          </a:xfrm>
        </p:grpSpPr>
        <p:sp>
          <p:nvSpPr>
            <p:cNvPr id="24" name="object 24"/>
            <p:cNvSpPr/>
            <p:nvPr/>
          </p:nvSpPr>
          <p:spPr>
            <a:xfrm>
              <a:off x="6629400" y="3063239"/>
              <a:ext cx="152400" cy="381000"/>
            </a:xfrm>
            <a:custGeom>
              <a:avLst/>
              <a:gdLst/>
              <a:ahLst/>
              <a:cxnLst/>
              <a:rect l="l" t="t" r="r" b="b"/>
              <a:pathLst>
                <a:path w="152400" h="381000">
                  <a:moveTo>
                    <a:pt x="152400" y="0"/>
                  </a:moveTo>
                  <a:lnTo>
                    <a:pt x="0" y="0"/>
                  </a:lnTo>
                  <a:lnTo>
                    <a:pt x="0" y="381000"/>
                  </a:lnTo>
                  <a:lnTo>
                    <a:pt x="152400" y="381000"/>
                  </a:lnTo>
                  <a:lnTo>
                    <a:pt x="152400" y="0"/>
                  </a:lnTo>
                  <a:close/>
                </a:path>
              </a:pathLst>
            </a:custGeom>
            <a:solidFill>
              <a:srgbClr val="4F81BC"/>
            </a:solidFill>
          </p:spPr>
          <p:txBody>
            <a:bodyPr wrap="square" lIns="0" tIns="0" rIns="0" bIns="0" rtlCol="0"/>
            <a:lstStyle/>
            <a:p>
              <a:endParaRPr/>
            </a:p>
          </p:txBody>
        </p:sp>
        <p:sp>
          <p:nvSpPr>
            <p:cNvPr id="25" name="object 25"/>
            <p:cNvSpPr/>
            <p:nvPr/>
          </p:nvSpPr>
          <p:spPr>
            <a:xfrm>
              <a:off x="6629400" y="3063239"/>
              <a:ext cx="152400" cy="381000"/>
            </a:xfrm>
            <a:custGeom>
              <a:avLst/>
              <a:gdLst/>
              <a:ahLst/>
              <a:cxnLst/>
              <a:rect l="l" t="t" r="r" b="b"/>
              <a:pathLst>
                <a:path w="152400" h="381000">
                  <a:moveTo>
                    <a:pt x="0" y="381000"/>
                  </a:moveTo>
                  <a:lnTo>
                    <a:pt x="152400" y="381000"/>
                  </a:lnTo>
                  <a:lnTo>
                    <a:pt x="152400" y="0"/>
                  </a:lnTo>
                  <a:lnTo>
                    <a:pt x="0" y="0"/>
                  </a:lnTo>
                  <a:lnTo>
                    <a:pt x="0" y="381000"/>
                  </a:lnTo>
                  <a:close/>
                </a:path>
              </a:pathLst>
            </a:custGeom>
            <a:ln w="9525">
              <a:solidFill>
                <a:srgbClr val="000000"/>
              </a:solidFill>
            </a:ln>
          </p:spPr>
          <p:txBody>
            <a:bodyPr wrap="square" lIns="0" tIns="0" rIns="0" bIns="0" rtlCol="0"/>
            <a:lstStyle/>
            <a:p>
              <a:endParaRPr/>
            </a:p>
          </p:txBody>
        </p:sp>
      </p:grpSp>
      <p:sp>
        <p:nvSpPr>
          <p:cNvPr id="26" name="object 26"/>
          <p:cNvSpPr txBox="1"/>
          <p:nvPr/>
        </p:nvSpPr>
        <p:spPr>
          <a:xfrm>
            <a:off x="2229611" y="3385311"/>
            <a:ext cx="4293870" cy="498475"/>
          </a:xfrm>
          <a:prstGeom prst="rect">
            <a:avLst/>
          </a:prstGeom>
        </p:spPr>
        <p:txBody>
          <a:bodyPr vert="horz" wrap="square" lIns="0" tIns="66040" rIns="0" bIns="0" rtlCol="0">
            <a:spAutoFit/>
          </a:bodyPr>
          <a:lstStyle/>
          <a:p>
            <a:pPr marL="278130">
              <a:lnSpc>
                <a:spcPct val="100000"/>
              </a:lnSpc>
              <a:spcBef>
                <a:spcPts val="520"/>
              </a:spcBef>
            </a:pPr>
            <a:r>
              <a:rPr sz="1200" dirty="0">
                <a:latin typeface="Calibri"/>
                <a:cs typeface="Calibri"/>
              </a:rPr>
              <a:t>Repeater</a:t>
            </a:r>
            <a:endParaRPr sz="1200">
              <a:latin typeface="Calibri"/>
              <a:cs typeface="Calibri"/>
            </a:endParaRPr>
          </a:p>
          <a:p>
            <a:pPr marL="1214755">
              <a:lnSpc>
                <a:spcPct val="100000"/>
              </a:lnSpc>
              <a:spcBef>
                <a:spcPts val="420"/>
              </a:spcBef>
            </a:pPr>
            <a:r>
              <a:rPr sz="1200" dirty="0">
                <a:latin typeface="Calibri"/>
                <a:cs typeface="Calibri"/>
              </a:rPr>
              <a:t>Repeater</a:t>
            </a:r>
            <a:endParaRPr sz="1200">
              <a:latin typeface="Calibri"/>
              <a:cs typeface="Calibri"/>
            </a:endParaRPr>
          </a:p>
        </p:txBody>
      </p:sp>
      <p:sp>
        <p:nvSpPr>
          <p:cNvPr id="27" name="object 27"/>
          <p:cNvSpPr txBox="1"/>
          <p:nvPr/>
        </p:nvSpPr>
        <p:spPr>
          <a:xfrm>
            <a:off x="6007734" y="3184905"/>
            <a:ext cx="59626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Re</a:t>
            </a:r>
            <a:r>
              <a:rPr sz="1200" spc="5" dirty="0">
                <a:latin typeface="Calibri"/>
                <a:cs typeface="Calibri"/>
              </a:rPr>
              <a:t>p</a:t>
            </a:r>
            <a:r>
              <a:rPr sz="1200" dirty="0">
                <a:latin typeface="Calibri"/>
                <a:cs typeface="Calibri"/>
              </a:rPr>
              <a:t>ea</a:t>
            </a:r>
            <a:r>
              <a:rPr sz="1200" spc="5" dirty="0">
                <a:latin typeface="Calibri"/>
                <a:cs typeface="Calibri"/>
              </a:rPr>
              <a:t>t</a:t>
            </a:r>
            <a:r>
              <a:rPr sz="1200" dirty="0">
                <a:latin typeface="Calibri"/>
                <a:cs typeface="Calibri"/>
              </a:rPr>
              <a:t>er</a:t>
            </a:r>
            <a:endParaRPr sz="1200">
              <a:latin typeface="Calibri"/>
              <a:cs typeface="Calibri"/>
            </a:endParaRPr>
          </a:p>
        </p:txBody>
      </p:sp>
      <p:sp>
        <p:nvSpPr>
          <p:cNvPr id="28" name="object 28"/>
          <p:cNvSpPr txBox="1"/>
          <p:nvPr/>
        </p:nvSpPr>
        <p:spPr>
          <a:xfrm>
            <a:off x="4787900" y="3065779"/>
            <a:ext cx="59626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Re</a:t>
            </a:r>
            <a:r>
              <a:rPr sz="1200" spc="5" dirty="0">
                <a:latin typeface="Calibri"/>
                <a:cs typeface="Calibri"/>
              </a:rPr>
              <a:t>p</a:t>
            </a:r>
            <a:r>
              <a:rPr sz="1200" dirty="0">
                <a:latin typeface="Calibri"/>
                <a:cs typeface="Calibri"/>
              </a:rPr>
              <a:t>ea</a:t>
            </a:r>
            <a:r>
              <a:rPr sz="1200" spc="5" dirty="0">
                <a:latin typeface="Calibri"/>
                <a:cs typeface="Calibri"/>
              </a:rPr>
              <a:t>t</a:t>
            </a:r>
            <a:r>
              <a:rPr sz="1200" dirty="0">
                <a:latin typeface="Calibri"/>
                <a:cs typeface="Calibri"/>
              </a:rPr>
              <a:t>er</a:t>
            </a:r>
            <a:endParaRPr sz="1200">
              <a:latin typeface="Calibri"/>
              <a:cs typeface="Calibri"/>
            </a:endParaRPr>
          </a:p>
        </p:txBody>
      </p:sp>
      <p:sp>
        <p:nvSpPr>
          <p:cNvPr id="31" name="Slide Number Placeholder 30">
            <a:extLst>
              <a:ext uri="{FF2B5EF4-FFF2-40B4-BE49-F238E27FC236}">
                <a16:creationId xmlns:a16="http://schemas.microsoft.com/office/drawing/2014/main" xmlns="" id="{9EBEF114-B7D5-56F0-9CBB-FD5E135BCB55}"/>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27</a:t>
            </a:fld>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43761" y="1829561"/>
            <a:ext cx="4953000" cy="1524000"/>
          </a:xfrm>
          <a:custGeom>
            <a:avLst/>
            <a:gdLst/>
            <a:ahLst/>
            <a:cxnLst/>
            <a:rect l="l" t="t" r="r" b="b"/>
            <a:pathLst>
              <a:path w="4953000" h="1524000">
                <a:moveTo>
                  <a:pt x="1600200" y="1524000"/>
                </a:moveTo>
                <a:lnTo>
                  <a:pt x="1600200" y="1219200"/>
                </a:lnTo>
                <a:lnTo>
                  <a:pt x="304800" y="1219200"/>
                </a:lnTo>
                <a:lnTo>
                  <a:pt x="304800" y="914400"/>
                </a:lnTo>
                <a:lnTo>
                  <a:pt x="0" y="914400"/>
                </a:lnTo>
                <a:lnTo>
                  <a:pt x="0" y="762000"/>
                </a:lnTo>
                <a:lnTo>
                  <a:pt x="304800" y="762000"/>
                </a:lnTo>
                <a:lnTo>
                  <a:pt x="304800" y="304800"/>
                </a:lnTo>
                <a:lnTo>
                  <a:pt x="3124200" y="304800"/>
                </a:lnTo>
                <a:lnTo>
                  <a:pt x="3124200" y="0"/>
                </a:lnTo>
                <a:lnTo>
                  <a:pt x="3352800" y="0"/>
                </a:lnTo>
                <a:lnTo>
                  <a:pt x="3352800" y="304800"/>
                </a:lnTo>
                <a:lnTo>
                  <a:pt x="4648200" y="304800"/>
                </a:lnTo>
                <a:lnTo>
                  <a:pt x="4648200" y="457200"/>
                </a:lnTo>
                <a:lnTo>
                  <a:pt x="4953000" y="457200"/>
                </a:lnTo>
                <a:lnTo>
                  <a:pt x="4953000" y="609600"/>
                </a:lnTo>
                <a:lnTo>
                  <a:pt x="4648200" y="609600"/>
                </a:lnTo>
                <a:lnTo>
                  <a:pt x="4632325" y="1211199"/>
                </a:lnTo>
                <a:lnTo>
                  <a:pt x="1752600" y="1219200"/>
                </a:lnTo>
                <a:lnTo>
                  <a:pt x="1752600" y="1524000"/>
                </a:lnTo>
              </a:path>
            </a:pathLst>
          </a:custGeom>
          <a:ln w="38100">
            <a:solidFill>
              <a:srgbClr val="000000"/>
            </a:solidFill>
          </a:ln>
        </p:spPr>
        <p:txBody>
          <a:bodyPr wrap="square" lIns="0" tIns="0" rIns="0" bIns="0" rtlCol="0"/>
          <a:lstStyle/>
          <a:p>
            <a:endParaRPr/>
          </a:p>
        </p:txBody>
      </p:sp>
      <p:sp>
        <p:nvSpPr>
          <p:cNvPr id="3" name="object 3"/>
          <p:cNvSpPr txBox="1">
            <a:spLocks noGrp="1"/>
          </p:cNvSpPr>
          <p:nvPr>
            <p:ph type="title"/>
          </p:nvPr>
        </p:nvSpPr>
        <p:spPr>
          <a:xfrm>
            <a:off x="3013710" y="286258"/>
            <a:ext cx="3115310" cy="635000"/>
          </a:xfrm>
          <a:prstGeom prst="rect">
            <a:avLst/>
          </a:prstGeom>
        </p:spPr>
        <p:txBody>
          <a:bodyPr vert="horz" wrap="square" lIns="0" tIns="12065" rIns="0" bIns="0" rtlCol="0">
            <a:spAutoFit/>
          </a:bodyPr>
          <a:lstStyle/>
          <a:p>
            <a:pPr marL="12700">
              <a:lnSpc>
                <a:spcPct val="100000"/>
              </a:lnSpc>
              <a:spcBef>
                <a:spcPts val="95"/>
              </a:spcBef>
            </a:pPr>
            <a:r>
              <a:rPr sz="4000" spc="-5" dirty="0"/>
              <a:t>Ring</a:t>
            </a:r>
            <a:r>
              <a:rPr sz="4000" spc="-50" dirty="0"/>
              <a:t> </a:t>
            </a:r>
            <a:r>
              <a:rPr sz="4000" spc="-5" dirty="0"/>
              <a:t>Topology</a:t>
            </a:r>
            <a:endParaRPr sz="4000"/>
          </a:p>
        </p:txBody>
      </p:sp>
      <p:sp>
        <p:nvSpPr>
          <p:cNvPr id="4" name="object 4"/>
          <p:cNvSpPr txBox="1"/>
          <p:nvPr/>
        </p:nvSpPr>
        <p:spPr>
          <a:xfrm>
            <a:off x="4727575" y="3150616"/>
            <a:ext cx="3376295" cy="3046095"/>
          </a:xfrm>
          <a:prstGeom prst="rect">
            <a:avLst/>
          </a:prstGeom>
        </p:spPr>
        <p:txBody>
          <a:bodyPr vert="horz" wrap="square" lIns="0" tIns="76200" rIns="0" bIns="0" rtlCol="0">
            <a:spAutoFit/>
          </a:bodyPr>
          <a:lstStyle/>
          <a:p>
            <a:pPr marL="355600" indent="-343535">
              <a:lnSpc>
                <a:spcPct val="100000"/>
              </a:lnSpc>
              <a:spcBef>
                <a:spcPts val="600"/>
              </a:spcBef>
              <a:buFont typeface="Arial MT"/>
              <a:buChar char="•"/>
              <a:tabLst>
                <a:tab pos="355600" algn="l"/>
                <a:tab pos="356235" algn="l"/>
              </a:tabLst>
            </a:pPr>
            <a:r>
              <a:rPr sz="2400" b="1" u="heavy" spc="-5" dirty="0">
                <a:solidFill>
                  <a:srgbClr val="1F487C"/>
                </a:solidFill>
                <a:uFill>
                  <a:solidFill>
                    <a:srgbClr val="1F487C"/>
                  </a:solidFill>
                </a:uFill>
                <a:latin typeface="Calibri"/>
                <a:cs typeface="Calibri"/>
              </a:rPr>
              <a:t>Pros:</a:t>
            </a:r>
            <a:endParaRPr sz="2400">
              <a:latin typeface="Calibri"/>
              <a:cs typeface="Calibri"/>
            </a:endParaRPr>
          </a:p>
          <a:p>
            <a:pPr marL="756285" lvl="1" indent="-287020">
              <a:lnSpc>
                <a:spcPct val="100000"/>
              </a:lnSpc>
              <a:spcBef>
                <a:spcPts val="425"/>
              </a:spcBef>
              <a:buFont typeface="Arial MT"/>
              <a:buChar char="–"/>
              <a:tabLst>
                <a:tab pos="756285" algn="l"/>
                <a:tab pos="756920" algn="l"/>
              </a:tabLst>
            </a:pPr>
            <a:r>
              <a:rPr sz="2000" dirty="0">
                <a:solidFill>
                  <a:srgbClr val="1F487C"/>
                </a:solidFill>
                <a:latin typeface="Calibri"/>
                <a:cs typeface="Calibri"/>
              </a:rPr>
              <a:t>Easy</a:t>
            </a:r>
            <a:r>
              <a:rPr sz="2000" spc="-40" dirty="0">
                <a:solidFill>
                  <a:srgbClr val="1F487C"/>
                </a:solidFill>
                <a:latin typeface="Calibri"/>
                <a:cs typeface="Calibri"/>
              </a:rPr>
              <a:t> </a:t>
            </a:r>
            <a:r>
              <a:rPr sz="2000" dirty="0">
                <a:solidFill>
                  <a:srgbClr val="1F487C"/>
                </a:solidFill>
                <a:latin typeface="Calibri"/>
                <a:cs typeface="Calibri"/>
              </a:rPr>
              <a:t>to</a:t>
            </a:r>
            <a:r>
              <a:rPr sz="2000" spc="-35" dirty="0">
                <a:solidFill>
                  <a:srgbClr val="1F487C"/>
                </a:solidFill>
                <a:latin typeface="Calibri"/>
                <a:cs typeface="Calibri"/>
              </a:rPr>
              <a:t> </a:t>
            </a:r>
            <a:r>
              <a:rPr sz="2000" dirty="0">
                <a:solidFill>
                  <a:srgbClr val="1F487C"/>
                </a:solidFill>
                <a:latin typeface="Calibri"/>
                <a:cs typeface="Calibri"/>
              </a:rPr>
              <a:t>install</a:t>
            </a:r>
            <a:endParaRPr sz="2000">
              <a:latin typeface="Calibri"/>
              <a:cs typeface="Calibri"/>
            </a:endParaRPr>
          </a:p>
          <a:p>
            <a:pPr marL="756285" lvl="1" indent="-287020">
              <a:lnSpc>
                <a:spcPct val="100000"/>
              </a:lnSpc>
              <a:spcBef>
                <a:spcPts val="409"/>
              </a:spcBef>
              <a:buFont typeface="Arial MT"/>
              <a:buChar char="–"/>
              <a:tabLst>
                <a:tab pos="756285" algn="l"/>
                <a:tab pos="756920" algn="l"/>
              </a:tabLst>
            </a:pPr>
            <a:r>
              <a:rPr sz="2000" dirty="0">
                <a:solidFill>
                  <a:srgbClr val="1F487C"/>
                </a:solidFill>
                <a:latin typeface="Calibri"/>
                <a:cs typeface="Calibri"/>
              </a:rPr>
              <a:t>Easy</a:t>
            </a:r>
            <a:r>
              <a:rPr sz="2000" spc="-30" dirty="0">
                <a:solidFill>
                  <a:srgbClr val="1F487C"/>
                </a:solidFill>
                <a:latin typeface="Calibri"/>
                <a:cs typeface="Calibri"/>
              </a:rPr>
              <a:t> </a:t>
            </a:r>
            <a:r>
              <a:rPr sz="2000" dirty="0">
                <a:solidFill>
                  <a:srgbClr val="1F487C"/>
                </a:solidFill>
                <a:latin typeface="Calibri"/>
                <a:cs typeface="Calibri"/>
              </a:rPr>
              <a:t>to</a:t>
            </a:r>
            <a:r>
              <a:rPr sz="2000" spc="-25" dirty="0">
                <a:solidFill>
                  <a:srgbClr val="1F487C"/>
                </a:solidFill>
                <a:latin typeface="Calibri"/>
                <a:cs typeface="Calibri"/>
              </a:rPr>
              <a:t> </a:t>
            </a:r>
            <a:r>
              <a:rPr sz="2000" dirty="0">
                <a:solidFill>
                  <a:srgbClr val="1F487C"/>
                </a:solidFill>
                <a:latin typeface="Calibri"/>
                <a:cs typeface="Calibri"/>
              </a:rPr>
              <a:t>identify</a:t>
            </a:r>
            <a:r>
              <a:rPr sz="2000" spc="-25" dirty="0">
                <a:solidFill>
                  <a:srgbClr val="1F487C"/>
                </a:solidFill>
                <a:latin typeface="Calibri"/>
                <a:cs typeface="Calibri"/>
              </a:rPr>
              <a:t> </a:t>
            </a:r>
            <a:r>
              <a:rPr sz="2000" spc="-5" dirty="0">
                <a:solidFill>
                  <a:srgbClr val="1F487C"/>
                </a:solidFill>
                <a:latin typeface="Calibri"/>
                <a:cs typeface="Calibri"/>
              </a:rPr>
              <a:t>fault</a:t>
            </a:r>
            <a:endParaRPr sz="2000">
              <a:latin typeface="Calibri"/>
              <a:cs typeface="Calibri"/>
            </a:endParaRPr>
          </a:p>
          <a:p>
            <a:pPr lvl="1">
              <a:lnSpc>
                <a:spcPct val="100000"/>
              </a:lnSpc>
              <a:spcBef>
                <a:spcPts val="5"/>
              </a:spcBef>
              <a:buClr>
                <a:srgbClr val="1F487C"/>
              </a:buClr>
              <a:buFont typeface="Arial MT"/>
              <a:buChar char="–"/>
            </a:pPr>
            <a:endParaRPr sz="3150">
              <a:latin typeface="Calibri"/>
              <a:cs typeface="Calibri"/>
            </a:endParaRPr>
          </a:p>
          <a:p>
            <a:pPr marL="355600" indent="-343535">
              <a:lnSpc>
                <a:spcPct val="100000"/>
              </a:lnSpc>
              <a:buFont typeface="Arial MT"/>
              <a:buChar char="•"/>
              <a:tabLst>
                <a:tab pos="355600" algn="l"/>
                <a:tab pos="356235" algn="l"/>
              </a:tabLst>
            </a:pPr>
            <a:r>
              <a:rPr sz="2400" b="1" u="heavy" spc="-5" dirty="0">
                <a:solidFill>
                  <a:srgbClr val="1F487C"/>
                </a:solidFill>
                <a:uFill>
                  <a:solidFill>
                    <a:srgbClr val="1F487C"/>
                  </a:solidFill>
                </a:uFill>
                <a:latin typeface="Calibri"/>
                <a:cs typeface="Calibri"/>
              </a:rPr>
              <a:t>Cons:</a:t>
            </a:r>
            <a:endParaRPr sz="2400">
              <a:latin typeface="Calibri"/>
              <a:cs typeface="Calibri"/>
            </a:endParaRPr>
          </a:p>
          <a:p>
            <a:pPr marL="756285" lvl="1" indent="-287020">
              <a:lnSpc>
                <a:spcPct val="100000"/>
              </a:lnSpc>
              <a:spcBef>
                <a:spcPts val="425"/>
              </a:spcBef>
              <a:buFont typeface="Arial MT"/>
              <a:buChar char="–"/>
              <a:tabLst>
                <a:tab pos="756285" algn="l"/>
                <a:tab pos="756920" algn="l"/>
              </a:tabLst>
            </a:pPr>
            <a:r>
              <a:rPr sz="2000" spc="-5" dirty="0">
                <a:solidFill>
                  <a:srgbClr val="1F487C"/>
                </a:solidFill>
                <a:latin typeface="Calibri"/>
                <a:cs typeface="Calibri"/>
              </a:rPr>
              <a:t>Delay</a:t>
            </a:r>
            <a:r>
              <a:rPr sz="2000" spc="-25" dirty="0">
                <a:solidFill>
                  <a:srgbClr val="1F487C"/>
                </a:solidFill>
                <a:latin typeface="Calibri"/>
                <a:cs typeface="Calibri"/>
              </a:rPr>
              <a:t> </a:t>
            </a:r>
            <a:r>
              <a:rPr sz="2000" dirty="0">
                <a:solidFill>
                  <a:srgbClr val="1F487C"/>
                </a:solidFill>
                <a:latin typeface="Calibri"/>
                <a:cs typeface="Calibri"/>
              </a:rPr>
              <a:t>in</a:t>
            </a:r>
            <a:r>
              <a:rPr sz="2000" spc="-20" dirty="0">
                <a:solidFill>
                  <a:srgbClr val="1F487C"/>
                </a:solidFill>
                <a:latin typeface="Calibri"/>
                <a:cs typeface="Calibri"/>
              </a:rPr>
              <a:t> </a:t>
            </a:r>
            <a:r>
              <a:rPr sz="2000" spc="-5" dirty="0">
                <a:solidFill>
                  <a:srgbClr val="1F487C"/>
                </a:solidFill>
                <a:latin typeface="Calibri"/>
                <a:cs typeface="Calibri"/>
              </a:rPr>
              <a:t>large</a:t>
            </a:r>
            <a:r>
              <a:rPr sz="2000" spc="-15" dirty="0">
                <a:solidFill>
                  <a:srgbClr val="1F487C"/>
                </a:solidFill>
                <a:latin typeface="Calibri"/>
                <a:cs typeface="Calibri"/>
              </a:rPr>
              <a:t> </a:t>
            </a:r>
            <a:r>
              <a:rPr sz="2000" dirty="0">
                <a:solidFill>
                  <a:srgbClr val="1F487C"/>
                </a:solidFill>
                <a:latin typeface="Calibri"/>
                <a:cs typeface="Calibri"/>
              </a:rPr>
              <a:t>ring</a:t>
            </a:r>
            <a:endParaRPr sz="2000">
              <a:latin typeface="Calibri"/>
              <a:cs typeface="Calibri"/>
            </a:endParaRPr>
          </a:p>
          <a:p>
            <a:pPr marL="756285" marR="5080" lvl="1" indent="-287020">
              <a:lnSpc>
                <a:spcPct val="100000"/>
              </a:lnSpc>
              <a:spcBef>
                <a:spcPts val="405"/>
              </a:spcBef>
              <a:buFont typeface="Arial MT"/>
              <a:buChar char="–"/>
              <a:tabLst>
                <a:tab pos="756285" algn="l"/>
                <a:tab pos="756920" algn="l"/>
              </a:tabLst>
            </a:pPr>
            <a:r>
              <a:rPr sz="2000" dirty="0">
                <a:solidFill>
                  <a:srgbClr val="1F487C"/>
                </a:solidFill>
                <a:latin typeface="Calibri"/>
                <a:cs typeface="Calibri"/>
              </a:rPr>
              <a:t>Break</a:t>
            </a:r>
            <a:r>
              <a:rPr sz="2000" spc="-15" dirty="0">
                <a:solidFill>
                  <a:srgbClr val="1F487C"/>
                </a:solidFill>
                <a:latin typeface="Calibri"/>
                <a:cs typeface="Calibri"/>
              </a:rPr>
              <a:t> </a:t>
            </a:r>
            <a:r>
              <a:rPr sz="2000" dirty="0">
                <a:solidFill>
                  <a:srgbClr val="1F487C"/>
                </a:solidFill>
                <a:latin typeface="Calibri"/>
                <a:cs typeface="Calibri"/>
              </a:rPr>
              <a:t>in</a:t>
            </a:r>
            <a:r>
              <a:rPr sz="2000" spc="-10" dirty="0">
                <a:solidFill>
                  <a:srgbClr val="1F487C"/>
                </a:solidFill>
                <a:latin typeface="Calibri"/>
                <a:cs typeface="Calibri"/>
              </a:rPr>
              <a:t> </a:t>
            </a:r>
            <a:r>
              <a:rPr sz="2000" dirty="0">
                <a:solidFill>
                  <a:srgbClr val="1F487C"/>
                </a:solidFill>
                <a:latin typeface="Calibri"/>
                <a:cs typeface="Calibri"/>
              </a:rPr>
              <a:t>the</a:t>
            </a:r>
            <a:r>
              <a:rPr sz="2000" spc="-20" dirty="0">
                <a:solidFill>
                  <a:srgbClr val="1F487C"/>
                </a:solidFill>
                <a:latin typeface="Calibri"/>
                <a:cs typeface="Calibri"/>
              </a:rPr>
              <a:t> </a:t>
            </a:r>
            <a:r>
              <a:rPr sz="2000" spc="-5" dirty="0">
                <a:solidFill>
                  <a:srgbClr val="1F487C"/>
                </a:solidFill>
                <a:latin typeface="Calibri"/>
                <a:cs typeface="Calibri"/>
              </a:rPr>
              <a:t>ring</a:t>
            </a:r>
            <a:r>
              <a:rPr sz="2000" spc="-15" dirty="0">
                <a:solidFill>
                  <a:srgbClr val="1F487C"/>
                </a:solidFill>
                <a:latin typeface="Calibri"/>
                <a:cs typeface="Calibri"/>
              </a:rPr>
              <a:t> </a:t>
            </a:r>
            <a:r>
              <a:rPr sz="2000" spc="-5" dirty="0">
                <a:solidFill>
                  <a:srgbClr val="1F487C"/>
                </a:solidFill>
                <a:latin typeface="Calibri"/>
                <a:cs typeface="Calibri"/>
              </a:rPr>
              <a:t>stops</a:t>
            </a:r>
            <a:r>
              <a:rPr sz="2000" spc="-10" dirty="0">
                <a:solidFill>
                  <a:srgbClr val="1F487C"/>
                </a:solidFill>
                <a:latin typeface="Calibri"/>
                <a:cs typeface="Calibri"/>
              </a:rPr>
              <a:t> </a:t>
            </a:r>
            <a:r>
              <a:rPr sz="2000" dirty="0">
                <a:solidFill>
                  <a:srgbClr val="1F487C"/>
                </a:solidFill>
                <a:latin typeface="Calibri"/>
                <a:cs typeface="Calibri"/>
              </a:rPr>
              <a:t>all </a:t>
            </a:r>
            <a:r>
              <a:rPr sz="2000" spc="-434" dirty="0">
                <a:solidFill>
                  <a:srgbClr val="1F487C"/>
                </a:solidFill>
                <a:latin typeface="Calibri"/>
                <a:cs typeface="Calibri"/>
              </a:rPr>
              <a:t> </a:t>
            </a:r>
            <a:r>
              <a:rPr sz="2000" spc="-5" dirty="0">
                <a:solidFill>
                  <a:srgbClr val="1F487C"/>
                </a:solidFill>
                <a:latin typeface="Calibri"/>
                <a:cs typeface="Calibri"/>
              </a:rPr>
              <a:t>transmission</a:t>
            </a:r>
            <a:endParaRPr sz="2000">
              <a:latin typeface="Calibri"/>
              <a:cs typeface="Calibri"/>
            </a:endParaRPr>
          </a:p>
        </p:txBody>
      </p:sp>
      <p:grpSp>
        <p:nvGrpSpPr>
          <p:cNvPr id="5" name="object 5"/>
          <p:cNvGrpSpPr/>
          <p:nvPr/>
        </p:nvGrpSpPr>
        <p:grpSpPr>
          <a:xfrm>
            <a:off x="284988" y="1143000"/>
            <a:ext cx="8478520" cy="5233670"/>
            <a:chOff x="284988" y="1143000"/>
            <a:chExt cx="8478520" cy="5233670"/>
          </a:xfrm>
        </p:grpSpPr>
        <p:sp>
          <p:nvSpPr>
            <p:cNvPr id="6" name="object 6"/>
            <p:cNvSpPr/>
            <p:nvPr/>
          </p:nvSpPr>
          <p:spPr>
            <a:xfrm>
              <a:off x="3886200" y="12192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7" name="object 7"/>
            <p:cNvSpPr/>
            <p:nvPr/>
          </p:nvSpPr>
          <p:spPr>
            <a:xfrm>
              <a:off x="3886199" y="1219250"/>
              <a:ext cx="990600" cy="746760"/>
            </a:xfrm>
            <a:custGeom>
              <a:avLst/>
              <a:gdLst/>
              <a:ahLst/>
              <a:cxnLst/>
              <a:rect l="l" t="t" r="r" b="b"/>
              <a:pathLst>
                <a:path w="990600" h="746760">
                  <a:moveTo>
                    <a:pt x="154177" y="496011"/>
                  </a:moveTo>
                  <a:lnTo>
                    <a:pt x="840486" y="496011"/>
                  </a:lnTo>
                  <a:lnTo>
                    <a:pt x="840486"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6" y="537540"/>
                  </a:lnTo>
                  <a:lnTo>
                    <a:pt x="152146" y="537540"/>
                  </a:lnTo>
                  <a:close/>
                </a:path>
                <a:path w="990600" h="746760">
                  <a:moveTo>
                    <a:pt x="284988" y="633044"/>
                  </a:moveTo>
                  <a:lnTo>
                    <a:pt x="272669" y="652475"/>
                  </a:lnTo>
                  <a:lnTo>
                    <a:pt x="723011"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8" y="599897"/>
                  </a:lnTo>
                  <a:lnTo>
                    <a:pt x="106172" y="599897"/>
                  </a:lnTo>
                  <a:close/>
                </a:path>
              </a:pathLst>
            </a:custGeom>
            <a:ln w="9525">
              <a:solidFill>
                <a:srgbClr val="000000"/>
              </a:solidFill>
            </a:ln>
          </p:spPr>
          <p:txBody>
            <a:bodyPr wrap="square" lIns="0" tIns="0" rIns="0" bIns="0" rtlCol="0"/>
            <a:lstStyle/>
            <a:p>
              <a:endParaRPr/>
            </a:p>
          </p:txBody>
        </p:sp>
        <p:sp>
          <p:nvSpPr>
            <p:cNvPr id="8" name="object 8"/>
            <p:cNvSpPr/>
            <p:nvPr/>
          </p:nvSpPr>
          <p:spPr>
            <a:xfrm>
              <a:off x="5867400" y="2057450"/>
              <a:ext cx="990600" cy="746760"/>
            </a:xfrm>
            <a:custGeom>
              <a:avLst/>
              <a:gdLst/>
              <a:ahLst/>
              <a:cxnLst/>
              <a:rect l="l" t="t" r="r" b="b"/>
              <a:pathLst>
                <a:path w="990600" h="746760">
                  <a:moveTo>
                    <a:pt x="840486" y="0"/>
                  </a:moveTo>
                  <a:lnTo>
                    <a:pt x="154178" y="0"/>
                  </a:lnTo>
                  <a:lnTo>
                    <a:pt x="154178" y="496011"/>
                  </a:lnTo>
                  <a:lnTo>
                    <a:pt x="840486" y="496011"/>
                  </a:lnTo>
                  <a:lnTo>
                    <a:pt x="840486"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9" name="object 9"/>
            <p:cNvSpPr/>
            <p:nvPr/>
          </p:nvSpPr>
          <p:spPr>
            <a:xfrm>
              <a:off x="5867399" y="205745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5"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6" y="537540"/>
                  </a:moveTo>
                  <a:lnTo>
                    <a:pt x="133730" y="556844"/>
                  </a:lnTo>
                  <a:lnTo>
                    <a:pt x="858901" y="556844"/>
                  </a:lnTo>
                  <a:lnTo>
                    <a:pt x="840485" y="537540"/>
                  </a:lnTo>
                  <a:lnTo>
                    <a:pt x="152146" y="537540"/>
                  </a:lnTo>
                  <a:close/>
                </a:path>
                <a:path w="990600" h="746760">
                  <a:moveTo>
                    <a:pt x="284988" y="633044"/>
                  </a:moveTo>
                  <a:lnTo>
                    <a:pt x="272669" y="652475"/>
                  </a:lnTo>
                  <a:lnTo>
                    <a:pt x="723010" y="652475"/>
                  </a:lnTo>
                  <a:lnTo>
                    <a:pt x="710819" y="633044"/>
                  </a:lnTo>
                  <a:lnTo>
                    <a:pt x="284988" y="633044"/>
                  </a:lnTo>
                  <a:close/>
                </a:path>
                <a:path w="990600" h="746760">
                  <a:moveTo>
                    <a:pt x="129666" y="569417"/>
                  </a:moveTo>
                  <a:lnTo>
                    <a:pt x="110236" y="590118"/>
                  </a:lnTo>
                  <a:lnTo>
                    <a:pt x="884427" y="590118"/>
                  </a:lnTo>
                  <a:lnTo>
                    <a:pt x="863980" y="569417"/>
                  </a:lnTo>
                  <a:lnTo>
                    <a:pt x="129666" y="569417"/>
                  </a:lnTo>
                  <a:close/>
                </a:path>
                <a:path w="990600" h="746760">
                  <a:moveTo>
                    <a:pt x="106172" y="599897"/>
                  </a:moveTo>
                  <a:lnTo>
                    <a:pt x="85851" y="620598"/>
                  </a:lnTo>
                  <a:lnTo>
                    <a:pt x="910971" y="620598"/>
                  </a:lnTo>
                  <a:lnTo>
                    <a:pt x="889507" y="599897"/>
                  </a:lnTo>
                  <a:lnTo>
                    <a:pt x="106172" y="599897"/>
                  </a:lnTo>
                  <a:close/>
                </a:path>
              </a:pathLst>
            </a:custGeom>
            <a:ln w="9525">
              <a:solidFill>
                <a:srgbClr val="000000"/>
              </a:solidFill>
            </a:ln>
          </p:spPr>
          <p:txBody>
            <a:bodyPr wrap="square" lIns="0" tIns="0" rIns="0" bIns="0" rtlCol="0"/>
            <a:lstStyle/>
            <a:p>
              <a:endParaRPr/>
            </a:p>
          </p:txBody>
        </p:sp>
        <p:sp>
          <p:nvSpPr>
            <p:cNvPr id="10" name="object 10"/>
            <p:cNvSpPr/>
            <p:nvPr/>
          </p:nvSpPr>
          <p:spPr>
            <a:xfrm>
              <a:off x="381000" y="2057450"/>
              <a:ext cx="990600" cy="746760"/>
            </a:xfrm>
            <a:custGeom>
              <a:avLst/>
              <a:gdLst/>
              <a:ahLst/>
              <a:cxnLst/>
              <a:rect l="l" t="t" r="r" b="b"/>
              <a:pathLst>
                <a:path w="990600" h="746760">
                  <a:moveTo>
                    <a:pt x="840498" y="0"/>
                  </a:moveTo>
                  <a:lnTo>
                    <a:pt x="154190" y="0"/>
                  </a:lnTo>
                  <a:lnTo>
                    <a:pt x="154190" y="496011"/>
                  </a:lnTo>
                  <a:lnTo>
                    <a:pt x="840498" y="496011"/>
                  </a:lnTo>
                  <a:lnTo>
                    <a:pt x="840498" y="0"/>
                  </a:lnTo>
                  <a:close/>
                </a:path>
                <a:path w="990600" h="746760">
                  <a:moveTo>
                    <a:pt x="990600" y="687146"/>
                  </a:moveTo>
                  <a:lnTo>
                    <a:pt x="840498" y="520903"/>
                  </a:lnTo>
                  <a:lnTo>
                    <a:pt x="153174"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1" name="object 11"/>
            <p:cNvSpPr/>
            <p:nvPr/>
          </p:nvSpPr>
          <p:spPr>
            <a:xfrm>
              <a:off x="381000" y="2057450"/>
              <a:ext cx="990600" cy="746760"/>
            </a:xfrm>
            <a:custGeom>
              <a:avLst/>
              <a:gdLst/>
              <a:ahLst/>
              <a:cxnLst/>
              <a:rect l="l" t="t" r="r" b="b"/>
              <a:pathLst>
                <a:path w="990600" h="746760">
                  <a:moveTo>
                    <a:pt x="154190" y="496011"/>
                  </a:moveTo>
                  <a:lnTo>
                    <a:pt x="840498" y="496011"/>
                  </a:lnTo>
                  <a:lnTo>
                    <a:pt x="840498" y="0"/>
                  </a:lnTo>
                  <a:lnTo>
                    <a:pt x="154190" y="0"/>
                  </a:lnTo>
                  <a:lnTo>
                    <a:pt x="154190" y="496011"/>
                  </a:lnTo>
                  <a:close/>
                </a:path>
                <a:path w="990600" h="746760">
                  <a:moveTo>
                    <a:pt x="153174" y="520903"/>
                  </a:moveTo>
                  <a:lnTo>
                    <a:pt x="0" y="687146"/>
                  </a:lnTo>
                  <a:lnTo>
                    <a:pt x="990600" y="687146"/>
                  </a:lnTo>
                  <a:lnTo>
                    <a:pt x="840498" y="520903"/>
                  </a:lnTo>
                  <a:lnTo>
                    <a:pt x="153174" y="520903"/>
                  </a:lnTo>
                  <a:close/>
                </a:path>
                <a:path w="990600" h="746760">
                  <a:moveTo>
                    <a:pt x="0" y="746709"/>
                  </a:moveTo>
                  <a:lnTo>
                    <a:pt x="990600" y="746709"/>
                  </a:lnTo>
                  <a:lnTo>
                    <a:pt x="990600" y="687141"/>
                  </a:lnTo>
                  <a:lnTo>
                    <a:pt x="0" y="687141"/>
                  </a:lnTo>
                  <a:lnTo>
                    <a:pt x="0" y="746709"/>
                  </a:lnTo>
                  <a:close/>
                </a:path>
                <a:path w="990600" h="746760">
                  <a:moveTo>
                    <a:pt x="191973" y="440512"/>
                  </a:moveTo>
                  <a:lnTo>
                    <a:pt x="804722" y="440512"/>
                  </a:lnTo>
                  <a:lnTo>
                    <a:pt x="804722" y="52577"/>
                  </a:lnTo>
                  <a:lnTo>
                    <a:pt x="191973" y="52577"/>
                  </a:lnTo>
                  <a:lnTo>
                    <a:pt x="191973" y="440512"/>
                  </a:lnTo>
                  <a:close/>
                </a:path>
                <a:path w="990600" h="746760">
                  <a:moveTo>
                    <a:pt x="152171" y="537540"/>
                  </a:moveTo>
                  <a:lnTo>
                    <a:pt x="133781" y="556844"/>
                  </a:lnTo>
                  <a:lnTo>
                    <a:pt x="858837" y="556844"/>
                  </a:lnTo>
                  <a:lnTo>
                    <a:pt x="840498" y="537540"/>
                  </a:lnTo>
                  <a:lnTo>
                    <a:pt x="152171" y="537540"/>
                  </a:lnTo>
                  <a:close/>
                </a:path>
                <a:path w="990600" h="746760">
                  <a:moveTo>
                    <a:pt x="284937" y="633044"/>
                  </a:moveTo>
                  <a:lnTo>
                    <a:pt x="272694" y="652475"/>
                  </a:lnTo>
                  <a:lnTo>
                    <a:pt x="723049" y="652475"/>
                  </a:lnTo>
                  <a:lnTo>
                    <a:pt x="710806" y="633044"/>
                  </a:lnTo>
                  <a:lnTo>
                    <a:pt x="284937" y="633044"/>
                  </a:lnTo>
                  <a:close/>
                </a:path>
                <a:path w="990600" h="746760">
                  <a:moveTo>
                    <a:pt x="129692" y="569417"/>
                  </a:moveTo>
                  <a:lnTo>
                    <a:pt x="110299" y="590118"/>
                  </a:lnTo>
                  <a:lnTo>
                    <a:pt x="884389" y="590118"/>
                  </a:lnTo>
                  <a:lnTo>
                    <a:pt x="863981" y="569417"/>
                  </a:lnTo>
                  <a:lnTo>
                    <a:pt x="129692" y="569417"/>
                  </a:lnTo>
                  <a:close/>
                </a:path>
                <a:path w="990600" h="746760">
                  <a:moveTo>
                    <a:pt x="106210" y="599897"/>
                  </a:moveTo>
                  <a:lnTo>
                    <a:pt x="85801" y="620598"/>
                  </a:lnTo>
                  <a:lnTo>
                    <a:pt x="910971" y="620598"/>
                  </a:lnTo>
                  <a:lnTo>
                    <a:pt x="889508" y="599897"/>
                  </a:lnTo>
                  <a:lnTo>
                    <a:pt x="106210" y="599897"/>
                  </a:lnTo>
                  <a:close/>
                </a:path>
              </a:pathLst>
            </a:custGeom>
            <a:ln w="9525">
              <a:solidFill>
                <a:srgbClr val="000000"/>
              </a:solidFill>
            </a:ln>
          </p:spPr>
          <p:txBody>
            <a:bodyPr wrap="square" lIns="0" tIns="0" rIns="0" bIns="0" rtlCol="0"/>
            <a:lstStyle/>
            <a:p>
              <a:endParaRPr/>
            </a:p>
          </p:txBody>
        </p:sp>
        <p:sp>
          <p:nvSpPr>
            <p:cNvPr id="12" name="object 12"/>
            <p:cNvSpPr/>
            <p:nvPr/>
          </p:nvSpPr>
          <p:spPr>
            <a:xfrm>
              <a:off x="2286000" y="3139490"/>
              <a:ext cx="990600" cy="746760"/>
            </a:xfrm>
            <a:custGeom>
              <a:avLst/>
              <a:gdLst/>
              <a:ahLst/>
              <a:cxnLst/>
              <a:rect l="l" t="t" r="r" b="b"/>
              <a:pathLst>
                <a:path w="990600" h="746760">
                  <a:moveTo>
                    <a:pt x="840473" y="0"/>
                  </a:moveTo>
                  <a:lnTo>
                    <a:pt x="154178" y="0"/>
                  </a:lnTo>
                  <a:lnTo>
                    <a:pt x="154178" y="496011"/>
                  </a:lnTo>
                  <a:lnTo>
                    <a:pt x="840473" y="496011"/>
                  </a:lnTo>
                  <a:lnTo>
                    <a:pt x="840473" y="0"/>
                  </a:lnTo>
                  <a:close/>
                </a:path>
                <a:path w="990600" h="746760">
                  <a:moveTo>
                    <a:pt x="990600" y="687146"/>
                  </a:moveTo>
                  <a:lnTo>
                    <a:pt x="840486" y="520903"/>
                  </a:lnTo>
                  <a:lnTo>
                    <a:pt x="153162" y="520903"/>
                  </a:lnTo>
                  <a:lnTo>
                    <a:pt x="0" y="687146"/>
                  </a:lnTo>
                  <a:lnTo>
                    <a:pt x="0" y="746709"/>
                  </a:lnTo>
                  <a:lnTo>
                    <a:pt x="990600" y="746709"/>
                  </a:lnTo>
                  <a:lnTo>
                    <a:pt x="990600" y="687146"/>
                  </a:lnTo>
                  <a:close/>
                </a:path>
              </a:pathLst>
            </a:custGeom>
            <a:solidFill>
              <a:srgbClr val="C0C0C0"/>
            </a:solidFill>
          </p:spPr>
          <p:txBody>
            <a:bodyPr wrap="square" lIns="0" tIns="0" rIns="0" bIns="0" rtlCol="0"/>
            <a:lstStyle/>
            <a:p>
              <a:endParaRPr/>
            </a:p>
          </p:txBody>
        </p:sp>
        <p:sp>
          <p:nvSpPr>
            <p:cNvPr id="13" name="object 13"/>
            <p:cNvSpPr/>
            <p:nvPr/>
          </p:nvSpPr>
          <p:spPr>
            <a:xfrm>
              <a:off x="2285999" y="3139490"/>
              <a:ext cx="990600" cy="746760"/>
            </a:xfrm>
            <a:custGeom>
              <a:avLst/>
              <a:gdLst/>
              <a:ahLst/>
              <a:cxnLst/>
              <a:rect l="l" t="t" r="r" b="b"/>
              <a:pathLst>
                <a:path w="990600" h="746760">
                  <a:moveTo>
                    <a:pt x="154177" y="496011"/>
                  </a:moveTo>
                  <a:lnTo>
                    <a:pt x="840485" y="496011"/>
                  </a:lnTo>
                  <a:lnTo>
                    <a:pt x="840485" y="0"/>
                  </a:lnTo>
                  <a:lnTo>
                    <a:pt x="154177" y="0"/>
                  </a:lnTo>
                  <a:lnTo>
                    <a:pt x="154177" y="496011"/>
                  </a:lnTo>
                  <a:close/>
                </a:path>
                <a:path w="990600" h="746760">
                  <a:moveTo>
                    <a:pt x="153162" y="520903"/>
                  </a:moveTo>
                  <a:lnTo>
                    <a:pt x="0" y="687146"/>
                  </a:lnTo>
                  <a:lnTo>
                    <a:pt x="990600" y="687146"/>
                  </a:lnTo>
                  <a:lnTo>
                    <a:pt x="840486" y="520903"/>
                  </a:lnTo>
                  <a:lnTo>
                    <a:pt x="153162" y="520903"/>
                  </a:lnTo>
                  <a:close/>
                </a:path>
                <a:path w="990600" h="746760">
                  <a:moveTo>
                    <a:pt x="0" y="746709"/>
                  </a:moveTo>
                  <a:lnTo>
                    <a:pt x="990600" y="746709"/>
                  </a:lnTo>
                  <a:lnTo>
                    <a:pt x="990600" y="687141"/>
                  </a:lnTo>
                  <a:lnTo>
                    <a:pt x="0" y="687141"/>
                  </a:lnTo>
                  <a:lnTo>
                    <a:pt x="0" y="746709"/>
                  </a:lnTo>
                  <a:close/>
                </a:path>
                <a:path w="990600" h="746760">
                  <a:moveTo>
                    <a:pt x="192024" y="440512"/>
                  </a:moveTo>
                  <a:lnTo>
                    <a:pt x="804773" y="440512"/>
                  </a:lnTo>
                  <a:lnTo>
                    <a:pt x="804773" y="52577"/>
                  </a:lnTo>
                  <a:lnTo>
                    <a:pt x="192024" y="52577"/>
                  </a:lnTo>
                  <a:lnTo>
                    <a:pt x="192024" y="440512"/>
                  </a:lnTo>
                  <a:close/>
                </a:path>
                <a:path w="990600" h="746760">
                  <a:moveTo>
                    <a:pt x="152145" y="537540"/>
                  </a:moveTo>
                  <a:lnTo>
                    <a:pt x="133731" y="556844"/>
                  </a:lnTo>
                  <a:lnTo>
                    <a:pt x="858901" y="556844"/>
                  </a:lnTo>
                  <a:lnTo>
                    <a:pt x="840486" y="537540"/>
                  </a:lnTo>
                  <a:lnTo>
                    <a:pt x="152145" y="537540"/>
                  </a:lnTo>
                  <a:close/>
                </a:path>
                <a:path w="990600" h="746760">
                  <a:moveTo>
                    <a:pt x="284988" y="633044"/>
                  </a:moveTo>
                  <a:lnTo>
                    <a:pt x="272669" y="652475"/>
                  </a:lnTo>
                  <a:lnTo>
                    <a:pt x="723011" y="652475"/>
                  </a:lnTo>
                  <a:lnTo>
                    <a:pt x="710819" y="633044"/>
                  </a:lnTo>
                  <a:lnTo>
                    <a:pt x="284988" y="633044"/>
                  </a:lnTo>
                  <a:close/>
                </a:path>
                <a:path w="990600" h="746760">
                  <a:moveTo>
                    <a:pt x="129667" y="569417"/>
                  </a:moveTo>
                  <a:lnTo>
                    <a:pt x="110236" y="590118"/>
                  </a:lnTo>
                  <a:lnTo>
                    <a:pt x="884427" y="590118"/>
                  </a:lnTo>
                  <a:lnTo>
                    <a:pt x="863981" y="569417"/>
                  </a:lnTo>
                  <a:lnTo>
                    <a:pt x="129667" y="569417"/>
                  </a:lnTo>
                  <a:close/>
                </a:path>
                <a:path w="990600" h="746760">
                  <a:moveTo>
                    <a:pt x="106172" y="599897"/>
                  </a:moveTo>
                  <a:lnTo>
                    <a:pt x="85851" y="620598"/>
                  </a:lnTo>
                  <a:lnTo>
                    <a:pt x="910970" y="620598"/>
                  </a:lnTo>
                  <a:lnTo>
                    <a:pt x="889507" y="599897"/>
                  </a:lnTo>
                  <a:lnTo>
                    <a:pt x="106172" y="599897"/>
                  </a:lnTo>
                  <a:close/>
                </a:path>
              </a:pathLst>
            </a:custGeom>
            <a:ln w="9525">
              <a:solidFill>
                <a:srgbClr val="000000"/>
              </a:solidFill>
            </a:ln>
          </p:spPr>
          <p:txBody>
            <a:bodyPr wrap="square" lIns="0" tIns="0" rIns="0" bIns="0" rtlCol="0"/>
            <a:lstStyle/>
            <a:p>
              <a:endParaRPr/>
            </a:p>
          </p:txBody>
        </p:sp>
        <p:pic>
          <p:nvPicPr>
            <p:cNvPr id="14" name="object 14"/>
            <p:cNvPicPr/>
            <p:nvPr/>
          </p:nvPicPr>
          <p:blipFill>
            <a:blip r:embed="rId2" cstate="print"/>
            <a:stretch>
              <a:fillRect/>
            </a:stretch>
          </p:blipFill>
          <p:spPr>
            <a:xfrm>
              <a:off x="284988" y="1143000"/>
              <a:ext cx="8478012" cy="5233416"/>
            </a:xfrm>
            <a:prstGeom prst="rect">
              <a:avLst/>
            </a:prstGeom>
          </p:spPr>
        </p:pic>
      </p:grpSp>
      <p:sp>
        <p:nvSpPr>
          <p:cNvPr id="17" name="Slide Number Placeholder 16">
            <a:extLst>
              <a:ext uri="{FF2B5EF4-FFF2-40B4-BE49-F238E27FC236}">
                <a16:creationId xmlns:a16="http://schemas.microsoft.com/office/drawing/2014/main" xmlns="" id="{13D917C1-4423-FC6D-BE18-4002994C94BA}"/>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28</a:t>
            </a:fld>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26957" y="6427114"/>
            <a:ext cx="18161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878787"/>
                </a:solidFill>
                <a:latin typeface="Calibri"/>
                <a:cs typeface="Calibri"/>
              </a:rPr>
              <a:t>24</a:t>
            </a:r>
            <a:endParaRPr sz="1200">
              <a:latin typeface="Calibri"/>
              <a:cs typeface="Calibri"/>
            </a:endParaRPr>
          </a:p>
        </p:txBody>
      </p:sp>
      <p:sp>
        <p:nvSpPr>
          <p:cNvPr id="3" name="object 3"/>
          <p:cNvSpPr txBox="1">
            <a:spLocks noGrp="1"/>
          </p:cNvSpPr>
          <p:nvPr>
            <p:ph type="title"/>
          </p:nvPr>
        </p:nvSpPr>
        <p:spPr>
          <a:xfrm>
            <a:off x="2504313" y="461899"/>
            <a:ext cx="4138295" cy="696595"/>
          </a:xfrm>
          <a:prstGeom prst="rect">
            <a:avLst/>
          </a:prstGeom>
        </p:spPr>
        <p:txBody>
          <a:bodyPr vert="horz" wrap="square" lIns="0" tIns="13335" rIns="0" bIns="0" rtlCol="0">
            <a:spAutoFit/>
          </a:bodyPr>
          <a:lstStyle/>
          <a:p>
            <a:pPr marL="12700">
              <a:lnSpc>
                <a:spcPct val="100000"/>
              </a:lnSpc>
              <a:spcBef>
                <a:spcPts val="105"/>
              </a:spcBef>
            </a:pPr>
            <a:r>
              <a:rPr dirty="0">
                <a:solidFill>
                  <a:srgbClr val="000000"/>
                </a:solidFill>
                <a:latin typeface="Calibri"/>
                <a:cs typeface="Calibri"/>
              </a:rPr>
              <a:t>Hybrid</a:t>
            </a:r>
            <a:r>
              <a:rPr spc="-70" dirty="0">
                <a:solidFill>
                  <a:srgbClr val="000000"/>
                </a:solidFill>
                <a:latin typeface="Calibri"/>
                <a:cs typeface="Calibri"/>
              </a:rPr>
              <a:t> </a:t>
            </a:r>
            <a:r>
              <a:rPr dirty="0">
                <a:solidFill>
                  <a:srgbClr val="000000"/>
                </a:solidFill>
                <a:latin typeface="Calibri"/>
                <a:cs typeface="Calibri"/>
              </a:rPr>
              <a:t>Topologies</a:t>
            </a:r>
          </a:p>
        </p:txBody>
      </p:sp>
      <p:grpSp>
        <p:nvGrpSpPr>
          <p:cNvPr id="4" name="object 4"/>
          <p:cNvGrpSpPr/>
          <p:nvPr/>
        </p:nvGrpSpPr>
        <p:grpSpPr>
          <a:xfrm>
            <a:off x="304800" y="2133600"/>
            <a:ext cx="8839200" cy="4038600"/>
            <a:chOff x="304800" y="2133600"/>
            <a:chExt cx="8839200" cy="4038600"/>
          </a:xfrm>
        </p:grpSpPr>
        <p:pic>
          <p:nvPicPr>
            <p:cNvPr id="5" name="object 5"/>
            <p:cNvPicPr/>
            <p:nvPr/>
          </p:nvPicPr>
          <p:blipFill>
            <a:blip r:embed="rId2" cstate="print"/>
            <a:stretch>
              <a:fillRect/>
            </a:stretch>
          </p:blipFill>
          <p:spPr>
            <a:xfrm>
              <a:off x="3509778" y="2489451"/>
              <a:ext cx="2779174" cy="348128"/>
            </a:xfrm>
            <a:prstGeom prst="rect">
              <a:avLst/>
            </a:prstGeom>
          </p:spPr>
        </p:pic>
        <p:sp>
          <p:nvSpPr>
            <p:cNvPr id="6" name="object 6"/>
            <p:cNvSpPr/>
            <p:nvPr/>
          </p:nvSpPr>
          <p:spPr>
            <a:xfrm>
              <a:off x="1031493" y="2667000"/>
              <a:ext cx="6893559" cy="2540635"/>
            </a:xfrm>
            <a:custGeom>
              <a:avLst/>
              <a:gdLst/>
              <a:ahLst/>
              <a:cxnLst/>
              <a:rect l="l" t="t" r="r" b="b"/>
              <a:pathLst>
                <a:path w="6893559" h="2540635">
                  <a:moveTo>
                    <a:pt x="721106" y="2514600"/>
                  </a:moveTo>
                  <a:lnTo>
                    <a:pt x="721106" y="0"/>
                  </a:lnTo>
                </a:path>
                <a:path w="6893559" h="2540635">
                  <a:moveTo>
                    <a:pt x="721106" y="0"/>
                  </a:moveTo>
                  <a:lnTo>
                    <a:pt x="2473706" y="0"/>
                  </a:lnTo>
                </a:path>
                <a:path w="6893559" h="2540635">
                  <a:moveTo>
                    <a:pt x="5216906" y="0"/>
                  </a:moveTo>
                  <a:lnTo>
                    <a:pt x="6893306" y="0"/>
                  </a:lnTo>
                </a:path>
                <a:path w="6893559" h="2540635">
                  <a:moveTo>
                    <a:pt x="6893306" y="0"/>
                  </a:moveTo>
                  <a:lnTo>
                    <a:pt x="6893306" y="2286000"/>
                  </a:lnTo>
                </a:path>
                <a:path w="6893559" h="2540635">
                  <a:moveTo>
                    <a:pt x="0" y="2540508"/>
                  </a:moveTo>
                  <a:lnTo>
                    <a:pt x="647954" y="2540508"/>
                  </a:lnTo>
                </a:path>
                <a:path w="6893559" h="2540635">
                  <a:moveTo>
                    <a:pt x="755904" y="2540508"/>
                  </a:moveTo>
                  <a:lnTo>
                    <a:pt x="1376426" y="2540508"/>
                  </a:lnTo>
                </a:path>
                <a:path w="6893559" h="2540635">
                  <a:moveTo>
                    <a:pt x="1484376" y="2540508"/>
                  </a:moveTo>
                  <a:lnTo>
                    <a:pt x="2051558" y="2540508"/>
                  </a:lnTo>
                </a:path>
                <a:path w="6893559" h="2540635">
                  <a:moveTo>
                    <a:pt x="2159508" y="2540508"/>
                  </a:moveTo>
                  <a:lnTo>
                    <a:pt x="2267966" y="2540508"/>
                  </a:lnTo>
                </a:path>
              </a:pathLst>
            </a:custGeom>
            <a:ln w="76200">
              <a:solidFill>
                <a:srgbClr val="FF0000"/>
              </a:solidFill>
            </a:ln>
          </p:spPr>
          <p:txBody>
            <a:bodyPr wrap="square" lIns="0" tIns="0" rIns="0" bIns="0" rtlCol="0"/>
            <a:lstStyle/>
            <a:p>
              <a:endParaRPr/>
            </a:p>
          </p:txBody>
        </p:sp>
        <p:sp>
          <p:nvSpPr>
            <p:cNvPr id="7" name="object 7"/>
            <p:cNvSpPr/>
            <p:nvPr/>
          </p:nvSpPr>
          <p:spPr>
            <a:xfrm>
              <a:off x="1696212" y="5274627"/>
              <a:ext cx="76200" cy="0"/>
            </a:xfrm>
            <a:custGeom>
              <a:avLst/>
              <a:gdLst/>
              <a:ahLst/>
              <a:cxnLst/>
              <a:rect l="l" t="t" r="r" b="b"/>
              <a:pathLst>
                <a:path w="76200">
                  <a:moveTo>
                    <a:pt x="0" y="0"/>
                  </a:moveTo>
                  <a:lnTo>
                    <a:pt x="76200" y="0"/>
                  </a:lnTo>
                </a:path>
              </a:pathLst>
            </a:custGeom>
            <a:ln w="26796">
              <a:solidFill>
                <a:srgbClr val="FF0000"/>
              </a:solidFill>
            </a:ln>
          </p:spPr>
          <p:txBody>
            <a:bodyPr wrap="square" lIns="0" tIns="0" rIns="0" bIns="0" rtlCol="0"/>
            <a:lstStyle/>
            <a:p>
              <a:endParaRPr/>
            </a:p>
          </p:txBody>
        </p:sp>
        <p:sp>
          <p:nvSpPr>
            <p:cNvPr id="8" name="object 8"/>
            <p:cNvSpPr/>
            <p:nvPr/>
          </p:nvSpPr>
          <p:spPr>
            <a:xfrm>
              <a:off x="1679448" y="5207507"/>
              <a:ext cx="107950" cy="53975"/>
            </a:xfrm>
            <a:custGeom>
              <a:avLst/>
              <a:gdLst/>
              <a:ahLst/>
              <a:cxnLst/>
              <a:rect l="l" t="t" r="r" b="b"/>
              <a:pathLst>
                <a:path w="107950" h="53975">
                  <a:moveTo>
                    <a:pt x="0" y="0"/>
                  </a:moveTo>
                  <a:lnTo>
                    <a:pt x="107950" y="0"/>
                  </a:lnTo>
                </a:path>
                <a:path w="107950" h="53975">
                  <a:moveTo>
                    <a:pt x="54863" y="0"/>
                  </a:moveTo>
                  <a:lnTo>
                    <a:pt x="54863" y="53721"/>
                  </a:lnTo>
                </a:path>
              </a:pathLst>
            </a:custGeom>
            <a:ln w="76200">
              <a:solidFill>
                <a:srgbClr val="000000"/>
              </a:solidFill>
            </a:ln>
          </p:spPr>
          <p:txBody>
            <a:bodyPr wrap="square" lIns="0" tIns="0" rIns="0" bIns="0" rtlCol="0"/>
            <a:lstStyle/>
            <a:p>
              <a:endParaRPr/>
            </a:p>
          </p:txBody>
        </p:sp>
        <p:sp>
          <p:nvSpPr>
            <p:cNvPr id="9" name="object 9"/>
            <p:cNvSpPr/>
            <p:nvPr/>
          </p:nvSpPr>
          <p:spPr>
            <a:xfrm>
              <a:off x="815975" y="5207507"/>
              <a:ext cx="107950" cy="0"/>
            </a:xfrm>
            <a:custGeom>
              <a:avLst/>
              <a:gdLst/>
              <a:ahLst/>
              <a:cxnLst/>
              <a:rect l="l" t="t" r="r" b="b"/>
              <a:pathLst>
                <a:path w="107950">
                  <a:moveTo>
                    <a:pt x="0" y="0"/>
                  </a:moveTo>
                  <a:lnTo>
                    <a:pt x="107568" y="0"/>
                  </a:lnTo>
                </a:path>
              </a:pathLst>
            </a:custGeom>
            <a:ln w="76200">
              <a:solidFill>
                <a:srgbClr val="FF0000"/>
              </a:solidFill>
            </a:ln>
          </p:spPr>
          <p:txBody>
            <a:bodyPr wrap="square" lIns="0" tIns="0" rIns="0" bIns="0" rtlCol="0"/>
            <a:lstStyle/>
            <a:p>
              <a:endParaRPr/>
            </a:p>
          </p:txBody>
        </p:sp>
        <p:sp>
          <p:nvSpPr>
            <p:cNvPr id="10" name="object 10"/>
            <p:cNvSpPr/>
            <p:nvPr/>
          </p:nvSpPr>
          <p:spPr>
            <a:xfrm>
              <a:off x="940308" y="5274627"/>
              <a:ext cx="76200" cy="0"/>
            </a:xfrm>
            <a:custGeom>
              <a:avLst/>
              <a:gdLst/>
              <a:ahLst/>
              <a:cxnLst/>
              <a:rect l="l" t="t" r="r" b="b"/>
              <a:pathLst>
                <a:path w="76200">
                  <a:moveTo>
                    <a:pt x="0" y="0"/>
                  </a:moveTo>
                  <a:lnTo>
                    <a:pt x="76200" y="0"/>
                  </a:lnTo>
                </a:path>
              </a:pathLst>
            </a:custGeom>
            <a:ln w="26796">
              <a:solidFill>
                <a:srgbClr val="FF0000"/>
              </a:solidFill>
            </a:ln>
          </p:spPr>
          <p:txBody>
            <a:bodyPr wrap="square" lIns="0" tIns="0" rIns="0" bIns="0" rtlCol="0"/>
            <a:lstStyle/>
            <a:p>
              <a:endParaRPr/>
            </a:p>
          </p:txBody>
        </p:sp>
        <p:sp>
          <p:nvSpPr>
            <p:cNvPr id="11" name="object 11"/>
            <p:cNvSpPr/>
            <p:nvPr/>
          </p:nvSpPr>
          <p:spPr>
            <a:xfrm>
              <a:off x="923543" y="5207507"/>
              <a:ext cx="107950" cy="53975"/>
            </a:xfrm>
            <a:custGeom>
              <a:avLst/>
              <a:gdLst/>
              <a:ahLst/>
              <a:cxnLst/>
              <a:rect l="l" t="t" r="r" b="b"/>
              <a:pathLst>
                <a:path w="107950" h="53975">
                  <a:moveTo>
                    <a:pt x="0" y="0"/>
                  </a:moveTo>
                  <a:lnTo>
                    <a:pt x="107950" y="0"/>
                  </a:lnTo>
                </a:path>
                <a:path w="107950" h="53975">
                  <a:moveTo>
                    <a:pt x="54864" y="0"/>
                  </a:moveTo>
                  <a:lnTo>
                    <a:pt x="54864" y="53721"/>
                  </a:lnTo>
                </a:path>
              </a:pathLst>
            </a:custGeom>
            <a:ln w="76200">
              <a:solidFill>
                <a:srgbClr val="000000"/>
              </a:solidFill>
            </a:ln>
          </p:spPr>
          <p:txBody>
            <a:bodyPr wrap="square" lIns="0" tIns="0" rIns="0" bIns="0" rtlCol="0"/>
            <a:lstStyle/>
            <a:p>
              <a:endParaRPr/>
            </a:p>
          </p:txBody>
        </p:sp>
        <p:sp>
          <p:nvSpPr>
            <p:cNvPr id="12" name="object 12"/>
            <p:cNvSpPr/>
            <p:nvPr/>
          </p:nvSpPr>
          <p:spPr>
            <a:xfrm>
              <a:off x="3098292" y="5127498"/>
              <a:ext cx="76200" cy="0"/>
            </a:xfrm>
            <a:custGeom>
              <a:avLst/>
              <a:gdLst/>
              <a:ahLst/>
              <a:cxnLst/>
              <a:rect l="l" t="t" r="r" b="b"/>
              <a:pathLst>
                <a:path w="76200">
                  <a:moveTo>
                    <a:pt x="0" y="0"/>
                  </a:moveTo>
                  <a:lnTo>
                    <a:pt x="76200" y="0"/>
                  </a:lnTo>
                </a:path>
              </a:pathLst>
            </a:custGeom>
            <a:ln w="53340">
              <a:solidFill>
                <a:srgbClr val="FF0000"/>
              </a:solidFill>
            </a:ln>
          </p:spPr>
          <p:txBody>
            <a:bodyPr wrap="square" lIns="0" tIns="0" rIns="0" bIns="0" rtlCol="0"/>
            <a:lstStyle/>
            <a:p>
              <a:endParaRPr/>
            </a:p>
          </p:txBody>
        </p:sp>
        <p:sp>
          <p:nvSpPr>
            <p:cNvPr id="13" name="object 13"/>
            <p:cNvSpPr/>
            <p:nvPr/>
          </p:nvSpPr>
          <p:spPr>
            <a:xfrm>
              <a:off x="3083052" y="5154167"/>
              <a:ext cx="107950" cy="53975"/>
            </a:xfrm>
            <a:custGeom>
              <a:avLst/>
              <a:gdLst/>
              <a:ahLst/>
              <a:cxnLst/>
              <a:rect l="l" t="t" r="r" b="b"/>
              <a:pathLst>
                <a:path w="107950" h="53975">
                  <a:moveTo>
                    <a:pt x="0" y="53339"/>
                  </a:moveTo>
                  <a:lnTo>
                    <a:pt x="107950" y="53339"/>
                  </a:lnTo>
                </a:path>
                <a:path w="107950" h="53975">
                  <a:moveTo>
                    <a:pt x="53340" y="53720"/>
                  </a:moveTo>
                  <a:lnTo>
                    <a:pt x="53340" y="0"/>
                  </a:lnTo>
                </a:path>
              </a:pathLst>
            </a:custGeom>
            <a:ln w="76200">
              <a:solidFill>
                <a:srgbClr val="000000"/>
              </a:solidFill>
            </a:ln>
          </p:spPr>
          <p:txBody>
            <a:bodyPr wrap="square" lIns="0" tIns="0" rIns="0" bIns="0" rtlCol="0"/>
            <a:lstStyle/>
            <a:p>
              <a:endParaRPr/>
            </a:p>
          </p:txBody>
        </p:sp>
        <p:sp>
          <p:nvSpPr>
            <p:cNvPr id="14" name="object 14"/>
            <p:cNvSpPr/>
            <p:nvPr/>
          </p:nvSpPr>
          <p:spPr>
            <a:xfrm>
              <a:off x="2424683" y="5127498"/>
              <a:ext cx="76200" cy="0"/>
            </a:xfrm>
            <a:custGeom>
              <a:avLst/>
              <a:gdLst/>
              <a:ahLst/>
              <a:cxnLst/>
              <a:rect l="l" t="t" r="r" b="b"/>
              <a:pathLst>
                <a:path w="76200">
                  <a:moveTo>
                    <a:pt x="0" y="0"/>
                  </a:moveTo>
                  <a:lnTo>
                    <a:pt x="76200" y="0"/>
                  </a:lnTo>
                </a:path>
              </a:pathLst>
            </a:custGeom>
            <a:ln w="53340">
              <a:solidFill>
                <a:srgbClr val="FF0000"/>
              </a:solidFill>
            </a:ln>
          </p:spPr>
          <p:txBody>
            <a:bodyPr wrap="square" lIns="0" tIns="0" rIns="0" bIns="0" rtlCol="0"/>
            <a:lstStyle/>
            <a:p>
              <a:endParaRPr/>
            </a:p>
          </p:txBody>
        </p:sp>
        <p:sp>
          <p:nvSpPr>
            <p:cNvPr id="15" name="object 15"/>
            <p:cNvSpPr/>
            <p:nvPr/>
          </p:nvSpPr>
          <p:spPr>
            <a:xfrm>
              <a:off x="762000" y="5154167"/>
              <a:ext cx="1753870" cy="107314"/>
            </a:xfrm>
            <a:custGeom>
              <a:avLst/>
              <a:gdLst/>
              <a:ahLst/>
              <a:cxnLst/>
              <a:rect l="l" t="t" r="r" b="b"/>
              <a:pathLst>
                <a:path w="1753870" h="107314">
                  <a:moveTo>
                    <a:pt x="1645920" y="53339"/>
                  </a:moveTo>
                  <a:lnTo>
                    <a:pt x="1753870" y="53339"/>
                  </a:lnTo>
                </a:path>
                <a:path w="1753870" h="107314">
                  <a:moveTo>
                    <a:pt x="1700783" y="53720"/>
                  </a:moveTo>
                  <a:lnTo>
                    <a:pt x="1700783" y="0"/>
                  </a:lnTo>
                </a:path>
                <a:path w="1753870" h="107314">
                  <a:moveTo>
                    <a:pt x="0" y="0"/>
                  </a:moveTo>
                  <a:lnTo>
                    <a:pt x="0" y="107314"/>
                  </a:lnTo>
                </a:path>
              </a:pathLst>
            </a:custGeom>
            <a:ln w="76200">
              <a:solidFill>
                <a:srgbClr val="000000"/>
              </a:solidFill>
            </a:ln>
          </p:spPr>
          <p:txBody>
            <a:bodyPr wrap="square" lIns="0" tIns="0" rIns="0" bIns="0" rtlCol="0"/>
            <a:lstStyle/>
            <a:p>
              <a:endParaRPr/>
            </a:p>
          </p:txBody>
        </p:sp>
        <p:sp>
          <p:nvSpPr>
            <p:cNvPr id="16" name="object 16"/>
            <p:cNvSpPr/>
            <p:nvPr/>
          </p:nvSpPr>
          <p:spPr>
            <a:xfrm>
              <a:off x="762000" y="5207507"/>
              <a:ext cx="53975" cy="0"/>
            </a:xfrm>
            <a:custGeom>
              <a:avLst/>
              <a:gdLst/>
              <a:ahLst/>
              <a:cxnLst/>
              <a:rect l="l" t="t" r="r" b="b"/>
              <a:pathLst>
                <a:path w="53975">
                  <a:moveTo>
                    <a:pt x="26987" y="-38099"/>
                  </a:moveTo>
                  <a:lnTo>
                    <a:pt x="26987" y="38100"/>
                  </a:lnTo>
                </a:path>
              </a:pathLst>
            </a:custGeom>
            <a:ln w="53975">
              <a:solidFill>
                <a:srgbClr val="000000"/>
              </a:solidFill>
            </a:ln>
          </p:spPr>
          <p:txBody>
            <a:bodyPr wrap="square" lIns="0" tIns="0" rIns="0" bIns="0" rtlCol="0"/>
            <a:lstStyle/>
            <a:p>
              <a:endParaRPr/>
            </a:p>
          </p:txBody>
        </p:sp>
        <p:sp>
          <p:nvSpPr>
            <p:cNvPr id="17" name="object 17"/>
            <p:cNvSpPr/>
            <p:nvPr/>
          </p:nvSpPr>
          <p:spPr>
            <a:xfrm>
              <a:off x="3352799" y="5154167"/>
              <a:ext cx="0" cy="107314"/>
            </a:xfrm>
            <a:custGeom>
              <a:avLst/>
              <a:gdLst/>
              <a:ahLst/>
              <a:cxnLst/>
              <a:rect l="l" t="t" r="r" b="b"/>
              <a:pathLst>
                <a:path h="107314">
                  <a:moveTo>
                    <a:pt x="0" y="0"/>
                  </a:moveTo>
                  <a:lnTo>
                    <a:pt x="0" y="107314"/>
                  </a:lnTo>
                </a:path>
              </a:pathLst>
            </a:custGeom>
            <a:ln w="76200">
              <a:solidFill>
                <a:srgbClr val="000000"/>
              </a:solidFill>
            </a:ln>
          </p:spPr>
          <p:txBody>
            <a:bodyPr wrap="square" lIns="0" tIns="0" rIns="0" bIns="0" rtlCol="0"/>
            <a:lstStyle/>
            <a:p>
              <a:endParaRPr/>
            </a:p>
          </p:txBody>
        </p:sp>
        <p:sp>
          <p:nvSpPr>
            <p:cNvPr id="18" name="object 18"/>
            <p:cNvSpPr/>
            <p:nvPr/>
          </p:nvSpPr>
          <p:spPr>
            <a:xfrm>
              <a:off x="3299459" y="5207507"/>
              <a:ext cx="53975" cy="0"/>
            </a:xfrm>
            <a:custGeom>
              <a:avLst/>
              <a:gdLst/>
              <a:ahLst/>
              <a:cxnLst/>
              <a:rect l="l" t="t" r="r" b="b"/>
              <a:pathLst>
                <a:path w="53975">
                  <a:moveTo>
                    <a:pt x="26987" y="-38099"/>
                  </a:moveTo>
                  <a:lnTo>
                    <a:pt x="26987" y="38100"/>
                  </a:lnTo>
                </a:path>
              </a:pathLst>
            </a:custGeom>
            <a:ln w="53975">
              <a:solidFill>
                <a:srgbClr val="000000"/>
              </a:solidFill>
            </a:ln>
          </p:spPr>
          <p:txBody>
            <a:bodyPr wrap="square" lIns="0" tIns="0" rIns="0" bIns="0" rtlCol="0"/>
            <a:lstStyle/>
            <a:p>
              <a:endParaRPr/>
            </a:p>
          </p:txBody>
        </p:sp>
        <p:sp>
          <p:nvSpPr>
            <p:cNvPr id="19" name="object 19"/>
            <p:cNvSpPr/>
            <p:nvPr/>
          </p:nvSpPr>
          <p:spPr>
            <a:xfrm>
              <a:off x="789431" y="5568696"/>
              <a:ext cx="391795" cy="108585"/>
            </a:xfrm>
            <a:custGeom>
              <a:avLst/>
              <a:gdLst/>
              <a:ahLst/>
              <a:cxnLst/>
              <a:rect l="l" t="t" r="r" b="b"/>
              <a:pathLst>
                <a:path w="391794" h="108585">
                  <a:moveTo>
                    <a:pt x="0" y="108203"/>
                  </a:moveTo>
                  <a:lnTo>
                    <a:pt x="391668" y="108203"/>
                  </a:lnTo>
                  <a:lnTo>
                    <a:pt x="391668" y="0"/>
                  </a:lnTo>
                  <a:lnTo>
                    <a:pt x="0" y="0"/>
                  </a:lnTo>
                  <a:lnTo>
                    <a:pt x="0" y="108203"/>
                  </a:lnTo>
                  <a:close/>
                </a:path>
              </a:pathLst>
            </a:custGeom>
            <a:ln w="9525">
              <a:solidFill>
                <a:srgbClr val="000000"/>
              </a:solidFill>
            </a:ln>
          </p:spPr>
          <p:txBody>
            <a:bodyPr wrap="square" lIns="0" tIns="0" rIns="0" bIns="0" rtlCol="0"/>
            <a:lstStyle/>
            <a:p>
              <a:endParaRPr/>
            </a:p>
          </p:txBody>
        </p:sp>
        <p:sp>
          <p:nvSpPr>
            <p:cNvPr id="20" name="object 20"/>
            <p:cNvSpPr/>
            <p:nvPr/>
          </p:nvSpPr>
          <p:spPr>
            <a:xfrm>
              <a:off x="801623" y="5580888"/>
              <a:ext cx="367665" cy="83820"/>
            </a:xfrm>
            <a:custGeom>
              <a:avLst/>
              <a:gdLst/>
              <a:ahLst/>
              <a:cxnLst/>
              <a:rect l="l" t="t" r="r" b="b"/>
              <a:pathLst>
                <a:path w="367665" h="83820">
                  <a:moveTo>
                    <a:pt x="367283" y="0"/>
                  </a:moveTo>
                  <a:lnTo>
                    <a:pt x="0" y="0"/>
                  </a:lnTo>
                  <a:lnTo>
                    <a:pt x="0" y="83820"/>
                  </a:lnTo>
                  <a:lnTo>
                    <a:pt x="367283" y="83820"/>
                  </a:lnTo>
                  <a:lnTo>
                    <a:pt x="367283" y="0"/>
                  </a:lnTo>
                  <a:close/>
                </a:path>
              </a:pathLst>
            </a:custGeom>
            <a:solidFill>
              <a:srgbClr val="C0C0C0"/>
            </a:solidFill>
          </p:spPr>
          <p:txBody>
            <a:bodyPr wrap="square" lIns="0" tIns="0" rIns="0" bIns="0" rtlCol="0"/>
            <a:lstStyle/>
            <a:p>
              <a:endParaRPr/>
            </a:p>
          </p:txBody>
        </p:sp>
        <p:sp>
          <p:nvSpPr>
            <p:cNvPr id="21" name="object 21"/>
            <p:cNvSpPr/>
            <p:nvPr/>
          </p:nvSpPr>
          <p:spPr>
            <a:xfrm>
              <a:off x="789431" y="5568696"/>
              <a:ext cx="391795" cy="108585"/>
            </a:xfrm>
            <a:custGeom>
              <a:avLst/>
              <a:gdLst/>
              <a:ahLst/>
              <a:cxnLst/>
              <a:rect l="l" t="t" r="r" b="b"/>
              <a:pathLst>
                <a:path w="391794" h="108585">
                  <a:moveTo>
                    <a:pt x="391668" y="0"/>
                  </a:moveTo>
                  <a:lnTo>
                    <a:pt x="379691" y="12191"/>
                  </a:lnTo>
                  <a:lnTo>
                    <a:pt x="379691" y="96202"/>
                  </a:lnTo>
                  <a:lnTo>
                    <a:pt x="12153" y="96202"/>
                  </a:lnTo>
                  <a:lnTo>
                    <a:pt x="0" y="108203"/>
                  </a:lnTo>
                  <a:lnTo>
                    <a:pt x="391668" y="108203"/>
                  </a:lnTo>
                  <a:lnTo>
                    <a:pt x="391668" y="0"/>
                  </a:lnTo>
                  <a:close/>
                </a:path>
              </a:pathLst>
            </a:custGeom>
            <a:solidFill>
              <a:srgbClr val="9A9A9A"/>
            </a:solidFill>
          </p:spPr>
          <p:txBody>
            <a:bodyPr wrap="square" lIns="0" tIns="0" rIns="0" bIns="0" rtlCol="0"/>
            <a:lstStyle/>
            <a:p>
              <a:endParaRPr/>
            </a:p>
          </p:txBody>
        </p:sp>
        <p:sp>
          <p:nvSpPr>
            <p:cNvPr id="22" name="object 22"/>
            <p:cNvSpPr/>
            <p:nvPr/>
          </p:nvSpPr>
          <p:spPr>
            <a:xfrm>
              <a:off x="789431" y="5568696"/>
              <a:ext cx="391795" cy="108585"/>
            </a:xfrm>
            <a:custGeom>
              <a:avLst/>
              <a:gdLst/>
              <a:ahLst/>
              <a:cxnLst/>
              <a:rect l="l" t="t" r="r" b="b"/>
              <a:pathLst>
                <a:path w="391794" h="108585">
                  <a:moveTo>
                    <a:pt x="391668" y="0"/>
                  </a:moveTo>
                  <a:lnTo>
                    <a:pt x="0" y="0"/>
                  </a:lnTo>
                  <a:lnTo>
                    <a:pt x="0" y="108203"/>
                  </a:lnTo>
                  <a:lnTo>
                    <a:pt x="12153" y="96202"/>
                  </a:lnTo>
                  <a:lnTo>
                    <a:pt x="12153" y="12191"/>
                  </a:lnTo>
                  <a:lnTo>
                    <a:pt x="379691" y="12191"/>
                  </a:lnTo>
                  <a:lnTo>
                    <a:pt x="391668" y="0"/>
                  </a:lnTo>
                  <a:close/>
                </a:path>
              </a:pathLst>
            </a:custGeom>
            <a:solidFill>
              <a:srgbClr val="FFFFFF"/>
            </a:solidFill>
          </p:spPr>
          <p:txBody>
            <a:bodyPr wrap="square" lIns="0" tIns="0" rIns="0" bIns="0" rtlCol="0"/>
            <a:lstStyle/>
            <a:p>
              <a:endParaRPr/>
            </a:p>
          </p:txBody>
        </p:sp>
        <p:sp>
          <p:nvSpPr>
            <p:cNvPr id="23" name="object 23"/>
            <p:cNvSpPr/>
            <p:nvPr/>
          </p:nvSpPr>
          <p:spPr>
            <a:xfrm>
              <a:off x="911352" y="5533644"/>
              <a:ext cx="245745" cy="88900"/>
            </a:xfrm>
            <a:custGeom>
              <a:avLst/>
              <a:gdLst/>
              <a:ahLst/>
              <a:cxnLst/>
              <a:rect l="l" t="t" r="r" b="b"/>
              <a:pathLst>
                <a:path w="245744" h="88900">
                  <a:moveTo>
                    <a:pt x="147828" y="0"/>
                  </a:moveTo>
                  <a:lnTo>
                    <a:pt x="0" y="0"/>
                  </a:lnTo>
                  <a:lnTo>
                    <a:pt x="0" y="24384"/>
                  </a:lnTo>
                  <a:lnTo>
                    <a:pt x="147828" y="24384"/>
                  </a:lnTo>
                  <a:lnTo>
                    <a:pt x="147828" y="0"/>
                  </a:lnTo>
                  <a:close/>
                </a:path>
                <a:path w="245744" h="88900">
                  <a:moveTo>
                    <a:pt x="245364" y="70866"/>
                  </a:moveTo>
                  <a:lnTo>
                    <a:pt x="220980" y="70866"/>
                  </a:lnTo>
                  <a:lnTo>
                    <a:pt x="220980" y="65786"/>
                  </a:lnTo>
                  <a:lnTo>
                    <a:pt x="147828" y="65786"/>
                  </a:lnTo>
                  <a:lnTo>
                    <a:pt x="147828" y="70866"/>
                  </a:lnTo>
                  <a:lnTo>
                    <a:pt x="123444" y="70866"/>
                  </a:lnTo>
                  <a:lnTo>
                    <a:pt x="123444" y="82296"/>
                  </a:lnTo>
                  <a:lnTo>
                    <a:pt x="147828" y="82296"/>
                  </a:lnTo>
                  <a:lnTo>
                    <a:pt x="147828" y="88646"/>
                  </a:lnTo>
                  <a:lnTo>
                    <a:pt x="220980" y="88646"/>
                  </a:lnTo>
                  <a:lnTo>
                    <a:pt x="220980" y="82296"/>
                  </a:lnTo>
                  <a:lnTo>
                    <a:pt x="245364" y="82296"/>
                  </a:lnTo>
                  <a:lnTo>
                    <a:pt x="245364" y="70866"/>
                  </a:lnTo>
                  <a:close/>
                </a:path>
              </a:pathLst>
            </a:custGeom>
            <a:solidFill>
              <a:srgbClr val="000000"/>
            </a:solidFill>
          </p:spPr>
          <p:txBody>
            <a:bodyPr wrap="square" lIns="0" tIns="0" rIns="0" bIns="0" rtlCol="0"/>
            <a:lstStyle/>
            <a:p>
              <a:endParaRPr/>
            </a:p>
          </p:txBody>
        </p:sp>
        <p:sp>
          <p:nvSpPr>
            <p:cNvPr id="24" name="object 24"/>
            <p:cNvSpPr/>
            <p:nvPr/>
          </p:nvSpPr>
          <p:spPr>
            <a:xfrm>
              <a:off x="813815" y="5593079"/>
              <a:ext cx="24765" cy="18415"/>
            </a:xfrm>
            <a:custGeom>
              <a:avLst/>
              <a:gdLst/>
              <a:ahLst/>
              <a:cxnLst/>
              <a:rect l="l" t="t" r="r" b="b"/>
              <a:pathLst>
                <a:path w="24765" h="18414">
                  <a:moveTo>
                    <a:pt x="24384" y="0"/>
                  </a:moveTo>
                  <a:lnTo>
                    <a:pt x="0" y="0"/>
                  </a:lnTo>
                  <a:lnTo>
                    <a:pt x="0" y="18288"/>
                  </a:lnTo>
                  <a:lnTo>
                    <a:pt x="24384" y="18288"/>
                  </a:lnTo>
                  <a:lnTo>
                    <a:pt x="24384" y="0"/>
                  </a:lnTo>
                  <a:close/>
                </a:path>
              </a:pathLst>
            </a:custGeom>
            <a:solidFill>
              <a:srgbClr val="008000"/>
            </a:solidFill>
          </p:spPr>
          <p:txBody>
            <a:bodyPr wrap="square" lIns="0" tIns="0" rIns="0" bIns="0" rtlCol="0"/>
            <a:lstStyle/>
            <a:p>
              <a:endParaRPr/>
            </a:p>
          </p:txBody>
        </p:sp>
        <p:sp>
          <p:nvSpPr>
            <p:cNvPr id="25" name="object 25"/>
            <p:cNvSpPr/>
            <p:nvPr/>
          </p:nvSpPr>
          <p:spPr>
            <a:xfrm>
              <a:off x="813815" y="5593079"/>
              <a:ext cx="12700" cy="9525"/>
            </a:xfrm>
            <a:custGeom>
              <a:avLst/>
              <a:gdLst/>
              <a:ahLst/>
              <a:cxnLst/>
              <a:rect l="l" t="t" r="r" b="b"/>
              <a:pathLst>
                <a:path w="12700" h="9525">
                  <a:moveTo>
                    <a:pt x="12191" y="0"/>
                  </a:moveTo>
                  <a:lnTo>
                    <a:pt x="0" y="0"/>
                  </a:lnTo>
                  <a:lnTo>
                    <a:pt x="0" y="9144"/>
                  </a:lnTo>
                  <a:lnTo>
                    <a:pt x="12191" y="9144"/>
                  </a:lnTo>
                  <a:lnTo>
                    <a:pt x="12191" y="0"/>
                  </a:lnTo>
                  <a:close/>
                </a:path>
              </a:pathLst>
            </a:custGeom>
            <a:solidFill>
              <a:srgbClr val="00FF00"/>
            </a:solidFill>
          </p:spPr>
          <p:txBody>
            <a:bodyPr wrap="square" lIns="0" tIns="0" rIns="0" bIns="0" rtlCol="0"/>
            <a:lstStyle/>
            <a:p>
              <a:endParaRPr/>
            </a:p>
          </p:txBody>
        </p:sp>
        <p:sp>
          <p:nvSpPr>
            <p:cNvPr id="26" name="object 26"/>
            <p:cNvSpPr/>
            <p:nvPr/>
          </p:nvSpPr>
          <p:spPr>
            <a:xfrm>
              <a:off x="819911" y="5288279"/>
              <a:ext cx="342900" cy="239395"/>
            </a:xfrm>
            <a:custGeom>
              <a:avLst/>
              <a:gdLst/>
              <a:ahLst/>
              <a:cxnLst/>
              <a:rect l="l" t="t" r="r" b="b"/>
              <a:pathLst>
                <a:path w="342900" h="239395">
                  <a:moveTo>
                    <a:pt x="0" y="239268"/>
                  </a:moveTo>
                  <a:lnTo>
                    <a:pt x="342900" y="239268"/>
                  </a:lnTo>
                  <a:lnTo>
                    <a:pt x="342900" y="0"/>
                  </a:lnTo>
                  <a:lnTo>
                    <a:pt x="0" y="0"/>
                  </a:lnTo>
                  <a:lnTo>
                    <a:pt x="0" y="239268"/>
                  </a:lnTo>
                  <a:close/>
                </a:path>
              </a:pathLst>
            </a:custGeom>
            <a:ln w="9525">
              <a:solidFill>
                <a:srgbClr val="000000"/>
              </a:solidFill>
            </a:ln>
          </p:spPr>
          <p:txBody>
            <a:bodyPr wrap="square" lIns="0" tIns="0" rIns="0" bIns="0" rtlCol="0"/>
            <a:lstStyle/>
            <a:p>
              <a:endParaRPr/>
            </a:p>
          </p:txBody>
        </p:sp>
        <p:sp>
          <p:nvSpPr>
            <p:cNvPr id="27" name="object 27"/>
            <p:cNvSpPr/>
            <p:nvPr/>
          </p:nvSpPr>
          <p:spPr>
            <a:xfrm>
              <a:off x="819912" y="5288279"/>
              <a:ext cx="342900" cy="238760"/>
            </a:xfrm>
            <a:custGeom>
              <a:avLst/>
              <a:gdLst/>
              <a:ahLst/>
              <a:cxnLst/>
              <a:rect l="l" t="t" r="r" b="b"/>
              <a:pathLst>
                <a:path w="342900" h="238760">
                  <a:moveTo>
                    <a:pt x="342900" y="0"/>
                  </a:moveTo>
                  <a:lnTo>
                    <a:pt x="0" y="0"/>
                  </a:lnTo>
                  <a:lnTo>
                    <a:pt x="0" y="12700"/>
                  </a:lnTo>
                  <a:lnTo>
                    <a:pt x="0" y="227330"/>
                  </a:lnTo>
                  <a:lnTo>
                    <a:pt x="0" y="238760"/>
                  </a:lnTo>
                  <a:lnTo>
                    <a:pt x="342900" y="238760"/>
                  </a:lnTo>
                  <a:lnTo>
                    <a:pt x="342900" y="227330"/>
                  </a:lnTo>
                  <a:lnTo>
                    <a:pt x="12344" y="227330"/>
                  </a:lnTo>
                  <a:lnTo>
                    <a:pt x="12344" y="12700"/>
                  </a:lnTo>
                  <a:lnTo>
                    <a:pt x="330555" y="12700"/>
                  </a:lnTo>
                  <a:lnTo>
                    <a:pt x="330555" y="227076"/>
                  </a:lnTo>
                  <a:lnTo>
                    <a:pt x="342900" y="227076"/>
                  </a:lnTo>
                  <a:lnTo>
                    <a:pt x="342900" y="12700"/>
                  </a:lnTo>
                  <a:lnTo>
                    <a:pt x="342900" y="12192"/>
                  </a:lnTo>
                  <a:lnTo>
                    <a:pt x="342900" y="0"/>
                  </a:lnTo>
                  <a:close/>
                </a:path>
              </a:pathLst>
            </a:custGeom>
            <a:solidFill>
              <a:srgbClr val="C0C0C0"/>
            </a:solidFill>
          </p:spPr>
          <p:txBody>
            <a:bodyPr wrap="square" lIns="0" tIns="0" rIns="0" bIns="0" rtlCol="0"/>
            <a:lstStyle/>
            <a:p>
              <a:endParaRPr/>
            </a:p>
          </p:txBody>
        </p:sp>
        <p:sp>
          <p:nvSpPr>
            <p:cNvPr id="28" name="object 28"/>
            <p:cNvSpPr/>
            <p:nvPr/>
          </p:nvSpPr>
          <p:spPr>
            <a:xfrm>
              <a:off x="819911" y="5288279"/>
              <a:ext cx="318770" cy="215265"/>
            </a:xfrm>
            <a:custGeom>
              <a:avLst/>
              <a:gdLst/>
              <a:ahLst/>
              <a:cxnLst/>
              <a:rect l="l" t="t" r="r" b="b"/>
              <a:pathLst>
                <a:path w="318769" h="215264">
                  <a:moveTo>
                    <a:pt x="318516" y="0"/>
                  </a:moveTo>
                  <a:lnTo>
                    <a:pt x="0" y="0"/>
                  </a:lnTo>
                  <a:lnTo>
                    <a:pt x="0" y="214884"/>
                  </a:lnTo>
                  <a:lnTo>
                    <a:pt x="12166" y="202946"/>
                  </a:lnTo>
                  <a:lnTo>
                    <a:pt x="12166" y="11811"/>
                  </a:lnTo>
                  <a:lnTo>
                    <a:pt x="306349" y="11811"/>
                  </a:lnTo>
                  <a:lnTo>
                    <a:pt x="318516" y="0"/>
                  </a:lnTo>
                  <a:close/>
                </a:path>
              </a:pathLst>
            </a:custGeom>
            <a:solidFill>
              <a:srgbClr val="9A9A9A"/>
            </a:solidFill>
          </p:spPr>
          <p:txBody>
            <a:bodyPr wrap="square" lIns="0" tIns="0" rIns="0" bIns="0" rtlCol="0"/>
            <a:lstStyle/>
            <a:p>
              <a:endParaRPr/>
            </a:p>
          </p:txBody>
        </p:sp>
        <p:sp>
          <p:nvSpPr>
            <p:cNvPr id="29" name="object 29"/>
            <p:cNvSpPr/>
            <p:nvPr/>
          </p:nvSpPr>
          <p:spPr>
            <a:xfrm>
              <a:off x="847343" y="5314188"/>
              <a:ext cx="295910" cy="189230"/>
            </a:xfrm>
            <a:custGeom>
              <a:avLst/>
              <a:gdLst/>
              <a:ahLst/>
              <a:cxnLst/>
              <a:rect l="l" t="t" r="r" b="b"/>
              <a:pathLst>
                <a:path w="295909" h="189229">
                  <a:moveTo>
                    <a:pt x="295656" y="0"/>
                  </a:moveTo>
                  <a:lnTo>
                    <a:pt x="0" y="0"/>
                  </a:lnTo>
                  <a:lnTo>
                    <a:pt x="0" y="188975"/>
                  </a:lnTo>
                  <a:lnTo>
                    <a:pt x="295656" y="188975"/>
                  </a:lnTo>
                  <a:lnTo>
                    <a:pt x="295656" y="0"/>
                  </a:lnTo>
                  <a:close/>
                </a:path>
              </a:pathLst>
            </a:custGeom>
            <a:solidFill>
              <a:srgbClr val="3366FF"/>
            </a:solidFill>
          </p:spPr>
          <p:txBody>
            <a:bodyPr wrap="square" lIns="0" tIns="0" rIns="0" bIns="0" rtlCol="0"/>
            <a:lstStyle/>
            <a:p>
              <a:endParaRPr/>
            </a:p>
          </p:txBody>
        </p:sp>
        <p:sp>
          <p:nvSpPr>
            <p:cNvPr id="30" name="object 30"/>
            <p:cNvSpPr/>
            <p:nvPr/>
          </p:nvSpPr>
          <p:spPr>
            <a:xfrm>
              <a:off x="847343" y="5314188"/>
              <a:ext cx="1102360" cy="363220"/>
            </a:xfrm>
            <a:custGeom>
              <a:avLst/>
              <a:gdLst/>
              <a:ahLst/>
              <a:cxnLst/>
              <a:rect l="l" t="t" r="r" b="b"/>
              <a:pathLst>
                <a:path w="1102360" h="363220">
                  <a:moveTo>
                    <a:pt x="0" y="188975"/>
                  </a:moveTo>
                  <a:lnTo>
                    <a:pt x="295656" y="188975"/>
                  </a:lnTo>
                  <a:lnTo>
                    <a:pt x="295656" y="0"/>
                  </a:lnTo>
                  <a:lnTo>
                    <a:pt x="0" y="0"/>
                  </a:lnTo>
                  <a:lnTo>
                    <a:pt x="0" y="188975"/>
                  </a:lnTo>
                  <a:close/>
                </a:path>
                <a:path w="1102360" h="363220">
                  <a:moveTo>
                    <a:pt x="710184" y="362712"/>
                  </a:moveTo>
                  <a:lnTo>
                    <a:pt x="1101852" y="362712"/>
                  </a:lnTo>
                  <a:lnTo>
                    <a:pt x="1101852" y="254508"/>
                  </a:lnTo>
                  <a:lnTo>
                    <a:pt x="710184" y="254508"/>
                  </a:lnTo>
                  <a:lnTo>
                    <a:pt x="710184" y="362712"/>
                  </a:lnTo>
                  <a:close/>
                </a:path>
              </a:pathLst>
            </a:custGeom>
            <a:ln w="9525">
              <a:solidFill>
                <a:srgbClr val="000000"/>
              </a:solidFill>
            </a:ln>
          </p:spPr>
          <p:txBody>
            <a:bodyPr wrap="square" lIns="0" tIns="0" rIns="0" bIns="0" rtlCol="0"/>
            <a:lstStyle/>
            <a:p>
              <a:endParaRPr/>
            </a:p>
          </p:txBody>
        </p:sp>
        <p:sp>
          <p:nvSpPr>
            <p:cNvPr id="31" name="object 31"/>
            <p:cNvSpPr/>
            <p:nvPr/>
          </p:nvSpPr>
          <p:spPr>
            <a:xfrm>
              <a:off x="1569720" y="5580888"/>
              <a:ext cx="367665" cy="83820"/>
            </a:xfrm>
            <a:custGeom>
              <a:avLst/>
              <a:gdLst/>
              <a:ahLst/>
              <a:cxnLst/>
              <a:rect l="l" t="t" r="r" b="b"/>
              <a:pathLst>
                <a:path w="367664" h="83820">
                  <a:moveTo>
                    <a:pt x="367283" y="0"/>
                  </a:moveTo>
                  <a:lnTo>
                    <a:pt x="0" y="0"/>
                  </a:lnTo>
                  <a:lnTo>
                    <a:pt x="0" y="83820"/>
                  </a:lnTo>
                  <a:lnTo>
                    <a:pt x="367283" y="83820"/>
                  </a:lnTo>
                  <a:lnTo>
                    <a:pt x="367283" y="0"/>
                  </a:lnTo>
                  <a:close/>
                </a:path>
              </a:pathLst>
            </a:custGeom>
            <a:solidFill>
              <a:srgbClr val="C0C0C0"/>
            </a:solidFill>
          </p:spPr>
          <p:txBody>
            <a:bodyPr wrap="square" lIns="0" tIns="0" rIns="0" bIns="0" rtlCol="0"/>
            <a:lstStyle/>
            <a:p>
              <a:endParaRPr/>
            </a:p>
          </p:txBody>
        </p:sp>
        <p:sp>
          <p:nvSpPr>
            <p:cNvPr id="32" name="object 32"/>
            <p:cNvSpPr/>
            <p:nvPr/>
          </p:nvSpPr>
          <p:spPr>
            <a:xfrm>
              <a:off x="1557527" y="5568696"/>
              <a:ext cx="391795" cy="108585"/>
            </a:xfrm>
            <a:custGeom>
              <a:avLst/>
              <a:gdLst/>
              <a:ahLst/>
              <a:cxnLst/>
              <a:rect l="l" t="t" r="r" b="b"/>
              <a:pathLst>
                <a:path w="391794" h="108585">
                  <a:moveTo>
                    <a:pt x="391667" y="0"/>
                  </a:moveTo>
                  <a:lnTo>
                    <a:pt x="379729" y="12191"/>
                  </a:lnTo>
                  <a:lnTo>
                    <a:pt x="379729" y="96202"/>
                  </a:lnTo>
                  <a:lnTo>
                    <a:pt x="12191" y="96202"/>
                  </a:lnTo>
                  <a:lnTo>
                    <a:pt x="0" y="108203"/>
                  </a:lnTo>
                  <a:lnTo>
                    <a:pt x="391667" y="108203"/>
                  </a:lnTo>
                  <a:lnTo>
                    <a:pt x="391667" y="0"/>
                  </a:lnTo>
                  <a:close/>
                </a:path>
              </a:pathLst>
            </a:custGeom>
            <a:solidFill>
              <a:srgbClr val="9A9A9A"/>
            </a:solidFill>
          </p:spPr>
          <p:txBody>
            <a:bodyPr wrap="square" lIns="0" tIns="0" rIns="0" bIns="0" rtlCol="0"/>
            <a:lstStyle/>
            <a:p>
              <a:endParaRPr/>
            </a:p>
          </p:txBody>
        </p:sp>
        <p:sp>
          <p:nvSpPr>
            <p:cNvPr id="33" name="object 33"/>
            <p:cNvSpPr/>
            <p:nvPr/>
          </p:nvSpPr>
          <p:spPr>
            <a:xfrm>
              <a:off x="1557527" y="5568696"/>
              <a:ext cx="391795" cy="108585"/>
            </a:xfrm>
            <a:custGeom>
              <a:avLst/>
              <a:gdLst/>
              <a:ahLst/>
              <a:cxnLst/>
              <a:rect l="l" t="t" r="r" b="b"/>
              <a:pathLst>
                <a:path w="391794" h="108585">
                  <a:moveTo>
                    <a:pt x="391667" y="0"/>
                  </a:moveTo>
                  <a:lnTo>
                    <a:pt x="0" y="0"/>
                  </a:lnTo>
                  <a:lnTo>
                    <a:pt x="0" y="108203"/>
                  </a:lnTo>
                  <a:lnTo>
                    <a:pt x="12191" y="96202"/>
                  </a:lnTo>
                  <a:lnTo>
                    <a:pt x="12191" y="12191"/>
                  </a:lnTo>
                  <a:lnTo>
                    <a:pt x="379729" y="12191"/>
                  </a:lnTo>
                  <a:lnTo>
                    <a:pt x="391667" y="0"/>
                  </a:lnTo>
                  <a:close/>
                </a:path>
              </a:pathLst>
            </a:custGeom>
            <a:solidFill>
              <a:srgbClr val="FFFFFF"/>
            </a:solidFill>
          </p:spPr>
          <p:txBody>
            <a:bodyPr wrap="square" lIns="0" tIns="0" rIns="0" bIns="0" rtlCol="0"/>
            <a:lstStyle/>
            <a:p>
              <a:endParaRPr/>
            </a:p>
          </p:txBody>
        </p:sp>
        <p:sp>
          <p:nvSpPr>
            <p:cNvPr id="34" name="object 34"/>
            <p:cNvSpPr/>
            <p:nvPr/>
          </p:nvSpPr>
          <p:spPr>
            <a:xfrm>
              <a:off x="1679448" y="5533644"/>
              <a:ext cx="245745" cy="88900"/>
            </a:xfrm>
            <a:custGeom>
              <a:avLst/>
              <a:gdLst/>
              <a:ahLst/>
              <a:cxnLst/>
              <a:rect l="l" t="t" r="r" b="b"/>
              <a:pathLst>
                <a:path w="245744" h="88900">
                  <a:moveTo>
                    <a:pt x="147828" y="0"/>
                  </a:moveTo>
                  <a:lnTo>
                    <a:pt x="0" y="0"/>
                  </a:lnTo>
                  <a:lnTo>
                    <a:pt x="0" y="24384"/>
                  </a:lnTo>
                  <a:lnTo>
                    <a:pt x="147828" y="24384"/>
                  </a:lnTo>
                  <a:lnTo>
                    <a:pt x="147828" y="0"/>
                  </a:lnTo>
                  <a:close/>
                </a:path>
                <a:path w="245744" h="88900">
                  <a:moveTo>
                    <a:pt x="245364" y="70866"/>
                  </a:moveTo>
                  <a:lnTo>
                    <a:pt x="220980" y="70866"/>
                  </a:lnTo>
                  <a:lnTo>
                    <a:pt x="220980" y="65786"/>
                  </a:lnTo>
                  <a:lnTo>
                    <a:pt x="147828" y="65786"/>
                  </a:lnTo>
                  <a:lnTo>
                    <a:pt x="147828" y="70866"/>
                  </a:lnTo>
                  <a:lnTo>
                    <a:pt x="123444" y="70866"/>
                  </a:lnTo>
                  <a:lnTo>
                    <a:pt x="123444" y="82296"/>
                  </a:lnTo>
                  <a:lnTo>
                    <a:pt x="147828" y="82296"/>
                  </a:lnTo>
                  <a:lnTo>
                    <a:pt x="147828" y="88646"/>
                  </a:lnTo>
                  <a:lnTo>
                    <a:pt x="220980" y="88646"/>
                  </a:lnTo>
                  <a:lnTo>
                    <a:pt x="220980" y="82296"/>
                  </a:lnTo>
                  <a:lnTo>
                    <a:pt x="245364" y="82296"/>
                  </a:lnTo>
                  <a:lnTo>
                    <a:pt x="245364" y="70866"/>
                  </a:lnTo>
                  <a:close/>
                </a:path>
              </a:pathLst>
            </a:custGeom>
            <a:solidFill>
              <a:srgbClr val="000000"/>
            </a:solidFill>
          </p:spPr>
          <p:txBody>
            <a:bodyPr wrap="square" lIns="0" tIns="0" rIns="0" bIns="0" rtlCol="0"/>
            <a:lstStyle/>
            <a:p>
              <a:endParaRPr/>
            </a:p>
          </p:txBody>
        </p:sp>
        <p:sp>
          <p:nvSpPr>
            <p:cNvPr id="35" name="object 35"/>
            <p:cNvSpPr/>
            <p:nvPr/>
          </p:nvSpPr>
          <p:spPr>
            <a:xfrm>
              <a:off x="1581912" y="5593079"/>
              <a:ext cx="24765" cy="18415"/>
            </a:xfrm>
            <a:custGeom>
              <a:avLst/>
              <a:gdLst/>
              <a:ahLst/>
              <a:cxnLst/>
              <a:rect l="l" t="t" r="r" b="b"/>
              <a:pathLst>
                <a:path w="24765" h="18414">
                  <a:moveTo>
                    <a:pt x="24384" y="0"/>
                  </a:moveTo>
                  <a:lnTo>
                    <a:pt x="0" y="0"/>
                  </a:lnTo>
                  <a:lnTo>
                    <a:pt x="0" y="18288"/>
                  </a:lnTo>
                  <a:lnTo>
                    <a:pt x="24384" y="18288"/>
                  </a:lnTo>
                  <a:lnTo>
                    <a:pt x="24384" y="0"/>
                  </a:lnTo>
                  <a:close/>
                </a:path>
              </a:pathLst>
            </a:custGeom>
            <a:solidFill>
              <a:srgbClr val="008000"/>
            </a:solidFill>
          </p:spPr>
          <p:txBody>
            <a:bodyPr wrap="square" lIns="0" tIns="0" rIns="0" bIns="0" rtlCol="0"/>
            <a:lstStyle/>
            <a:p>
              <a:endParaRPr/>
            </a:p>
          </p:txBody>
        </p:sp>
        <p:sp>
          <p:nvSpPr>
            <p:cNvPr id="36" name="object 36"/>
            <p:cNvSpPr/>
            <p:nvPr/>
          </p:nvSpPr>
          <p:spPr>
            <a:xfrm>
              <a:off x="1581912" y="5593079"/>
              <a:ext cx="12700" cy="9525"/>
            </a:xfrm>
            <a:custGeom>
              <a:avLst/>
              <a:gdLst/>
              <a:ahLst/>
              <a:cxnLst/>
              <a:rect l="l" t="t" r="r" b="b"/>
              <a:pathLst>
                <a:path w="12700" h="9525">
                  <a:moveTo>
                    <a:pt x="12191" y="0"/>
                  </a:moveTo>
                  <a:lnTo>
                    <a:pt x="0" y="0"/>
                  </a:lnTo>
                  <a:lnTo>
                    <a:pt x="0" y="9144"/>
                  </a:lnTo>
                  <a:lnTo>
                    <a:pt x="12191" y="9144"/>
                  </a:lnTo>
                  <a:lnTo>
                    <a:pt x="12191" y="0"/>
                  </a:lnTo>
                  <a:close/>
                </a:path>
              </a:pathLst>
            </a:custGeom>
            <a:solidFill>
              <a:srgbClr val="00FF00"/>
            </a:solidFill>
          </p:spPr>
          <p:txBody>
            <a:bodyPr wrap="square" lIns="0" tIns="0" rIns="0" bIns="0" rtlCol="0"/>
            <a:lstStyle/>
            <a:p>
              <a:endParaRPr/>
            </a:p>
          </p:txBody>
        </p:sp>
        <p:sp>
          <p:nvSpPr>
            <p:cNvPr id="37" name="object 37"/>
            <p:cNvSpPr/>
            <p:nvPr/>
          </p:nvSpPr>
          <p:spPr>
            <a:xfrm>
              <a:off x="1588007" y="5288279"/>
              <a:ext cx="342900" cy="239395"/>
            </a:xfrm>
            <a:custGeom>
              <a:avLst/>
              <a:gdLst/>
              <a:ahLst/>
              <a:cxnLst/>
              <a:rect l="l" t="t" r="r" b="b"/>
              <a:pathLst>
                <a:path w="342900" h="239395">
                  <a:moveTo>
                    <a:pt x="0" y="239268"/>
                  </a:moveTo>
                  <a:lnTo>
                    <a:pt x="342900" y="239268"/>
                  </a:lnTo>
                  <a:lnTo>
                    <a:pt x="342900" y="0"/>
                  </a:lnTo>
                  <a:lnTo>
                    <a:pt x="0" y="0"/>
                  </a:lnTo>
                  <a:lnTo>
                    <a:pt x="0" y="239268"/>
                  </a:lnTo>
                  <a:close/>
                </a:path>
              </a:pathLst>
            </a:custGeom>
            <a:ln w="9525">
              <a:solidFill>
                <a:srgbClr val="000000"/>
              </a:solidFill>
            </a:ln>
          </p:spPr>
          <p:txBody>
            <a:bodyPr wrap="square" lIns="0" tIns="0" rIns="0" bIns="0" rtlCol="0"/>
            <a:lstStyle/>
            <a:p>
              <a:endParaRPr/>
            </a:p>
          </p:txBody>
        </p:sp>
        <p:sp>
          <p:nvSpPr>
            <p:cNvPr id="38" name="object 38"/>
            <p:cNvSpPr/>
            <p:nvPr/>
          </p:nvSpPr>
          <p:spPr>
            <a:xfrm>
              <a:off x="1588008" y="5288279"/>
              <a:ext cx="342900" cy="238760"/>
            </a:xfrm>
            <a:custGeom>
              <a:avLst/>
              <a:gdLst/>
              <a:ahLst/>
              <a:cxnLst/>
              <a:rect l="l" t="t" r="r" b="b"/>
              <a:pathLst>
                <a:path w="342900" h="238760">
                  <a:moveTo>
                    <a:pt x="342900" y="0"/>
                  </a:moveTo>
                  <a:lnTo>
                    <a:pt x="0" y="0"/>
                  </a:lnTo>
                  <a:lnTo>
                    <a:pt x="0" y="12700"/>
                  </a:lnTo>
                  <a:lnTo>
                    <a:pt x="0" y="227330"/>
                  </a:lnTo>
                  <a:lnTo>
                    <a:pt x="0" y="238760"/>
                  </a:lnTo>
                  <a:lnTo>
                    <a:pt x="342900" y="238760"/>
                  </a:lnTo>
                  <a:lnTo>
                    <a:pt x="342900" y="227330"/>
                  </a:lnTo>
                  <a:lnTo>
                    <a:pt x="12319" y="227330"/>
                  </a:lnTo>
                  <a:lnTo>
                    <a:pt x="12319" y="12700"/>
                  </a:lnTo>
                  <a:lnTo>
                    <a:pt x="330581" y="12700"/>
                  </a:lnTo>
                  <a:lnTo>
                    <a:pt x="330581" y="227076"/>
                  </a:lnTo>
                  <a:lnTo>
                    <a:pt x="342900" y="227076"/>
                  </a:lnTo>
                  <a:lnTo>
                    <a:pt x="342900" y="12700"/>
                  </a:lnTo>
                  <a:lnTo>
                    <a:pt x="342900" y="12192"/>
                  </a:lnTo>
                  <a:lnTo>
                    <a:pt x="342900" y="0"/>
                  </a:lnTo>
                  <a:close/>
                </a:path>
              </a:pathLst>
            </a:custGeom>
            <a:solidFill>
              <a:srgbClr val="C0C0C0"/>
            </a:solidFill>
          </p:spPr>
          <p:txBody>
            <a:bodyPr wrap="square" lIns="0" tIns="0" rIns="0" bIns="0" rtlCol="0"/>
            <a:lstStyle/>
            <a:p>
              <a:endParaRPr/>
            </a:p>
          </p:txBody>
        </p:sp>
        <p:sp>
          <p:nvSpPr>
            <p:cNvPr id="39" name="object 39"/>
            <p:cNvSpPr/>
            <p:nvPr/>
          </p:nvSpPr>
          <p:spPr>
            <a:xfrm>
              <a:off x="1588007" y="5288279"/>
              <a:ext cx="318770" cy="215265"/>
            </a:xfrm>
            <a:custGeom>
              <a:avLst/>
              <a:gdLst/>
              <a:ahLst/>
              <a:cxnLst/>
              <a:rect l="l" t="t" r="r" b="b"/>
              <a:pathLst>
                <a:path w="318769" h="215264">
                  <a:moveTo>
                    <a:pt x="318516" y="0"/>
                  </a:moveTo>
                  <a:lnTo>
                    <a:pt x="0" y="0"/>
                  </a:lnTo>
                  <a:lnTo>
                    <a:pt x="0" y="214884"/>
                  </a:lnTo>
                  <a:lnTo>
                    <a:pt x="12191" y="202946"/>
                  </a:lnTo>
                  <a:lnTo>
                    <a:pt x="12191" y="11811"/>
                  </a:lnTo>
                  <a:lnTo>
                    <a:pt x="306323" y="11811"/>
                  </a:lnTo>
                  <a:lnTo>
                    <a:pt x="318516" y="0"/>
                  </a:lnTo>
                  <a:close/>
                </a:path>
              </a:pathLst>
            </a:custGeom>
            <a:solidFill>
              <a:srgbClr val="9A9A9A"/>
            </a:solidFill>
          </p:spPr>
          <p:txBody>
            <a:bodyPr wrap="square" lIns="0" tIns="0" rIns="0" bIns="0" rtlCol="0"/>
            <a:lstStyle/>
            <a:p>
              <a:endParaRPr/>
            </a:p>
          </p:txBody>
        </p:sp>
        <p:sp>
          <p:nvSpPr>
            <p:cNvPr id="40" name="object 40"/>
            <p:cNvSpPr/>
            <p:nvPr/>
          </p:nvSpPr>
          <p:spPr>
            <a:xfrm>
              <a:off x="1615440" y="5314188"/>
              <a:ext cx="295910" cy="189230"/>
            </a:xfrm>
            <a:custGeom>
              <a:avLst/>
              <a:gdLst/>
              <a:ahLst/>
              <a:cxnLst/>
              <a:rect l="l" t="t" r="r" b="b"/>
              <a:pathLst>
                <a:path w="295910" h="189229">
                  <a:moveTo>
                    <a:pt x="295656" y="0"/>
                  </a:moveTo>
                  <a:lnTo>
                    <a:pt x="0" y="0"/>
                  </a:lnTo>
                  <a:lnTo>
                    <a:pt x="0" y="188975"/>
                  </a:lnTo>
                  <a:lnTo>
                    <a:pt x="295656" y="188975"/>
                  </a:lnTo>
                  <a:lnTo>
                    <a:pt x="295656" y="0"/>
                  </a:lnTo>
                  <a:close/>
                </a:path>
              </a:pathLst>
            </a:custGeom>
            <a:solidFill>
              <a:srgbClr val="3366FF"/>
            </a:solidFill>
          </p:spPr>
          <p:txBody>
            <a:bodyPr wrap="square" lIns="0" tIns="0" rIns="0" bIns="0" rtlCol="0"/>
            <a:lstStyle/>
            <a:p>
              <a:endParaRPr/>
            </a:p>
          </p:txBody>
        </p:sp>
        <p:sp>
          <p:nvSpPr>
            <p:cNvPr id="41" name="object 41"/>
            <p:cNvSpPr/>
            <p:nvPr/>
          </p:nvSpPr>
          <p:spPr>
            <a:xfrm>
              <a:off x="1615440" y="5004816"/>
              <a:ext cx="1036319" cy="498475"/>
            </a:xfrm>
            <a:custGeom>
              <a:avLst/>
              <a:gdLst/>
              <a:ahLst/>
              <a:cxnLst/>
              <a:rect l="l" t="t" r="r" b="b"/>
              <a:pathLst>
                <a:path w="1036319" h="498475">
                  <a:moveTo>
                    <a:pt x="0" y="498348"/>
                  </a:moveTo>
                  <a:lnTo>
                    <a:pt x="295656" y="498348"/>
                  </a:lnTo>
                  <a:lnTo>
                    <a:pt x="295656" y="309372"/>
                  </a:lnTo>
                  <a:lnTo>
                    <a:pt x="0" y="309372"/>
                  </a:lnTo>
                  <a:lnTo>
                    <a:pt x="0" y="498348"/>
                  </a:lnTo>
                  <a:close/>
                </a:path>
                <a:path w="1036319" h="498475">
                  <a:moveTo>
                    <a:pt x="643128" y="108204"/>
                  </a:moveTo>
                  <a:lnTo>
                    <a:pt x="1036320" y="108204"/>
                  </a:lnTo>
                  <a:lnTo>
                    <a:pt x="1036320" y="0"/>
                  </a:lnTo>
                  <a:lnTo>
                    <a:pt x="643128" y="0"/>
                  </a:lnTo>
                  <a:lnTo>
                    <a:pt x="643128" y="108204"/>
                  </a:lnTo>
                  <a:close/>
                </a:path>
              </a:pathLst>
            </a:custGeom>
            <a:ln w="9525">
              <a:solidFill>
                <a:srgbClr val="000000"/>
              </a:solidFill>
            </a:ln>
          </p:spPr>
          <p:txBody>
            <a:bodyPr wrap="square" lIns="0" tIns="0" rIns="0" bIns="0" rtlCol="0"/>
            <a:lstStyle/>
            <a:p>
              <a:endParaRPr/>
            </a:p>
          </p:txBody>
        </p:sp>
        <p:sp>
          <p:nvSpPr>
            <p:cNvPr id="42" name="object 42"/>
            <p:cNvSpPr/>
            <p:nvPr/>
          </p:nvSpPr>
          <p:spPr>
            <a:xfrm>
              <a:off x="2270759" y="5018532"/>
              <a:ext cx="368935" cy="82550"/>
            </a:xfrm>
            <a:custGeom>
              <a:avLst/>
              <a:gdLst/>
              <a:ahLst/>
              <a:cxnLst/>
              <a:rect l="l" t="t" r="r" b="b"/>
              <a:pathLst>
                <a:path w="368935" h="82550">
                  <a:moveTo>
                    <a:pt x="368807" y="0"/>
                  </a:moveTo>
                  <a:lnTo>
                    <a:pt x="0" y="0"/>
                  </a:lnTo>
                  <a:lnTo>
                    <a:pt x="0" y="82296"/>
                  </a:lnTo>
                  <a:lnTo>
                    <a:pt x="368807" y="82296"/>
                  </a:lnTo>
                  <a:lnTo>
                    <a:pt x="368807" y="0"/>
                  </a:lnTo>
                  <a:close/>
                </a:path>
              </a:pathLst>
            </a:custGeom>
            <a:solidFill>
              <a:srgbClr val="C0C0C0"/>
            </a:solidFill>
          </p:spPr>
          <p:txBody>
            <a:bodyPr wrap="square" lIns="0" tIns="0" rIns="0" bIns="0" rtlCol="0"/>
            <a:lstStyle/>
            <a:p>
              <a:endParaRPr/>
            </a:p>
          </p:txBody>
        </p:sp>
        <p:sp>
          <p:nvSpPr>
            <p:cNvPr id="43" name="object 43"/>
            <p:cNvSpPr/>
            <p:nvPr/>
          </p:nvSpPr>
          <p:spPr>
            <a:xfrm>
              <a:off x="2258567" y="5004816"/>
              <a:ext cx="393700" cy="108585"/>
            </a:xfrm>
            <a:custGeom>
              <a:avLst/>
              <a:gdLst/>
              <a:ahLst/>
              <a:cxnLst/>
              <a:rect l="l" t="t" r="r" b="b"/>
              <a:pathLst>
                <a:path w="393700" h="108585">
                  <a:moveTo>
                    <a:pt x="393192" y="0"/>
                  </a:moveTo>
                  <a:lnTo>
                    <a:pt x="381126" y="12191"/>
                  </a:lnTo>
                  <a:lnTo>
                    <a:pt x="381126" y="96138"/>
                  </a:lnTo>
                  <a:lnTo>
                    <a:pt x="12192" y="96138"/>
                  </a:lnTo>
                  <a:lnTo>
                    <a:pt x="0" y="108203"/>
                  </a:lnTo>
                  <a:lnTo>
                    <a:pt x="393192" y="108203"/>
                  </a:lnTo>
                  <a:lnTo>
                    <a:pt x="393192" y="0"/>
                  </a:lnTo>
                  <a:close/>
                </a:path>
              </a:pathLst>
            </a:custGeom>
            <a:solidFill>
              <a:srgbClr val="9A9A9A"/>
            </a:solidFill>
          </p:spPr>
          <p:txBody>
            <a:bodyPr wrap="square" lIns="0" tIns="0" rIns="0" bIns="0" rtlCol="0"/>
            <a:lstStyle/>
            <a:p>
              <a:endParaRPr/>
            </a:p>
          </p:txBody>
        </p:sp>
        <p:sp>
          <p:nvSpPr>
            <p:cNvPr id="44" name="object 44"/>
            <p:cNvSpPr/>
            <p:nvPr/>
          </p:nvSpPr>
          <p:spPr>
            <a:xfrm>
              <a:off x="2258567" y="5004816"/>
              <a:ext cx="393700" cy="108585"/>
            </a:xfrm>
            <a:custGeom>
              <a:avLst/>
              <a:gdLst/>
              <a:ahLst/>
              <a:cxnLst/>
              <a:rect l="l" t="t" r="r" b="b"/>
              <a:pathLst>
                <a:path w="393700" h="108585">
                  <a:moveTo>
                    <a:pt x="393192" y="0"/>
                  </a:moveTo>
                  <a:lnTo>
                    <a:pt x="0" y="0"/>
                  </a:lnTo>
                  <a:lnTo>
                    <a:pt x="0" y="108203"/>
                  </a:lnTo>
                  <a:lnTo>
                    <a:pt x="12192" y="96138"/>
                  </a:lnTo>
                  <a:lnTo>
                    <a:pt x="12192" y="12191"/>
                  </a:lnTo>
                  <a:lnTo>
                    <a:pt x="381126" y="12191"/>
                  </a:lnTo>
                  <a:lnTo>
                    <a:pt x="393192" y="0"/>
                  </a:lnTo>
                  <a:close/>
                </a:path>
              </a:pathLst>
            </a:custGeom>
            <a:solidFill>
              <a:srgbClr val="FFFFFF"/>
            </a:solidFill>
          </p:spPr>
          <p:txBody>
            <a:bodyPr wrap="square" lIns="0" tIns="0" rIns="0" bIns="0" rtlCol="0"/>
            <a:lstStyle/>
            <a:p>
              <a:endParaRPr/>
            </a:p>
          </p:txBody>
        </p:sp>
        <p:sp>
          <p:nvSpPr>
            <p:cNvPr id="45" name="object 45"/>
            <p:cNvSpPr/>
            <p:nvPr/>
          </p:nvSpPr>
          <p:spPr>
            <a:xfrm>
              <a:off x="2382012" y="4969776"/>
              <a:ext cx="245745" cy="90170"/>
            </a:xfrm>
            <a:custGeom>
              <a:avLst/>
              <a:gdLst/>
              <a:ahLst/>
              <a:cxnLst/>
              <a:rect l="l" t="t" r="r" b="b"/>
              <a:pathLst>
                <a:path w="245744" h="90170">
                  <a:moveTo>
                    <a:pt x="146304" y="0"/>
                  </a:moveTo>
                  <a:lnTo>
                    <a:pt x="0" y="0"/>
                  </a:lnTo>
                  <a:lnTo>
                    <a:pt x="0" y="25895"/>
                  </a:lnTo>
                  <a:lnTo>
                    <a:pt x="146304" y="25895"/>
                  </a:lnTo>
                  <a:lnTo>
                    <a:pt x="146304" y="0"/>
                  </a:lnTo>
                  <a:close/>
                </a:path>
                <a:path w="245744" h="90170">
                  <a:moveTo>
                    <a:pt x="245364" y="72123"/>
                  </a:moveTo>
                  <a:lnTo>
                    <a:pt x="220726" y="72123"/>
                  </a:lnTo>
                  <a:lnTo>
                    <a:pt x="220726" y="65773"/>
                  </a:lnTo>
                  <a:lnTo>
                    <a:pt x="146558" y="65773"/>
                  </a:lnTo>
                  <a:lnTo>
                    <a:pt x="146558" y="72123"/>
                  </a:lnTo>
                  <a:lnTo>
                    <a:pt x="121920" y="72123"/>
                  </a:lnTo>
                  <a:lnTo>
                    <a:pt x="121920" y="83553"/>
                  </a:lnTo>
                  <a:lnTo>
                    <a:pt x="146558" y="83553"/>
                  </a:lnTo>
                  <a:lnTo>
                    <a:pt x="146558" y="89903"/>
                  </a:lnTo>
                  <a:lnTo>
                    <a:pt x="220726" y="89903"/>
                  </a:lnTo>
                  <a:lnTo>
                    <a:pt x="220726" y="83553"/>
                  </a:lnTo>
                  <a:lnTo>
                    <a:pt x="245364" y="83553"/>
                  </a:lnTo>
                  <a:lnTo>
                    <a:pt x="245364" y="72123"/>
                  </a:lnTo>
                  <a:close/>
                </a:path>
              </a:pathLst>
            </a:custGeom>
            <a:solidFill>
              <a:srgbClr val="000000"/>
            </a:solidFill>
          </p:spPr>
          <p:txBody>
            <a:bodyPr wrap="square" lIns="0" tIns="0" rIns="0" bIns="0" rtlCol="0"/>
            <a:lstStyle/>
            <a:p>
              <a:endParaRPr/>
            </a:p>
          </p:txBody>
        </p:sp>
        <p:sp>
          <p:nvSpPr>
            <p:cNvPr id="46" name="object 46"/>
            <p:cNvSpPr/>
            <p:nvPr/>
          </p:nvSpPr>
          <p:spPr>
            <a:xfrm>
              <a:off x="2282952" y="5029200"/>
              <a:ext cx="24765" cy="18415"/>
            </a:xfrm>
            <a:custGeom>
              <a:avLst/>
              <a:gdLst/>
              <a:ahLst/>
              <a:cxnLst/>
              <a:rect l="l" t="t" r="r" b="b"/>
              <a:pathLst>
                <a:path w="24764" h="18414">
                  <a:moveTo>
                    <a:pt x="24383" y="0"/>
                  </a:moveTo>
                  <a:lnTo>
                    <a:pt x="0" y="0"/>
                  </a:lnTo>
                  <a:lnTo>
                    <a:pt x="0" y="18287"/>
                  </a:lnTo>
                  <a:lnTo>
                    <a:pt x="24383" y="18287"/>
                  </a:lnTo>
                  <a:lnTo>
                    <a:pt x="24383" y="0"/>
                  </a:lnTo>
                  <a:close/>
                </a:path>
              </a:pathLst>
            </a:custGeom>
            <a:solidFill>
              <a:srgbClr val="008000"/>
            </a:solidFill>
          </p:spPr>
          <p:txBody>
            <a:bodyPr wrap="square" lIns="0" tIns="0" rIns="0" bIns="0" rtlCol="0"/>
            <a:lstStyle/>
            <a:p>
              <a:endParaRPr/>
            </a:p>
          </p:txBody>
        </p:sp>
        <p:sp>
          <p:nvSpPr>
            <p:cNvPr id="47" name="object 47"/>
            <p:cNvSpPr/>
            <p:nvPr/>
          </p:nvSpPr>
          <p:spPr>
            <a:xfrm>
              <a:off x="2282952" y="5029200"/>
              <a:ext cx="12700" cy="9525"/>
            </a:xfrm>
            <a:custGeom>
              <a:avLst/>
              <a:gdLst/>
              <a:ahLst/>
              <a:cxnLst/>
              <a:rect l="l" t="t" r="r" b="b"/>
              <a:pathLst>
                <a:path w="12700" h="9525">
                  <a:moveTo>
                    <a:pt x="12192" y="0"/>
                  </a:moveTo>
                  <a:lnTo>
                    <a:pt x="0" y="0"/>
                  </a:lnTo>
                  <a:lnTo>
                    <a:pt x="0" y="9143"/>
                  </a:lnTo>
                  <a:lnTo>
                    <a:pt x="12192" y="9143"/>
                  </a:lnTo>
                  <a:lnTo>
                    <a:pt x="12192" y="0"/>
                  </a:lnTo>
                  <a:close/>
                </a:path>
              </a:pathLst>
            </a:custGeom>
            <a:solidFill>
              <a:srgbClr val="00FF00"/>
            </a:solidFill>
          </p:spPr>
          <p:txBody>
            <a:bodyPr wrap="square" lIns="0" tIns="0" rIns="0" bIns="0" rtlCol="0"/>
            <a:lstStyle/>
            <a:p>
              <a:endParaRPr/>
            </a:p>
          </p:txBody>
        </p:sp>
        <p:sp>
          <p:nvSpPr>
            <p:cNvPr id="48" name="object 48"/>
            <p:cNvSpPr/>
            <p:nvPr/>
          </p:nvSpPr>
          <p:spPr>
            <a:xfrm>
              <a:off x="2289048" y="4724400"/>
              <a:ext cx="344805" cy="239395"/>
            </a:xfrm>
            <a:custGeom>
              <a:avLst/>
              <a:gdLst/>
              <a:ahLst/>
              <a:cxnLst/>
              <a:rect l="l" t="t" r="r" b="b"/>
              <a:pathLst>
                <a:path w="344805" h="239395">
                  <a:moveTo>
                    <a:pt x="0" y="239268"/>
                  </a:moveTo>
                  <a:lnTo>
                    <a:pt x="344424" y="239268"/>
                  </a:lnTo>
                  <a:lnTo>
                    <a:pt x="344424" y="0"/>
                  </a:lnTo>
                  <a:lnTo>
                    <a:pt x="0" y="0"/>
                  </a:lnTo>
                  <a:lnTo>
                    <a:pt x="0" y="239268"/>
                  </a:lnTo>
                  <a:close/>
                </a:path>
              </a:pathLst>
            </a:custGeom>
            <a:ln w="9524">
              <a:solidFill>
                <a:srgbClr val="000000"/>
              </a:solidFill>
            </a:ln>
          </p:spPr>
          <p:txBody>
            <a:bodyPr wrap="square" lIns="0" tIns="0" rIns="0" bIns="0" rtlCol="0"/>
            <a:lstStyle/>
            <a:p>
              <a:endParaRPr/>
            </a:p>
          </p:txBody>
        </p:sp>
        <p:sp>
          <p:nvSpPr>
            <p:cNvPr id="49" name="object 49"/>
            <p:cNvSpPr/>
            <p:nvPr/>
          </p:nvSpPr>
          <p:spPr>
            <a:xfrm>
              <a:off x="2289048" y="4724399"/>
              <a:ext cx="344805" cy="238760"/>
            </a:xfrm>
            <a:custGeom>
              <a:avLst/>
              <a:gdLst/>
              <a:ahLst/>
              <a:cxnLst/>
              <a:rect l="l" t="t" r="r" b="b"/>
              <a:pathLst>
                <a:path w="344805" h="238760">
                  <a:moveTo>
                    <a:pt x="344424" y="0"/>
                  </a:moveTo>
                  <a:lnTo>
                    <a:pt x="0" y="0"/>
                  </a:lnTo>
                  <a:lnTo>
                    <a:pt x="0" y="12700"/>
                  </a:lnTo>
                  <a:lnTo>
                    <a:pt x="0" y="227330"/>
                  </a:lnTo>
                  <a:lnTo>
                    <a:pt x="0" y="238760"/>
                  </a:lnTo>
                  <a:lnTo>
                    <a:pt x="344424" y="238760"/>
                  </a:lnTo>
                  <a:lnTo>
                    <a:pt x="344424" y="227330"/>
                  </a:lnTo>
                  <a:lnTo>
                    <a:pt x="12446" y="227330"/>
                  </a:lnTo>
                  <a:lnTo>
                    <a:pt x="12446" y="12700"/>
                  </a:lnTo>
                  <a:lnTo>
                    <a:pt x="331978" y="12700"/>
                  </a:lnTo>
                  <a:lnTo>
                    <a:pt x="331978" y="227076"/>
                  </a:lnTo>
                  <a:lnTo>
                    <a:pt x="344424" y="227076"/>
                  </a:lnTo>
                  <a:lnTo>
                    <a:pt x="344424" y="12700"/>
                  </a:lnTo>
                  <a:lnTo>
                    <a:pt x="344424" y="12192"/>
                  </a:lnTo>
                  <a:lnTo>
                    <a:pt x="344424" y="0"/>
                  </a:lnTo>
                  <a:close/>
                </a:path>
              </a:pathLst>
            </a:custGeom>
            <a:solidFill>
              <a:srgbClr val="C0C0C0"/>
            </a:solidFill>
          </p:spPr>
          <p:txBody>
            <a:bodyPr wrap="square" lIns="0" tIns="0" rIns="0" bIns="0" rtlCol="0"/>
            <a:lstStyle/>
            <a:p>
              <a:endParaRPr/>
            </a:p>
          </p:txBody>
        </p:sp>
        <p:sp>
          <p:nvSpPr>
            <p:cNvPr id="50" name="object 50"/>
            <p:cNvSpPr/>
            <p:nvPr/>
          </p:nvSpPr>
          <p:spPr>
            <a:xfrm>
              <a:off x="2289048" y="4724400"/>
              <a:ext cx="320040" cy="215265"/>
            </a:xfrm>
            <a:custGeom>
              <a:avLst/>
              <a:gdLst/>
              <a:ahLst/>
              <a:cxnLst/>
              <a:rect l="l" t="t" r="r" b="b"/>
              <a:pathLst>
                <a:path w="320039" h="215264">
                  <a:moveTo>
                    <a:pt x="320039" y="0"/>
                  </a:moveTo>
                  <a:lnTo>
                    <a:pt x="0" y="0"/>
                  </a:lnTo>
                  <a:lnTo>
                    <a:pt x="0" y="214883"/>
                  </a:lnTo>
                  <a:lnTo>
                    <a:pt x="12191" y="202945"/>
                  </a:lnTo>
                  <a:lnTo>
                    <a:pt x="12191" y="11811"/>
                  </a:lnTo>
                  <a:lnTo>
                    <a:pt x="307847" y="11811"/>
                  </a:lnTo>
                  <a:lnTo>
                    <a:pt x="320039" y="0"/>
                  </a:lnTo>
                  <a:close/>
                </a:path>
              </a:pathLst>
            </a:custGeom>
            <a:solidFill>
              <a:srgbClr val="9A9A9A"/>
            </a:solidFill>
          </p:spPr>
          <p:txBody>
            <a:bodyPr wrap="square" lIns="0" tIns="0" rIns="0" bIns="0" rtlCol="0"/>
            <a:lstStyle/>
            <a:p>
              <a:endParaRPr/>
            </a:p>
          </p:txBody>
        </p:sp>
        <p:sp>
          <p:nvSpPr>
            <p:cNvPr id="51" name="object 51"/>
            <p:cNvSpPr/>
            <p:nvPr/>
          </p:nvSpPr>
          <p:spPr>
            <a:xfrm>
              <a:off x="2316480" y="4751832"/>
              <a:ext cx="297180" cy="187960"/>
            </a:xfrm>
            <a:custGeom>
              <a:avLst/>
              <a:gdLst/>
              <a:ahLst/>
              <a:cxnLst/>
              <a:rect l="l" t="t" r="r" b="b"/>
              <a:pathLst>
                <a:path w="297180" h="187960">
                  <a:moveTo>
                    <a:pt x="297180" y="0"/>
                  </a:moveTo>
                  <a:lnTo>
                    <a:pt x="0" y="0"/>
                  </a:lnTo>
                  <a:lnTo>
                    <a:pt x="0" y="187452"/>
                  </a:lnTo>
                  <a:lnTo>
                    <a:pt x="297180" y="187452"/>
                  </a:lnTo>
                  <a:lnTo>
                    <a:pt x="297180" y="0"/>
                  </a:lnTo>
                  <a:close/>
                </a:path>
              </a:pathLst>
            </a:custGeom>
            <a:solidFill>
              <a:srgbClr val="3366FF"/>
            </a:solidFill>
          </p:spPr>
          <p:txBody>
            <a:bodyPr wrap="square" lIns="0" tIns="0" rIns="0" bIns="0" rtlCol="0"/>
            <a:lstStyle/>
            <a:p>
              <a:endParaRPr/>
            </a:p>
          </p:txBody>
        </p:sp>
        <p:sp>
          <p:nvSpPr>
            <p:cNvPr id="52" name="object 52"/>
            <p:cNvSpPr/>
            <p:nvPr/>
          </p:nvSpPr>
          <p:spPr>
            <a:xfrm>
              <a:off x="2316480" y="4751832"/>
              <a:ext cx="1009015" cy="361315"/>
            </a:xfrm>
            <a:custGeom>
              <a:avLst/>
              <a:gdLst/>
              <a:ahLst/>
              <a:cxnLst/>
              <a:rect l="l" t="t" r="r" b="b"/>
              <a:pathLst>
                <a:path w="1009014" h="361314">
                  <a:moveTo>
                    <a:pt x="0" y="187452"/>
                  </a:moveTo>
                  <a:lnTo>
                    <a:pt x="297180" y="187452"/>
                  </a:lnTo>
                  <a:lnTo>
                    <a:pt x="297180" y="0"/>
                  </a:lnTo>
                  <a:lnTo>
                    <a:pt x="0" y="0"/>
                  </a:lnTo>
                  <a:lnTo>
                    <a:pt x="0" y="187452"/>
                  </a:lnTo>
                  <a:close/>
                </a:path>
                <a:path w="1009014" h="361314">
                  <a:moveTo>
                    <a:pt x="617219" y="361188"/>
                  </a:moveTo>
                  <a:lnTo>
                    <a:pt x="1008887" y="361188"/>
                  </a:lnTo>
                  <a:lnTo>
                    <a:pt x="1008887" y="252984"/>
                  </a:lnTo>
                  <a:lnTo>
                    <a:pt x="617219" y="252984"/>
                  </a:lnTo>
                  <a:lnTo>
                    <a:pt x="617219" y="361188"/>
                  </a:lnTo>
                  <a:close/>
                </a:path>
              </a:pathLst>
            </a:custGeom>
            <a:ln w="9525">
              <a:solidFill>
                <a:srgbClr val="000000"/>
              </a:solidFill>
            </a:ln>
          </p:spPr>
          <p:txBody>
            <a:bodyPr wrap="square" lIns="0" tIns="0" rIns="0" bIns="0" rtlCol="0"/>
            <a:lstStyle/>
            <a:p>
              <a:endParaRPr/>
            </a:p>
          </p:txBody>
        </p:sp>
        <p:sp>
          <p:nvSpPr>
            <p:cNvPr id="53" name="object 53"/>
            <p:cNvSpPr/>
            <p:nvPr/>
          </p:nvSpPr>
          <p:spPr>
            <a:xfrm>
              <a:off x="2945892" y="5018532"/>
              <a:ext cx="368935" cy="82550"/>
            </a:xfrm>
            <a:custGeom>
              <a:avLst/>
              <a:gdLst/>
              <a:ahLst/>
              <a:cxnLst/>
              <a:rect l="l" t="t" r="r" b="b"/>
              <a:pathLst>
                <a:path w="368935" h="82550">
                  <a:moveTo>
                    <a:pt x="368807" y="0"/>
                  </a:moveTo>
                  <a:lnTo>
                    <a:pt x="0" y="0"/>
                  </a:lnTo>
                  <a:lnTo>
                    <a:pt x="0" y="82296"/>
                  </a:lnTo>
                  <a:lnTo>
                    <a:pt x="368807" y="82296"/>
                  </a:lnTo>
                  <a:lnTo>
                    <a:pt x="368807" y="0"/>
                  </a:lnTo>
                  <a:close/>
                </a:path>
              </a:pathLst>
            </a:custGeom>
            <a:solidFill>
              <a:srgbClr val="C0C0C0"/>
            </a:solidFill>
          </p:spPr>
          <p:txBody>
            <a:bodyPr wrap="square" lIns="0" tIns="0" rIns="0" bIns="0" rtlCol="0"/>
            <a:lstStyle/>
            <a:p>
              <a:endParaRPr/>
            </a:p>
          </p:txBody>
        </p:sp>
        <p:sp>
          <p:nvSpPr>
            <p:cNvPr id="54" name="object 54"/>
            <p:cNvSpPr/>
            <p:nvPr/>
          </p:nvSpPr>
          <p:spPr>
            <a:xfrm>
              <a:off x="2933699" y="5004816"/>
              <a:ext cx="391795" cy="108585"/>
            </a:xfrm>
            <a:custGeom>
              <a:avLst/>
              <a:gdLst/>
              <a:ahLst/>
              <a:cxnLst/>
              <a:rect l="l" t="t" r="r" b="b"/>
              <a:pathLst>
                <a:path w="391795" h="108585">
                  <a:moveTo>
                    <a:pt x="391667" y="0"/>
                  </a:moveTo>
                  <a:lnTo>
                    <a:pt x="379729" y="12191"/>
                  </a:lnTo>
                  <a:lnTo>
                    <a:pt x="379729" y="96138"/>
                  </a:lnTo>
                  <a:lnTo>
                    <a:pt x="12192" y="96138"/>
                  </a:lnTo>
                  <a:lnTo>
                    <a:pt x="0" y="108203"/>
                  </a:lnTo>
                  <a:lnTo>
                    <a:pt x="391667" y="108203"/>
                  </a:lnTo>
                  <a:lnTo>
                    <a:pt x="391667" y="0"/>
                  </a:lnTo>
                  <a:close/>
                </a:path>
              </a:pathLst>
            </a:custGeom>
            <a:solidFill>
              <a:srgbClr val="9A9A9A"/>
            </a:solidFill>
          </p:spPr>
          <p:txBody>
            <a:bodyPr wrap="square" lIns="0" tIns="0" rIns="0" bIns="0" rtlCol="0"/>
            <a:lstStyle/>
            <a:p>
              <a:endParaRPr/>
            </a:p>
          </p:txBody>
        </p:sp>
        <p:sp>
          <p:nvSpPr>
            <p:cNvPr id="55" name="object 55"/>
            <p:cNvSpPr/>
            <p:nvPr/>
          </p:nvSpPr>
          <p:spPr>
            <a:xfrm>
              <a:off x="2933699" y="5004816"/>
              <a:ext cx="391795" cy="108585"/>
            </a:xfrm>
            <a:custGeom>
              <a:avLst/>
              <a:gdLst/>
              <a:ahLst/>
              <a:cxnLst/>
              <a:rect l="l" t="t" r="r" b="b"/>
              <a:pathLst>
                <a:path w="391795" h="108585">
                  <a:moveTo>
                    <a:pt x="391667" y="0"/>
                  </a:moveTo>
                  <a:lnTo>
                    <a:pt x="0" y="0"/>
                  </a:lnTo>
                  <a:lnTo>
                    <a:pt x="0" y="108203"/>
                  </a:lnTo>
                  <a:lnTo>
                    <a:pt x="12192" y="96138"/>
                  </a:lnTo>
                  <a:lnTo>
                    <a:pt x="12192" y="12191"/>
                  </a:lnTo>
                  <a:lnTo>
                    <a:pt x="379729" y="12191"/>
                  </a:lnTo>
                  <a:lnTo>
                    <a:pt x="391667" y="0"/>
                  </a:lnTo>
                  <a:close/>
                </a:path>
              </a:pathLst>
            </a:custGeom>
            <a:solidFill>
              <a:srgbClr val="FFFFFF"/>
            </a:solidFill>
          </p:spPr>
          <p:txBody>
            <a:bodyPr wrap="square" lIns="0" tIns="0" rIns="0" bIns="0" rtlCol="0"/>
            <a:lstStyle/>
            <a:p>
              <a:endParaRPr/>
            </a:p>
          </p:txBody>
        </p:sp>
        <p:sp>
          <p:nvSpPr>
            <p:cNvPr id="56" name="object 56"/>
            <p:cNvSpPr/>
            <p:nvPr/>
          </p:nvSpPr>
          <p:spPr>
            <a:xfrm>
              <a:off x="3055620" y="4969776"/>
              <a:ext cx="245745" cy="90170"/>
            </a:xfrm>
            <a:custGeom>
              <a:avLst/>
              <a:gdLst/>
              <a:ahLst/>
              <a:cxnLst/>
              <a:rect l="l" t="t" r="r" b="b"/>
              <a:pathLst>
                <a:path w="245745" h="90170">
                  <a:moveTo>
                    <a:pt x="147828" y="0"/>
                  </a:moveTo>
                  <a:lnTo>
                    <a:pt x="0" y="0"/>
                  </a:lnTo>
                  <a:lnTo>
                    <a:pt x="0" y="25895"/>
                  </a:lnTo>
                  <a:lnTo>
                    <a:pt x="147828" y="25895"/>
                  </a:lnTo>
                  <a:lnTo>
                    <a:pt x="147828" y="0"/>
                  </a:lnTo>
                  <a:close/>
                </a:path>
                <a:path w="245745" h="90170">
                  <a:moveTo>
                    <a:pt x="245364" y="72123"/>
                  </a:moveTo>
                  <a:lnTo>
                    <a:pt x="220980" y="72123"/>
                  </a:lnTo>
                  <a:lnTo>
                    <a:pt x="220980" y="65773"/>
                  </a:lnTo>
                  <a:lnTo>
                    <a:pt x="147828" y="65773"/>
                  </a:lnTo>
                  <a:lnTo>
                    <a:pt x="147828" y="72123"/>
                  </a:lnTo>
                  <a:lnTo>
                    <a:pt x="123444" y="72123"/>
                  </a:lnTo>
                  <a:lnTo>
                    <a:pt x="123444" y="83553"/>
                  </a:lnTo>
                  <a:lnTo>
                    <a:pt x="147828" y="83553"/>
                  </a:lnTo>
                  <a:lnTo>
                    <a:pt x="147828" y="89903"/>
                  </a:lnTo>
                  <a:lnTo>
                    <a:pt x="220980" y="89903"/>
                  </a:lnTo>
                  <a:lnTo>
                    <a:pt x="220980" y="83553"/>
                  </a:lnTo>
                  <a:lnTo>
                    <a:pt x="245364" y="83553"/>
                  </a:lnTo>
                  <a:lnTo>
                    <a:pt x="245364" y="72123"/>
                  </a:lnTo>
                  <a:close/>
                </a:path>
              </a:pathLst>
            </a:custGeom>
            <a:solidFill>
              <a:srgbClr val="000000"/>
            </a:solidFill>
          </p:spPr>
          <p:txBody>
            <a:bodyPr wrap="square" lIns="0" tIns="0" rIns="0" bIns="0" rtlCol="0"/>
            <a:lstStyle/>
            <a:p>
              <a:endParaRPr/>
            </a:p>
          </p:txBody>
        </p:sp>
        <p:sp>
          <p:nvSpPr>
            <p:cNvPr id="57" name="object 57"/>
            <p:cNvSpPr/>
            <p:nvPr/>
          </p:nvSpPr>
          <p:spPr>
            <a:xfrm>
              <a:off x="2958083" y="5029200"/>
              <a:ext cx="24765" cy="18415"/>
            </a:xfrm>
            <a:custGeom>
              <a:avLst/>
              <a:gdLst/>
              <a:ahLst/>
              <a:cxnLst/>
              <a:rect l="l" t="t" r="r" b="b"/>
              <a:pathLst>
                <a:path w="24764" h="18414">
                  <a:moveTo>
                    <a:pt x="24383" y="0"/>
                  </a:moveTo>
                  <a:lnTo>
                    <a:pt x="0" y="0"/>
                  </a:lnTo>
                  <a:lnTo>
                    <a:pt x="0" y="18287"/>
                  </a:lnTo>
                  <a:lnTo>
                    <a:pt x="24383" y="18287"/>
                  </a:lnTo>
                  <a:lnTo>
                    <a:pt x="24383" y="0"/>
                  </a:lnTo>
                  <a:close/>
                </a:path>
              </a:pathLst>
            </a:custGeom>
            <a:solidFill>
              <a:srgbClr val="008000"/>
            </a:solidFill>
          </p:spPr>
          <p:txBody>
            <a:bodyPr wrap="square" lIns="0" tIns="0" rIns="0" bIns="0" rtlCol="0"/>
            <a:lstStyle/>
            <a:p>
              <a:endParaRPr/>
            </a:p>
          </p:txBody>
        </p:sp>
        <p:sp>
          <p:nvSpPr>
            <p:cNvPr id="58" name="object 58"/>
            <p:cNvSpPr/>
            <p:nvPr/>
          </p:nvSpPr>
          <p:spPr>
            <a:xfrm>
              <a:off x="2958083" y="5029200"/>
              <a:ext cx="12700" cy="9525"/>
            </a:xfrm>
            <a:custGeom>
              <a:avLst/>
              <a:gdLst/>
              <a:ahLst/>
              <a:cxnLst/>
              <a:rect l="l" t="t" r="r" b="b"/>
              <a:pathLst>
                <a:path w="12700" h="9525">
                  <a:moveTo>
                    <a:pt x="12192" y="0"/>
                  </a:moveTo>
                  <a:lnTo>
                    <a:pt x="0" y="0"/>
                  </a:lnTo>
                  <a:lnTo>
                    <a:pt x="0" y="9143"/>
                  </a:lnTo>
                  <a:lnTo>
                    <a:pt x="12192" y="9143"/>
                  </a:lnTo>
                  <a:lnTo>
                    <a:pt x="12192" y="0"/>
                  </a:lnTo>
                  <a:close/>
                </a:path>
              </a:pathLst>
            </a:custGeom>
            <a:solidFill>
              <a:srgbClr val="00FF00"/>
            </a:solidFill>
          </p:spPr>
          <p:txBody>
            <a:bodyPr wrap="square" lIns="0" tIns="0" rIns="0" bIns="0" rtlCol="0"/>
            <a:lstStyle/>
            <a:p>
              <a:endParaRPr/>
            </a:p>
          </p:txBody>
        </p:sp>
        <p:sp>
          <p:nvSpPr>
            <p:cNvPr id="59" name="object 59"/>
            <p:cNvSpPr/>
            <p:nvPr/>
          </p:nvSpPr>
          <p:spPr>
            <a:xfrm>
              <a:off x="2964180" y="4724400"/>
              <a:ext cx="342900" cy="239395"/>
            </a:xfrm>
            <a:custGeom>
              <a:avLst/>
              <a:gdLst/>
              <a:ahLst/>
              <a:cxnLst/>
              <a:rect l="l" t="t" r="r" b="b"/>
              <a:pathLst>
                <a:path w="342900" h="239395">
                  <a:moveTo>
                    <a:pt x="0" y="239268"/>
                  </a:moveTo>
                  <a:lnTo>
                    <a:pt x="342899" y="239268"/>
                  </a:lnTo>
                  <a:lnTo>
                    <a:pt x="342899" y="0"/>
                  </a:lnTo>
                  <a:lnTo>
                    <a:pt x="0" y="0"/>
                  </a:lnTo>
                  <a:lnTo>
                    <a:pt x="0" y="239268"/>
                  </a:lnTo>
                  <a:close/>
                </a:path>
              </a:pathLst>
            </a:custGeom>
            <a:ln w="9525">
              <a:solidFill>
                <a:srgbClr val="000000"/>
              </a:solidFill>
            </a:ln>
          </p:spPr>
          <p:txBody>
            <a:bodyPr wrap="square" lIns="0" tIns="0" rIns="0" bIns="0" rtlCol="0"/>
            <a:lstStyle/>
            <a:p>
              <a:endParaRPr/>
            </a:p>
          </p:txBody>
        </p:sp>
        <p:sp>
          <p:nvSpPr>
            <p:cNvPr id="60" name="object 60"/>
            <p:cNvSpPr/>
            <p:nvPr/>
          </p:nvSpPr>
          <p:spPr>
            <a:xfrm>
              <a:off x="2964180" y="4724399"/>
              <a:ext cx="342900" cy="238760"/>
            </a:xfrm>
            <a:custGeom>
              <a:avLst/>
              <a:gdLst/>
              <a:ahLst/>
              <a:cxnLst/>
              <a:rect l="l" t="t" r="r" b="b"/>
              <a:pathLst>
                <a:path w="342900" h="238760">
                  <a:moveTo>
                    <a:pt x="342887" y="0"/>
                  </a:moveTo>
                  <a:lnTo>
                    <a:pt x="0" y="0"/>
                  </a:lnTo>
                  <a:lnTo>
                    <a:pt x="0" y="12700"/>
                  </a:lnTo>
                  <a:lnTo>
                    <a:pt x="0" y="227330"/>
                  </a:lnTo>
                  <a:lnTo>
                    <a:pt x="0" y="238760"/>
                  </a:lnTo>
                  <a:lnTo>
                    <a:pt x="342887" y="238760"/>
                  </a:lnTo>
                  <a:lnTo>
                    <a:pt x="342887" y="227330"/>
                  </a:lnTo>
                  <a:lnTo>
                    <a:pt x="12319" y="227330"/>
                  </a:lnTo>
                  <a:lnTo>
                    <a:pt x="12319" y="12700"/>
                  </a:lnTo>
                  <a:lnTo>
                    <a:pt x="330581" y="12700"/>
                  </a:lnTo>
                  <a:lnTo>
                    <a:pt x="330581" y="227076"/>
                  </a:lnTo>
                  <a:lnTo>
                    <a:pt x="342887" y="227076"/>
                  </a:lnTo>
                  <a:lnTo>
                    <a:pt x="342887" y="12700"/>
                  </a:lnTo>
                  <a:lnTo>
                    <a:pt x="342887" y="12192"/>
                  </a:lnTo>
                  <a:lnTo>
                    <a:pt x="342887" y="0"/>
                  </a:lnTo>
                  <a:close/>
                </a:path>
              </a:pathLst>
            </a:custGeom>
            <a:solidFill>
              <a:srgbClr val="C0C0C0"/>
            </a:solidFill>
          </p:spPr>
          <p:txBody>
            <a:bodyPr wrap="square" lIns="0" tIns="0" rIns="0" bIns="0" rtlCol="0"/>
            <a:lstStyle/>
            <a:p>
              <a:endParaRPr/>
            </a:p>
          </p:txBody>
        </p:sp>
        <p:sp>
          <p:nvSpPr>
            <p:cNvPr id="61" name="object 61"/>
            <p:cNvSpPr/>
            <p:nvPr/>
          </p:nvSpPr>
          <p:spPr>
            <a:xfrm>
              <a:off x="2964180" y="4724400"/>
              <a:ext cx="318770" cy="215265"/>
            </a:xfrm>
            <a:custGeom>
              <a:avLst/>
              <a:gdLst/>
              <a:ahLst/>
              <a:cxnLst/>
              <a:rect l="l" t="t" r="r" b="b"/>
              <a:pathLst>
                <a:path w="318770" h="215264">
                  <a:moveTo>
                    <a:pt x="318516" y="0"/>
                  </a:moveTo>
                  <a:lnTo>
                    <a:pt x="0" y="0"/>
                  </a:lnTo>
                  <a:lnTo>
                    <a:pt x="0" y="214883"/>
                  </a:lnTo>
                  <a:lnTo>
                    <a:pt x="12192" y="202945"/>
                  </a:lnTo>
                  <a:lnTo>
                    <a:pt x="12192" y="11811"/>
                  </a:lnTo>
                  <a:lnTo>
                    <a:pt x="306323" y="11811"/>
                  </a:lnTo>
                  <a:lnTo>
                    <a:pt x="318516" y="0"/>
                  </a:lnTo>
                  <a:close/>
                </a:path>
              </a:pathLst>
            </a:custGeom>
            <a:solidFill>
              <a:srgbClr val="9A9A9A"/>
            </a:solidFill>
          </p:spPr>
          <p:txBody>
            <a:bodyPr wrap="square" lIns="0" tIns="0" rIns="0" bIns="0" rtlCol="0"/>
            <a:lstStyle/>
            <a:p>
              <a:endParaRPr/>
            </a:p>
          </p:txBody>
        </p:sp>
        <p:sp>
          <p:nvSpPr>
            <p:cNvPr id="62" name="object 62"/>
            <p:cNvSpPr/>
            <p:nvPr/>
          </p:nvSpPr>
          <p:spPr>
            <a:xfrm>
              <a:off x="2991611" y="4751832"/>
              <a:ext cx="297180" cy="187960"/>
            </a:xfrm>
            <a:custGeom>
              <a:avLst/>
              <a:gdLst/>
              <a:ahLst/>
              <a:cxnLst/>
              <a:rect l="l" t="t" r="r" b="b"/>
              <a:pathLst>
                <a:path w="297179" h="187960">
                  <a:moveTo>
                    <a:pt x="297179" y="0"/>
                  </a:moveTo>
                  <a:lnTo>
                    <a:pt x="0" y="0"/>
                  </a:lnTo>
                  <a:lnTo>
                    <a:pt x="0" y="187452"/>
                  </a:lnTo>
                  <a:lnTo>
                    <a:pt x="297179" y="187452"/>
                  </a:lnTo>
                  <a:lnTo>
                    <a:pt x="297179" y="0"/>
                  </a:lnTo>
                  <a:close/>
                </a:path>
              </a:pathLst>
            </a:custGeom>
            <a:solidFill>
              <a:srgbClr val="3366FF"/>
            </a:solidFill>
          </p:spPr>
          <p:txBody>
            <a:bodyPr wrap="square" lIns="0" tIns="0" rIns="0" bIns="0" rtlCol="0"/>
            <a:lstStyle/>
            <a:p>
              <a:endParaRPr/>
            </a:p>
          </p:txBody>
        </p:sp>
        <p:sp>
          <p:nvSpPr>
            <p:cNvPr id="63" name="object 63"/>
            <p:cNvSpPr/>
            <p:nvPr/>
          </p:nvSpPr>
          <p:spPr>
            <a:xfrm>
              <a:off x="2991611" y="4751832"/>
              <a:ext cx="297180" cy="187960"/>
            </a:xfrm>
            <a:custGeom>
              <a:avLst/>
              <a:gdLst/>
              <a:ahLst/>
              <a:cxnLst/>
              <a:rect l="l" t="t" r="r" b="b"/>
              <a:pathLst>
                <a:path w="297179" h="187960">
                  <a:moveTo>
                    <a:pt x="0" y="187452"/>
                  </a:moveTo>
                  <a:lnTo>
                    <a:pt x="297179" y="187452"/>
                  </a:lnTo>
                  <a:lnTo>
                    <a:pt x="297179" y="0"/>
                  </a:lnTo>
                  <a:lnTo>
                    <a:pt x="0" y="0"/>
                  </a:lnTo>
                  <a:lnTo>
                    <a:pt x="0" y="187452"/>
                  </a:lnTo>
                  <a:close/>
                </a:path>
              </a:pathLst>
            </a:custGeom>
            <a:ln w="9525">
              <a:solidFill>
                <a:srgbClr val="000000"/>
              </a:solidFill>
            </a:ln>
          </p:spPr>
          <p:txBody>
            <a:bodyPr wrap="square" lIns="0" tIns="0" rIns="0" bIns="0" rtlCol="0"/>
            <a:lstStyle/>
            <a:p>
              <a:endParaRPr/>
            </a:p>
          </p:txBody>
        </p:sp>
        <p:sp>
          <p:nvSpPr>
            <p:cNvPr id="64" name="object 64"/>
            <p:cNvSpPr/>
            <p:nvPr/>
          </p:nvSpPr>
          <p:spPr>
            <a:xfrm>
              <a:off x="4248912" y="5052059"/>
              <a:ext cx="187960" cy="108585"/>
            </a:xfrm>
            <a:custGeom>
              <a:avLst/>
              <a:gdLst/>
              <a:ahLst/>
              <a:cxnLst/>
              <a:rect l="l" t="t" r="r" b="b"/>
              <a:pathLst>
                <a:path w="187960" h="108585">
                  <a:moveTo>
                    <a:pt x="187960" y="0"/>
                  </a:moveTo>
                  <a:lnTo>
                    <a:pt x="0" y="0"/>
                  </a:lnTo>
                  <a:lnTo>
                    <a:pt x="0" y="38100"/>
                  </a:lnTo>
                  <a:lnTo>
                    <a:pt x="0" y="70104"/>
                  </a:lnTo>
                  <a:lnTo>
                    <a:pt x="0" y="108204"/>
                  </a:lnTo>
                  <a:lnTo>
                    <a:pt x="187960" y="108204"/>
                  </a:lnTo>
                  <a:lnTo>
                    <a:pt x="187960" y="70104"/>
                  </a:lnTo>
                  <a:lnTo>
                    <a:pt x="187960" y="38100"/>
                  </a:lnTo>
                  <a:lnTo>
                    <a:pt x="187960" y="0"/>
                  </a:lnTo>
                  <a:close/>
                </a:path>
              </a:pathLst>
            </a:custGeom>
            <a:solidFill>
              <a:srgbClr val="FF0000"/>
            </a:solidFill>
          </p:spPr>
          <p:txBody>
            <a:bodyPr wrap="square" lIns="0" tIns="0" rIns="0" bIns="0" rtlCol="0"/>
            <a:lstStyle/>
            <a:p>
              <a:endParaRPr/>
            </a:p>
          </p:txBody>
        </p:sp>
        <p:sp>
          <p:nvSpPr>
            <p:cNvPr id="65" name="object 65"/>
            <p:cNvSpPr/>
            <p:nvPr/>
          </p:nvSpPr>
          <p:spPr>
            <a:xfrm>
              <a:off x="4218431" y="4572000"/>
              <a:ext cx="1910714" cy="915035"/>
            </a:xfrm>
            <a:custGeom>
              <a:avLst/>
              <a:gdLst/>
              <a:ahLst/>
              <a:cxnLst/>
              <a:rect l="l" t="t" r="r" b="b"/>
              <a:pathLst>
                <a:path w="1910714" h="915035">
                  <a:moveTo>
                    <a:pt x="217931" y="518160"/>
                  </a:moveTo>
                  <a:lnTo>
                    <a:pt x="217931" y="915035"/>
                  </a:lnTo>
                </a:path>
                <a:path w="1910714" h="915035">
                  <a:moveTo>
                    <a:pt x="217931" y="914400"/>
                  </a:moveTo>
                  <a:lnTo>
                    <a:pt x="750696" y="914400"/>
                  </a:lnTo>
                </a:path>
                <a:path w="1910714" h="915035">
                  <a:moveTo>
                    <a:pt x="0" y="365760"/>
                  </a:moveTo>
                  <a:lnTo>
                    <a:pt x="219201" y="365760"/>
                  </a:lnTo>
                </a:path>
                <a:path w="1910714" h="915035">
                  <a:moveTo>
                    <a:pt x="219455" y="365125"/>
                  </a:moveTo>
                  <a:lnTo>
                    <a:pt x="219455" y="0"/>
                  </a:lnTo>
                </a:path>
                <a:path w="1910714" h="915035">
                  <a:moveTo>
                    <a:pt x="219455" y="0"/>
                  </a:moveTo>
                  <a:lnTo>
                    <a:pt x="782954" y="0"/>
                  </a:lnTo>
                </a:path>
                <a:path w="1910714" h="915035">
                  <a:moveTo>
                    <a:pt x="1158239" y="0"/>
                  </a:moveTo>
                  <a:lnTo>
                    <a:pt x="1722881" y="0"/>
                  </a:lnTo>
                </a:path>
                <a:path w="1910714" h="915035">
                  <a:moveTo>
                    <a:pt x="1722119" y="0"/>
                  </a:moveTo>
                  <a:lnTo>
                    <a:pt x="1722119" y="365760"/>
                  </a:lnTo>
                </a:path>
                <a:path w="1910714" h="915035">
                  <a:moveTo>
                    <a:pt x="1722119" y="365760"/>
                  </a:moveTo>
                  <a:lnTo>
                    <a:pt x="1910333" y="365760"/>
                  </a:lnTo>
                </a:path>
                <a:path w="1910714" h="915035">
                  <a:moveTo>
                    <a:pt x="1126235" y="914400"/>
                  </a:moveTo>
                  <a:lnTo>
                    <a:pt x="1722246" y="914400"/>
                  </a:lnTo>
                </a:path>
                <a:path w="1910714" h="915035">
                  <a:moveTo>
                    <a:pt x="1722119" y="914400"/>
                  </a:moveTo>
                  <a:lnTo>
                    <a:pt x="1722119" y="548639"/>
                  </a:lnTo>
                </a:path>
                <a:path w="1910714" h="915035">
                  <a:moveTo>
                    <a:pt x="1722119" y="548639"/>
                  </a:moveTo>
                  <a:lnTo>
                    <a:pt x="1878964" y="548639"/>
                  </a:lnTo>
                </a:path>
              </a:pathLst>
            </a:custGeom>
            <a:ln w="76200">
              <a:solidFill>
                <a:srgbClr val="FF0000"/>
              </a:solidFill>
            </a:ln>
          </p:spPr>
          <p:txBody>
            <a:bodyPr wrap="square" lIns="0" tIns="0" rIns="0" bIns="0" rtlCol="0"/>
            <a:lstStyle/>
            <a:p>
              <a:endParaRPr/>
            </a:p>
          </p:txBody>
        </p:sp>
        <p:sp>
          <p:nvSpPr>
            <p:cNvPr id="66" name="object 66"/>
            <p:cNvSpPr/>
            <p:nvPr/>
          </p:nvSpPr>
          <p:spPr>
            <a:xfrm>
              <a:off x="3810000" y="5012435"/>
              <a:ext cx="455930" cy="123825"/>
            </a:xfrm>
            <a:custGeom>
              <a:avLst/>
              <a:gdLst/>
              <a:ahLst/>
              <a:cxnLst/>
              <a:rect l="l" t="t" r="r" b="b"/>
              <a:pathLst>
                <a:path w="455929" h="123825">
                  <a:moveTo>
                    <a:pt x="0" y="123443"/>
                  </a:moveTo>
                  <a:lnTo>
                    <a:pt x="455675" y="123443"/>
                  </a:lnTo>
                  <a:lnTo>
                    <a:pt x="455675" y="0"/>
                  </a:lnTo>
                  <a:lnTo>
                    <a:pt x="0" y="0"/>
                  </a:lnTo>
                  <a:lnTo>
                    <a:pt x="0" y="123443"/>
                  </a:lnTo>
                  <a:close/>
                </a:path>
              </a:pathLst>
            </a:custGeom>
            <a:ln w="9525">
              <a:solidFill>
                <a:srgbClr val="000000"/>
              </a:solidFill>
            </a:ln>
          </p:spPr>
          <p:txBody>
            <a:bodyPr wrap="square" lIns="0" tIns="0" rIns="0" bIns="0" rtlCol="0"/>
            <a:lstStyle/>
            <a:p>
              <a:endParaRPr/>
            </a:p>
          </p:txBody>
        </p:sp>
        <p:sp>
          <p:nvSpPr>
            <p:cNvPr id="67" name="object 67"/>
            <p:cNvSpPr/>
            <p:nvPr/>
          </p:nvSpPr>
          <p:spPr>
            <a:xfrm>
              <a:off x="3823715" y="5027676"/>
              <a:ext cx="428625" cy="94615"/>
            </a:xfrm>
            <a:custGeom>
              <a:avLst/>
              <a:gdLst/>
              <a:ahLst/>
              <a:cxnLst/>
              <a:rect l="l" t="t" r="r" b="b"/>
              <a:pathLst>
                <a:path w="428625" h="94614">
                  <a:moveTo>
                    <a:pt x="428243" y="0"/>
                  </a:moveTo>
                  <a:lnTo>
                    <a:pt x="0" y="0"/>
                  </a:lnTo>
                  <a:lnTo>
                    <a:pt x="0" y="94487"/>
                  </a:lnTo>
                  <a:lnTo>
                    <a:pt x="428243" y="94487"/>
                  </a:lnTo>
                  <a:lnTo>
                    <a:pt x="428243" y="0"/>
                  </a:lnTo>
                  <a:close/>
                </a:path>
              </a:pathLst>
            </a:custGeom>
            <a:solidFill>
              <a:srgbClr val="C0C0C0"/>
            </a:solidFill>
          </p:spPr>
          <p:txBody>
            <a:bodyPr wrap="square" lIns="0" tIns="0" rIns="0" bIns="0" rtlCol="0"/>
            <a:lstStyle/>
            <a:p>
              <a:endParaRPr/>
            </a:p>
          </p:txBody>
        </p:sp>
        <p:sp>
          <p:nvSpPr>
            <p:cNvPr id="68" name="object 68"/>
            <p:cNvSpPr/>
            <p:nvPr/>
          </p:nvSpPr>
          <p:spPr>
            <a:xfrm>
              <a:off x="3810000" y="5012435"/>
              <a:ext cx="455930" cy="123825"/>
            </a:xfrm>
            <a:custGeom>
              <a:avLst/>
              <a:gdLst/>
              <a:ahLst/>
              <a:cxnLst/>
              <a:rect l="l" t="t" r="r" b="b"/>
              <a:pathLst>
                <a:path w="455929" h="123825">
                  <a:moveTo>
                    <a:pt x="455675" y="0"/>
                  </a:moveTo>
                  <a:lnTo>
                    <a:pt x="441705" y="13843"/>
                  </a:lnTo>
                  <a:lnTo>
                    <a:pt x="441705" y="109727"/>
                  </a:lnTo>
                  <a:lnTo>
                    <a:pt x="14097" y="109727"/>
                  </a:lnTo>
                  <a:lnTo>
                    <a:pt x="0" y="123443"/>
                  </a:lnTo>
                  <a:lnTo>
                    <a:pt x="455675" y="123443"/>
                  </a:lnTo>
                  <a:lnTo>
                    <a:pt x="455675" y="0"/>
                  </a:lnTo>
                  <a:close/>
                </a:path>
              </a:pathLst>
            </a:custGeom>
            <a:solidFill>
              <a:srgbClr val="9A9A9A"/>
            </a:solidFill>
          </p:spPr>
          <p:txBody>
            <a:bodyPr wrap="square" lIns="0" tIns="0" rIns="0" bIns="0" rtlCol="0"/>
            <a:lstStyle/>
            <a:p>
              <a:endParaRPr/>
            </a:p>
          </p:txBody>
        </p:sp>
        <p:sp>
          <p:nvSpPr>
            <p:cNvPr id="69" name="object 69"/>
            <p:cNvSpPr/>
            <p:nvPr/>
          </p:nvSpPr>
          <p:spPr>
            <a:xfrm>
              <a:off x="3810000" y="5012435"/>
              <a:ext cx="455930" cy="123825"/>
            </a:xfrm>
            <a:custGeom>
              <a:avLst/>
              <a:gdLst/>
              <a:ahLst/>
              <a:cxnLst/>
              <a:rect l="l" t="t" r="r" b="b"/>
              <a:pathLst>
                <a:path w="455929" h="123825">
                  <a:moveTo>
                    <a:pt x="455675" y="0"/>
                  </a:moveTo>
                  <a:lnTo>
                    <a:pt x="0" y="0"/>
                  </a:lnTo>
                  <a:lnTo>
                    <a:pt x="0" y="123443"/>
                  </a:lnTo>
                  <a:lnTo>
                    <a:pt x="14097" y="109727"/>
                  </a:lnTo>
                  <a:lnTo>
                    <a:pt x="14097" y="13843"/>
                  </a:lnTo>
                  <a:lnTo>
                    <a:pt x="441705" y="13843"/>
                  </a:lnTo>
                  <a:lnTo>
                    <a:pt x="455675" y="0"/>
                  </a:lnTo>
                  <a:close/>
                </a:path>
              </a:pathLst>
            </a:custGeom>
            <a:solidFill>
              <a:srgbClr val="FFFFFF"/>
            </a:solidFill>
          </p:spPr>
          <p:txBody>
            <a:bodyPr wrap="square" lIns="0" tIns="0" rIns="0" bIns="0" rtlCol="0"/>
            <a:lstStyle/>
            <a:p>
              <a:endParaRPr/>
            </a:p>
          </p:txBody>
        </p:sp>
        <p:sp>
          <p:nvSpPr>
            <p:cNvPr id="70" name="object 70"/>
            <p:cNvSpPr/>
            <p:nvPr/>
          </p:nvSpPr>
          <p:spPr>
            <a:xfrm>
              <a:off x="3951732" y="4972811"/>
              <a:ext cx="287020" cy="100965"/>
            </a:xfrm>
            <a:custGeom>
              <a:avLst/>
              <a:gdLst/>
              <a:ahLst/>
              <a:cxnLst/>
              <a:rect l="l" t="t" r="r" b="b"/>
              <a:pathLst>
                <a:path w="287020" h="100964">
                  <a:moveTo>
                    <a:pt x="172212" y="0"/>
                  </a:moveTo>
                  <a:lnTo>
                    <a:pt x="0" y="0"/>
                  </a:lnTo>
                  <a:lnTo>
                    <a:pt x="0" y="28956"/>
                  </a:lnTo>
                  <a:lnTo>
                    <a:pt x="172212" y="28956"/>
                  </a:lnTo>
                  <a:lnTo>
                    <a:pt x="172212" y="0"/>
                  </a:lnTo>
                  <a:close/>
                </a:path>
                <a:path w="287020" h="100964">
                  <a:moveTo>
                    <a:pt x="286512" y="81788"/>
                  </a:moveTo>
                  <a:lnTo>
                    <a:pt x="257810" y="81788"/>
                  </a:lnTo>
                  <a:lnTo>
                    <a:pt x="257810" y="74168"/>
                  </a:lnTo>
                  <a:lnTo>
                    <a:pt x="171958" y="74168"/>
                  </a:lnTo>
                  <a:lnTo>
                    <a:pt x="171958" y="81788"/>
                  </a:lnTo>
                  <a:lnTo>
                    <a:pt x="143256" y="81788"/>
                  </a:lnTo>
                  <a:lnTo>
                    <a:pt x="143256" y="94488"/>
                  </a:lnTo>
                  <a:lnTo>
                    <a:pt x="171958" y="94488"/>
                  </a:lnTo>
                  <a:lnTo>
                    <a:pt x="171958" y="100838"/>
                  </a:lnTo>
                  <a:lnTo>
                    <a:pt x="257810" y="100838"/>
                  </a:lnTo>
                  <a:lnTo>
                    <a:pt x="257810" y="94488"/>
                  </a:lnTo>
                  <a:lnTo>
                    <a:pt x="286512" y="94488"/>
                  </a:lnTo>
                  <a:lnTo>
                    <a:pt x="286512" y="81788"/>
                  </a:lnTo>
                  <a:close/>
                </a:path>
              </a:pathLst>
            </a:custGeom>
            <a:solidFill>
              <a:srgbClr val="000000"/>
            </a:solidFill>
          </p:spPr>
          <p:txBody>
            <a:bodyPr wrap="square" lIns="0" tIns="0" rIns="0" bIns="0" rtlCol="0"/>
            <a:lstStyle/>
            <a:p>
              <a:endParaRPr/>
            </a:p>
          </p:txBody>
        </p:sp>
        <p:sp>
          <p:nvSpPr>
            <p:cNvPr id="71" name="object 71"/>
            <p:cNvSpPr/>
            <p:nvPr/>
          </p:nvSpPr>
          <p:spPr>
            <a:xfrm>
              <a:off x="3838956" y="5039867"/>
              <a:ext cx="27940" cy="21590"/>
            </a:xfrm>
            <a:custGeom>
              <a:avLst/>
              <a:gdLst/>
              <a:ahLst/>
              <a:cxnLst/>
              <a:rect l="l" t="t" r="r" b="b"/>
              <a:pathLst>
                <a:path w="27939" h="21589">
                  <a:moveTo>
                    <a:pt x="27432" y="0"/>
                  </a:moveTo>
                  <a:lnTo>
                    <a:pt x="0" y="0"/>
                  </a:lnTo>
                  <a:lnTo>
                    <a:pt x="0" y="21335"/>
                  </a:lnTo>
                  <a:lnTo>
                    <a:pt x="27432" y="21335"/>
                  </a:lnTo>
                  <a:lnTo>
                    <a:pt x="27432" y="0"/>
                  </a:lnTo>
                  <a:close/>
                </a:path>
              </a:pathLst>
            </a:custGeom>
            <a:solidFill>
              <a:srgbClr val="008000"/>
            </a:solidFill>
          </p:spPr>
          <p:txBody>
            <a:bodyPr wrap="square" lIns="0" tIns="0" rIns="0" bIns="0" rtlCol="0"/>
            <a:lstStyle/>
            <a:p>
              <a:endParaRPr/>
            </a:p>
          </p:txBody>
        </p:sp>
        <p:sp>
          <p:nvSpPr>
            <p:cNvPr id="72" name="object 72"/>
            <p:cNvSpPr/>
            <p:nvPr/>
          </p:nvSpPr>
          <p:spPr>
            <a:xfrm>
              <a:off x="3838956" y="5039867"/>
              <a:ext cx="13970" cy="10795"/>
            </a:xfrm>
            <a:custGeom>
              <a:avLst/>
              <a:gdLst/>
              <a:ahLst/>
              <a:cxnLst/>
              <a:rect l="l" t="t" r="r" b="b"/>
              <a:pathLst>
                <a:path w="13970" h="10795">
                  <a:moveTo>
                    <a:pt x="13715" y="0"/>
                  </a:moveTo>
                  <a:lnTo>
                    <a:pt x="0" y="0"/>
                  </a:lnTo>
                  <a:lnTo>
                    <a:pt x="0" y="10667"/>
                  </a:lnTo>
                  <a:lnTo>
                    <a:pt x="13715" y="10667"/>
                  </a:lnTo>
                  <a:lnTo>
                    <a:pt x="13715" y="0"/>
                  </a:lnTo>
                  <a:close/>
                </a:path>
              </a:pathLst>
            </a:custGeom>
            <a:solidFill>
              <a:srgbClr val="00FF00"/>
            </a:solidFill>
          </p:spPr>
          <p:txBody>
            <a:bodyPr wrap="square" lIns="0" tIns="0" rIns="0" bIns="0" rtlCol="0"/>
            <a:lstStyle/>
            <a:p>
              <a:endParaRPr/>
            </a:p>
          </p:txBody>
        </p:sp>
        <p:sp>
          <p:nvSpPr>
            <p:cNvPr id="73" name="object 73"/>
            <p:cNvSpPr/>
            <p:nvPr/>
          </p:nvSpPr>
          <p:spPr>
            <a:xfrm>
              <a:off x="3846575" y="4693920"/>
              <a:ext cx="398145" cy="271780"/>
            </a:xfrm>
            <a:custGeom>
              <a:avLst/>
              <a:gdLst/>
              <a:ahLst/>
              <a:cxnLst/>
              <a:rect l="l" t="t" r="r" b="b"/>
              <a:pathLst>
                <a:path w="398145" h="271779">
                  <a:moveTo>
                    <a:pt x="0" y="271271"/>
                  </a:moveTo>
                  <a:lnTo>
                    <a:pt x="397763" y="271271"/>
                  </a:lnTo>
                  <a:lnTo>
                    <a:pt x="397763" y="0"/>
                  </a:lnTo>
                  <a:lnTo>
                    <a:pt x="0" y="0"/>
                  </a:lnTo>
                  <a:lnTo>
                    <a:pt x="0" y="271271"/>
                  </a:lnTo>
                  <a:close/>
                </a:path>
              </a:pathLst>
            </a:custGeom>
            <a:ln w="9525">
              <a:solidFill>
                <a:srgbClr val="000000"/>
              </a:solidFill>
            </a:ln>
          </p:spPr>
          <p:txBody>
            <a:bodyPr wrap="square" lIns="0" tIns="0" rIns="0" bIns="0" rtlCol="0"/>
            <a:lstStyle/>
            <a:p>
              <a:endParaRPr/>
            </a:p>
          </p:txBody>
        </p:sp>
        <p:sp>
          <p:nvSpPr>
            <p:cNvPr id="74" name="object 74"/>
            <p:cNvSpPr/>
            <p:nvPr/>
          </p:nvSpPr>
          <p:spPr>
            <a:xfrm>
              <a:off x="3846576" y="4693919"/>
              <a:ext cx="398145" cy="271780"/>
            </a:xfrm>
            <a:custGeom>
              <a:avLst/>
              <a:gdLst/>
              <a:ahLst/>
              <a:cxnLst/>
              <a:rect l="l" t="t" r="r" b="b"/>
              <a:pathLst>
                <a:path w="398145" h="271779">
                  <a:moveTo>
                    <a:pt x="397764" y="0"/>
                  </a:moveTo>
                  <a:lnTo>
                    <a:pt x="0" y="0"/>
                  </a:lnTo>
                  <a:lnTo>
                    <a:pt x="0" y="13970"/>
                  </a:lnTo>
                  <a:lnTo>
                    <a:pt x="0" y="257810"/>
                  </a:lnTo>
                  <a:lnTo>
                    <a:pt x="0" y="271780"/>
                  </a:lnTo>
                  <a:lnTo>
                    <a:pt x="397764" y="271780"/>
                  </a:lnTo>
                  <a:lnTo>
                    <a:pt x="397764" y="257810"/>
                  </a:lnTo>
                  <a:lnTo>
                    <a:pt x="14351" y="257810"/>
                  </a:lnTo>
                  <a:lnTo>
                    <a:pt x="14351" y="13970"/>
                  </a:lnTo>
                  <a:lnTo>
                    <a:pt x="383413" y="13970"/>
                  </a:lnTo>
                  <a:lnTo>
                    <a:pt x="383413" y="257556"/>
                  </a:lnTo>
                  <a:lnTo>
                    <a:pt x="397764" y="257556"/>
                  </a:lnTo>
                  <a:lnTo>
                    <a:pt x="397764" y="13970"/>
                  </a:lnTo>
                  <a:lnTo>
                    <a:pt x="397764" y="13716"/>
                  </a:lnTo>
                  <a:lnTo>
                    <a:pt x="397764" y="0"/>
                  </a:lnTo>
                  <a:close/>
                </a:path>
              </a:pathLst>
            </a:custGeom>
            <a:solidFill>
              <a:srgbClr val="C0C0C0"/>
            </a:solidFill>
          </p:spPr>
          <p:txBody>
            <a:bodyPr wrap="square" lIns="0" tIns="0" rIns="0" bIns="0" rtlCol="0"/>
            <a:lstStyle/>
            <a:p>
              <a:endParaRPr/>
            </a:p>
          </p:txBody>
        </p:sp>
        <p:sp>
          <p:nvSpPr>
            <p:cNvPr id="75" name="object 75"/>
            <p:cNvSpPr/>
            <p:nvPr/>
          </p:nvSpPr>
          <p:spPr>
            <a:xfrm>
              <a:off x="3846575" y="4693920"/>
              <a:ext cx="368935" cy="243840"/>
            </a:xfrm>
            <a:custGeom>
              <a:avLst/>
              <a:gdLst/>
              <a:ahLst/>
              <a:cxnLst/>
              <a:rect l="l" t="t" r="r" b="b"/>
              <a:pathLst>
                <a:path w="368935" h="243839">
                  <a:moveTo>
                    <a:pt x="368808" y="0"/>
                  </a:moveTo>
                  <a:lnTo>
                    <a:pt x="0" y="0"/>
                  </a:lnTo>
                  <a:lnTo>
                    <a:pt x="0" y="243839"/>
                  </a:lnTo>
                  <a:lnTo>
                    <a:pt x="14097" y="230250"/>
                  </a:lnTo>
                  <a:lnTo>
                    <a:pt x="14097" y="13334"/>
                  </a:lnTo>
                  <a:lnTo>
                    <a:pt x="354711" y="13334"/>
                  </a:lnTo>
                  <a:lnTo>
                    <a:pt x="368808" y="0"/>
                  </a:lnTo>
                  <a:close/>
                </a:path>
              </a:pathLst>
            </a:custGeom>
            <a:solidFill>
              <a:srgbClr val="9A9A9A"/>
            </a:solidFill>
          </p:spPr>
          <p:txBody>
            <a:bodyPr wrap="square" lIns="0" tIns="0" rIns="0" bIns="0" rtlCol="0"/>
            <a:lstStyle/>
            <a:p>
              <a:endParaRPr/>
            </a:p>
          </p:txBody>
        </p:sp>
        <p:sp>
          <p:nvSpPr>
            <p:cNvPr id="76" name="object 76"/>
            <p:cNvSpPr/>
            <p:nvPr/>
          </p:nvSpPr>
          <p:spPr>
            <a:xfrm>
              <a:off x="3877056" y="4724400"/>
              <a:ext cx="344805" cy="213360"/>
            </a:xfrm>
            <a:custGeom>
              <a:avLst/>
              <a:gdLst/>
              <a:ahLst/>
              <a:cxnLst/>
              <a:rect l="l" t="t" r="r" b="b"/>
              <a:pathLst>
                <a:path w="344804" h="213360">
                  <a:moveTo>
                    <a:pt x="344424" y="0"/>
                  </a:moveTo>
                  <a:lnTo>
                    <a:pt x="0" y="0"/>
                  </a:lnTo>
                  <a:lnTo>
                    <a:pt x="0" y="213360"/>
                  </a:lnTo>
                  <a:lnTo>
                    <a:pt x="344424" y="213360"/>
                  </a:lnTo>
                  <a:lnTo>
                    <a:pt x="344424" y="0"/>
                  </a:lnTo>
                  <a:close/>
                </a:path>
              </a:pathLst>
            </a:custGeom>
            <a:solidFill>
              <a:srgbClr val="3366FF"/>
            </a:solidFill>
          </p:spPr>
          <p:txBody>
            <a:bodyPr wrap="square" lIns="0" tIns="0" rIns="0" bIns="0" rtlCol="0"/>
            <a:lstStyle/>
            <a:p>
              <a:endParaRPr/>
            </a:p>
          </p:txBody>
        </p:sp>
        <p:sp>
          <p:nvSpPr>
            <p:cNvPr id="77" name="object 77"/>
            <p:cNvSpPr/>
            <p:nvPr/>
          </p:nvSpPr>
          <p:spPr>
            <a:xfrm>
              <a:off x="3877056" y="4724400"/>
              <a:ext cx="2676525" cy="472440"/>
            </a:xfrm>
            <a:custGeom>
              <a:avLst/>
              <a:gdLst/>
              <a:ahLst/>
              <a:cxnLst/>
              <a:rect l="l" t="t" r="r" b="b"/>
              <a:pathLst>
                <a:path w="2676525" h="472439">
                  <a:moveTo>
                    <a:pt x="0" y="213360"/>
                  </a:moveTo>
                  <a:lnTo>
                    <a:pt x="344424" y="213360"/>
                  </a:lnTo>
                  <a:lnTo>
                    <a:pt x="344424" y="0"/>
                  </a:lnTo>
                  <a:lnTo>
                    <a:pt x="0" y="0"/>
                  </a:lnTo>
                  <a:lnTo>
                    <a:pt x="0" y="213360"/>
                  </a:lnTo>
                  <a:close/>
                </a:path>
                <a:path w="2676525" h="472439">
                  <a:moveTo>
                    <a:pt x="2220468" y="472439"/>
                  </a:moveTo>
                  <a:lnTo>
                    <a:pt x="2676144" y="472439"/>
                  </a:lnTo>
                  <a:lnTo>
                    <a:pt x="2676144" y="350519"/>
                  </a:lnTo>
                  <a:lnTo>
                    <a:pt x="2220468" y="350519"/>
                  </a:lnTo>
                  <a:lnTo>
                    <a:pt x="2220468" y="472439"/>
                  </a:lnTo>
                  <a:close/>
                </a:path>
              </a:pathLst>
            </a:custGeom>
            <a:ln w="9525">
              <a:solidFill>
                <a:srgbClr val="000000"/>
              </a:solidFill>
            </a:ln>
          </p:spPr>
          <p:txBody>
            <a:bodyPr wrap="square" lIns="0" tIns="0" rIns="0" bIns="0" rtlCol="0"/>
            <a:lstStyle/>
            <a:p>
              <a:endParaRPr/>
            </a:p>
          </p:txBody>
        </p:sp>
        <p:sp>
          <p:nvSpPr>
            <p:cNvPr id="78" name="object 78"/>
            <p:cNvSpPr/>
            <p:nvPr/>
          </p:nvSpPr>
          <p:spPr>
            <a:xfrm>
              <a:off x="6111239" y="5088635"/>
              <a:ext cx="428625" cy="94615"/>
            </a:xfrm>
            <a:custGeom>
              <a:avLst/>
              <a:gdLst/>
              <a:ahLst/>
              <a:cxnLst/>
              <a:rect l="l" t="t" r="r" b="b"/>
              <a:pathLst>
                <a:path w="428625" h="94614">
                  <a:moveTo>
                    <a:pt x="428243" y="0"/>
                  </a:moveTo>
                  <a:lnTo>
                    <a:pt x="0" y="0"/>
                  </a:lnTo>
                  <a:lnTo>
                    <a:pt x="0" y="94487"/>
                  </a:lnTo>
                  <a:lnTo>
                    <a:pt x="428243" y="94487"/>
                  </a:lnTo>
                  <a:lnTo>
                    <a:pt x="428243" y="0"/>
                  </a:lnTo>
                  <a:close/>
                </a:path>
              </a:pathLst>
            </a:custGeom>
            <a:solidFill>
              <a:srgbClr val="C0C0C0"/>
            </a:solidFill>
          </p:spPr>
          <p:txBody>
            <a:bodyPr wrap="square" lIns="0" tIns="0" rIns="0" bIns="0" rtlCol="0"/>
            <a:lstStyle/>
            <a:p>
              <a:endParaRPr/>
            </a:p>
          </p:txBody>
        </p:sp>
        <p:sp>
          <p:nvSpPr>
            <p:cNvPr id="79" name="object 79"/>
            <p:cNvSpPr/>
            <p:nvPr/>
          </p:nvSpPr>
          <p:spPr>
            <a:xfrm>
              <a:off x="6097524" y="5074920"/>
              <a:ext cx="455930" cy="121920"/>
            </a:xfrm>
            <a:custGeom>
              <a:avLst/>
              <a:gdLst/>
              <a:ahLst/>
              <a:cxnLst/>
              <a:rect l="l" t="t" r="r" b="b"/>
              <a:pathLst>
                <a:path w="455929" h="121920">
                  <a:moveTo>
                    <a:pt x="455675" y="0"/>
                  </a:moveTo>
                  <a:lnTo>
                    <a:pt x="441705" y="13715"/>
                  </a:lnTo>
                  <a:lnTo>
                    <a:pt x="441705" y="108457"/>
                  </a:lnTo>
                  <a:lnTo>
                    <a:pt x="14097" y="108457"/>
                  </a:lnTo>
                  <a:lnTo>
                    <a:pt x="0" y="121919"/>
                  </a:lnTo>
                  <a:lnTo>
                    <a:pt x="455675" y="121919"/>
                  </a:lnTo>
                  <a:lnTo>
                    <a:pt x="455675" y="0"/>
                  </a:lnTo>
                  <a:close/>
                </a:path>
              </a:pathLst>
            </a:custGeom>
            <a:solidFill>
              <a:srgbClr val="9A9A9A"/>
            </a:solidFill>
          </p:spPr>
          <p:txBody>
            <a:bodyPr wrap="square" lIns="0" tIns="0" rIns="0" bIns="0" rtlCol="0"/>
            <a:lstStyle/>
            <a:p>
              <a:endParaRPr/>
            </a:p>
          </p:txBody>
        </p:sp>
        <p:sp>
          <p:nvSpPr>
            <p:cNvPr id="80" name="object 80"/>
            <p:cNvSpPr/>
            <p:nvPr/>
          </p:nvSpPr>
          <p:spPr>
            <a:xfrm>
              <a:off x="6097524" y="5074920"/>
              <a:ext cx="455930" cy="121920"/>
            </a:xfrm>
            <a:custGeom>
              <a:avLst/>
              <a:gdLst/>
              <a:ahLst/>
              <a:cxnLst/>
              <a:rect l="l" t="t" r="r" b="b"/>
              <a:pathLst>
                <a:path w="455929" h="121920">
                  <a:moveTo>
                    <a:pt x="455675" y="0"/>
                  </a:moveTo>
                  <a:lnTo>
                    <a:pt x="0" y="0"/>
                  </a:lnTo>
                  <a:lnTo>
                    <a:pt x="0" y="121919"/>
                  </a:lnTo>
                  <a:lnTo>
                    <a:pt x="14097" y="108457"/>
                  </a:lnTo>
                  <a:lnTo>
                    <a:pt x="14097" y="13715"/>
                  </a:lnTo>
                  <a:lnTo>
                    <a:pt x="441705" y="13715"/>
                  </a:lnTo>
                  <a:lnTo>
                    <a:pt x="455675" y="0"/>
                  </a:lnTo>
                  <a:close/>
                </a:path>
              </a:pathLst>
            </a:custGeom>
            <a:solidFill>
              <a:srgbClr val="FFFFFF"/>
            </a:solidFill>
          </p:spPr>
          <p:txBody>
            <a:bodyPr wrap="square" lIns="0" tIns="0" rIns="0" bIns="0" rtlCol="0"/>
            <a:lstStyle/>
            <a:p>
              <a:endParaRPr/>
            </a:p>
          </p:txBody>
        </p:sp>
        <p:sp>
          <p:nvSpPr>
            <p:cNvPr id="81" name="object 81"/>
            <p:cNvSpPr/>
            <p:nvPr/>
          </p:nvSpPr>
          <p:spPr>
            <a:xfrm>
              <a:off x="6239256" y="5035295"/>
              <a:ext cx="287020" cy="100965"/>
            </a:xfrm>
            <a:custGeom>
              <a:avLst/>
              <a:gdLst/>
              <a:ahLst/>
              <a:cxnLst/>
              <a:rect l="l" t="t" r="r" b="b"/>
              <a:pathLst>
                <a:path w="287020" h="100964">
                  <a:moveTo>
                    <a:pt x="172212" y="0"/>
                  </a:moveTo>
                  <a:lnTo>
                    <a:pt x="0" y="0"/>
                  </a:lnTo>
                  <a:lnTo>
                    <a:pt x="0" y="27432"/>
                  </a:lnTo>
                  <a:lnTo>
                    <a:pt x="172212" y="27432"/>
                  </a:lnTo>
                  <a:lnTo>
                    <a:pt x="172212" y="0"/>
                  </a:lnTo>
                  <a:close/>
                </a:path>
                <a:path w="287020" h="100964">
                  <a:moveTo>
                    <a:pt x="286512" y="80264"/>
                  </a:moveTo>
                  <a:lnTo>
                    <a:pt x="257810" y="80264"/>
                  </a:lnTo>
                  <a:lnTo>
                    <a:pt x="257810" y="72644"/>
                  </a:lnTo>
                  <a:lnTo>
                    <a:pt x="171958" y="72644"/>
                  </a:lnTo>
                  <a:lnTo>
                    <a:pt x="171958" y="80264"/>
                  </a:lnTo>
                  <a:lnTo>
                    <a:pt x="143256" y="80264"/>
                  </a:lnTo>
                  <a:lnTo>
                    <a:pt x="143256" y="94234"/>
                  </a:lnTo>
                  <a:lnTo>
                    <a:pt x="171958" y="94234"/>
                  </a:lnTo>
                  <a:lnTo>
                    <a:pt x="171958" y="100584"/>
                  </a:lnTo>
                  <a:lnTo>
                    <a:pt x="257810" y="100584"/>
                  </a:lnTo>
                  <a:lnTo>
                    <a:pt x="257810" y="94234"/>
                  </a:lnTo>
                  <a:lnTo>
                    <a:pt x="286512" y="94234"/>
                  </a:lnTo>
                  <a:lnTo>
                    <a:pt x="286512" y="80264"/>
                  </a:lnTo>
                  <a:close/>
                </a:path>
              </a:pathLst>
            </a:custGeom>
            <a:solidFill>
              <a:srgbClr val="000000"/>
            </a:solidFill>
          </p:spPr>
          <p:txBody>
            <a:bodyPr wrap="square" lIns="0" tIns="0" rIns="0" bIns="0" rtlCol="0"/>
            <a:lstStyle/>
            <a:p>
              <a:endParaRPr/>
            </a:p>
          </p:txBody>
        </p:sp>
        <p:sp>
          <p:nvSpPr>
            <p:cNvPr id="82" name="object 82"/>
            <p:cNvSpPr/>
            <p:nvPr/>
          </p:nvSpPr>
          <p:spPr>
            <a:xfrm>
              <a:off x="6126480" y="5102351"/>
              <a:ext cx="27940" cy="20320"/>
            </a:xfrm>
            <a:custGeom>
              <a:avLst/>
              <a:gdLst/>
              <a:ahLst/>
              <a:cxnLst/>
              <a:rect l="l" t="t" r="r" b="b"/>
              <a:pathLst>
                <a:path w="27939" h="20320">
                  <a:moveTo>
                    <a:pt x="27432" y="0"/>
                  </a:moveTo>
                  <a:lnTo>
                    <a:pt x="0" y="0"/>
                  </a:lnTo>
                  <a:lnTo>
                    <a:pt x="0" y="19812"/>
                  </a:lnTo>
                  <a:lnTo>
                    <a:pt x="27432" y="19812"/>
                  </a:lnTo>
                  <a:lnTo>
                    <a:pt x="27432" y="0"/>
                  </a:lnTo>
                  <a:close/>
                </a:path>
              </a:pathLst>
            </a:custGeom>
            <a:solidFill>
              <a:srgbClr val="008000"/>
            </a:solidFill>
          </p:spPr>
          <p:txBody>
            <a:bodyPr wrap="square" lIns="0" tIns="0" rIns="0" bIns="0" rtlCol="0"/>
            <a:lstStyle/>
            <a:p>
              <a:endParaRPr/>
            </a:p>
          </p:txBody>
        </p:sp>
        <p:sp>
          <p:nvSpPr>
            <p:cNvPr id="83" name="object 83"/>
            <p:cNvSpPr/>
            <p:nvPr/>
          </p:nvSpPr>
          <p:spPr>
            <a:xfrm>
              <a:off x="6126480" y="5102351"/>
              <a:ext cx="13970" cy="9525"/>
            </a:xfrm>
            <a:custGeom>
              <a:avLst/>
              <a:gdLst/>
              <a:ahLst/>
              <a:cxnLst/>
              <a:rect l="l" t="t" r="r" b="b"/>
              <a:pathLst>
                <a:path w="13970" h="9525">
                  <a:moveTo>
                    <a:pt x="13715" y="0"/>
                  </a:moveTo>
                  <a:lnTo>
                    <a:pt x="0" y="0"/>
                  </a:lnTo>
                  <a:lnTo>
                    <a:pt x="0" y="9143"/>
                  </a:lnTo>
                  <a:lnTo>
                    <a:pt x="13715" y="9143"/>
                  </a:lnTo>
                  <a:lnTo>
                    <a:pt x="13715" y="0"/>
                  </a:lnTo>
                  <a:close/>
                </a:path>
              </a:pathLst>
            </a:custGeom>
            <a:solidFill>
              <a:srgbClr val="00FF00"/>
            </a:solidFill>
          </p:spPr>
          <p:txBody>
            <a:bodyPr wrap="square" lIns="0" tIns="0" rIns="0" bIns="0" rtlCol="0"/>
            <a:lstStyle/>
            <a:p>
              <a:endParaRPr/>
            </a:p>
          </p:txBody>
        </p:sp>
        <p:sp>
          <p:nvSpPr>
            <p:cNvPr id="84" name="object 84"/>
            <p:cNvSpPr/>
            <p:nvPr/>
          </p:nvSpPr>
          <p:spPr>
            <a:xfrm>
              <a:off x="6134100" y="4754879"/>
              <a:ext cx="398145" cy="273050"/>
            </a:xfrm>
            <a:custGeom>
              <a:avLst/>
              <a:gdLst/>
              <a:ahLst/>
              <a:cxnLst/>
              <a:rect l="l" t="t" r="r" b="b"/>
              <a:pathLst>
                <a:path w="398145" h="273050">
                  <a:moveTo>
                    <a:pt x="0" y="272796"/>
                  </a:moveTo>
                  <a:lnTo>
                    <a:pt x="397764" y="272796"/>
                  </a:lnTo>
                  <a:lnTo>
                    <a:pt x="397764" y="0"/>
                  </a:lnTo>
                  <a:lnTo>
                    <a:pt x="0" y="0"/>
                  </a:lnTo>
                  <a:lnTo>
                    <a:pt x="0" y="272796"/>
                  </a:lnTo>
                  <a:close/>
                </a:path>
              </a:pathLst>
            </a:custGeom>
            <a:ln w="9525">
              <a:solidFill>
                <a:srgbClr val="000000"/>
              </a:solidFill>
            </a:ln>
          </p:spPr>
          <p:txBody>
            <a:bodyPr wrap="square" lIns="0" tIns="0" rIns="0" bIns="0" rtlCol="0"/>
            <a:lstStyle/>
            <a:p>
              <a:endParaRPr/>
            </a:p>
          </p:txBody>
        </p:sp>
        <p:sp>
          <p:nvSpPr>
            <p:cNvPr id="85" name="object 85"/>
            <p:cNvSpPr/>
            <p:nvPr/>
          </p:nvSpPr>
          <p:spPr>
            <a:xfrm>
              <a:off x="6134100" y="4754879"/>
              <a:ext cx="398145" cy="273050"/>
            </a:xfrm>
            <a:custGeom>
              <a:avLst/>
              <a:gdLst/>
              <a:ahLst/>
              <a:cxnLst/>
              <a:rect l="l" t="t" r="r" b="b"/>
              <a:pathLst>
                <a:path w="398145" h="273050">
                  <a:moveTo>
                    <a:pt x="397764" y="0"/>
                  </a:moveTo>
                  <a:lnTo>
                    <a:pt x="0" y="0"/>
                  </a:lnTo>
                  <a:lnTo>
                    <a:pt x="0" y="13970"/>
                  </a:lnTo>
                  <a:lnTo>
                    <a:pt x="0" y="259080"/>
                  </a:lnTo>
                  <a:lnTo>
                    <a:pt x="0" y="273050"/>
                  </a:lnTo>
                  <a:lnTo>
                    <a:pt x="397764" y="273050"/>
                  </a:lnTo>
                  <a:lnTo>
                    <a:pt x="397764" y="259080"/>
                  </a:lnTo>
                  <a:lnTo>
                    <a:pt x="14351" y="259080"/>
                  </a:lnTo>
                  <a:lnTo>
                    <a:pt x="14351" y="13970"/>
                  </a:lnTo>
                  <a:lnTo>
                    <a:pt x="383413" y="13970"/>
                  </a:lnTo>
                  <a:lnTo>
                    <a:pt x="383413" y="258953"/>
                  </a:lnTo>
                  <a:lnTo>
                    <a:pt x="397764" y="258953"/>
                  </a:lnTo>
                  <a:lnTo>
                    <a:pt x="397764" y="13970"/>
                  </a:lnTo>
                  <a:lnTo>
                    <a:pt x="397764" y="13843"/>
                  </a:lnTo>
                  <a:lnTo>
                    <a:pt x="397764" y="0"/>
                  </a:lnTo>
                  <a:close/>
                </a:path>
              </a:pathLst>
            </a:custGeom>
            <a:solidFill>
              <a:srgbClr val="C0C0C0"/>
            </a:solidFill>
          </p:spPr>
          <p:txBody>
            <a:bodyPr wrap="square" lIns="0" tIns="0" rIns="0" bIns="0" rtlCol="0"/>
            <a:lstStyle/>
            <a:p>
              <a:endParaRPr/>
            </a:p>
          </p:txBody>
        </p:sp>
        <p:sp>
          <p:nvSpPr>
            <p:cNvPr id="86" name="object 86"/>
            <p:cNvSpPr/>
            <p:nvPr/>
          </p:nvSpPr>
          <p:spPr>
            <a:xfrm>
              <a:off x="6134100" y="4754879"/>
              <a:ext cx="368935" cy="243840"/>
            </a:xfrm>
            <a:custGeom>
              <a:avLst/>
              <a:gdLst/>
              <a:ahLst/>
              <a:cxnLst/>
              <a:rect l="l" t="t" r="r" b="b"/>
              <a:pathLst>
                <a:path w="368934" h="243839">
                  <a:moveTo>
                    <a:pt x="368807" y="0"/>
                  </a:moveTo>
                  <a:lnTo>
                    <a:pt x="0" y="0"/>
                  </a:lnTo>
                  <a:lnTo>
                    <a:pt x="0" y="243840"/>
                  </a:lnTo>
                  <a:lnTo>
                    <a:pt x="14097" y="230251"/>
                  </a:lnTo>
                  <a:lnTo>
                    <a:pt x="14097" y="13335"/>
                  </a:lnTo>
                  <a:lnTo>
                    <a:pt x="354711" y="13335"/>
                  </a:lnTo>
                  <a:lnTo>
                    <a:pt x="368807" y="0"/>
                  </a:lnTo>
                  <a:close/>
                </a:path>
              </a:pathLst>
            </a:custGeom>
            <a:solidFill>
              <a:srgbClr val="9A9A9A"/>
            </a:solidFill>
          </p:spPr>
          <p:txBody>
            <a:bodyPr wrap="square" lIns="0" tIns="0" rIns="0" bIns="0" rtlCol="0"/>
            <a:lstStyle/>
            <a:p>
              <a:endParaRPr/>
            </a:p>
          </p:txBody>
        </p:sp>
        <p:sp>
          <p:nvSpPr>
            <p:cNvPr id="87" name="object 87"/>
            <p:cNvSpPr/>
            <p:nvPr/>
          </p:nvSpPr>
          <p:spPr>
            <a:xfrm>
              <a:off x="6164580" y="4785360"/>
              <a:ext cx="344805" cy="213360"/>
            </a:xfrm>
            <a:custGeom>
              <a:avLst/>
              <a:gdLst/>
              <a:ahLst/>
              <a:cxnLst/>
              <a:rect l="l" t="t" r="r" b="b"/>
              <a:pathLst>
                <a:path w="344804" h="213360">
                  <a:moveTo>
                    <a:pt x="344424" y="0"/>
                  </a:moveTo>
                  <a:lnTo>
                    <a:pt x="0" y="0"/>
                  </a:lnTo>
                  <a:lnTo>
                    <a:pt x="0" y="213360"/>
                  </a:lnTo>
                  <a:lnTo>
                    <a:pt x="344424" y="213360"/>
                  </a:lnTo>
                  <a:lnTo>
                    <a:pt x="344424" y="0"/>
                  </a:lnTo>
                  <a:close/>
                </a:path>
              </a:pathLst>
            </a:custGeom>
            <a:solidFill>
              <a:srgbClr val="3366FF"/>
            </a:solidFill>
          </p:spPr>
          <p:txBody>
            <a:bodyPr wrap="square" lIns="0" tIns="0" rIns="0" bIns="0" rtlCol="0"/>
            <a:lstStyle/>
            <a:p>
              <a:endParaRPr/>
            </a:p>
          </p:txBody>
        </p:sp>
        <p:sp>
          <p:nvSpPr>
            <p:cNvPr id="88" name="object 88"/>
            <p:cNvSpPr/>
            <p:nvPr/>
          </p:nvSpPr>
          <p:spPr>
            <a:xfrm>
              <a:off x="4939283" y="4785360"/>
              <a:ext cx="1569720" cy="1005840"/>
            </a:xfrm>
            <a:custGeom>
              <a:avLst/>
              <a:gdLst/>
              <a:ahLst/>
              <a:cxnLst/>
              <a:rect l="l" t="t" r="r" b="b"/>
              <a:pathLst>
                <a:path w="1569720" h="1005839">
                  <a:moveTo>
                    <a:pt x="1225295" y="213360"/>
                  </a:moveTo>
                  <a:lnTo>
                    <a:pt x="1569719" y="213360"/>
                  </a:lnTo>
                  <a:lnTo>
                    <a:pt x="1569719" y="0"/>
                  </a:lnTo>
                  <a:lnTo>
                    <a:pt x="1225295" y="0"/>
                  </a:lnTo>
                  <a:lnTo>
                    <a:pt x="1225295" y="213360"/>
                  </a:lnTo>
                  <a:close/>
                </a:path>
                <a:path w="1569720" h="1005839">
                  <a:moveTo>
                    <a:pt x="0" y="1005840"/>
                  </a:moveTo>
                  <a:lnTo>
                    <a:pt x="455675" y="1005840"/>
                  </a:lnTo>
                  <a:lnTo>
                    <a:pt x="455675" y="883920"/>
                  </a:lnTo>
                  <a:lnTo>
                    <a:pt x="0" y="883920"/>
                  </a:lnTo>
                  <a:lnTo>
                    <a:pt x="0" y="1005840"/>
                  </a:lnTo>
                  <a:close/>
                </a:path>
              </a:pathLst>
            </a:custGeom>
            <a:ln w="9525">
              <a:solidFill>
                <a:srgbClr val="000000"/>
              </a:solidFill>
            </a:ln>
          </p:spPr>
          <p:txBody>
            <a:bodyPr wrap="square" lIns="0" tIns="0" rIns="0" bIns="0" rtlCol="0"/>
            <a:lstStyle/>
            <a:p>
              <a:endParaRPr/>
            </a:p>
          </p:txBody>
        </p:sp>
        <p:sp>
          <p:nvSpPr>
            <p:cNvPr id="89" name="object 89"/>
            <p:cNvSpPr/>
            <p:nvPr/>
          </p:nvSpPr>
          <p:spPr>
            <a:xfrm>
              <a:off x="4953000" y="5682996"/>
              <a:ext cx="428625" cy="94615"/>
            </a:xfrm>
            <a:custGeom>
              <a:avLst/>
              <a:gdLst/>
              <a:ahLst/>
              <a:cxnLst/>
              <a:rect l="l" t="t" r="r" b="b"/>
              <a:pathLst>
                <a:path w="428625" h="94614">
                  <a:moveTo>
                    <a:pt x="428244" y="0"/>
                  </a:moveTo>
                  <a:lnTo>
                    <a:pt x="0" y="0"/>
                  </a:lnTo>
                  <a:lnTo>
                    <a:pt x="0" y="94487"/>
                  </a:lnTo>
                  <a:lnTo>
                    <a:pt x="428244" y="94487"/>
                  </a:lnTo>
                  <a:lnTo>
                    <a:pt x="428244" y="0"/>
                  </a:lnTo>
                  <a:close/>
                </a:path>
              </a:pathLst>
            </a:custGeom>
            <a:solidFill>
              <a:srgbClr val="C0C0C0"/>
            </a:solidFill>
          </p:spPr>
          <p:txBody>
            <a:bodyPr wrap="square" lIns="0" tIns="0" rIns="0" bIns="0" rtlCol="0"/>
            <a:lstStyle/>
            <a:p>
              <a:endParaRPr/>
            </a:p>
          </p:txBody>
        </p:sp>
        <p:sp>
          <p:nvSpPr>
            <p:cNvPr id="90" name="object 90"/>
            <p:cNvSpPr/>
            <p:nvPr/>
          </p:nvSpPr>
          <p:spPr>
            <a:xfrm>
              <a:off x="4939283" y="5669279"/>
              <a:ext cx="455930" cy="121920"/>
            </a:xfrm>
            <a:custGeom>
              <a:avLst/>
              <a:gdLst/>
              <a:ahLst/>
              <a:cxnLst/>
              <a:rect l="l" t="t" r="r" b="b"/>
              <a:pathLst>
                <a:path w="455929" h="121920">
                  <a:moveTo>
                    <a:pt x="455675" y="0"/>
                  </a:moveTo>
                  <a:lnTo>
                    <a:pt x="441705" y="13728"/>
                  </a:lnTo>
                  <a:lnTo>
                    <a:pt x="441705" y="108394"/>
                  </a:lnTo>
                  <a:lnTo>
                    <a:pt x="14096" y="108394"/>
                  </a:lnTo>
                  <a:lnTo>
                    <a:pt x="0" y="121920"/>
                  </a:lnTo>
                  <a:lnTo>
                    <a:pt x="455675" y="121920"/>
                  </a:lnTo>
                  <a:lnTo>
                    <a:pt x="455675" y="0"/>
                  </a:lnTo>
                  <a:close/>
                </a:path>
              </a:pathLst>
            </a:custGeom>
            <a:solidFill>
              <a:srgbClr val="9A9A9A"/>
            </a:solidFill>
          </p:spPr>
          <p:txBody>
            <a:bodyPr wrap="square" lIns="0" tIns="0" rIns="0" bIns="0" rtlCol="0"/>
            <a:lstStyle/>
            <a:p>
              <a:endParaRPr/>
            </a:p>
          </p:txBody>
        </p:sp>
        <p:sp>
          <p:nvSpPr>
            <p:cNvPr id="91" name="object 91"/>
            <p:cNvSpPr/>
            <p:nvPr/>
          </p:nvSpPr>
          <p:spPr>
            <a:xfrm>
              <a:off x="4939283" y="5669279"/>
              <a:ext cx="455930" cy="121920"/>
            </a:xfrm>
            <a:custGeom>
              <a:avLst/>
              <a:gdLst/>
              <a:ahLst/>
              <a:cxnLst/>
              <a:rect l="l" t="t" r="r" b="b"/>
              <a:pathLst>
                <a:path w="455929" h="121920">
                  <a:moveTo>
                    <a:pt x="455675" y="0"/>
                  </a:moveTo>
                  <a:lnTo>
                    <a:pt x="0" y="0"/>
                  </a:lnTo>
                  <a:lnTo>
                    <a:pt x="0" y="121920"/>
                  </a:lnTo>
                  <a:lnTo>
                    <a:pt x="14096" y="108394"/>
                  </a:lnTo>
                  <a:lnTo>
                    <a:pt x="14096" y="13728"/>
                  </a:lnTo>
                  <a:lnTo>
                    <a:pt x="441705" y="13728"/>
                  </a:lnTo>
                  <a:lnTo>
                    <a:pt x="455675" y="0"/>
                  </a:lnTo>
                  <a:close/>
                </a:path>
              </a:pathLst>
            </a:custGeom>
            <a:solidFill>
              <a:srgbClr val="FFFFFF"/>
            </a:solidFill>
          </p:spPr>
          <p:txBody>
            <a:bodyPr wrap="square" lIns="0" tIns="0" rIns="0" bIns="0" rtlCol="0"/>
            <a:lstStyle/>
            <a:p>
              <a:endParaRPr/>
            </a:p>
          </p:txBody>
        </p:sp>
        <p:sp>
          <p:nvSpPr>
            <p:cNvPr id="92" name="object 92"/>
            <p:cNvSpPr/>
            <p:nvPr/>
          </p:nvSpPr>
          <p:spPr>
            <a:xfrm>
              <a:off x="5081016" y="5628132"/>
              <a:ext cx="285115" cy="102235"/>
            </a:xfrm>
            <a:custGeom>
              <a:avLst/>
              <a:gdLst/>
              <a:ahLst/>
              <a:cxnLst/>
              <a:rect l="l" t="t" r="r" b="b"/>
              <a:pathLst>
                <a:path w="285114" h="102235">
                  <a:moveTo>
                    <a:pt x="170688" y="0"/>
                  </a:moveTo>
                  <a:lnTo>
                    <a:pt x="0" y="0"/>
                  </a:lnTo>
                  <a:lnTo>
                    <a:pt x="0" y="28956"/>
                  </a:lnTo>
                  <a:lnTo>
                    <a:pt x="170688" y="28956"/>
                  </a:lnTo>
                  <a:lnTo>
                    <a:pt x="170688" y="0"/>
                  </a:lnTo>
                  <a:close/>
                </a:path>
                <a:path w="285114" h="102235">
                  <a:moveTo>
                    <a:pt x="284988" y="81788"/>
                  </a:moveTo>
                  <a:lnTo>
                    <a:pt x="256286" y="81788"/>
                  </a:lnTo>
                  <a:lnTo>
                    <a:pt x="256286" y="74168"/>
                  </a:lnTo>
                  <a:lnTo>
                    <a:pt x="170434" y="74168"/>
                  </a:lnTo>
                  <a:lnTo>
                    <a:pt x="170434" y="81788"/>
                  </a:lnTo>
                  <a:lnTo>
                    <a:pt x="141732" y="81788"/>
                  </a:lnTo>
                  <a:lnTo>
                    <a:pt x="141732" y="95758"/>
                  </a:lnTo>
                  <a:lnTo>
                    <a:pt x="170434" y="95758"/>
                  </a:lnTo>
                  <a:lnTo>
                    <a:pt x="170434" y="102108"/>
                  </a:lnTo>
                  <a:lnTo>
                    <a:pt x="256286" y="102108"/>
                  </a:lnTo>
                  <a:lnTo>
                    <a:pt x="256286" y="95758"/>
                  </a:lnTo>
                  <a:lnTo>
                    <a:pt x="284988" y="95758"/>
                  </a:lnTo>
                  <a:lnTo>
                    <a:pt x="284988" y="81788"/>
                  </a:lnTo>
                  <a:close/>
                </a:path>
              </a:pathLst>
            </a:custGeom>
            <a:solidFill>
              <a:srgbClr val="000000"/>
            </a:solidFill>
          </p:spPr>
          <p:txBody>
            <a:bodyPr wrap="square" lIns="0" tIns="0" rIns="0" bIns="0" rtlCol="0"/>
            <a:lstStyle/>
            <a:p>
              <a:endParaRPr/>
            </a:p>
          </p:txBody>
        </p:sp>
        <p:sp>
          <p:nvSpPr>
            <p:cNvPr id="93" name="object 93"/>
            <p:cNvSpPr/>
            <p:nvPr/>
          </p:nvSpPr>
          <p:spPr>
            <a:xfrm>
              <a:off x="4966715" y="5696711"/>
              <a:ext cx="29209" cy="20320"/>
            </a:xfrm>
            <a:custGeom>
              <a:avLst/>
              <a:gdLst/>
              <a:ahLst/>
              <a:cxnLst/>
              <a:rect l="l" t="t" r="r" b="b"/>
              <a:pathLst>
                <a:path w="29210" h="20320">
                  <a:moveTo>
                    <a:pt x="28955" y="0"/>
                  </a:moveTo>
                  <a:lnTo>
                    <a:pt x="0" y="0"/>
                  </a:lnTo>
                  <a:lnTo>
                    <a:pt x="0" y="19812"/>
                  </a:lnTo>
                  <a:lnTo>
                    <a:pt x="28955" y="19812"/>
                  </a:lnTo>
                  <a:lnTo>
                    <a:pt x="28955" y="0"/>
                  </a:lnTo>
                  <a:close/>
                </a:path>
              </a:pathLst>
            </a:custGeom>
            <a:solidFill>
              <a:srgbClr val="008000"/>
            </a:solidFill>
          </p:spPr>
          <p:txBody>
            <a:bodyPr wrap="square" lIns="0" tIns="0" rIns="0" bIns="0" rtlCol="0"/>
            <a:lstStyle/>
            <a:p>
              <a:endParaRPr/>
            </a:p>
          </p:txBody>
        </p:sp>
        <p:sp>
          <p:nvSpPr>
            <p:cNvPr id="94" name="object 94"/>
            <p:cNvSpPr/>
            <p:nvPr/>
          </p:nvSpPr>
          <p:spPr>
            <a:xfrm>
              <a:off x="4966715" y="5696711"/>
              <a:ext cx="15240" cy="9525"/>
            </a:xfrm>
            <a:custGeom>
              <a:avLst/>
              <a:gdLst/>
              <a:ahLst/>
              <a:cxnLst/>
              <a:rect l="l" t="t" r="r" b="b"/>
              <a:pathLst>
                <a:path w="15239" h="9525">
                  <a:moveTo>
                    <a:pt x="15239" y="0"/>
                  </a:moveTo>
                  <a:lnTo>
                    <a:pt x="0" y="0"/>
                  </a:lnTo>
                  <a:lnTo>
                    <a:pt x="0" y="9143"/>
                  </a:lnTo>
                  <a:lnTo>
                    <a:pt x="15239" y="9143"/>
                  </a:lnTo>
                  <a:lnTo>
                    <a:pt x="15239" y="0"/>
                  </a:lnTo>
                  <a:close/>
                </a:path>
              </a:pathLst>
            </a:custGeom>
            <a:solidFill>
              <a:srgbClr val="00FF00"/>
            </a:solidFill>
          </p:spPr>
          <p:txBody>
            <a:bodyPr wrap="square" lIns="0" tIns="0" rIns="0" bIns="0" rtlCol="0"/>
            <a:lstStyle/>
            <a:p>
              <a:endParaRPr/>
            </a:p>
          </p:txBody>
        </p:sp>
        <p:sp>
          <p:nvSpPr>
            <p:cNvPr id="95" name="object 95"/>
            <p:cNvSpPr/>
            <p:nvPr/>
          </p:nvSpPr>
          <p:spPr>
            <a:xfrm>
              <a:off x="4974336" y="5349239"/>
              <a:ext cx="399415" cy="271780"/>
            </a:xfrm>
            <a:custGeom>
              <a:avLst/>
              <a:gdLst/>
              <a:ahLst/>
              <a:cxnLst/>
              <a:rect l="l" t="t" r="r" b="b"/>
              <a:pathLst>
                <a:path w="399414" h="271779">
                  <a:moveTo>
                    <a:pt x="0" y="271272"/>
                  </a:moveTo>
                  <a:lnTo>
                    <a:pt x="399288" y="271272"/>
                  </a:lnTo>
                  <a:lnTo>
                    <a:pt x="399288" y="0"/>
                  </a:lnTo>
                  <a:lnTo>
                    <a:pt x="0" y="0"/>
                  </a:lnTo>
                  <a:lnTo>
                    <a:pt x="0" y="271272"/>
                  </a:lnTo>
                  <a:close/>
                </a:path>
              </a:pathLst>
            </a:custGeom>
            <a:ln w="9524">
              <a:solidFill>
                <a:srgbClr val="000000"/>
              </a:solidFill>
            </a:ln>
          </p:spPr>
          <p:txBody>
            <a:bodyPr wrap="square" lIns="0" tIns="0" rIns="0" bIns="0" rtlCol="0"/>
            <a:lstStyle/>
            <a:p>
              <a:endParaRPr/>
            </a:p>
          </p:txBody>
        </p:sp>
        <p:sp>
          <p:nvSpPr>
            <p:cNvPr id="96" name="object 96"/>
            <p:cNvSpPr/>
            <p:nvPr/>
          </p:nvSpPr>
          <p:spPr>
            <a:xfrm>
              <a:off x="4974336" y="5349239"/>
              <a:ext cx="399415" cy="271780"/>
            </a:xfrm>
            <a:custGeom>
              <a:avLst/>
              <a:gdLst/>
              <a:ahLst/>
              <a:cxnLst/>
              <a:rect l="l" t="t" r="r" b="b"/>
              <a:pathLst>
                <a:path w="399414" h="271779">
                  <a:moveTo>
                    <a:pt x="399288" y="0"/>
                  </a:moveTo>
                  <a:lnTo>
                    <a:pt x="0" y="0"/>
                  </a:lnTo>
                  <a:lnTo>
                    <a:pt x="0" y="13970"/>
                  </a:lnTo>
                  <a:lnTo>
                    <a:pt x="0" y="257810"/>
                  </a:lnTo>
                  <a:lnTo>
                    <a:pt x="0" y="271780"/>
                  </a:lnTo>
                  <a:lnTo>
                    <a:pt x="399288" y="271780"/>
                  </a:lnTo>
                  <a:lnTo>
                    <a:pt x="399288" y="257810"/>
                  </a:lnTo>
                  <a:lnTo>
                    <a:pt x="14351" y="257810"/>
                  </a:lnTo>
                  <a:lnTo>
                    <a:pt x="14351" y="13970"/>
                  </a:lnTo>
                  <a:lnTo>
                    <a:pt x="384937" y="13970"/>
                  </a:lnTo>
                  <a:lnTo>
                    <a:pt x="384937" y="257517"/>
                  </a:lnTo>
                  <a:lnTo>
                    <a:pt x="399288" y="257517"/>
                  </a:lnTo>
                  <a:lnTo>
                    <a:pt x="399288" y="13970"/>
                  </a:lnTo>
                  <a:lnTo>
                    <a:pt x="399288" y="13716"/>
                  </a:lnTo>
                  <a:lnTo>
                    <a:pt x="399288" y="0"/>
                  </a:lnTo>
                  <a:close/>
                </a:path>
              </a:pathLst>
            </a:custGeom>
            <a:solidFill>
              <a:srgbClr val="C0C0C0"/>
            </a:solidFill>
          </p:spPr>
          <p:txBody>
            <a:bodyPr wrap="square" lIns="0" tIns="0" rIns="0" bIns="0" rtlCol="0"/>
            <a:lstStyle/>
            <a:p>
              <a:endParaRPr/>
            </a:p>
          </p:txBody>
        </p:sp>
        <p:sp>
          <p:nvSpPr>
            <p:cNvPr id="97" name="object 97"/>
            <p:cNvSpPr/>
            <p:nvPr/>
          </p:nvSpPr>
          <p:spPr>
            <a:xfrm>
              <a:off x="4974336" y="5349239"/>
              <a:ext cx="370840" cy="243840"/>
            </a:xfrm>
            <a:custGeom>
              <a:avLst/>
              <a:gdLst/>
              <a:ahLst/>
              <a:cxnLst/>
              <a:rect l="l" t="t" r="r" b="b"/>
              <a:pathLst>
                <a:path w="370839" h="243839">
                  <a:moveTo>
                    <a:pt x="370331" y="0"/>
                  </a:moveTo>
                  <a:lnTo>
                    <a:pt x="0" y="0"/>
                  </a:lnTo>
                  <a:lnTo>
                    <a:pt x="0" y="243840"/>
                  </a:lnTo>
                  <a:lnTo>
                    <a:pt x="14097" y="230251"/>
                  </a:lnTo>
                  <a:lnTo>
                    <a:pt x="14097" y="13335"/>
                  </a:lnTo>
                  <a:lnTo>
                    <a:pt x="356235" y="13335"/>
                  </a:lnTo>
                  <a:lnTo>
                    <a:pt x="370331" y="0"/>
                  </a:lnTo>
                  <a:close/>
                </a:path>
              </a:pathLst>
            </a:custGeom>
            <a:solidFill>
              <a:srgbClr val="9A9A9A"/>
            </a:solidFill>
          </p:spPr>
          <p:txBody>
            <a:bodyPr wrap="square" lIns="0" tIns="0" rIns="0" bIns="0" rtlCol="0"/>
            <a:lstStyle/>
            <a:p>
              <a:endParaRPr/>
            </a:p>
          </p:txBody>
        </p:sp>
        <p:sp>
          <p:nvSpPr>
            <p:cNvPr id="98" name="object 98"/>
            <p:cNvSpPr/>
            <p:nvPr/>
          </p:nvSpPr>
          <p:spPr>
            <a:xfrm>
              <a:off x="5006339" y="5379720"/>
              <a:ext cx="344805" cy="213360"/>
            </a:xfrm>
            <a:custGeom>
              <a:avLst/>
              <a:gdLst/>
              <a:ahLst/>
              <a:cxnLst/>
              <a:rect l="l" t="t" r="r" b="b"/>
              <a:pathLst>
                <a:path w="344804" h="213360">
                  <a:moveTo>
                    <a:pt x="344424" y="0"/>
                  </a:moveTo>
                  <a:lnTo>
                    <a:pt x="0" y="0"/>
                  </a:lnTo>
                  <a:lnTo>
                    <a:pt x="0" y="213359"/>
                  </a:lnTo>
                  <a:lnTo>
                    <a:pt x="344424" y="213359"/>
                  </a:lnTo>
                  <a:lnTo>
                    <a:pt x="344424" y="0"/>
                  </a:lnTo>
                  <a:close/>
                </a:path>
              </a:pathLst>
            </a:custGeom>
            <a:solidFill>
              <a:srgbClr val="3366FF"/>
            </a:solidFill>
          </p:spPr>
          <p:txBody>
            <a:bodyPr wrap="square" lIns="0" tIns="0" rIns="0" bIns="0" rtlCol="0"/>
            <a:lstStyle/>
            <a:p>
              <a:endParaRPr/>
            </a:p>
          </p:txBody>
        </p:sp>
        <p:sp>
          <p:nvSpPr>
            <p:cNvPr id="99" name="object 99"/>
            <p:cNvSpPr/>
            <p:nvPr/>
          </p:nvSpPr>
          <p:spPr>
            <a:xfrm>
              <a:off x="5006339" y="5379720"/>
              <a:ext cx="344805" cy="213360"/>
            </a:xfrm>
            <a:custGeom>
              <a:avLst/>
              <a:gdLst/>
              <a:ahLst/>
              <a:cxnLst/>
              <a:rect l="l" t="t" r="r" b="b"/>
              <a:pathLst>
                <a:path w="344804" h="213360">
                  <a:moveTo>
                    <a:pt x="0" y="213359"/>
                  </a:moveTo>
                  <a:lnTo>
                    <a:pt x="344424" y="213359"/>
                  </a:lnTo>
                  <a:lnTo>
                    <a:pt x="344424" y="0"/>
                  </a:lnTo>
                  <a:lnTo>
                    <a:pt x="0" y="0"/>
                  </a:lnTo>
                  <a:lnTo>
                    <a:pt x="0" y="213359"/>
                  </a:lnTo>
                  <a:close/>
                </a:path>
              </a:pathLst>
            </a:custGeom>
            <a:ln w="9525">
              <a:solidFill>
                <a:srgbClr val="000000"/>
              </a:solidFill>
            </a:ln>
          </p:spPr>
          <p:txBody>
            <a:bodyPr wrap="square" lIns="0" tIns="0" rIns="0" bIns="0" rtlCol="0"/>
            <a:lstStyle/>
            <a:p>
              <a:endParaRPr/>
            </a:p>
          </p:txBody>
        </p:sp>
        <p:sp>
          <p:nvSpPr>
            <p:cNvPr id="100" name="object 100"/>
            <p:cNvSpPr/>
            <p:nvPr/>
          </p:nvSpPr>
          <p:spPr>
            <a:xfrm>
              <a:off x="4966715" y="2819400"/>
              <a:ext cx="443865" cy="1752600"/>
            </a:xfrm>
            <a:custGeom>
              <a:avLst/>
              <a:gdLst/>
              <a:ahLst/>
              <a:cxnLst/>
              <a:rect l="l" t="t" r="r" b="b"/>
              <a:pathLst>
                <a:path w="443864" h="1752600">
                  <a:moveTo>
                    <a:pt x="0" y="1752600"/>
                  </a:moveTo>
                  <a:lnTo>
                    <a:pt x="0" y="0"/>
                  </a:lnTo>
                </a:path>
                <a:path w="443864" h="1752600">
                  <a:moveTo>
                    <a:pt x="443484" y="1752600"/>
                  </a:moveTo>
                  <a:lnTo>
                    <a:pt x="443484" y="0"/>
                  </a:lnTo>
                </a:path>
              </a:pathLst>
            </a:custGeom>
            <a:ln w="76200">
              <a:solidFill>
                <a:srgbClr val="FF0000"/>
              </a:solidFill>
            </a:ln>
          </p:spPr>
          <p:txBody>
            <a:bodyPr wrap="square" lIns="0" tIns="0" rIns="0" bIns="0" rtlCol="0"/>
            <a:lstStyle/>
            <a:p>
              <a:endParaRPr/>
            </a:p>
          </p:txBody>
        </p:sp>
        <p:pic>
          <p:nvPicPr>
            <p:cNvPr id="101" name="object 101"/>
            <p:cNvPicPr/>
            <p:nvPr/>
          </p:nvPicPr>
          <p:blipFill>
            <a:blip r:embed="rId3" cstate="print"/>
            <a:stretch>
              <a:fillRect/>
            </a:stretch>
          </p:blipFill>
          <p:spPr>
            <a:xfrm>
              <a:off x="7510271" y="4791455"/>
              <a:ext cx="1022603" cy="531876"/>
            </a:xfrm>
            <a:prstGeom prst="rect">
              <a:avLst/>
            </a:prstGeom>
          </p:spPr>
        </p:pic>
        <p:sp>
          <p:nvSpPr>
            <p:cNvPr id="102" name="object 102"/>
            <p:cNvSpPr/>
            <p:nvPr/>
          </p:nvSpPr>
          <p:spPr>
            <a:xfrm>
              <a:off x="7306055" y="4817364"/>
              <a:ext cx="1278890" cy="719455"/>
            </a:xfrm>
            <a:custGeom>
              <a:avLst/>
              <a:gdLst/>
              <a:ahLst/>
              <a:cxnLst/>
              <a:rect l="l" t="t" r="r" b="b"/>
              <a:pathLst>
                <a:path w="1278890" h="719454">
                  <a:moveTo>
                    <a:pt x="0" y="0"/>
                  </a:moveTo>
                  <a:lnTo>
                    <a:pt x="562610" y="154178"/>
                  </a:lnTo>
                </a:path>
                <a:path w="1278890" h="719454">
                  <a:moveTo>
                    <a:pt x="51816" y="719201"/>
                  </a:moveTo>
                  <a:lnTo>
                    <a:pt x="563245" y="333756"/>
                  </a:lnTo>
                </a:path>
                <a:path w="1278890" h="719454">
                  <a:moveTo>
                    <a:pt x="690372" y="154178"/>
                  </a:moveTo>
                  <a:lnTo>
                    <a:pt x="1278636" y="0"/>
                  </a:lnTo>
                </a:path>
                <a:path w="1278890" h="719454">
                  <a:moveTo>
                    <a:pt x="716279" y="333756"/>
                  </a:moveTo>
                  <a:lnTo>
                    <a:pt x="1253363" y="719201"/>
                  </a:lnTo>
                </a:path>
              </a:pathLst>
            </a:custGeom>
            <a:ln w="76200">
              <a:solidFill>
                <a:srgbClr val="FF0000"/>
              </a:solidFill>
            </a:ln>
          </p:spPr>
          <p:txBody>
            <a:bodyPr wrap="square" lIns="0" tIns="0" rIns="0" bIns="0" rtlCol="0"/>
            <a:lstStyle/>
            <a:p>
              <a:endParaRPr/>
            </a:p>
          </p:txBody>
        </p:sp>
        <p:sp>
          <p:nvSpPr>
            <p:cNvPr id="103" name="object 103"/>
            <p:cNvSpPr/>
            <p:nvPr/>
          </p:nvSpPr>
          <p:spPr>
            <a:xfrm>
              <a:off x="6934200" y="4777739"/>
              <a:ext cx="372110" cy="104139"/>
            </a:xfrm>
            <a:custGeom>
              <a:avLst/>
              <a:gdLst/>
              <a:ahLst/>
              <a:cxnLst/>
              <a:rect l="l" t="t" r="r" b="b"/>
              <a:pathLst>
                <a:path w="372109" h="104139">
                  <a:moveTo>
                    <a:pt x="0" y="103631"/>
                  </a:moveTo>
                  <a:lnTo>
                    <a:pt x="371855" y="103631"/>
                  </a:lnTo>
                  <a:lnTo>
                    <a:pt x="371855" y="0"/>
                  </a:lnTo>
                  <a:lnTo>
                    <a:pt x="0" y="0"/>
                  </a:lnTo>
                  <a:lnTo>
                    <a:pt x="0" y="103631"/>
                  </a:lnTo>
                  <a:close/>
                </a:path>
              </a:pathLst>
            </a:custGeom>
            <a:ln w="9525">
              <a:solidFill>
                <a:srgbClr val="000000"/>
              </a:solidFill>
            </a:ln>
          </p:spPr>
          <p:txBody>
            <a:bodyPr wrap="square" lIns="0" tIns="0" rIns="0" bIns="0" rtlCol="0"/>
            <a:lstStyle/>
            <a:p>
              <a:endParaRPr/>
            </a:p>
          </p:txBody>
        </p:sp>
        <p:sp>
          <p:nvSpPr>
            <p:cNvPr id="104" name="object 104"/>
            <p:cNvSpPr/>
            <p:nvPr/>
          </p:nvSpPr>
          <p:spPr>
            <a:xfrm>
              <a:off x="6946391" y="4789932"/>
              <a:ext cx="349250" cy="79375"/>
            </a:xfrm>
            <a:custGeom>
              <a:avLst/>
              <a:gdLst/>
              <a:ahLst/>
              <a:cxnLst/>
              <a:rect l="l" t="t" r="r" b="b"/>
              <a:pathLst>
                <a:path w="349250" h="79375">
                  <a:moveTo>
                    <a:pt x="348996" y="0"/>
                  </a:moveTo>
                  <a:lnTo>
                    <a:pt x="0" y="0"/>
                  </a:lnTo>
                  <a:lnTo>
                    <a:pt x="0" y="79248"/>
                  </a:lnTo>
                  <a:lnTo>
                    <a:pt x="348996" y="79248"/>
                  </a:lnTo>
                  <a:lnTo>
                    <a:pt x="348996" y="0"/>
                  </a:lnTo>
                  <a:close/>
                </a:path>
              </a:pathLst>
            </a:custGeom>
            <a:solidFill>
              <a:srgbClr val="C0C0C0"/>
            </a:solidFill>
          </p:spPr>
          <p:txBody>
            <a:bodyPr wrap="square" lIns="0" tIns="0" rIns="0" bIns="0" rtlCol="0"/>
            <a:lstStyle/>
            <a:p>
              <a:endParaRPr/>
            </a:p>
          </p:txBody>
        </p:sp>
        <p:sp>
          <p:nvSpPr>
            <p:cNvPr id="105" name="object 105"/>
            <p:cNvSpPr/>
            <p:nvPr/>
          </p:nvSpPr>
          <p:spPr>
            <a:xfrm>
              <a:off x="6934200" y="4777739"/>
              <a:ext cx="372110" cy="104139"/>
            </a:xfrm>
            <a:custGeom>
              <a:avLst/>
              <a:gdLst/>
              <a:ahLst/>
              <a:cxnLst/>
              <a:rect l="l" t="t" r="r" b="b"/>
              <a:pathLst>
                <a:path w="372109" h="104139">
                  <a:moveTo>
                    <a:pt x="371855" y="0"/>
                  </a:moveTo>
                  <a:lnTo>
                    <a:pt x="360552" y="11684"/>
                  </a:lnTo>
                  <a:lnTo>
                    <a:pt x="360552" y="92075"/>
                  </a:lnTo>
                  <a:lnTo>
                    <a:pt x="11556" y="92075"/>
                  </a:lnTo>
                  <a:lnTo>
                    <a:pt x="0" y="103632"/>
                  </a:lnTo>
                  <a:lnTo>
                    <a:pt x="371855" y="103632"/>
                  </a:lnTo>
                  <a:lnTo>
                    <a:pt x="371855" y="0"/>
                  </a:lnTo>
                  <a:close/>
                </a:path>
              </a:pathLst>
            </a:custGeom>
            <a:solidFill>
              <a:srgbClr val="9A9A9A"/>
            </a:solidFill>
          </p:spPr>
          <p:txBody>
            <a:bodyPr wrap="square" lIns="0" tIns="0" rIns="0" bIns="0" rtlCol="0"/>
            <a:lstStyle/>
            <a:p>
              <a:endParaRPr/>
            </a:p>
          </p:txBody>
        </p:sp>
        <p:sp>
          <p:nvSpPr>
            <p:cNvPr id="106" name="object 106"/>
            <p:cNvSpPr/>
            <p:nvPr/>
          </p:nvSpPr>
          <p:spPr>
            <a:xfrm>
              <a:off x="6934200" y="4777739"/>
              <a:ext cx="372110" cy="104139"/>
            </a:xfrm>
            <a:custGeom>
              <a:avLst/>
              <a:gdLst/>
              <a:ahLst/>
              <a:cxnLst/>
              <a:rect l="l" t="t" r="r" b="b"/>
              <a:pathLst>
                <a:path w="372109" h="104139">
                  <a:moveTo>
                    <a:pt x="371855" y="0"/>
                  </a:moveTo>
                  <a:lnTo>
                    <a:pt x="0" y="0"/>
                  </a:lnTo>
                  <a:lnTo>
                    <a:pt x="0" y="103632"/>
                  </a:lnTo>
                  <a:lnTo>
                    <a:pt x="11556" y="92075"/>
                  </a:lnTo>
                  <a:lnTo>
                    <a:pt x="11556" y="11684"/>
                  </a:lnTo>
                  <a:lnTo>
                    <a:pt x="360552" y="11684"/>
                  </a:lnTo>
                  <a:lnTo>
                    <a:pt x="371855" y="0"/>
                  </a:lnTo>
                  <a:close/>
                </a:path>
              </a:pathLst>
            </a:custGeom>
            <a:solidFill>
              <a:srgbClr val="FFFFFF"/>
            </a:solidFill>
          </p:spPr>
          <p:txBody>
            <a:bodyPr wrap="square" lIns="0" tIns="0" rIns="0" bIns="0" rtlCol="0"/>
            <a:lstStyle/>
            <a:p>
              <a:endParaRPr/>
            </a:p>
          </p:txBody>
        </p:sp>
        <p:sp>
          <p:nvSpPr>
            <p:cNvPr id="107" name="object 107"/>
            <p:cNvSpPr/>
            <p:nvPr/>
          </p:nvSpPr>
          <p:spPr>
            <a:xfrm>
              <a:off x="7050024" y="4744211"/>
              <a:ext cx="233679" cy="85725"/>
            </a:xfrm>
            <a:custGeom>
              <a:avLst/>
              <a:gdLst/>
              <a:ahLst/>
              <a:cxnLst/>
              <a:rect l="l" t="t" r="r" b="b"/>
              <a:pathLst>
                <a:path w="233679" h="85725">
                  <a:moveTo>
                    <a:pt x="140208" y="0"/>
                  </a:moveTo>
                  <a:lnTo>
                    <a:pt x="0" y="0"/>
                  </a:lnTo>
                  <a:lnTo>
                    <a:pt x="0" y="22860"/>
                  </a:lnTo>
                  <a:lnTo>
                    <a:pt x="140208" y="22860"/>
                  </a:lnTo>
                  <a:lnTo>
                    <a:pt x="140208" y="0"/>
                  </a:lnTo>
                  <a:close/>
                </a:path>
                <a:path w="233679" h="85725">
                  <a:moveTo>
                    <a:pt x="233172" y="67818"/>
                  </a:moveTo>
                  <a:lnTo>
                    <a:pt x="209677" y="67818"/>
                  </a:lnTo>
                  <a:lnTo>
                    <a:pt x="209677" y="62738"/>
                  </a:lnTo>
                  <a:lnTo>
                    <a:pt x="139319" y="62738"/>
                  </a:lnTo>
                  <a:lnTo>
                    <a:pt x="139319" y="67818"/>
                  </a:lnTo>
                  <a:lnTo>
                    <a:pt x="115824" y="67818"/>
                  </a:lnTo>
                  <a:lnTo>
                    <a:pt x="115824" y="79248"/>
                  </a:lnTo>
                  <a:lnTo>
                    <a:pt x="139319" y="79248"/>
                  </a:lnTo>
                  <a:lnTo>
                    <a:pt x="139319" y="85598"/>
                  </a:lnTo>
                  <a:lnTo>
                    <a:pt x="209677" y="85598"/>
                  </a:lnTo>
                  <a:lnTo>
                    <a:pt x="209677" y="79248"/>
                  </a:lnTo>
                  <a:lnTo>
                    <a:pt x="233172" y="79248"/>
                  </a:lnTo>
                  <a:lnTo>
                    <a:pt x="233172" y="67818"/>
                  </a:lnTo>
                  <a:close/>
                </a:path>
              </a:pathLst>
            </a:custGeom>
            <a:solidFill>
              <a:srgbClr val="000000"/>
            </a:solidFill>
          </p:spPr>
          <p:txBody>
            <a:bodyPr wrap="square" lIns="0" tIns="0" rIns="0" bIns="0" rtlCol="0"/>
            <a:lstStyle/>
            <a:p>
              <a:endParaRPr/>
            </a:p>
          </p:txBody>
        </p:sp>
        <p:sp>
          <p:nvSpPr>
            <p:cNvPr id="108" name="object 108"/>
            <p:cNvSpPr/>
            <p:nvPr/>
          </p:nvSpPr>
          <p:spPr>
            <a:xfrm>
              <a:off x="6957059" y="4800600"/>
              <a:ext cx="22860" cy="17145"/>
            </a:xfrm>
            <a:custGeom>
              <a:avLst/>
              <a:gdLst/>
              <a:ahLst/>
              <a:cxnLst/>
              <a:rect l="l" t="t" r="r" b="b"/>
              <a:pathLst>
                <a:path w="22859" h="17145">
                  <a:moveTo>
                    <a:pt x="22859" y="0"/>
                  </a:moveTo>
                  <a:lnTo>
                    <a:pt x="0" y="0"/>
                  </a:lnTo>
                  <a:lnTo>
                    <a:pt x="0" y="16763"/>
                  </a:lnTo>
                  <a:lnTo>
                    <a:pt x="22859" y="16763"/>
                  </a:lnTo>
                  <a:lnTo>
                    <a:pt x="22859" y="0"/>
                  </a:lnTo>
                  <a:close/>
                </a:path>
              </a:pathLst>
            </a:custGeom>
            <a:solidFill>
              <a:srgbClr val="008000"/>
            </a:solidFill>
          </p:spPr>
          <p:txBody>
            <a:bodyPr wrap="square" lIns="0" tIns="0" rIns="0" bIns="0" rtlCol="0"/>
            <a:lstStyle/>
            <a:p>
              <a:endParaRPr/>
            </a:p>
          </p:txBody>
        </p:sp>
        <p:sp>
          <p:nvSpPr>
            <p:cNvPr id="109" name="object 109"/>
            <p:cNvSpPr/>
            <p:nvPr/>
          </p:nvSpPr>
          <p:spPr>
            <a:xfrm>
              <a:off x="6957059" y="4800600"/>
              <a:ext cx="12700" cy="9525"/>
            </a:xfrm>
            <a:custGeom>
              <a:avLst/>
              <a:gdLst/>
              <a:ahLst/>
              <a:cxnLst/>
              <a:rect l="l" t="t" r="r" b="b"/>
              <a:pathLst>
                <a:path w="12700" h="9525">
                  <a:moveTo>
                    <a:pt x="12192" y="0"/>
                  </a:moveTo>
                  <a:lnTo>
                    <a:pt x="0" y="0"/>
                  </a:lnTo>
                  <a:lnTo>
                    <a:pt x="0" y="9143"/>
                  </a:lnTo>
                  <a:lnTo>
                    <a:pt x="12192" y="9143"/>
                  </a:lnTo>
                  <a:lnTo>
                    <a:pt x="12192" y="0"/>
                  </a:lnTo>
                  <a:close/>
                </a:path>
              </a:pathLst>
            </a:custGeom>
            <a:solidFill>
              <a:srgbClr val="00FF00"/>
            </a:solidFill>
          </p:spPr>
          <p:txBody>
            <a:bodyPr wrap="square" lIns="0" tIns="0" rIns="0" bIns="0" rtlCol="0"/>
            <a:lstStyle/>
            <a:p>
              <a:endParaRPr/>
            </a:p>
          </p:txBody>
        </p:sp>
        <p:sp>
          <p:nvSpPr>
            <p:cNvPr id="110" name="object 110"/>
            <p:cNvSpPr/>
            <p:nvPr/>
          </p:nvSpPr>
          <p:spPr>
            <a:xfrm>
              <a:off x="6963155" y="4507992"/>
              <a:ext cx="326390" cy="230504"/>
            </a:xfrm>
            <a:custGeom>
              <a:avLst/>
              <a:gdLst/>
              <a:ahLst/>
              <a:cxnLst/>
              <a:rect l="l" t="t" r="r" b="b"/>
              <a:pathLst>
                <a:path w="326390" h="230504">
                  <a:moveTo>
                    <a:pt x="0" y="230123"/>
                  </a:moveTo>
                  <a:lnTo>
                    <a:pt x="326135" y="230123"/>
                  </a:lnTo>
                  <a:lnTo>
                    <a:pt x="326135" y="0"/>
                  </a:lnTo>
                  <a:lnTo>
                    <a:pt x="0" y="0"/>
                  </a:lnTo>
                  <a:lnTo>
                    <a:pt x="0" y="230123"/>
                  </a:lnTo>
                  <a:close/>
                </a:path>
              </a:pathLst>
            </a:custGeom>
            <a:ln w="9525">
              <a:solidFill>
                <a:srgbClr val="000000"/>
              </a:solidFill>
            </a:ln>
          </p:spPr>
          <p:txBody>
            <a:bodyPr wrap="square" lIns="0" tIns="0" rIns="0" bIns="0" rtlCol="0"/>
            <a:lstStyle/>
            <a:p>
              <a:endParaRPr/>
            </a:p>
          </p:txBody>
        </p:sp>
        <p:sp>
          <p:nvSpPr>
            <p:cNvPr id="111" name="object 111"/>
            <p:cNvSpPr/>
            <p:nvPr/>
          </p:nvSpPr>
          <p:spPr>
            <a:xfrm>
              <a:off x="6963156" y="4508499"/>
              <a:ext cx="326390" cy="229870"/>
            </a:xfrm>
            <a:custGeom>
              <a:avLst/>
              <a:gdLst/>
              <a:ahLst/>
              <a:cxnLst/>
              <a:rect l="l" t="t" r="r" b="b"/>
              <a:pathLst>
                <a:path w="326390" h="229870">
                  <a:moveTo>
                    <a:pt x="326136" y="0"/>
                  </a:moveTo>
                  <a:lnTo>
                    <a:pt x="0" y="0"/>
                  </a:lnTo>
                  <a:lnTo>
                    <a:pt x="0" y="11430"/>
                  </a:lnTo>
                  <a:lnTo>
                    <a:pt x="0" y="218440"/>
                  </a:lnTo>
                  <a:lnTo>
                    <a:pt x="0" y="229870"/>
                  </a:lnTo>
                  <a:lnTo>
                    <a:pt x="326136" y="229870"/>
                  </a:lnTo>
                  <a:lnTo>
                    <a:pt x="326136" y="218440"/>
                  </a:lnTo>
                  <a:lnTo>
                    <a:pt x="11684" y="218440"/>
                  </a:lnTo>
                  <a:lnTo>
                    <a:pt x="11684" y="11430"/>
                  </a:lnTo>
                  <a:lnTo>
                    <a:pt x="314452" y="11430"/>
                  </a:lnTo>
                  <a:lnTo>
                    <a:pt x="314452" y="217932"/>
                  </a:lnTo>
                  <a:lnTo>
                    <a:pt x="326136" y="217932"/>
                  </a:lnTo>
                  <a:lnTo>
                    <a:pt x="326136" y="11430"/>
                  </a:lnTo>
                  <a:lnTo>
                    <a:pt x="326136" y="11176"/>
                  </a:lnTo>
                  <a:lnTo>
                    <a:pt x="326136" y="0"/>
                  </a:lnTo>
                  <a:close/>
                </a:path>
              </a:pathLst>
            </a:custGeom>
            <a:solidFill>
              <a:srgbClr val="C0C0C0"/>
            </a:solidFill>
          </p:spPr>
          <p:txBody>
            <a:bodyPr wrap="square" lIns="0" tIns="0" rIns="0" bIns="0" rtlCol="0"/>
            <a:lstStyle/>
            <a:p>
              <a:endParaRPr/>
            </a:p>
          </p:txBody>
        </p:sp>
        <p:sp>
          <p:nvSpPr>
            <p:cNvPr id="112" name="object 112"/>
            <p:cNvSpPr/>
            <p:nvPr/>
          </p:nvSpPr>
          <p:spPr>
            <a:xfrm>
              <a:off x="6963155" y="4507992"/>
              <a:ext cx="302260" cy="205740"/>
            </a:xfrm>
            <a:custGeom>
              <a:avLst/>
              <a:gdLst/>
              <a:ahLst/>
              <a:cxnLst/>
              <a:rect l="l" t="t" r="r" b="b"/>
              <a:pathLst>
                <a:path w="302259" h="205739">
                  <a:moveTo>
                    <a:pt x="301751" y="0"/>
                  </a:moveTo>
                  <a:lnTo>
                    <a:pt x="0" y="0"/>
                  </a:lnTo>
                  <a:lnTo>
                    <a:pt x="0" y="205739"/>
                  </a:lnTo>
                  <a:lnTo>
                    <a:pt x="11557" y="194309"/>
                  </a:lnTo>
                  <a:lnTo>
                    <a:pt x="11557" y="11302"/>
                  </a:lnTo>
                  <a:lnTo>
                    <a:pt x="290195" y="11302"/>
                  </a:lnTo>
                  <a:lnTo>
                    <a:pt x="301751" y="0"/>
                  </a:lnTo>
                  <a:close/>
                </a:path>
              </a:pathLst>
            </a:custGeom>
            <a:solidFill>
              <a:srgbClr val="9A9A9A"/>
            </a:solidFill>
          </p:spPr>
          <p:txBody>
            <a:bodyPr wrap="square" lIns="0" tIns="0" rIns="0" bIns="0" rtlCol="0"/>
            <a:lstStyle/>
            <a:p>
              <a:endParaRPr/>
            </a:p>
          </p:txBody>
        </p:sp>
        <p:sp>
          <p:nvSpPr>
            <p:cNvPr id="113" name="object 113"/>
            <p:cNvSpPr/>
            <p:nvPr/>
          </p:nvSpPr>
          <p:spPr>
            <a:xfrm>
              <a:off x="6989064" y="4533900"/>
              <a:ext cx="281940" cy="180340"/>
            </a:xfrm>
            <a:custGeom>
              <a:avLst/>
              <a:gdLst/>
              <a:ahLst/>
              <a:cxnLst/>
              <a:rect l="l" t="t" r="r" b="b"/>
              <a:pathLst>
                <a:path w="281940" h="180339">
                  <a:moveTo>
                    <a:pt x="281940" y="0"/>
                  </a:moveTo>
                  <a:lnTo>
                    <a:pt x="0" y="0"/>
                  </a:lnTo>
                  <a:lnTo>
                    <a:pt x="0" y="179831"/>
                  </a:lnTo>
                  <a:lnTo>
                    <a:pt x="281940" y="179831"/>
                  </a:lnTo>
                  <a:lnTo>
                    <a:pt x="281940" y="0"/>
                  </a:lnTo>
                  <a:close/>
                </a:path>
              </a:pathLst>
            </a:custGeom>
            <a:solidFill>
              <a:srgbClr val="3366FF"/>
            </a:solidFill>
          </p:spPr>
          <p:txBody>
            <a:bodyPr wrap="square" lIns="0" tIns="0" rIns="0" bIns="0" rtlCol="0"/>
            <a:lstStyle/>
            <a:p>
              <a:endParaRPr/>
            </a:p>
          </p:txBody>
        </p:sp>
        <p:sp>
          <p:nvSpPr>
            <p:cNvPr id="114" name="object 114"/>
            <p:cNvSpPr/>
            <p:nvPr/>
          </p:nvSpPr>
          <p:spPr>
            <a:xfrm>
              <a:off x="6989064" y="4533900"/>
              <a:ext cx="1941830" cy="1066800"/>
            </a:xfrm>
            <a:custGeom>
              <a:avLst/>
              <a:gdLst/>
              <a:ahLst/>
              <a:cxnLst/>
              <a:rect l="l" t="t" r="r" b="b"/>
              <a:pathLst>
                <a:path w="1941829" h="1066800">
                  <a:moveTo>
                    <a:pt x="0" y="179831"/>
                  </a:moveTo>
                  <a:lnTo>
                    <a:pt x="281940" y="179831"/>
                  </a:lnTo>
                  <a:lnTo>
                    <a:pt x="281940" y="0"/>
                  </a:lnTo>
                  <a:lnTo>
                    <a:pt x="0" y="0"/>
                  </a:lnTo>
                  <a:lnTo>
                    <a:pt x="0" y="179831"/>
                  </a:lnTo>
                  <a:close/>
                </a:path>
                <a:path w="1941829" h="1066800">
                  <a:moveTo>
                    <a:pt x="1569719" y="1066800"/>
                  </a:moveTo>
                  <a:lnTo>
                    <a:pt x="1941575" y="1066800"/>
                  </a:lnTo>
                  <a:lnTo>
                    <a:pt x="1941575" y="963168"/>
                  </a:lnTo>
                  <a:lnTo>
                    <a:pt x="1569719" y="963168"/>
                  </a:lnTo>
                  <a:lnTo>
                    <a:pt x="1569719" y="1066800"/>
                  </a:lnTo>
                  <a:close/>
                </a:path>
              </a:pathLst>
            </a:custGeom>
            <a:ln w="9525">
              <a:solidFill>
                <a:srgbClr val="000000"/>
              </a:solidFill>
            </a:ln>
          </p:spPr>
          <p:txBody>
            <a:bodyPr wrap="square" lIns="0" tIns="0" rIns="0" bIns="0" rtlCol="0"/>
            <a:lstStyle/>
            <a:p>
              <a:endParaRPr/>
            </a:p>
          </p:txBody>
        </p:sp>
        <p:sp>
          <p:nvSpPr>
            <p:cNvPr id="115" name="object 115"/>
            <p:cNvSpPr/>
            <p:nvPr/>
          </p:nvSpPr>
          <p:spPr>
            <a:xfrm>
              <a:off x="8570976" y="5509259"/>
              <a:ext cx="349250" cy="79375"/>
            </a:xfrm>
            <a:custGeom>
              <a:avLst/>
              <a:gdLst/>
              <a:ahLst/>
              <a:cxnLst/>
              <a:rect l="l" t="t" r="r" b="b"/>
              <a:pathLst>
                <a:path w="349250" h="79375">
                  <a:moveTo>
                    <a:pt x="348996" y="0"/>
                  </a:moveTo>
                  <a:lnTo>
                    <a:pt x="0" y="0"/>
                  </a:lnTo>
                  <a:lnTo>
                    <a:pt x="0" y="79247"/>
                  </a:lnTo>
                  <a:lnTo>
                    <a:pt x="348996" y="79247"/>
                  </a:lnTo>
                  <a:lnTo>
                    <a:pt x="348996" y="0"/>
                  </a:lnTo>
                  <a:close/>
                </a:path>
              </a:pathLst>
            </a:custGeom>
            <a:solidFill>
              <a:srgbClr val="C0C0C0"/>
            </a:solidFill>
          </p:spPr>
          <p:txBody>
            <a:bodyPr wrap="square" lIns="0" tIns="0" rIns="0" bIns="0" rtlCol="0"/>
            <a:lstStyle/>
            <a:p>
              <a:endParaRPr/>
            </a:p>
          </p:txBody>
        </p:sp>
        <p:sp>
          <p:nvSpPr>
            <p:cNvPr id="116" name="object 116"/>
            <p:cNvSpPr/>
            <p:nvPr/>
          </p:nvSpPr>
          <p:spPr>
            <a:xfrm>
              <a:off x="8558783" y="5497067"/>
              <a:ext cx="372110" cy="104139"/>
            </a:xfrm>
            <a:custGeom>
              <a:avLst/>
              <a:gdLst/>
              <a:ahLst/>
              <a:cxnLst/>
              <a:rect l="l" t="t" r="r" b="b"/>
              <a:pathLst>
                <a:path w="372109" h="104139">
                  <a:moveTo>
                    <a:pt x="371856" y="0"/>
                  </a:moveTo>
                  <a:lnTo>
                    <a:pt x="360552" y="11683"/>
                  </a:lnTo>
                  <a:lnTo>
                    <a:pt x="360552" y="92138"/>
                  </a:lnTo>
                  <a:lnTo>
                    <a:pt x="11557" y="92138"/>
                  </a:lnTo>
                  <a:lnTo>
                    <a:pt x="0" y="103631"/>
                  </a:lnTo>
                  <a:lnTo>
                    <a:pt x="371856" y="103631"/>
                  </a:lnTo>
                  <a:lnTo>
                    <a:pt x="371856" y="0"/>
                  </a:lnTo>
                  <a:close/>
                </a:path>
              </a:pathLst>
            </a:custGeom>
            <a:solidFill>
              <a:srgbClr val="9A9A9A"/>
            </a:solidFill>
          </p:spPr>
          <p:txBody>
            <a:bodyPr wrap="square" lIns="0" tIns="0" rIns="0" bIns="0" rtlCol="0"/>
            <a:lstStyle/>
            <a:p>
              <a:endParaRPr/>
            </a:p>
          </p:txBody>
        </p:sp>
        <p:sp>
          <p:nvSpPr>
            <p:cNvPr id="117" name="object 117"/>
            <p:cNvSpPr/>
            <p:nvPr/>
          </p:nvSpPr>
          <p:spPr>
            <a:xfrm>
              <a:off x="8558783" y="5497067"/>
              <a:ext cx="372110" cy="104139"/>
            </a:xfrm>
            <a:custGeom>
              <a:avLst/>
              <a:gdLst/>
              <a:ahLst/>
              <a:cxnLst/>
              <a:rect l="l" t="t" r="r" b="b"/>
              <a:pathLst>
                <a:path w="372109" h="104139">
                  <a:moveTo>
                    <a:pt x="371856" y="0"/>
                  </a:moveTo>
                  <a:lnTo>
                    <a:pt x="0" y="0"/>
                  </a:lnTo>
                  <a:lnTo>
                    <a:pt x="0" y="103631"/>
                  </a:lnTo>
                  <a:lnTo>
                    <a:pt x="11557" y="92138"/>
                  </a:lnTo>
                  <a:lnTo>
                    <a:pt x="11557" y="11683"/>
                  </a:lnTo>
                  <a:lnTo>
                    <a:pt x="360552" y="11683"/>
                  </a:lnTo>
                  <a:lnTo>
                    <a:pt x="371856" y="0"/>
                  </a:lnTo>
                  <a:close/>
                </a:path>
              </a:pathLst>
            </a:custGeom>
            <a:solidFill>
              <a:srgbClr val="FFFFFF"/>
            </a:solidFill>
          </p:spPr>
          <p:txBody>
            <a:bodyPr wrap="square" lIns="0" tIns="0" rIns="0" bIns="0" rtlCol="0"/>
            <a:lstStyle/>
            <a:p>
              <a:endParaRPr/>
            </a:p>
          </p:txBody>
        </p:sp>
        <p:sp>
          <p:nvSpPr>
            <p:cNvPr id="118" name="object 118"/>
            <p:cNvSpPr/>
            <p:nvPr/>
          </p:nvSpPr>
          <p:spPr>
            <a:xfrm>
              <a:off x="8674608" y="5463539"/>
              <a:ext cx="233679" cy="85090"/>
            </a:xfrm>
            <a:custGeom>
              <a:avLst/>
              <a:gdLst/>
              <a:ahLst/>
              <a:cxnLst/>
              <a:rect l="l" t="t" r="r" b="b"/>
              <a:pathLst>
                <a:path w="233679" h="85089">
                  <a:moveTo>
                    <a:pt x="140195" y="0"/>
                  </a:moveTo>
                  <a:lnTo>
                    <a:pt x="0" y="0"/>
                  </a:lnTo>
                  <a:lnTo>
                    <a:pt x="0" y="24384"/>
                  </a:lnTo>
                  <a:lnTo>
                    <a:pt x="140195" y="24384"/>
                  </a:lnTo>
                  <a:lnTo>
                    <a:pt x="140195" y="0"/>
                  </a:lnTo>
                  <a:close/>
                </a:path>
                <a:path w="233679" h="85089">
                  <a:moveTo>
                    <a:pt x="233172" y="68580"/>
                  </a:moveTo>
                  <a:lnTo>
                    <a:pt x="210058" y="68580"/>
                  </a:lnTo>
                  <a:lnTo>
                    <a:pt x="210058" y="62230"/>
                  </a:lnTo>
                  <a:lnTo>
                    <a:pt x="140462" y="62230"/>
                  </a:lnTo>
                  <a:lnTo>
                    <a:pt x="140462" y="68580"/>
                  </a:lnTo>
                  <a:lnTo>
                    <a:pt x="117348" y="68580"/>
                  </a:lnTo>
                  <a:lnTo>
                    <a:pt x="117348" y="80010"/>
                  </a:lnTo>
                  <a:lnTo>
                    <a:pt x="140462" y="80010"/>
                  </a:lnTo>
                  <a:lnTo>
                    <a:pt x="140462" y="85090"/>
                  </a:lnTo>
                  <a:lnTo>
                    <a:pt x="210058" y="85090"/>
                  </a:lnTo>
                  <a:lnTo>
                    <a:pt x="210058" y="80010"/>
                  </a:lnTo>
                  <a:lnTo>
                    <a:pt x="233172" y="80010"/>
                  </a:lnTo>
                  <a:lnTo>
                    <a:pt x="233172" y="68580"/>
                  </a:lnTo>
                  <a:close/>
                </a:path>
              </a:pathLst>
            </a:custGeom>
            <a:solidFill>
              <a:srgbClr val="000000"/>
            </a:solidFill>
          </p:spPr>
          <p:txBody>
            <a:bodyPr wrap="square" lIns="0" tIns="0" rIns="0" bIns="0" rtlCol="0"/>
            <a:lstStyle/>
            <a:p>
              <a:endParaRPr/>
            </a:p>
          </p:txBody>
        </p:sp>
        <p:sp>
          <p:nvSpPr>
            <p:cNvPr id="119" name="object 119"/>
            <p:cNvSpPr/>
            <p:nvPr/>
          </p:nvSpPr>
          <p:spPr>
            <a:xfrm>
              <a:off x="8583167" y="5519928"/>
              <a:ext cx="22860" cy="18415"/>
            </a:xfrm>
            <a:custGeom>
              <a:avLst/>
              <a:gdLst/>
              <a:ahLst/>
              <a:cxnLst/>
              <a:rect l="l" t="t" r="r" b="b"/>
              <a:pathLst>
                <a:path w="22859" h="18414">
                  <a:moveTo>
                    <a:pt x="22859" y="0"/>
                  </a:moveTo>
                  <a:lnTo>
                    <a:pt x="0" y="0"/>
                  </a:lnTo>
                  <a:lnTo>
                    <a:pt x="0" y="18288"/>
                  </a:lnTo>
                  <a:lnTo>
                    <a:pt x="22859" y="18288"/>
                  </a:lnTo>
                  <a:lnTo>
                    <a:pt x="22859" y="0"/>
                  </a:lnTo>
                  <a:close/>
                </a:path>
              </a:pathLst>
            </a:custGeom>
            <a:solidFill>
              <a:srgbClr val="008000"/>
            </a:solidFill>
          </p:spPr>
          <p:txBody>
            <a:bodyPr wrap="square" lIns="0" tIns="0" rIns="0" bIns="0" rtlCol="0"/>
            <a:lstStyle/>
            <a:p>
              <a:endParaRPr/>
            </a:p>
          </p:txBody>
        </p:sp>
        <p:sp>
          <p:nvSpPr>
            <p:cNvPr id="120" name="object 120"/>
            <p:cNvSpPr/>
            <p:nvPr/>
          </p:nvSpPr>
          <p:spPr>
            <a:xfrm>
              <a:off x="8583167" y="5519928"/>
              <a:ext cx="10795" cy="9525"/>
            </a:xfrm>
            <a:custGeom>
              <a:avLst/>
              <a:gdLst/>
              <a:ahLst/>
              <a:cxnLst/>
              <a:rect l="l" t="t" r="r" b="b"/>
              <a:pathLst>
                <a:path w="10795" h="9525">
                  <a:moveTo>
                    <a:pt x="10668" y="0"/>
                  </a:moveTo>
                  <a:lnTo>
                    <a:pt x="0" y="0"/>
                  </a:lnTo>
                  <a:lnTo>
                    <a:pt x="0" y="9144"/>
                  </a:lnTo>
                  <a:lnTo>
                    <a:pt x="10668" y="9144"/>
                  </a:lnTo>
                  <a:lnTo>
                    <a:pt x="10668" y="0"/>
                  </a:lnTo>
                  <a:close/>
                </a:path>
              </a:pathLst>
            </a:custGeom>
            <a:solidFill>
              <a:srgbClr val="00FF00"/>
            </a:solidFill>
          </p:spPr>
          <p:txBody>
            <a:bodyPr wrap="square" lIns="0" tIns="0" rIns="0" bIns="0" rtlCol="0"/>
            <a:lstStyle/>
            <a:p>
              <a:endParaRPr/>
            </a:p>
          </p:txBody>
        </p:sp>
        <p:sp>
          <p:nvSpPr>
            <p:cNvPr id="121" name="object 121"/>
            <p:cNvSpPr/>
            <p:nvPr/>
          </p:nvSpPr>
          <p:spPr>
            <a:xfrm>
              <a:off x="8589264" y="5228844"/>
              <a:ext cx="325120" cy="228600"/>
            </a:xfrm>
            <a:custGeom>
              <a:avLst/>
              <a:gdLst/>
              <a:ahLst/>
              <a:cxnLst/>
              <a:rect l="l" t="t" r="r" b="b"/>
              <a:pathLst>
                <a:path w="325120" h="228600">
                  <a:moveTo>
                    <a:pt x="0" y="228599"/>
                  </a:moveTo>
                  <a:lnTo>
                    <a:pt x="324611" y="228599"/>
                  </a:lnTo>
                  <a:lnTo>
                    <a:pt x="324611" y="0"/>
                  </a:lnTo>
                  <a:lnTo>
                    <a:pt x="0" y="0"/>
                  </a:lnTo>
                  <a:lnTo>
                    <a:pt x="0" y="228599"/>
                  </a:lnTo>
                  <a:close/>
                </a:path>
              </a:pathLst>
            </a:custGeom>
            <a:ln w="9525">
              <a:solidFill>
                <a:srgbClr val="000000"/>
              </a:solidFill>
            </a:ln>
          </p:spPr>
          <p:txBody>
            <a:bodyPr wrap="square" lIns="0" tIns="0" rIns="0" bIns="0" rtlCol="0"/>
            <a:lstStyle/>
            <a:p>
              <a:endParaRPr/>
            </a:p>
          </p:txBody>
        </p:sp>
        <p:sp>
          <p:nvSpPr>
            <p:cNvPr id="122" name="object 122"/>
            <p:cNvSpPr/>
            <p:nvPr/>
          </p:nvSpPr>
          <p:spPr>
            <a:xfrm>
              <a:off x="8589264" y="5228589"/>
              <a:ext cx="325120" cy="228600"/>
            </a:xfrm>
            <a:custGeom>
              <a:avLst/>
              <a:gdLst/>
              <a:ahLst/>
              <a:cxnLst/>
              <a:rect l="l" t="t" r="r" b="b"/>
              <a:pathLst>
                <a:path w="325120" h="228600">
                  <a:moveTo>
                    <a:pt x="324612" y="0"/>
                  </a:moveTo>
                  <a:lnTo>
                    <a:pt x="0" y="0"/>
                  </a:lnTo>
                  <a:lnTo>
                    <a:pt x="0" y="11430"/>
                  </a:lnTo>
                  <a:lnTo>
                    <a:pt x="0" y="217170"/>
                  </a:lnTo>
                  <a:lnTo>
                    <a:pt x="0" y="228600"/>
                  </a:lnTo>
                  <a:lnTo>
                    <a:pt x="324612" y="228600"/>
                  </a:lnTo>
                  <a:lnTo>
                    <a:pt x="324612" y="217297"/>
                  </a:lnTo>
                  <a:lnTo>
                    <a:pt x="324612" y="217170"/>
                  </a:lnTo>
                  <a:lnTo>
                    <a:pt x="324612" y="11811"/>
                  </a:lnTo>
                  <a:lnTo>
                    <a:pt x="312928" y="11811"/>
                  </a:lnTo>
                  <a:lnTo>
                    <a:pt x="312928" y="217170"/>
                  </a:lnTo>
                  <a:lnTo>
                    <a:pt x="11684" y="217170"/>
                  </a:lnTo>
                  <a:lnTo>
                    <a:pt x="11684" y="11430"/>
                  </a:lnTo>
                  <a:lnTo>
                    <a:pt x="324612" y="11430"/>
                  </a:lnTo>
                  <a:lnTo>
                    <a:pt x="324612" y="0"/>
                  </a:lnTo>
                  <a:close/>
                </a:path>
              </a:pathLst>
            </a:custGeom>
            <a:solidFill>
              <a:srgbClr val="C0C0C0"/>
            </a:solidFill>
          </p:spPr>
          <p:txBody>
            <a:bodyPr wrap="square" lIns="0" tIns="0" rIns="0" bIns="0" rtlCol="0"/>
            <a:lstStyle/>
            <a:p>
              <a:endParaRPr/>
            </a:p>
          </p:txBody>
        </p:sp>
        <p:sp>
          <p:nvSpPr>
            <p:cNvPr id="123" name="object 123"/>
            <p:cNvSpPr/>
            <p:nvPr/>
          </p:nvSpPr>
          <p:spPr>
            <a:xfrm>
              <a:off x="8589264" y="5228844"/>
              <a:ext cx="302260" cy="204470"/>
            </a:xfrm>
            <a:custGeom>
              <a:avLst/>
              <a:gdLst/>
              <a:ahLst/>
              <a:cxnLst/>
              <a:rect l="l" t="t" r="r" b="b"/>
              <a:pathLst>
                <a:path w="302259" h="204470">
                  <a:moveTo>
                    <a:pt x="301751" y="0"/>
                  </a:moveTo>
                  <a:lnTo>
                    <a:pt x="0" y="0"/>
                  </a:lnTo>
                  <a:lnTo>
                    <a:pt x="0" y="204215"/>
                  </a:lnTo>
                  <a:lnTo>
                    <a:pt x="11556" y="192912"/>
                  </a:lnTo>
                  <a:lnTo>
                    <a:pt x="11556" y="11175"/>
                  </a:lnTo>
                  <a:lnTo>
                    <a:pt x="290194" y="11175"/>
                  </a:lnTo>
                  <a:lnTo>
                    <a:pt x="301751" y="0"/>
                  </a:lnTo>
                  <a:close/>
                </a:path>
              </a:pathLst>
            </a:custGeom>
            <a:solidFill>
              <a:srgbClr val="9A9A9A"/>
            </a:solidFill>
          </p:spPr>
          <p:txBody>
            <a:bodyPr wrap="square" lIns="0" tIns="0" rIns="0" bIns="0" rtlCol="0"/>
            <a:lstStyle/>
            <a:p>
              <a:endParaRPr/>
            </a:p>
          </p:txBody>
        </p:sp>
        <p:sp>
          <p:nvSpPr>
            <p:cNvPr id="124" name="object 124"/>
            <p:cNvSpPr/>
            <p:nvPr/>
          </p:nvSpPr>
          <p:spPr>
            <a:xfrm>
              <a:off x="8613648" y="5253227"/>
              <a:ext cx="281940" cy="180340"/>
            </a:xfrm>
            <a:custGeom>
              <a:avLst/>
              <a:gdLst/>
              <a:ahLst/>
              <a:cxnLst/>
              <a:rect l="l" t="t" r="r" b="b"/>
              <a:pathLst>
                <a:path w="281940" h="180339">
                  <a:moveTo>
                    <a:pt x="281940" y="0"/>
                  </a:moveTo>
                  <a:lnTo>
                    <a:pt x="0" y="0"/>
                  </a:lnTo>
                  <a:lnTo>
                    <a:pt x="0" y="179832"/>
                  </a:lnTo>
                  <a:lnTo>
                    <a:pt x="281940" y="179832"/>
                  </a:lnTo>
                  <a:lnTo>
                    <a:pt x="281940" y="0"/>
                  </a:lnTo>
                  <a:close/>
                </a:path>
              </a:pathLst>
            </a:custGeom>
            <a:solidFill>
              <a:srgbClr val="3366FF"/>
            </a:solidFill>
          </p:spPr>
          <p:txBody>
            <a:bodyPr wrap="square" lIns="0" tIns="0" rIns="0" bIns="0" rtlCol="0"/>
            <a:lstStyle/>
            <a:p>
              <a:endParaRPr/>
            </a:p>
          </p:txBody>
        </p:sp>
        <p:sp>
          <p:nvSpPr>
            <p:cNvPr id="125" name="object 125"/>
            <p:cNvSpPr/>
            <p:nvPr/>
          </p:nvSpPr>
          <p:spPr>
            <a:xfrm>
              <a:off x="8584691" y="4765548"/>
              <a:ext cx="372110" cy="668020"/>
            </a:xfrm>
            <a:custGeom>
              <a:avLst/>
              <a:gdLst/>
              <a:ahLst/>
              <a:cxnLst/>
              <a:rect l="l" t="t" r="r" b="b"/>
              <a:pathLst>
                <a:path w="372109" h="668020">
                  <a:moveTo>
                    <a:pt x="28955" y="667511"/>
                  </a:moveTo>
                  <a:lnTo>
                    <a:pt x="310896" y="667511"/>
                  </a:lnTo>
                  <a:lnTo>
                    <a:pt x="310896" y="487679"/>
                  </a:lnTo>
                  <a:lnTo>
                    <a:pt x="28955" y="487679"/>
                  </a:lnTo>
                  <a:lnTo>
                    <a:pt x="28955" y="667511"/>
                  </a:lnTo>
                  <a:close/>
                </a:path>
                <a:path w="372109" h="668020">
                  <a:moveTo>
                    <a:pt x="0" y="102107"/>
                  </a:moveTo>
                  <a:lnTo>
                    <a:pt x="371855" y="102107"/>
                  </a:lnTo>
                  <a:lnTo>
                    <a:pt x="371855" y="0"/>
                  </a:lnTo>
                  <a:lnTo>
                    <a:pt x="0" y="0"/>
                  </a:lnTo>
                  <a:lnTo>
                    <a:pt x="0" y="102107"/>
                  </a:lnTo>
                  <a:close/>
                </a:path>
              </a:pathLst>
            </a:custGeom>
            <a:ln w="9525">
              <a:solidFill>
                <a:srgbClr val="000000"/>
              </a:solidFill>
            </a:ln>
          </p:spPr>
          <p:txBody>
            <a:bodyPr wrap="square" lIns="0" tIns="0" rIns="0" bIns="0" rtlCol="0"/>
            <a:lstStyle/>
            <a:p>
              <a:endParaRPr/>
            </a:p>
          </p:txBody>
        </p:sp>
        <p:sp>
          <p:nvSpPr>
            <p:cNvPr id="126" name="object 126"/>
            <p:cNvSpPr/>
            <p:nvPr/>
          </p:nvSpPr>
          <p:spPr>
            <a:xfrm>
              <a:off x="8596883" y="4776216"/>
              <a:ext cx="349250" cy="81280"/>
            </a:xfrm>
            <a:custGeom>
              <a:avLst/>
              <a:gdLst/>
              <a:ahLst/>
              <a:cxnLst/>
              <a:rect l="l" t="t" r="r" b="b"/>
              <a:pathLst>
                <a:path w="349250" h="81279">
                  <a:moveTo>
                    <a:pt x="348996" y="0"/>
                  </a:moveTo>
                  <a:lnTo>
                    <a:pt x="0" y="0"/>
                  </a:lnTo>
                  <a:lnTo>
                    <a:pt x="0" y="80772"/>
                  </a:lnTo>
                  <a:lnTo>
                    <a:pt x="348996" y="80772"/>
                  </a:lnTo>
                  <a:lnTo>
                    <a:pt x="348996" y="0"/>
                  </a:lnTo>
                  <a:close/>
                </a:path>
              </a:pathLst>
            </a:custGeom>
            <a:solidFill>
              <a:srgbClr val="C0C0C0"/>
            </a:solidFill>
          </p:spPr>
          <p:txBody>
            <a:bodyPr wrap="square" lIns="0" tIns="0" rIns="0" bIns="0" rtlCol="0"/>
            <a:lstStyle/>
            <a:p>
              <a:endParaRPr/>
            </a:p>
          </p:txBody>
        </p:sp>
        <p:sp>
          <p:nvSpPr>
            <p:cNvPr id="127" name="object 127"/>
            <p:cNvSpPr/>
            <p:nvPr/>
          </p:nvSpPr>
          <p:spPr>
            <a:xfrm>
              <a:off x="8584691" y="4765548"/>
              <a:ext cx="372110" cy="102235"/>
            </a:xfrm>
            <a:custGeom>
              <a:avLst/>
              <a:gdLst/>
              <a:ahLst/>
              <a:cxnLst/>
              <a:rect l="l" t="t" r="r" b="b"/>
              <a:pathLst>
                <a:path w="372109" h="102235">
                  <a:moveTo>
                    <a:pt x="371855" y="0"/>
                  </a:moveTo>
                  <a:lnTo>
                    <a:pt x="360552" y="11556"/>
                  </a:lnTo>
                  <a:lnTo>
                    <a:pt x="360552" y="90804"/>
                  </a:lnTo>
                  <a:lnTo>
                    <a:pt x="11556" y="90804"/>
                  </a:lnTo>
                  <a:lnTo>
                    <a:pt x="0" y="102107"/>
                  </a:lnTo>
                  <a:lnTo>
                    <a:pt x="371855" y="102107"/>
                  </a:lnTo>
                  <a:lnTo>
                    <a:pt x="371855" y="0"/>
                  </a:lnTo>
                  <a:close/>
                </a:path>
              </a:pathLst>
            </a:custGeom>
            <a:solidFill>
              <a:srgbClr val="9A9A9A"/>
            </a:solidFill>
          </p:spPr>
          <p:txBody>
            <a:bodyPr wrap="square" lIns="0" tIns="0" rIns="0" bIns="0" rtlCol="0"/>
            <a:lstStyle/>
            <a:p>
              <a:endParaRPr/>
            </a:p>
          </p:txBody>
        </p:sp>
        <p:sp>
          <p:nvSpPr>
            <p:cNvPr id="128" name="object 128"/>
            <p:cNvSpPr/>
            <p:nvPr/>
          </p:nvSpPr>
          <p:spPr>
            <a:xfrm>
              <a:off x="8584691" y="4765548"/>
              <a:ext cx="372110" cy="102235"/>
            </a:xfrm>
            <a:custGeom>
              <a:avLst/>
              <a:gdLst/>
              <a:ahLst/>
              <a:cxnLst/>
              <a:rect l="l" t="t" r="r" b="b"/>
              <a:pathLst>
                <a:path w="372109" h="102235">
                  <a:moveTo>
                    <a:pt x="371855" y="0"/>
                  </a:moveTo>
                  <a:lnTo>
                    <a:pt x="0" y="0"/>
                  </a:lnTo>
                  <a:lnTo>
                    <a:pt x="0" y="102107"/>
                  </a:lnTo>
                  <a:lnTo>
                    <a:pt x="11556" y="90804"/>
                  </a:lnTo>
                  <a:lnTo>
                    <a:pt x="11556" y="11556"/>
                  </a:lnTo>
                  <a:lnTo>
                    <a:pt x="360552" y="11556"/>
                  </a:lnTo>
                  <a:lnTo>
                    <a:pt x="371855" y="0"/>
                  </a:lnTo>
                  <a:close/>
                </a:path>
              </a:pathLst>
            </a:custGeom>
            <a:solidFill>
              <a:srgbClr val="FFFFFF"/>
            </a:solidFill>
          </p:spPr>
          <p:txBody>
            <a:bodyPr wrap="square" lIns="0" tIns="0" rIns="0" bIns="0" rtlCol="0"/>
            <a:lstStyle/>
            <a:p>
              <a:endParaRPr/>
            </a:p>
          </p:txBody>
        </p:sp>
        <p:sp>
          <p:nvSpPr>
            <p:cNvPr id="129" name="object 129"/>
            <p:cNvSpPr/>
            <p:nvPr/>
          </p:nvSpPr>
          <p:spPr>
            <a:xfrm>
              <a:off x="8700516" y="4732019"/>
              <a:ext cx="233679" cy="83820"/>
            </a:xfrm>
            <a:custGeom>
              <a:avLst/>
              <a:gdLst/>
              <a:ahLst/>
              <a:cxnLst/>
              <a:rect l="l" t="t" r="r" b="b"/>
              <a:pathLst>
                <a:path w="233679" h="83820">
                  <a:moveTo>
                    <a:pt x="140208" y="0"/>
                  </a:moveTo>
                  <a:lnTo>
                    <a:pt x="0" y="0"/>
                  </a:lnTo>
                  <a:lnTo>
                    <a:pt x="0" y="22860"/>
                  </a:lnTo>
                  <a:lnTo>
                    <a:pt x="140208" y="22860"/>
                  </a:lnTo>
                  <a:lnTo>
                    <a:pt x="140208" y="0"/>
                  </a:lnTo>
                  <a:close/>
                </a:path>
                <a:path w="233679" h="83820">
                  <a:moveTo>
                    <a:pt x="233172" y="67310"/>
                  </a:moveTo>
                  <a:lnTo>
                    <a:pt x="209677" y="67310"/>
                  </a:lnTo>
                  <a:lnTo>
                    <a:pt x="209677" y="62230"/>
                  </a:lnTo>
                  <a:lnTo>
                    <a:pt x="139319" y="62230"/>
                  </a:lnTo>
                  <a:lnTo>
                    <a:pt x="139319" y="67310"/>
                  </a:lnTo>
                  <a:lnTo>
                    <a:pt x="115824" y="67310"/>
                  </a:lnTo>
                  <a:lnTo>
                    <a:pt x="115824" y="78740"/>
                  </a:lnTo>
                  <a:lnTo>
                    <a:pt x="139319" y="78740"/>
                  </a:lnTo>
                  <a:lnTo>
                    <a:pt x="139319" y="83820"/>
                  </a:lnTo>
                  <a:lnTo>
                    <a:pt x="209677" y="83820"/>
                  </a:lnTo>
                  <a:lnTo>
                    <a:pt x="209677" y="78740"/>
                  </a:lnTo>
                  <a:lnTo>
                    <a:pt x="233172" y="78740"/>
                  </a:lnTo>
                  <a:lnTo>
                    <a:pt x="233172" y="67310"/>
                  </a:lnTo>
                  <a:close/>
                </a:path>
              </a:pathLst>
            </a:custGeom>
            <a:solidFill>
              <a:srgbClr val="000000"/>
            </a:solidFill>
          </p:spPr>
          <p:txBody>
            <a:bodyPr wrap="square" lIns="0" tIns="0" rIns="0" bIns="0" rtlCol="0"/>
            <a:lstStyle/>
            <a:p>
              <a:endParaRPr/>
            </a:p>
          </p:txBody>
        </p:sp>
        <p:sp>
          <p:nvSpPr>
            <p:cNvPr id="130" name="object 130"/>
            <p:cNvSpPr/>
            <p:nvPr/>
          </p:nvSpPr>
          <p:spPr>
            <a:xfrm>
              <a:off x="8607552" y="4788407"/>
              <a:ext cx="22860" cy="17145"/>
            </a:xfrm>
            <a:custGeom>
              <a:avLst/>
              <a:gdLst/>
              <a:ahLst/>
              <a:cxnLst/>
              <a:rect l="l" t="t" r="r" b="b"/>
              <a:pathLst>
                <a:path w="22859" h="17145">
                  <a:moveTo>
                    <a:pt x="22859" y="0"/>
                  </a:moveTo>
                  <a:lnTo>
                    <a:pt x="0" y="0"/>
                  </a:lnTo>
                  <a:lnTo>
                    <a:pt x="0" y="16763"/>
                  </a:lnTo>
                  <a:lnTo>
                    <a:pt x="22859" y="16763"/>
                  </a:lnTo>
                  <a:lnTo>
                    <a:pt x="22859" y="0"/>
                  </a:lnTo>
                  <a:close/>
                </a:path>
              </a:pathLst>
            </a:custGeom>
            <a:solidFill>
              <a:srgbClr val="008000"/>
            </a:solidFill>
          </p:spPr>
          <p:txBody>
            <a:bodyPr wrap="square" lIns="0" tIns="0" rIns="0" bIns="0" rtlCol="0"/>
            <a:lstStyle/>
            <a:p>
              <a:endParaRPr/>
            </a:p>
          </p:txBody>
        </p:sp>
        <p:sp>
          <p:nvSpPr>
            <p:cNvPr id="131" name="object 131"/>
            <p:cNvSpPr/>
            <p:nvPr/>
          </p:nvSpPr>
          <p:spPr>
            <a:xfrm>
              <a:off x="8607552" y="4788407"/>
              <a:ext cx="12700" cy="7620"/>
            </a:xfrm>
            <a:custGeom>
              <a:avLst/>
              <a:gdLst/>
              <a:ahLst/>
              <a:cxnLst/>
              <a:rect l="l" t="t" r="r" b="b"/>
              <a:pathLst>
                <a:path w="12700" h="7620">
                  <a:moveTo>
                    <a:pt x="12192" y="0"/>
                  </a:moveTo>
                  <a:lnTo>
                    <a:pt x="0" y="0"/>
                  </a:lnTo>
                  <a:lnTo>
                    <a:pt x="0" y="7620"/>
                  </a:lnTo>
                  <a:lnTo>
                    <a:pt x="12192" y="7620"/>
                  </a:lnTo>
                  <a:lnTo>
                    <a:pt x="12192" y="0"/>
                  </a:lnTo>
                  <a:close/>
                </a:path>
              </a:pathLst>
            </a:custGeom>
            <a:solidFill>
              <a:srgbClr val="00FF00"/>
            </a:solidFill>
          </p:spPr>
          <p:txBody>
            <a:bodyPr wrap="square" lIns="0" tIns="0" rIns="0" bIns="0" rtlCol="0"/>
            <a:lstStyle/>
            <a:p>
              <a:endParaRPr/>
            </a:p>
          </p:txBody>
        </p:sp>
        <p:sp>
          <p:nvSpPr>
            <p:cNvPr id="132" name="object 132"/>
            <p:cNvSpPr/>
            <p:nvPr/>
          </p:nvSpPr>
          <p:spPr>
            <a:xfrm>
              <a:off x="8613648" y="4495800"/>
              <a:ext cx="326390" cy="228600"/>
            </a:xfrm>
            <a:custGeom>
              <a:avLst/>
              <a:gdLst/>
              <a:ahLst/>
              <a:cxnLst/>
              <a:rect l="l" t="t" r="r" b="b"/>
              <a:pathLst>
                <a:path w="326390" h="228600">
                  <a:moveTo>
                    <a:pt x="0" y="228600"/>
                  </a:moveTo>
                  <a:lnTo>
                    <a:pt x="326135" y="228600"/>
                  </a:lnTo>
                  <a:lnTo>
                    <a:pt x="326135" y="0"/>
                  </a:lnTo>
                  <a:lnTo>
                    <a:pt x="0" y="0"/>
                  </a:lnTo>
                  <a:lnTo>
                    <a:pt x="0" y="228600"/>
                  </a:lnTo>
                  <a:close/>
                </a:path>
              </a:pathLst>
            </a:custGeom>
            <a:ln w="9525">
              <a:solidFill>
                <a:srgbClr val="000000"/>
              </a:solidFill>
            </a:ln>
          </p:spPr>
          <p:txBody>
            <a:bodyPr wrap="square" lIns="0" tIns="0" rIns="0" bIns="0" rtlCol="0"/>
            <a:lstStyle/>
            <a:p>
              <a:endParaRPr/>
            </a:p>
          </p:txBody>
        </p:sp>
        <p:sp>
          <p:nvSpPr>
            <p:cNvPr id="133" name="object 133"/>
            <p:cNvSpPr/>
            <p:nvPr/>
          </p:nvSpPr>
          <p:spPr>
            <a:xfrm>
              <a:off x="8613648" y="4495799"/>
              <a:ext cx="326390" cy="228600"/>
            </a:xfrm>
            <a:custGeom>
              <a:avLst/>
              <a:gdLst/>
              <a:ahLst/>
              <a:cxnLst/>
              <a:rect l="l" t="t" r="r" b="b"/>
              <a:pathLst>
                <a:path w="326390" h="228600">
                  <a:moveTo>
                    <a:pt x="326136" y="11557"/>
                  </a:moveTo>
                  <a:lnTo>
                    <a:pt x="314452" y="11557"/>
                  </a:lnTo>
                  <a:lnTo>
                    <a:pt x="314452" y="217043"/>
                  </a:lnTo>
                  <a:lnTo>
                    <a:pt x="326136" y="217043"/>
                  </a:lnTo>
                  <a:lnTo>
                    <a:pt x="326136" y="11557"/>
                  </a:lnTo>
                  <a:close/>
                </a:path>
                <a:path w="326390" h="228600">
                  <a:moveTo>
                    <a:pt x="326136" y="0"/>
                  </a:moveTo>
                  <a:lnTo>
                    <a:pt x="0" y="0"/>
                  </a:lnTo>
                  <a:lnTo>
                    <a:pt x="0" y="11430"/>
                  </a:lnTo>
                  <a:lnTo>
                    <a:pt x="0" y="217170"/>
                  </a:lnTo>
                  <a:lnTo>
                    <a:pt x="0" y="228600"/>
                  </a:lnTo>
                  <a:lnTo>
                    <a:pt x="326136" y="228600"/>
                  </a:lnTo>
                  <a:lnTo>
                    <a:pt x="326136" y="217170"/>
                  </a:lnTo>
                  <a:lnTo>
                    <a:pt x="11684" y="217170"/>
                  </a:lnTo>
                  <a:lnTo>
                    <a:pt x="11684" y="11430"/>
                  </a:lnTo>
                  <a:lnTo>
                    <a:pt x="326136" y="11430"/>
                  </a:lnTo>
                  <a:lnTo>
                    <a:pt x="326136" y="0"/>
                  </a:lnTo>
                  <a:close/>
                </a:path>
              </a:pathLst>
            </a:custGeom>
            <a:solidFill>
              <a:srgbClr val="C0C0C0"/>
            </a:solidFill>
          </p:spPr>
          <p:txBody>
            <a:bodyPr wrap="square" lIns="0" tIns="0" rIns="0" bIns="0" rtlCol="0"/>
            <a:lstStyle/>
            <a:p>
              <a:endParaRPr/>
            </a:p>
          </p:txBody>
        </p:sp>
        <p:sp>
          <p:nvSpPr>
            <p:cNvPr id="134" name="object 134"/>
            <p:cNvSpPr/>
            <p:nvPr/>
          </p:nvSpPr>
          <p:spPr>
            <a:xfrm>
              <a:off x="8613648" y="4495800"/>
              <a:ext cx="303530" cy="205740"/>
            </a:xfrm>
            <a:custGeom>
              <a:avLst/>
              <a:gdLst/>
              <a:ahLst/>
              <a:cxnLst/>
              <a:rect l="l" t="t" r="r" b="b"/>
              <a:pathLst>
                <a:path w="303529" h="205739">
                  <a:moveTo>
                    <a:pt x="303275" y="0"/>
                  </a:moveTo>
                  <a:lnTo>
                    <a:pt x="0" y="0"/>
                  </a:lnTo>
                  <a:lnTo>
                    <a:pt x="0" y="205739"/>
                  </a:lnTo>
                  <a:lnTo>
                    <a:pt x="11556" y="194310"/>
                  </a:lnTo>
                  <a:lnTo>
                    <a:pt x="11556" y="11302"/>
                  </a:lnTo>
                  <a:lnTo>
                    <a:pt x="291719" y="11302"/>
                  </a:lnTo>
                  <a:lnTo>
                    <a:pt x="303275" y="0"/>
                  </a:lnTo>
                  <a:close/>
                </a:path>
              </a:pathLst>
            </a:custGeom>
            <a:solidFill>
              <a:srgbClr val="9A9A9A"/>
            </a:solidFill>
          </p:spPr>
          <p:txBody>
            <a:bodyPr wrap="square" lIns="0" tIns="0" rIns="0" bIns="0" rtlCol="0"/>
            <a:lstStyle/>
            <a:p>
              <a:endParaRPr/>
            </a:p>
          </p:txBody>
        </p:sp>
        <p:sp>
          <p:nvSpPr>
            <p:cNvPr id="135" name="object 135"/>
            <p:cNvSpPr/>
            <p:nvPr/>
          </p:nvSpPr>
          <p:spPr>
            <a:xfrm>
              <a:off x="8639555" y="4521707"/>
              <a:ext cx="281940" cy="180340"/>
            </a:xfrm>
            <a:custGeom>
              <a:avLst/>
              <a:gdLst/>
              <a:ahLst/>
              <a:cxnLst/>
              <a:rect l="l" t="t" r="r" b="b"/>
              <a:pathLst>
                <a:path w="281940" h="180339">
                  <a:moveTo>
                    <a:pt x="281940" y="0"/>
                  </a:moveTo>
                  <a:lnTo>
                    <a:pt x="0" y="0"/>
                  </a:lnTo>
                  <a:lnTo>
                    <a:pt x="0" y="179832"/>
                  </a:lnTo>
                  <a:lnTo>
                    <a:pt x="281940" y="179832"/>
                  </a:lnTo>
                  <a:lnTo>
                    <a:pt x="281940" y="0"/>
                  </a:lnTo>
                  <a:close/>
                </a:path>
              </a:pathLst>
            </a:custGeom>
            <a:solidFill>
              <a:srgbClr val="3366FF"/>
            </a:solidFill>
          </p:spPr>
          <p:txBody>
            <a:bodyPr wrap="square" lIns="0" tIns="0" rIns="0" bIns="0" rtlCol="0"/>
            <a:lstStyle/>
            <a:p>
              <a:endParaRPr/>
            </a:p>
          </p:txBody>
        </p:sp>
        <p:sp>
          <p:nvSpPr>
            <p:cNvPr id="136" name="object 136"/>
            <p:cNvSpPr/>
            <p:nvPr/>
          </p:nvSpPr>
          <p:spPr>
            <a:xfrm>
              <a:off x="6973824" y="4521707"/>
              <a:ext cx="1948180" cy="1079500"/>
            </a:xfrm>
            <a:custGeom>
              <a:avLst/>
              <a:gdLst/>
              <a:ahLst/>
              <a:cxnLst/>
              <a:rect l="l" t="t" r="r" b="b"/>
              <a:pathLst>
                <a:path w="1948179" h="1079500">
                  <a:moveTo>
                    <a:pt x="1665731" y="179832"/>
                  </a:moveTo>
                  <a:lnTo>
                    <a:pt x="1947672" y="179832"/>
                  </a:lnTo>
                  <a:lnTo>
                    <a:pt x="1947672" y="0"/>
                  </a:lnTo>
                  <a:lnTo>
                    <a:pt x="1665731" y="0"/>
                  </a:lnTo>
                  <a:lnTo>
                    <a:pt x="1665731" y="179832"/>
                  </a:lnTo>
                  <a:close/>
                </a:path>
                <a:path w="1948179" h="1079500">
                  <a:moveTo>
                    <a:pt x="0" y="1078992"/>
                  </a:moveTo>
                  <a:lnTo>
                    <a:pt x="371855" y="1078992"/>
                  </a:lnTo>
                  <a:lnTo>
                    <a:pt x="371855" y="975360"/>
                  </a:lnTo>
                  <a:lnTo>
                    <a:pt x="0" y="975360"/>
                  </a:lnTo>
                  <a:lnTo>
                    <a:pt x="0" y="1078992"/>
                  </a:lnTo>
                  <a:close/>
                </a:path>
              </a:pathLst>
            </a:custGeom>
            <a:ln w="9525">
              <a:solidFill>
                <a:srgbClr val="000000"/>
              </a:solidFill>
            </a:ln>
          </p:spPr>
          <p:txBody>
            <a:bodyPr wrap="square" lIns="0" tIns="0" rIns="0" bIns="0" rtlCol="0"/>
            <a:lstStyle/>
            <a:p>
              <a:endParaRPr/>
            </a:p>
          </p:txBody>
        </p:sp>
        <p:sp>
          <p:nvSpPr>
            <p:cNvPr id="137" name="object 137"/>
            <p:cNvSpPr/>
            <p:nvPr/>
          </p:nvSpPr>
          <p:spPr>
            <a:xfrm>
              <a:off x="6986016" y="5509259"/>
              <a:ext cx="349250" cy="79375"/>
            </a:xfrm>
            <a:custGeom>
              <a:avLst/>
              <a:gdLst/>
              <a:ahLst/>
              <a:cxnLst/>
              <a:rect l="l" t="t" r="r" b="b"/>
              <a:pathLst>
                <a:path w="349250" h="79375">
                  <a:moveTo>
                    <a:pt x="348996" y="0"/>
                  </a:moveTo>
                  <a:lnTo>
                    <a:pt x="0" y="0"/>
                  </a:lnTo>
                  <a:lnTo>
                    <a:pt x="0" y="79247"/>
                  </a:lnTo>
                  <a:lnTo>
                    <a:pt x="348996" y="79247"/>
                  </a:lnTo>
                  <a:lnTo>
                    <a:pt x="348996" y="0"/>
                  </a:lnTo>
                  <a:close/>
                </a:path>
              </a:pathLst>
            </a:custGeom>
            <a:solidFill>
              <a:srgbClr val="C0C0C0"/>
            </a:solidFill>
          </p:spPr>
          <p:txBody>
            <a:bodyPr wrap="square" lIns="0" tIns="0" rIns="0" bIns="0" rtlCol="0"/>
            <a:lstStyle/>
            <a:p>
              <a:endParaRPr/>
            </a:p>
          </p:txBody>
        </p:sp>
        <p:sp>
          <p:nvSpPr>
            <p:cNvPr id="138" name="object 138"/>
            <p:cNvSpPr/>
            <p:nvPr/>
          </p:nvSpPr>
          <p:spPr>
            <a:xfrm>
              <a:off x="6973824" y="5497067"/>
              <a:ext cx="372110" cy="104139"/>
            </a:xfrm>
            <a:custGeom>
              <a:avLst/>
              <a:gdLst/>
              <a:ahLst/>
              <a:cxnLst/>
              <a:rect l="l" t="t" r="r" b="b"/>
              <a:pathLst>
                <a:path w="372109" h="104139">
                  <a:moveTo>
                    <a:pt x="371855" y="0"/>
                  </a:moveTo>
                  <a:lnTo>
                    <a:pt x="360552" y="11683"/>
                  </a:lnTo>
                  <a:lnTo>
                    <a:pt x="360552" y="92138"/>
                  </a:lnTo>
                  <a:lnTo>
                    <a:pt x="11556" y="92138"/>
                  </a:lnTo>
                  <a:lnTo>
                    <a:pt x="0" y="103631"/>
                  </a:lnTo>
                  <a:lnTo>
                    <a:pt x="371855" y="103631"/>
                  </a:lnTo>
                  <a:lnTo>
                    <a:pt x="371855" y="0"/>
                  </a:lnTo>
                  <a:close/>
                </a:path>
              </a:pathLst>
            </a:custGeom>
            <a:solidFill>
              <a:srgbClr val="9A9A9A"/>
            </a:solidFill>
          </p:spPr>
          <p:txBody>
            <a:bodyPr wrap="square" lIns="0" tIns="0" rIns="0" bIns="0" rtlCol="0"/>
            <a:lstStyle/>
            <a:p>
              <a:endParaRPr/>
            </a:p>
          </p:txBody>
        </p:sp>
        <p:sp>
          <p:nvSpPr>
            <p:cNvPr id="139" name="object 139"/>
            <p:cNvSpPr/>
            <p:nvPr/>
          </p:nvSpPr>
          <p:spPr>
            <a:xfrm>
              <a:off x="6973824" y="5497067"/>
              <a:ext cx="372110" cy="104139"/>
            </a:xfrm>
            <a:custGeom>
              <a:avLst/>
              <a:gdLst/>
              <a:ahLst/>
              <a:cxnLst/>
              <a:rect l="l" t="t" r="r" b="b"/>
              <a:pathLst>
                <a:path w="372109" h="104139">
                  <a:moveTo>
                    <a:pt x="371855" y="0"/>
                  </a:moveTo>
                  <a:lnTo>
                    <a:pt x="0" y="0"/>
                  </a:lnTo>
                  <a:lnTo>
                    <a:pt x="0" y="103631"/>
                  </a:lnTo>
                  <a:lnTo>
                    <a:pt x="11556" y="92138"/>
                  </a:lnTo>
                  <a:lnTo>
                    <a:pt x="11556" y="11683"/>
                  </a:lnTo>
                  <a:lnTo>
                    <a:pt x="360552" y="11683"/>
                  </a:lnTo>
                  <a:lnTo>
                    <a:pt x="371855" y="0"/>
                  </a:lnTo>
                  <a:close/>
                </a:path>
              </a:pathLst>
            </a:custGeom>
            <a:solidFill>
              <a:srgbClr val="FFFFFF"/>
            </a:solidFill>
          </p:spPr>
          <p:txBody>
            <a:bodyPr wrap="square" lIns="0" tIns="0" rIns="0" bIns="0" rtlCol="0"/>
            <a:lstStyle/>
            <a:p>
              <a:endParaRPr/>
            </a:p>
          </p:txBody>
        </p:sp>
        <p:sp>
          <p:nvSpPr>
            <p:cNvPr id="140" name="object 140"/>
            <p:cNvSpPr/>
            <p:nvPr/>
          </p:nvSpPr>
          <p:spPr>
            <a:xfrm>
              <a:off x="7089648" y="5463539"/>
              <a:ext cx="233679" cy="85090"/>
            </a:xfrm>
            <a:custGeom>
              <a:avLst/>
              <a:gdLst/>
              <a:ahLst/>
              <a:cxnLst/>
              <a:rect l="l" t="t" r="r" b="b"/>
              <a:pathLst>
                <a:path w="233679" h="85089">
                  <a:moveTo>
                    <a:pt x="140208" y="0"/>
                  </a:moveTo>
                  <a:lnTo>
                    <a:pt x="0" y="0"/>
                  </a:lnTo>
                  <a:lnTo>
                    <a:pt x="0" y="24384"/>
                  </a:lnTo>
                  <a:lnTo>
                    <a:pt x="140208" y="24384"/>
                  </a:lnTo>
                  <a:lnTo>
                    <a:pt x="140208" y="0"/>
                  </a:lnTo>
                  <a:close/>
                </a:path>
                <a:path w="233679" h="85089">
                  <a:moveTo>
                    <a:pt x="233172" y="68580"/>
                  </a:moveTo>
                  <a:lnTo>
                    <a:pt x="209677" y="68580"/>
                  </a:lnTo>
                  <a:lnTo>
                    <a:pt x="209677" y="62230"/>
                  </a:lnTo>
                  <a:lnTo>
                    <a:pt x="139319" y="62230"/>
                  </a:lnTo>
                  <a:lnTo>
                    <a:pt x="139319" y="68580"/>
                  </a:lnTo>
                  <a:lnTo>
                    <a:pt x="115824" y="68580"/>
                  </a:lnTo>
                  <a:lnTo>
                    <a:pt x="115824" y="80010"/>
                  </a:lnTo>
                  <a:lnTo>
                    <a:pt x="139319" y="80010"/>
                  </a:lnTo>
                  <a:lnTo>
                    <a:pt x="139319" y="85090"/>
                  </a:lnTo>
                  <a:lnTo>
                    <a:pt x="209677" y="85090"/>
                  </a:lnTo>
                  <a:lnTo>
                    <a:pt x="209677" y="80010"/>
                  </a:lnTo>
                  <a:lnTo>
                    <a:pt x="233172" y="80010"/>
                  </a:lnTo>
                  <a:lnTo>
                    <a:pt x="233172" y="68580"/>
                  </a:lnTo>
                  <a:close/>
                </a:path>
              </a:pathLst>
            </a:custGeom>
            <a:solidFill>
              <a:srgbClr val="000000"/>
            </a:solidFill>
          </p:spPr>
          <p:txBody>
            <a:bodyPr wrap="square" lIns="0" tIns="0" rIns="0" bIns="0" rtlCol="0"/>
            <a:lstStyle/>
            <a:p>
              <a:endParaRPr/>
            </a:p>
          </p:txBody>
        </p:sp>
        <p:sp>
          <p:nvSpPr>
            <p:cNvPr id="141" name="object 141"/>
            <p:cNvSpPr/>
            <p:nvPr/>
          </p:nvSpPr>
          <p:spPr>
            <a:xfrm>
              <a:off x="6996683" y="5519928"/>
              <a:ext cx="22860" cy="18415"/>
            </a:xfrm>
            <a:custGeom>
              <a:avLst/>
              <a:gdLst/>
              <a:ahLst/>
              <a:cxnLst/>
              <a:rect l="l" t="t" r="r" b="b"/>
              <a:pathLst>
                <a:path w="22859" h="18414">
                  <a:moveTo>
                    <a:pt x="22859" y="0"/>
                  </a:moveTo>
                  <a:lnTo>
                    <a:pt x="0" y="0"/>
                  </a:lnTo>
                  <a:lnTo>
                    <a:pt x="0" y="18288"/>
                  </a:lnTo>
                  <a:lnTo>
                    <a:pt x="22859" y="18288"/>
                  </a:lnTo>
                  <a:lnTo>
                    <a:pt x="22859" y="0"/>
                  </a:lnTo>
                  <a:close/>
                </a:path>
              </a:pathLst>
            </a:custGeom>
            <a:solidFill>
              <a:srgbClr val="008000"/>
            </a:solidFill>
          </p:spPr>
          <p:txBody>
            <a:bodyPr wrap="square" lIns="0" tIns="0" rIns="0" bIns="0" rtlCol="0"/>
            <a:lstStyle/>
            <a:p>
              <a:endParaRPr/>
            </a:p>
          </p:txBody>
        </p:sp>
        <p:sp>
          <p:nvSpPr>
            <p:cNvPr id="142" name="object 142"/>
            <p:cNvSpPr/>
            <p:nvPr/>
          </p:nvSpPr>
          <p:spPr>
            <a:xfrm>
              <a:off x="6996683" y="5519928"/>
              <a:ext cx="12700" cy="9525"/>
            </a:xfrm>
            <a:custGeom>
              <a:avLst/>
              <a:gdLst/>
              <a:ahLst/>
              <a:cxnLst/>
              <a:rect l="l" t="t" r="r" b="b"/>
              <a:pathLst>
                <a:path w="12700" h="9525">
                  <a:moveTo>
                    <a:pt x="12192" y="0"/>
                  </a:moveTo>
                  <a:lnTo>
                    <a:pt x="0" y="0"/>
                  </a:lnTo>
                  <a:lnTo>
                    <a:pt x="0" y="9144"/>
                  </a:lnTo>
                  <a:lnTo>
                    <a:pt x="12192" y="9144"/>
                  </a:lnTo>
                  <a:lnTo>
                    <a:pt x="12192" y="0"/>
                  </a:lnTo>
                  <a:close/>
                </a:path>
              </a:pathLst>
            </a:custGeom>
            <a:solidFill>
              <a:srgbClr val="00FF00"/>
            </a:solidFill>
          </p:spPr>
          <p:txBody>
            <a:bodyPr wrap="square" lIns="0" tIns="0" rIns="0" bIns="0" rtlCol="0"/>
            <a:lstStyle/>
            <a:p>
              <a:endParaRPr/>
            </a:p>
          </p:txBody>
        </p:sp>
        <p:sp>
          <p:nvSpPr>
            <p:cNvPr id="143" name="object 143"/>
            <p:cNvSpPr/>
            <p:nvPr/>
          </p:nvSpPr>
          <p:spPr>
            <a:xfrm>
              <a:off x="7002779" y="5228844"/>
              <a:ext cx="326390" cy="228600"/>
            </a:xfrm>
            <a:custGeom>
              <a:avLst/>
              <a:gdLst/>
              <a:ahLst/>
              <a:cxnLst/>
              <a:rect l="l" t="t" r="r" b="b"/>
              <a:pathLst>
                <a:path w="326390" h="228600">
                  <a:moveTo>
                    <a:pt x="0" y="228599"/>
                  </a:moveTo>
                  <a:lnTo>
                    <a:pt x="326135" y="228599"/>
                  </a:lnTo>
                  <a:lnTo>
                    <a:pt x="326135" y="0"/>
                  </a:lnTo>
                  <a:lnTo>
                    <a:pt x="0" y="0"/>
                  </a:lnTo>
                  <a:lnTo>
                    <a:pt x="0" y="228599"/>
                  </a:lnTo>
                  <a:close/>
                </a:path>
              </a:pathLst>
            </a:custGeom>
            <a:ln w="9525">
              <a:solidFill>
                <a:srgbClr val="000000"/>
              </a:solidFill>
            </a:ln>
          </p:spPr>
          <p:txBody>
            <a:bodyPr wrap="square" lIns="0" tIns="0" rIns="0" bIns="0" rtlCol="0"/>
            <a:lstStyle/>
            <a:p>
              <a:endParaRPr/>
            </a:p>
          </p:txBody>
        </p:sp>
        <p:sp>
          <p:nvSpPr>
            <p:cNvPr id="144" name="object 144"/>
            <p:cNvSpPr/>
            <p:nvPr/>
          </p:nvSpPr>
          <p:spPr>
            <a:xfrm>
              <a:off x="7002780" y="5228589"/>
              <a:ext cx="326390" cy="228600"/>
            </a:xfrm>
            <a:custGeom>
              <a:avLst/>
              <a:gdLst/>
              <a:ahLst/>
              <a:cxnLst/>
              <a:rect l="l" t="t" r="r" b="b"/>
              <a:pathLst>
                <a:path w="326390" h="228600">
                  <a:moveTo>
                    <a:pt x="326136" y="0"/>
                  </a:moveTo>
                  <a:lnTo>
                    <a:pt x="0" y="0"/>
                  </a:lnTo>
                  <a:lnTo>
                    <a:pt x="0" y="11430"/>
                  </a:lnTo>
                  <a:lnTo>
                    <a:pt x="0" y="217170"/>
                  </a:lnTo>
                  <a:lnTo>
                    <a:pt x="0" y="228600"/>
                  </a:lnTo>
                  <a:lnTo>
                    <a:pt x="326136" y="228600"/>
                  </a:lnTo>
                  <a:lnTo>
                    <a:pt x="326136" y="217297"/>
                  </a:lnTo>
                  <a:lnTo>
                    <a:pt x="326136" y="217170"/>
                  </a:lnTo>
                  <a:lnTo>
                    <a:pt x="326136" y="11811"/>
                  </a:lnTo>
                  <a:lnTo>
                    <a:pt x="314452" y="11811"/>
                  </a:lnTo>
                  <a:lnTo>
                    <a:pt x="314452" y="217170"/>
                  </a:lnTo>
                  <a:lnTo>
                    <a:pt x="11684" y="217170"/>
                  </a:lnTo>
                  <a:lnTo>
                    <a:pt x="11684" y="11430"/>
                  </a:lnTo>
                  <a:lnTo>
                    <a:pt x="326136" y="11430"/>
                  </a:lnTo>
                  <a:lnTo>
                    <a:pt x="326136" y="0"/>
                  </a:lnTo>
                  <a:close/>
                </a:path>
              </a:pathLst>
            </a:custGeom>
            <a:solidFill>
              <a:srgbClr val="C0C0C0"/>
            </a:solidFill>
          </p:spPr>
          <p:txBody>
            <a:bodyPr wrap="square" lIns="0" tIns="0" rIns="0" bIns="0" rtlCol="0"/>
            <a:lstStyle/>
            <a:p>
              <a:endParaRPr/>
            </a:p>
          </p:txBody>
        </p:sp>
        <p:sp>
          <p:nvSpPr>
            <p:cNvPr id="145" name="object 145"/>
            <p:cNvSpPr/>
            <p:nvPr/>
          </p:nvSpPr>
          <p:spPr>
            <a:xfrm>
              <a:off x="7002779" y="5228844"/>
              <a:ext cx="302260" cy="204470"/>
            </a:xfrm>
            <a:custGeom>
              <a:avLst/>
              <a:gdLst/>
              <a:ahLst/>
              <a:cxnLst/>
              <a:rect l="l" t="t" r="r" b="b"/>
              <a:pathLst>
                <a:path w="302259" h="204470">
                  <a:moveTo>
                    <a:pt x="301751" y="0"/>
                  </a:moveTo>
                  <a:lnTo>
                    <a:pt x="0" y="0"/>
                  </a:lnTo>
                  <a:lnTo>
                    <a:pt x="0" y="204215"/>
                  </a:lnTo>
                  <a:lnTo>
                    <a:pt x="11556" y="192912"/>
                  </a:lnTo>
                  <a:lnTo>
                    <a:pt x="11556" y="11175"/>
                  </a:lnTo>
                  <a:lnTo>
                    <a:pt x="290195" y="11175"/>
                  </a:lnTo>
                  <a:lnTo>
                    <a:pt x="301751" y="0"/>
                  </a:lnTo>
                  <a:close/>
                </a:path>
              </a:pathLst>
            </a:custGeom>
            <a:solidFill>
              <a:srgbClr val="9A9A9A"/>
            </a:solidFill>
          </p:spPr>
          <p:txBody>
            <a:bodyPr wrap="square" lIns="0" tIns="0" rIns="0" bIns="0" rtlCol="0"/>
            <a:lstStyle/>
            <a:p>
              <a:endParaRPr/>
            </a:p>
          </p:txBody>
        </p:sp>
        <p:sp>
          <p:nvSpPr>
            <p:cNvPr id="146" name="object 146"/>
            <p:cNvSpPr/>
            <p:nvPr/>
          </p:nvSpPr>
          <p:spPr>
            <a:xfrm>
              <a:off x="7028688" y="5253227"/>
              <a:ext cx="280670" cy="180340"/>
            </a:xfrm>
            <a:custGeom>
              <a:avLst/>
              <a:gdLst/>
              <a:ahLst/>
              <a:cxnLst/>
              <a:rect l="l" t="t" r="r" b="b"/>
              <a:pathLst>
                <a:path w="280670" h="180339">
                  <a:moveTo>
                    <a:pt x="280416" y="0"/>
                  </a:moveTo>
                  <a:lnTo>
                    <a:pt x="0" y="0"/>
                  </a:lnTo>
                  <a:lnTo>
                    <a:pt x="0" y="179832"/>
                  </a:lnTo>
                  <a:lnTo>
                    <a:pt x="280416" y="179832"/>
                  </a:lnTo>
                  <a:lnTo>
                    <a:pt x="280416" y="0"/>
                  </a:lnTo>
                  <a:close/>
                </a:path>
              </a:pathLst>
            </a:custGeom>
            <a:solidFill>
              <a:srgbClr val="3366FF"/>
            </a:solidFill>
          </p:spPr>
          <p:txBody>
            <a:bodyPr wrap="square" lIns="0" tIns="0" rIns="0" bIns="0" rtlCol="0"/>
            <a:lstStyle/>
            <a:p>
              <a:endParaRPr/>
            </a:p>
          </p:txBody>
        </p:sp>
        <p:sp>
          <p:nvSpPr>
            <p:cNvPr id="147" name="object 147"/>
            <p:cNvSpPr/>
            <p:nvPr/>
          </p:nvSpPr>
          <p:spPr>
            <a:xfrm>
              <a:off x="4968239" y="4738116"/>
              <a:ext cx="2341245" cy="695325"/>
            </a:xfrm>
            <a:custGeom>
              <a:avLst/>
              <a:gdLst/>
              <a:ahLst/>
              <a:cxnLst/>
              <a:rect l="l" t="t" r="r" b="b"/>
              <a:pathLst>
                <a:path w="2341245" h="695325">
                  <a:moveTo>
                    <a:pt x="2060448" y="694943"/>
                  </a:moveTo>
                  <a:lnTo>
                    <a:pt x="2340864" y="694943"/>
                  </a:lnTo>
                  <a:lnTo>
                    <a:pt x="2340864" y="515111"/>
                  </a:lnTo>
                  <a:lnTo>
                    <a:pt x="2060448" y="515111"/>
                  </a:lnTo>
                  <a:lnTo>
                    <a:pt x="2060448" y="694943"/>
                  </a:lnTo>
                  <a:close/>
                </a:path>
                <a:path w="2341245" h="695325">
                  <a:moveTo>
                    <a:pt x="0" y="123443"/>
                  </a:moveTo>
                  <a:lnTo>
                    <a:pt x="455675" y="123443"/>
                  </a:lnTo>
                  <a:lnTo>
                    <a:pt x="455675" y="0"/>
                  </a:lnTo>
                  <a:lnTo>
                    <a:pt x="0" y="0"/>
                  </a:lnTo>
                  <a:lnTo>
                    <a:pt x="0" y="123443"/>
                  </a:lnTo>
                  <a:close/>
                </a:path>
              </a:pathLst>
            </a:custGeom>
            <a:ln w="9525">
              <a:solidFill>
                <a:srgbClr val="000000"/>
              </a:solidFill>
            </a:ln>
          </p:spPr>
          <p:txBody>
            <a:bodyPr wrap="square" lIns="0" tIns="0" rIns="0" bIns="0" rtlCol="0"/>
            <a:lstStyle/>
            <a:p>
              <a:endParaRPr/>
            </a:p>
          </p:txBody>
        </p:sp>
        <p:sp>
          <p:nvSpPr>
            <p:cNvPr id="148" name="object 148"/>
            <p:cNvSpPr/>
            <p:nvPr/>
          </p:nvSpPr>
          <p:spPr>
            <a:xfrm>
              <a:off x="4983480" y="4751832"/>
              <a:ext cx="426720" cy="94615"/>
            </a:xfrm>
            <a:custGeom>
              <a:avLst/>
              <a:gdLst/>
              <a:ahLst/>
              <a:cxnLst/>
              <a:rect l="l" t="t" r="r" b="b"/>
              <a:pathLst>
                <a:path w="426720" h="94614">
                  <a:moveTo>
                    <a:pt x="426720" y="0"/>
                  </a:moveTo>
                  <a:lnTo>
                    <a:pt x="0" y="0"/>
                  </a:lnTo>
                  <a:lnTo>
                    <a:pt x="0" y="94488"/>
                  </a:lnTo>
                  <a:lnTo>
                    <a:pt x="426720" y="94488"/>
                  </a:lnTo>
                  <a:lnTo>
                    <a:pt x="426720" y="0"/>
                  </a:lnTo>
                  <a:close/>
                </a:path>
              </a:pathLst>
            </a:custGeom>
            <a:solidFill>
              <a:srgbClr val="C0C0C0"/>
            </a:solidFill>
          </p:spPr>
          <p:txBody>
            <a:bodyPr wrap="square" lIns="0" tIns="0" rIns="0" bIns="0" rtlCol="0"/>
            <a:lstStyle/>
            <a:p>
              <a:endParaRPr/>
            </a:p>
          </p:txBody>
        </p:sp>
        <p:sp>
          <p:nvSpPr>
            <p:cNvPr id="149" name="object 149"/>
            <p:cNvSpPr/>
            <p:nvPr/>
          </p:nvSpPr>
          <p:spPr>
            <a:xfrm>
              <a:off x="4968239" y="4738116"/>
              <a:ext cx="455930" cy="123825"/>
            </a:xfrm>
            <a:custGeom>
              <a:avLst/>
              <a:gdLst/>
              <a:ahLst/>
              <a:cxnLst/>
              <a:rect l="l" t="t" r="r" b="b"/>
              <a:pathLst>
                <a:path w="455929" h="123825">
                  <a:moveTo>
                    <a:pt x="455675" y="0"/>
                  </a:moveTo>
                  <a:lnTo>
                    <a:pt x="441706" y="13842"/>
                  </a:lnTo>
                  <a:lnTo>
                    <a:pt x="441706" y="109727"/>
                  </a:lnTo>
                  <a:lnTo>
                    <a:pt x="14097" y="109727"/>
                  </a:lnTo>
                  <a:lnTo>
                    <a:pt x="0" y="123443"/>
                  </a:lnTo>
                  <a:lnTo>
                    <a:pt x="455675" y="123443"/>
                  </a:lnTo>
                  <a:lnTo>
                    <a:pt x="455675" y="0"/>
                  </a:lnTo>
                  <a:close/>
                </a:path>
              </a:pathLst>
            </a:custGeom>
            <a:solidFill>
              <a:srgbClr val="9A9A9A"/>
            </a:solidFill>
          </p:spPr>
          <p:txBody>
            <a:bodyPr wrap="square" lIns="0" tIns="0" rIns="0" bIns="0" rtlCol="0"/>
            <a:lstStyle/>
            <a:p>
              <a:endParaRPr/>
            </a:p>
          </p:txBody>
        </p:sp>
        <p:sp>
          <p:nvSpPr>
            <p:cNvPr id="150" name="object 150"/>
            <p:cNvSpPr/>
            <p:nvPr/>
          </p:nvSpPr>
          <p:spPr>
            <a:xfrm>
              <a:off x="4968239" y="4738116"/>
              <a:ext cx="455930" cy="123825"/>
            </a:xfrm>
            <a:custGeom>
              <a:avLst/>
              <a:gdLst/>
              <a:ahLst/>
              <a:cxnLst/>
              <a:rect l="l" t="t" r="r" b="b"/>
              <a:pathLst>
                <a:path w="455929" h="123825">
                  <a:moveTo>
                    <a:pt x="455675" y="0"/>
                  </a:moveTo>
                  <a:lnTo>
                    <a:pt x="0" y="0"/>
                  </a:lnTo>
                  <a:lnTo>
                    <a:pt x="0" y="123443"/>
                  </a:lnTo>
                  <a:lnTo>
                    <a:pt x="14097" y="109727"/>
                  </a:lnTo>
                  <a:lnTo>
                    <a:pt x="14097" y="13842"/>
                  </a:lnTo>
                  <a:lnTo>
                    <a:pt x="441706" y="13842"/>
                  </a:lnTo>
                  <a:lnTo>
                    <a:pt x="455675" y="0"/>
                  </a:lnTo>
                  <a:close/>
                </a:path>
              </a:pathLst>
            </a:custGeom>
            <a:solidFill>
              <a:srgbClr val="FFFFFF"/>
            </a:solidFill>
          </p:spPr>
          <p:txBody>
            <a:bodyPr wrap="square" lIns="0" tIns="0" rIns="0" bIns="0" rtlCol="0"/>
            <a:lstStyle/>
            <a:p>
              <a:endParaRPr/>
            </a:p>
          </p:txBody>
        </p:sp>
        <p:sp>
          <p:nvSpPr>
            <p:cNvPr id="151" name="object 151"/>
            <p:cNvSpPr/>
            <p:nvPr/>
          </p:nvSpPr>
          <p:spPr>
            <a:xfrm>
              <a:off x="5111496" y="4698491"/>
              <a:ext cx="285115" cy="100965"/>
            </a:xfrm>
            <a:custGeom>
              <a:avLst/>
              <a:gdLst/>
              <a:ahLst/>
              <a:cxnLst/>
              <a:rect l="l" t="t" r="r" b="b"/>
              <a:pathLst>
                <a:path w="285114" h="100964">
                  <a:moveTo>
                    <a:pt x="170688" y="0"/>
                  </a:moveTo>
                  <a:lnTo>
                    <a:pt x="0" y="0"/>
                  </a:lnTo>
                  <a:lnTo>
                    <a:pt x="0" y="27432"/>
                  </a:lnTo>
                  <a:lnTo>
                    <a:pt x="170688" y="27432"/>
                  </a:lnTo>
                  <a:lnTo>
                    <a:pt x="170688" y="0"/>
                  </a:lnTo>
                  <a:close/>
                </a:path>
                <a:path w="285114" h="100964">
                  <a:moveTo>
                    <a:pt x="284988" y="81788"/>
                  </a:moveTo>
                  <a:lnTo>
                    <a:pt x="256286" y="81788"/>
                  </a:lnTo>
                  <a:lnTo>
                    <a:pt x="256286" y="74168"/>
                  </a:lnTo>
                  <a:lnTo>
                    <a:pt x="170434" y="74168"/>
                  </a:lnTo>
                  <a:lnTo>
                    <a:pt x="170434" y="81788"/>
                  </a:lnTo>
                  <a:lnTo>
                    <a:pt x="141732" y="81788"/>
                  </a:lnTo>
                  <a:lnTo>
                    <a:pt x="141732" y="94488"/>
                  </a:lnTo>
                  <a:lnTo>
                    <a:pt x="170434" y="94488"/>
                  </a:lnTo>
                  <a:lnTo>
                    <a:pt x="170434" y="100838"/>
                  </a:lnTo>
                  <a:lnTo>
                    <a:pt x="256286" y="100838"/>
                  </a:lnTo>
                  <a:lnTo>
                    <a:pt x="256286" y="94488"/>
                  </a:lnTo>
                  <a:lnTo>
                    <a:pt x="284988" y="94488"/>
                  </a:lnTo>
                  <a:lnTo>
                    <a:pt x="284988" y="81788"/>
                  </a:lnTo>
                  <a:close/>
                </a:path>
              </a:pathLst>
            </a:custGeom>
            <a:solidFill>
              <a:srgbClr val="000000"/>
            </a:solidFill>
          </p:spPr>
          <p:txBody>
            <a:bodyPr wrap="square" lIns="0" tIns="0" rIns="0" bIns="0" rtlCol="0"/>
            <a:lstStyle/>
            <a:p>
              <a:endParaRPr/>
            </a:p>
          </p:txBody>
        </p:sp>
        <p:sp>
          <p:nvSpPr>
            <p:cNvPr id="152" name="object 152"/>
            <p:cNvSpPr/>
            <p:nvPr/>
          </p:nvSpPr>
          <p:spPr>
            <a:xfrm>
              <a:off x="4997195" y="4765548"/>
              <a:ext cx="29209" cy="20320"/>
            </a:xfrm>
            <a:custGeom>
              <a:avLst/>
              <a:gdLst/>
              <a:ahLst/>
              <a:cxnLst/>
              <a:rect l="l" t="t" r="r" b="b"/>
              <a:pathLst>
                <a:path w="29210" h="20320">
                  <a:moveTo>
                    <a:pt x="28955" y="0"/>
                  </a:moveTo>
                  <a:lnTo>
                    <a:pt x="0" y="0"/>
                  </a:lnTo>
                  <a:lnTo>
                    <a:pt x="0" y="19812"/>
                  </a:lnTo>
                  <a:lnTo>
                    <a:pt x="28955" y="19812"/>
                  </a:lnTo>
                  <a:lnTo>
                    <a:pt x="28955" y="0"/>
                  </a:lnTo>
                  <a:close/>
                </a:path>
              </a:pathLst>
            </a:custGeom>
            <a:solidFill>
              <a:srgbClr val="008000"/>
            </a:solidFill>
          </p:spPr>
          <p:txBody>
            <a:bodyPr wrap="square" lIns="0" tIns="0" rIns="0" bIns="0" rtlCol="0"/>
            <a:lstStyle/>
            <a:p>
              <a:endParaRPr/>
            </a:p>
          </p:txBody>
        </p:sp>
        <p:sp>
          <p:nvSpPr>
            <p:cNvPr id="153" name="object 153"/>
            <p:cNvSpPr/>
            <p:nvPr/>
          </p:nvSpPr>
          <p:spPr>
            <a:xfrm>
              <a:off x="4997195" y="4765548"/>
              <a:ext cx="15240" cy="10795"/>
            </a:xfrm>
            <a:custGeom>
              <a:avLst/>
              <a:gdLst/>
              <a:ahLst/>
              <a:cxnLst/>
              <a:rect l="l" t="t" r="r" b="b"/>
              <a:pathLst>
                <a:path w="15239" h="10795">
                  <a:moveTo>
                    <a:pt x="15239" y="0"/>
                  </a:moveTo>
                  <a:lnTo>
                    <a:pt x="0" y="0"/>
                  </a:lnTo>
                  <a:lnTo>
                    <a:pt x="0" y="10668"/>
                  </a:lnTo>
                  <a:lnTo>
                    <a:pt x="15239" y="10668"/>
                  </a:lnTo>
                  <a:lnTo>
                    <a:pt x="15239" y="0"/>
                  </a:lnTo>
                  <a:close/>
                </a:path>
              </a:pathLst>
            </a:custGeom>
            <a:solidFill>
              <a:srgbClr val="00FF00"/>
            </a:solidFill>
          </p:spPr>
          <p:txBody>
            <a:bodyPr wrap="square" lIns="0" tIns="0" rIns="0" bIns="0" rtlCol="0"/>
            <a:lstStyle/>
            <a:p>
              <a:endParaRPr/>
            </a:p>
          </p:txBody>
        </p:sp>
        <p:sp>
          <p:nvSpPr>
            <p:cNvPr id="154" name="object 154"/>
            <p:cNvSpPr/>
            <p:nvPr/>
          </p:nvSpPr>
          <p:spPr>
            <a:xfrm>
              <a:off x="5004815" y="4419600"/>
              <a:ext cx="399415" cy="271780"/>
            </a:xfrm>
            <a:custGeom>
              <a:avLst/>
              <a:gdLst/>
              <a:ahLst/>
              <a:cxnLst/>
              <a:rect l="l" t="t" r="r" b="b"/>
              <a:pathLst>
                <a:path w="399414" h="271779">
                  <a:moveTo>
                    <a:pt x="0" y="271272"/>
                  </a:moveTo>
                  <a:lnTo>
                    <a:pt x="399288" y="271272"/>
                  </a:lnTo>
                  <a:lnTo>
                    <a:pt x="399288" y="0"/>
                  </a:lnTo>
                  <a:lnTo>
                    <a:pt x="0" y="0"/>
                  </a:lnTo>
                  <a:lnTo>
                    <a:pt x="0" y="271272"/>
                  </a:lnTo>
                  <a:close/>
                </a:path>
              </a:pathLst>
            </a:custGeom>
            <a:ln w="9525">
              <a:solidFill>
                <a:srgbClr val="000000"/>
              </a:solidFill>
            </a:ln>
          </p:spPr>
          <p:txBody>
            <a:bodyPr wrap="square" lIns="0" tIns="0" rIns="0" bIns="0" rtlCol="0"/>
            <a:lstStyle/>
            <a:p>
              <a:endParaRPr/>
            </a:p>
          </p:txBody>
        </p:sp>
        <p:sp>
          <p:nvSpPr>
            <p:cNvPr id="155" name="object 155"/>
            <p:cNvSpPr/>
            <p:nvPr/>
          </p:nvSpPr>
          <p:spPr>
            <a:xfrm>
              <a:off x="5004816" y="4419599"/>
              <a:ext cx="399415" cy="271780"/>
            </a:xfrm>
            <a:custGeom>
              <a:avLst/>
              <a:gdLst/>
              <a:ahLst/>
              <a:cxnLst/>
              <a:rect l="l" t="t" r="r" b="b"/>
              <a:pathLst>
                <a:path w="399414" h="271779">
                  <a:moveTo>
                    <a:pt x="399288" y="0"/>
                  </a:moveTo>
                  <a:lnTo>
                    <a:pt x="0" y="0"/>
                  </a:lnTo>
                  <a:lnTo>
                    <a:pt x="0" y="13970"/>
                  </a:lnTo>
                  <a:lnTo>
                    <a:pt x="0" y="257810"/>
                  </a:lnTo>
                  <a:lnTo>
                    <a:pt x="0" y="271780"/>
                  </a:lnTo>
                  <a:lnTo>
                    <a:pt x="399288" y="271780"/>
                  </a:lnTo>
                  <a:lnTo>
                    <a:pt x="399288" y="257810"/>
                  </a:lnTo>
                  <a:lnTo>
                    <a:pt x="14351" y="257810"/>
                  </a:lnTo>
                  <a:lnTo>
                    <a:pt x="14351" y="13970"/>
                  </a:lnTo>
                  <a:lnTo>
                    <a:pt x="384937" y="13970"/>
                  </a:lnTo>
                  <a:lnTo>
                    <a:pt x="384937" y="257556"/>
                  </a:lnTo>
                  <a:lnTo>
                    <a:pt x="399288" y="257556"/>
                  </a:lnTo>
                  <a:lnTo>
                    <a:pt x="399288" y="13970"/>
                  </a:lnTo>
                  <a:lnTo>
                    <a:pt x="399288" y="13716"/>
                  </a:lnTo>
                  <a:lnTo>
                    <a:pt x="399288" y="0"/>
                  </a:lnTo>
                  <a:close/>
                </a:path>
              </a:pathLst>
            </a:custGeom>
            <a:solidFill>
              <a:srgbClr val="C0C0C0"/>
            </a:solidFill>
          </p:spPr>
          <p:txBody>
            <a:bodyPr wrap="square" lIns="0" tIns="0" rIns="0" bIns="0" rtlCol="0"/>
            <a:lstStyle/>
            <a:p>
              <a:endParaRPr/>
            </a:p>
          </p:txBody>
        </p:sp>
        <p:sp>
          <p:nvSpPr>
            <p:cNvPr id="156" name="object 156"/>
            <p:cNvSpPr/>
            <p:nvPr/>
          </p:nvSpPr>
          <p:spPr>
            <a:xfrm>
              <a:off x="5004815" y="4419600"/>
              <a:ext cx="370840" cy="243840"/>
            </a:xfrm>
            <a:custGeom>
              <a:avLst/>
              <a:gdLst/>
              <a:ahLst/>
              <a:cxnLst/>
              <a:rect l="l" t="t" r="r" b="b"/>
              <a:pathLst>
                <a:path w="370839" h="243839">
                  <a:moveTo>
                    <a:pt x="370332" y="0"/>
                  </a:moveTo>
                  <a:lnTo>
                    <a:pt x="0" y="0"/>
                  </a:lnTo>
                  <a:lnTo>
                    <a:pt x="0" y="243839"/>
                  </a:lnTo>
                  <a:lnTo>
                    <a:pt x="14097" y="230250"/>
                  </a:lnTo>
                  <a:lnTo>
                    <a:pt x="14097" y="13335"/>
                  </a:lnTo>
                  <a:lnTo>
                    <a:pt x="356235" y="13335"/>
                  </a:lnTo>
                  <a:lnTo>
                    <a:pt x="370332" y="0"/>
                  </a:lnTo>
                  <a:close/>
                </a:path>
              </a:pathLst>
            </a:custGeom>
            <a:solidFill>
              <a:srgbClr val="9A9A9A"/>
            </a:solidFill>
          </p:spPr>
          <p:txBody>
            <a:bodyPr wrap="square" lIns="0" tIns="0" rIns="0" bIns="0" rtlCol="0"/>
            <a:lstStyle/>
            <a:p>
              <a:endParaRPr/>
            </a:p>
          </p:txBody>
        </p:sp>
        <p:sp>
          <p:nvSpPr>
            <p:cNvPr id="157" name="object 157"/>
            <p:cNvSpPr/>
            <p:nvPr/>
          </p:nvSpPr>
          <p:spPr>
            <a:xfrm>
              <a:off x="5036819" y="4450079"/>
              <a:ext cx="344805" cy="213360"/>
            </a:xfrm>
            <a:custGeom>
              <a:avLst/>
              <a:gdLst/>
              <a:ahLst/>
              <a:cxnLst/>
              <a:rect l="l" t="t" r="r" b="b"/>
              <a:pathLst>
                <a:path w="344804" h="213360">
                  <a:moveTo>
                    <a:pt x="344424" y="0"/>
                  </a:moveTo>
                  <a:lnTo>
                    <a:pt x="0" y="0"/>
                  </a:lnTo>
                  <a:lnTo>
                    <a:pt x="0" y="213360"/>
                  </a:lnTo>
                  <a:lnTo>
                    <a:pt x="344424" y="213360"/>
                  </a:lnTo>
                  <a:lnTo>
                    <a:pt x="344424" y="0"/>
                  </a:lnTo>
                  <a:close/>
                </a:path>
              </a:pathLst>
            </a:custGeom>
            <a:solidFill>
              <a:srgbClr val="3366FF"/>
            </a:solidFill>
          </p:spPr>
          <p:txBody>
            <a:bodyPr wrap="square" lIns="0" tIns="0" rIns="0" bIns="0" rtlCol="0"/>
            <a:lstStyle/>
            <a:p>
              <a:endParaRPr/>
            </a:p>
          </p:txBody>
        </p:sp>
        <p:sp>
          <p:nvSpPr>
            <p:cNvPr id="158" name="object 158"/>
            <p:cNvSpPr/>
            <p:nvPr/>
          </p:nvSpPr>
          <p:spPr>
            <a:xfrm>
              <a:off x="5036819" y="4450079"/>
              <a:ext cx="344805" cy="213360"/>
            </a:xfrm>
            <a:custGeom>
              <a:avLst/>
              <a:gdLst/>
              <a:ahLst/>
              <a:cxnLst/>
              <a:rect l="l" t="t" r="r" b="b"/>
              <a:pathLst>
                <a:path w="344804" h="213360">
                  <a:moveTo>
                    <a:pt x="0" y="213360"/>
                  </a:moveTo>
                  <a:lnTo>
                    <a:pt x="344424" y="213360"/>
                  </a:lnTo>
                  <a:lnTo>
                    <a:pt x="344424" y="0"/>
                  </a:lnTo>
                  <a:lnTo>
                    <a:pt x="0" y="0"/>
                  </a:lnTo>
                  <a:lnTo>
                    <a:pt x="0" y="213360"/>
                  </a:lnTo>
                  <a:close/>
                </a:path>
              </a:pathLst>
            </a:custGeom>
            <a:ln w="9524">
              <a:solidFill>
                <a:srgbClr val="000000"/>
              </a:solidFill>
            </a:ln>
          </p:spPr>
          <p:txBody>
            <a:bodyPr wrap="square" lIns="0" tIns="0" rIns="0" bIns="0" rtlCol="0"/>
            <a:lstStyle/>
            <a:p>
              <a:endParaRPr/>
            </a:p>
          </p:txBody>
        </p:sp>
        <p:pic>
          <p:nvPicPr>
            <p:cNvPr id="159" name="object 159"/>
            <p:cNvPicPr/>
            <p:nvPr/>
          </p:nvPicPr>
          <p:blipFill>
            <a:blip r:embed="rId4" cstate="print"/>
            <a:stretch>
              <a:fillRect/>
            </a:stretch>
          </p:blipFill>
          <p:spPr>
            <a:xfrm>
              <a:off x="304800" y="2133600"/>
              <a:ext cx="8839199" cy="4038600"/>
            </a:xfrm>
            <a:prstGeom prst="rect">
              <a:avLst/>
            </a:prstGeom>
          </p:spPr>
        </p:pic>
      </p:grpSp>
      <p:sp>
        <p:nvSpPr>
          <p:cNvPr id="162" name="Slide Number Placeholder 161">
            <a:extLst>
              <a:ext uri="{FF2B5EF4-FFF2-40B4-BE49-F238E27FC236}">
                <a16:creationId xmlns:a16="http://schemas.microsoft.com/office/drawing/2014/main" xmlns="" id="{35327E7C-F9C6-D8A3-5AF9-32A77F81D091}"/>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29</a:t>
            </a:fld>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1789" y="466470"/>
            <a:ext cx="3486785" cy="696595"/>
          </a:xfrm>
          <a:prstGeom prst="rect">
            <a:avLst/>
          </a:prstGeom>
        </p:spPr>
        <p:txBody>
          <a:bodyPr vert="horz" wrap="square" lIns="0" tIns="13335" rIns="0" bIns="0" rtlCol="0">
            <a:spAutoFit/>
          </a:bodyPr>
          <a:lstStyle/>
          <a:p>
            <a:pPr marL="12700">
              <a:lnSpc>
                <a:spcPct val="100000"/>
              </a:lnSpc>
              <a:spcBef>
                <a:spcPts val="105"/>
              </a:spcBef>
            </a:pPr>
            <a:r>
              <a:rPr dirty="0">
                <a:solidFill>
                  <a:srgbClr val="006FC0"/>
                </a:solidFill>
              </a:rPr>
              <a:t>Network</a:t>
            </a:r>
            <a:r>
              <a:rPr spc="-100" dirty="0">
                <a:solidFill>
                  <a:srgbClr val="006FC0"/>
                </a:solidFill>
              </a:rPr>
              <a:t> </a:t>
            </a:r>
            <a:r>
              <a:rPr dirty="0">
                <a:solidFill>
                  <a:srgbClr val="006FC0"/>
                </a:solidFill>
              </a:rPr>
              <a:t>Types</a:t>
            </a:r>
          </a:p>
        </p:txBody>
      </p:sp>
      <p:sp>
        <p:nvSpPr>
          <p:cNvPr id="3" name="object 3"/>
          <p:cNvSpPr txBox="1"/>
          <p:nvPr/>
        </p:nvSpPr>
        <p:spPr>
          <a:xfrm>
            <a:off x="535940" y="1268349"/>
            <a:ext cx="7769225" cy="4579620"/>
          </a:xfrm>
          <a:prstGeom prst="rect">
            <a:avLst/>
          </a:prstGeom>
        </p:spPr>
        <p:txBody>
          <a:bodyPr vert="horz" wrap="square" lIns="0" tIns="13335" rIns="0" bIns="0" rtlCol="0">
            <a:spAutoFit/>
          </a:bodyPr>
          <a:lstStyle/>
          <a:p>
            <a:pPr marL="12700" marR="5080">
              <a:lnSpc>
                <a:spcPct val="100000"/>
              </a:lnSpc>
              <a:spcBef>
                <a:spcPts val="105"/>
              </a:spcBef>
            </a:pPr>
            <a:r>
              <a:rPr sz="3200" dirty="0">
                <a:latin typeface="Times New Roman"/>
                <a:cs typeface="Times New Roman"/>
              </a:rPr>
              <a:t>The</a:t>
            </a:r>
            <a:r>
              <a:rPr sz="3200" spc="-20" dirty="0">
                <a:latin typeface="Times New Roman"/>
                <a:cs typeface="Times New Roman"/>
              </a:rPr>
              <a:t> </a:t>
            </a:r>
            <a:r>
              <a:rPr sz="3200" dirty="0">
                <a:latin typeface="Times New Roman"/>
                <a:cs typeface="Times New Roman"/>
              </a:rPr>
              <a:t>criteria</a:t>
            </a:r>
            <a:r>
              <a:rPr sz="3200" spc="-15" dirty="0">
                <a:latin typeface="Times New Roman"/>
                <a:cs typeface="Times New Roman"/>
              </a:rPr>
              <a:t> </a:t>
            </a:r>
            <a:r>
              <a:rPr sz="3200" dirty="0">
                <a:latin typeface="Times New Roman"/>
                <a:cs typeface="Times New Roman"/>
              </a:rPr>
              <a:t>used</a:t>
            </a:r>
            <a:r>
              <a:rPr sz="3200" spc="-20" dirty="0">
                <a:latin typeface="Times New Roman"/>
                <a:cs typeface="Times New Roman"/>
              </a:rPr>
              <a:t> </a:t>
            </a:r>
            <a:r>
              <a:rPr sz="3200" dirty="0">
                <a:latin typeface="Times New Roman"/>
                <a:cs typeface="Times New Roman"/>
              </a:rPr>
              <a:t>for</a:t>
            </a:r>
            <a:r>
              <a:rPr sz="3200" spc="-15" dirty="0">
                <a:latin typeface="Times New Roman"/>
                <a:cs typeface="Times New Roman"/>
              </a:rPr>
              <a:t> </a:t>
            </a:r>
            <a:r>
              <a:rPr sz="3200" dirty="0">
                <a:latin typeface="Times New Roman"/>
                <a:cs typeface="Times New Roman"/>
              </a:rPr>
              <a:t>distinguishing</a:t>
            </a:r>
            <a:r>
              <a:rPr sz="3200" spc="-35" dirty="0">
                <a:latin typeface="Times New Roman"/>
                <a:cs typeface="Times New Roman"/>
              </a:rPr>
              <a:t> </a:t>
            </a:r>
            <a:r>
              <a:rPr sz="3200" dirty="0">
                <a:latin typeface="Times New Roman"/>
                <a:cs typeface="Times New Roman"/>
              </a:rPr>
              <a:t>the</a:t>
            </a:r>
            <a:r>
              <a:rPr sz="3200" spc="-20" dirty="0">
                <a:latin typeface="Times New Roman"/>
                <a:cs typeface="Times New Roman"/>
              </a:rPr>
              <a:t> </a:t>
            </a:r>
            <a:r>
              <a:rPr sz="3200" dirty="0">
                <a:latin typeface="Times New Roman"/>
                <a:cs typeface="Times New Roman"/>
              </a:rPr>
              <a:t>network </a:t>
            </a:r>
            <a:r>
              <a:rPr sz="3200" spc="-785" dirty="0">
                <a:latin typeface="Times New Roman"/>
                <a:cs typeface="Times New Roman"/>
              </a:rPr>
              <a:t> </a:t>
            </a:r>
            <a:r>
              <a:rPr sz="3200" dirty="0">
                <a:latin typeface="Times New Roman"/>
                <a:cs typeface="Times New Roman"/>
              </a:rPr>
              <a:t>type</a:t>
            </a:r>
            <a:endParaRPr sz="3200">
              <a:latin typeface="Times New Roman"/>
              <a:cs typeface="Times New Roman"/>
            </a:endParaRPr>
          </a:p>
          <a:p>
            <a:pPr marL="1315720" indent="-232410">
              <a:lnSpc>
                <a:spcPts val="3160"/>
              </a:lnSpc>
              <a:spcBef>
                <a:spcPts val="5"/>
              </a:spcBef>
              <a:buClr>
                <a:srgbClr val="000000"/>
              </a:buClr>
              <a:buSzPct val="114285"/>
              <a:buFont typeface="Arial MT"/>
              <a:buChar char="•"/>
              <a:tabLst>
                <a:tab pos="1316355" algn="l"/>
              </a:tabLst>
            </a:pPr>
            <a:r>
              <a:rPr sz="2800" spc="-5" dirty="0">
                <a:solidFill>
                  <a:srgbClr val="E36C09"/>
                </a:solidFill>
                <a:latin typeface="Times New Roman"/>
                <a:cs typeface="Times New Roman"/>
              </a:rPr>
              <a:t>Size</a:t>
            </a:r>
            <a:endParaRPr sz="2800">
              <a:latin typeface="Times New Roman"/>
              <a:cs typeface="Times New Roman"/>
            </a:endParaRPr>
          </a:p>
          <a:p>
            <a:pPr marL="1227455" indent="-144145">
              <a:lnSpc>
                <a:spcPts val="3400"/>
              </a:lnSpc>
              <a:buClr>
                <a:srgbClr val="000000"/>
              </a:buClr>
              <a:buSzPct val="114285"/>
              <a:buFont typeface="Arial MT"/>
              <a:buChar char="•"/>
              <a:tabLst>
                <a:tab pos="1228090" algn="l"/>
              </a:tabLst>
            </a:pPr>
            <a:r>
              <a:rPr sz="2800" spc="-5" dirty="0">
                <a:solidFill>
                  <a:srgbClr val="E36C09"/>
                </a:solidFill>
                <a:latin typeface="Times New Roman"/>
                <a:cs typeface="Times New Roman"/>
              </a:rPr>
              <a:t>Geographical</a:t>
            </a:r>
            <a:r>
              <a:rPr sz="2800" spc="-25" dirty="0">
                <a:solidFill>
                  <a:srgbClr val="E36C09"/>
                </a:solidFill>
                <a:latin typeface="Times New Roman"/>
                <a:cs typeface="Times New Roman"/>
              </a:rPr>
              <a:t> </a:t>
            </a:r>
            <a:r>
              <a:rPr sz="2800" spc="-5" dirty="0">
                <a:solidFill>
                  <a:srgbClr val="E36C09"/>
                </a:solidFill>
                <a:latin typeface="Times New Roman"/>
                <a:cs typeface="Times New Roman"/>
              </a:rPr>
              <a:t>coverage</a:t>
            </a:r>
            <a:endParaRPr sz="2800">
              <a:latin typeface="Times New Roman"/>
              <a:cs typeface="Times New Roman"/>
            </a:endParaRPr>
          </a:p>
          <a:p>
            <a:pPr marL="1227455" indent="-144145">
              <a:lnSpc>
                <a:spcPts val="3600"/>
              </a:lnSpc>
              <a:buClr>
                <a:srgbClr val="000000"/>
              </a:buClr>
              <a:buSzPct val="114285"/>
              <a:buFont typeface="Arial MT"/>
              <a:buChar char="•"/>
              <a:tabLst>
                <a:tab pos="1228090" algn="l"/>
              </a:tabLst>
            </a:pPr>
            <a:r>
              <a:rPr sz="2800" spc="-5" dirty="0">
                <a:solidFill>
                  <a:srgbClr val="E36C09"/>
                </a:solidFill>
                <a:latin typeface="Times New Roman"/>
                <a:cs typeface="Times New Roman"/>
              </a:rPr>
              <a:t>Ownership</a:t>
            </a:r>
            <a:endParaRPr sz="2800">
              <a:latin typeface="Times New Roman"/>
              <a:cs typeface="Times New Roman"/>
            </a:endParaRPr>
          </a:p>
          <a:p>
            <a:pPr>
              <a:lnSpc>
                <a:spcPct val="100000"/>
              </a:lnSpc>
              <a:spcBef>
                <a:spcPts val="5"/>
              </a:spcBef>
            </a:pPr>
            <a:endParaRPr sz="2850">
              <a:latin typeface="Times New Roman"/>
              <a:cs typeface="Times New Roman"/>
            </a:endParaRPr>
          </a:p>
          <a:p>
            <a:pPr marL="12700">
              <a:lnSpc>
                <a:spcPct val="100000"/>
              </a:lnSpc>
            </a:pPr>
            <a:r>
              <a:rPr sz="2800" spc="-5" dirty="0">
                <a:solidFill>
                  <a:srgbClr val="4F81BC"/>
                </a:solidFill>
                <a:latin typeface="Times New Roman"/>
                <a:cs typeface="Times New Roman"/>
              </a:rPr>
              <a:t>Network</a:t>
            </a:r>
            <a:r>
              <a:rPr sz="2800" spc="-20" dirty="0">
                <a:solidFill>
                  <a:srgbClr val="4F81BC"/>
                </a:solidFill>
                <a:latin typeface="Times New Roman"/>
                <a:cs typeface="Times New Roman"/>
              </a:rPr>
              <a:t> </a:t>
            </a:r>
            <a:r>
              <a:rPr sz="2800" spc="-5" dirty="0">
                <a:solidFill>
                  <a:srgbClr val="4F81BC"/>
                </a:solidFill>
                <a:latin typeface="Times New Roman"/>
                <a:cs typeface="Times New Roman"/>
              </a:rPr>
              <a:t>types</a:t>
            </a:r>
            <a:endParaRPr sz="2800">
              <a:latin typeface="Times New Roman"/>
              <a:cs typeface="Times New Roman"/>
            </a:endParaRPr>
          </a:p>
          <a:p>
            <a:pPr marL="355600" indent="-342900">
              <a:lnSpc>
                <a:spcPct val="100000"/>
              </a:lnSpc>
              <a:buClr>
                <a:srgbClr val="000000"/>
              </a:buClr>
              <a:buSzPct val="114285"/>
              <a:buFont typeface="Arial MT"/>
              <a:buChar char="•"/>
              <a:tabLst>
                <a:tab pos="354965" algn="l"/>
                <a:tab pos="355600" algn="l"/>
              </a:tabLst>
            </a:pPr>
            <a:r>
              <a:rPr sz="2800" spc="-5" dirty="0">
                <a:solidFill>
                  <a:srgbClr val="974707"/>
                </a:solidFill>
                <a:latin typeface="Times New Roman"/>
                <a:cs typeface="Times New Roman"/>
              </a:rPr>
              <a:t>Local</a:t>
            </a:r>
            <a:r>
              <a:rPr sz="2800" dirty="0">
                <a:solidFill>
                  <a:srgbClr val="974707"/>
                </a:solidFill>
                <a:latin typeface="Times New Roman"/>
                <a:cs typeface="Times New Roman"/>
              </a:rPr>
              <a:t> </a:t>
            </a:r>
            <a:r>
              <a:rPr sz="2800" spc="-5" dirty="0">
                <a:solidFill>
                  <a:srgbClr val="974707"/>
                </a:solidFill>
                <a:latin typeface="Times New Roman"/>
                <a:cs typeface="Times New Roman"/>
              </a:rPr>
              <a:t>Area Network</a:t>
            </a:r>
            <a:r>
              <a:rPr sz="2800" spc="10" dirty="0">
                <a:solidFill>
                  <a:srgbClr val="974707"/>
                </a:solidFill>
                <a:latin typeface="Times New Roman"/>
                <a:cs typeface="Times New Roman"/>
              </a:rPr>
              <a:t> </a:t>
            </a:r>
            <a:r>
              <a:rPr sz="2800" spc="-5" dirty="0">
                <a:solidFill>
                  <a:srgbClr val="974707"/>
                </a:solidFill>
                <a:latin typeface="Times New Roman"/>
                <a:cs typeface="Times New Roman"/>
              </a:rPr>
              <a:t>(LAN)</a:t>
            </a:r>
            <a:endParaRPr sz="2800">
              <a:latin typeface="Times New Roman"/>
              <a:cs typeface="Times New Roman"/>
            </a:endParaRPr>
          </a:p>
          <a:p>
            <a:pPr marL="355600" indent="-342900">
              <a:lnSpc>
                <a:spcPct val="100000"/>
              </a:lnSpc>
              <a:spcBef>
                <a:spcPts val="600"/>
              </a:spcBef>
              <a:buClr>
                <a:srgbClr val="000000"/>
              </a:buClr>
              <a:buSzPct val="114285"/>
              <a:buFont typeface="Arial MT"/>
              <a:buChar char="•"/>
              <a:tabLst>
                <a:tab pos="354965" algn="l"/>
                <a:tab pos="355600" algn="l"/>
              </a:tabLst>
            </a:pPr>
            <a:r>
              <a:rPr sz="2800" dirty="0">
                <a:solidFill>
                  <a:srgbClr val="974707"/>
                </a:solidFill>
                <a:latin typeface="Times New Roman"/>
                <a:cs typeface="Times New Roman"/>
              </a:rPr>
              <a:t>Wide</a:t>
            </a:r>
            <a:r>
              <a:rPr sz="2800" spc="-30" dirty="0">
                <a:solidFill>
                  <a:srgbClr val="974707"/>
                </a:solidFill>
                <a:latin typeface="Times New Roman"/>
                <a:cs typeface="Times New Roman"/>
              </a:rPr>
              <a:t> </a:t>
            </a:r>
            <a:r>
              <a:rPr sz="2800" spc="-5" dirty="0">
                <a:solidFill>
                  <a:srgbClr val="974707"/>
                </a:solidFill>
                <a:latin typeface="Times New Roman"/>
                <a:cs typeface="Times New Roman"/>
              </a:rPr>
              <a:t>Area</a:t>
            </a:r>
            <a:r>
              <a:rPr sz="2800" spc="5" dirty="0">
                <a:solidFill>
                  <a:srgbClr val="974707"/>
                </a:solidFill>
                <a:latin typeface="Times New Roman"/>
                <a:cs typeface="Times New Roman"/>
              </a:rPr>
              <a:t> </a:t>
            </a:r>
            <a:r>
              <a:rPr sz="2800" spc="-5" dirty="0">
                <a:solidFill>
                  <a:srgbClr val="974707"/>
                </a:solidFill>
                <a:latin typeface="Times New Roman"/>
                <a:cs typeface="Times New Roman"/>
              </a:rPr>
              <a:t>Network</a:t>
            </a:r>
            <a:r>
              <a:rPr sz="2800" spc="10" dirty="0">
                <a:solidFill>
                  <a:srgbClr val="974707"/>
                </a:solidFill>
                <a:latin typeface="Times New Roman"/>
                <a:cs typeface="Times New Roman"/>
              </a:rPr>
              <a:t> </a:t>
            </a:r>
            <a:r>
              <a:rPr sz="2800" spc="-5" dirty="0">
                <a:solidFill>
                  <a:srgbClr val="974707"/>
                </a:solidFill>
                <a:latin typeface="Times New Roman"/>
                <a:cs typeface="Times New Roman"/>
              </a:rPr>
              <a:t>(WAN)</a:t>
            </a:r>
            <a:endParaRPr sz="2800">
              <a:latin typeface="Times New Roman"/>
              <a:cs typeface="Times New Roman"/>
            </a:endParaRPr>
          </a:p>
          <a:p>
            <a:pPr marL="355600" indent="-342900">
              <a:lnSpc>
                <a:spcPct val="100000"/>
              </a:lnSpc>
              <a:spcBef>
                <a:spcPts val="600"/>
              </a:spcBef>
              <a:buClr>
                <a:srgbClr val="000000"/>
              </a:buClr>
              <a:buSzPct val="114285"/>
              <a:buFont typeface="Arial MT"/>
              <a:buChar char="•"/>
              <a:tabLst>
                <a:tab pos="354965" algn="l"/>
                <a:tab pos="355600" algn="l"/>
              </a:tabLst>
            </a:pPr>
            <a:r>
              <a:rPr sz="2800" dirty="0">
                <a:solidFill>
                  <a:srgbClr val="974707"/>
                </a:solidFill>
                <a:latin typeface="Times New Roman"/>
                <a:cs typeface="Times New Roman"/>
              </a:rPr>
              <a:t>Metropolitan</a:t>
            </a:r>
            <a:r>
              <a:rPr sz="2800" spc="-35" dirty="0">
                <a:solidFill>
                  <a:srgbClr val="974707"/>
                </a:solidFill>
                <a:latin typeface="Times New Roman"/>
                <a:cs typeface="Times New Roman"/>
              </a:rPr>
              <a:t> </a:t>
            </a:r>
            <a:r>
              <a:rPr sz="2800" spc="-5" dirty="0">
                <a:solidFill>
                  <a:srgbClr val="974707"/>
                </a:solidFill>
                <a:latin typeface="Times New Roman"/>
                <a:cs typeface="Times New Roman"/>
              </a:rPr>
              <a:t>Area Network</a:t>
            </a:r>
            <a:r>
              <a:rPr sz="2800" spc="10" dirty="0">
                <a:solidFill>
                  <a:srgbClr val="974707"/>
                </a:solidFill>
                <a:latin typeface="Times New Roman"/>
                <a:cs typeface="Times New Roman"/>
              </a:rPr>
              <a:t> </a:t>
            </a:r>
            <a:r>
              <a:rPr sz="2800" spc="-5" dirty="0">
                <a:solidFill>
                  <a:srgbClr val="974707"/>
                </a:solidFill>
                <a:latin typeface="Times New Roman"/>
                <a:cs typeface="Times New Roman"/>
              </a:rPr>
              <a:t>(MAN)</a:t>
            </a:r>
            <a:endParaRPr sz="2800">
              <a:latin typeface="Times New Roman"/>
              <a:cs typeface="Times New Roman"/>
            </a:endParaRPr>
          </a:p>
        </p:txBody>
      </p:sp>
      <p:sp>
        <p:nvSpPr>
          <p:cNvPr id="6" name="Slide Number Placeholder 5">
            <a:extLst>
              <a:ext uri="{FF2B5EF4-FFF2-40B4-BE49-F238E27FC236}">
                <a16:creationId xmlns:a16="http://schemas.microsoft.com/office/drawing/2014/main" xmlns="" id="{7AD6719E-52FE-0D08-5265-0441D05E646C}"/>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30</a:t>
            </a:fld>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6114" y="216154"/>
            <a:ext cx="4395470"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06FC0"/>
                </a:solidFill>
              </a:rPr>
              <a:t>Local</a:t>
            </a:r>
            <a:r>
              <a:rPr sz="4000" spc="-30" dirty="0">
                <a:solidFill>
                  <a:srgbClr val="006FC0"/>
                </a:solidFill>
              </a:rPr>
              <a:t> </a:t>
            </a:r>
            <a:r>
              <a:rPr sz="4000" spc="-5" dirty="0">
                <a:solidFill>
                  <a:srgbClr val="006FC0"/>
                </a:solidFill>
              </a:rPr>
              <a:t>Area</a:t>
            </a:r>
            <a:r>
              <a:rPr sz="4000" spc="-15" dirty="0">
                <a:solidFill>
                  <a:srgbClr val="006FC0"/>
                </a:solidFill>
              </a:rPr>
              <a:t> </a:t>
            </a:r>
            <a:r>
              <a:rPr sz="4000" spc="-5" dirty="0">
                <a:solidFill>
                  <a:srgbClr val="006FC0"/>
                </a:solidFill>
              </a:rPr>
              <a:t>Networks</a:t>
            </a:r>
            <a:endParaRPr sz="4000"/>
          </a:p>
        </p:txBody>
      </p:sp>
      <p:sp>
        <p:nvSpPr>
          <p:cNvPr id="3" name="object 3"/>
          <p:cNvSpPr txBox="1"/>
          <p:nvPr/>
        </p:nvSpPr>
        <p:spPr>
          <a:xfrm>
            <a:off x="535940" y="849579"/>
            <a:ext cx="7582534" cy="971550"/>
          </a:xfrm>
          <a:prstGeom prst="rect">
            <a:avLst/>
          </a:prstGeom>
        </p:spPr>
        <p:txBody>
          <a:bodyPr vert="horz" wrap="square" lIns="0" tIns="13335" rIns="0" bIns="0" rtlCol="0">
            <a:spAutoFit/>
          </a:bodyPr>
          <a:lstStyle/>
          <a:p>
            <a:pPr marL="355600" indent="-342900">
              <a:lnSpc>
                <a:spcPct val="100000"/>
              </a:lnSpc>
              <a:spcBef>
                <a:spcPts val="105"/>
              </a:spcBef>
              <a:buSzPct val="160000"/>
              <a:buFont typeface="Arial MT"/>
              <a:buChar char="•"/>
              <a:tabLst>
                <a:tab pos="354965" algn="l"/>
                <a:tab pos="355600" algn="l"/>
              </a:tabLst>
            </a:pPr>
            <a:r>
              <a:rPr sz="2000" dirty="0">
                <a:latin typeface="Times New Roman"/>
                <a:cs typeface="Times New Roman"/>
              </a:rPr>
              <a:t>It</a:t>
            </a:r>
            <a:r>
              <a:rPr sz="2000" spc="-10"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privately</a:t>
            </a:r>
            <a:r>
              <a:rPr sz="2000" spc="484" dirty="0">
                <a:latin typeface="Times New Roman"/>
                <a:cs typeface="Times New Roman"/>
              </a:rPr>
              <a:t> </a:t>
            </a:r>
            <a:r>
              <a:rPr sz="2000" spc="5" dirty="0">
                <a:latin typeface="Times New Roman"/>
                <a:cs typeface="Times New Roman"/>
              </a:rPr>
              <a:t>owned</a:t>
            </a:r>
            <a:r>
              <a:rPr sz="2000" spc="-25" dirty="0">
                <a:latin typeface="Times New Roman"/>
                <a:cs typeface="Times New Roman"/>
              </a:rPr>
              <a:t> </a:t>
            </a:r>
            <a:r>
              <a:rPr sz="2000" dirty="0">
                <a:latin typeface="Times New Roman"/>
                <a:cs typeface="Times New Roman"/>
              </a:rPr>
              <a:t>network</a:t>
            </a:r>
            <a:r>
              <a:rPr sz="2000" spc="-35" dirty="0">
                <a:latin typeface="Times New Roman"/>
                <a:cs typeface="Times New Roman"/>
              </a:rPr>
              <a:t> </a:t>
            </a:r>
            <a:r>
              <a:rPr sz="2000" dirty="0">
                <a:latin typeface="Times New Roman"/>
                <a:cs typeface="Times New Roman"/>
              </a:rPr>
              <a:t>in</a:t>
            </a:r>
            <a:r>
              <a:rPr sz="2000" spc="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single</a:t>
            </a:r>
            <a:r>
              <a:rPr sz="2000" spc="-30" dirty="0">
                <a:latin typeface="Times New Roman"/>
                <a:cs typeface="Times New Roman"/>
              </a:rPr>
              <a:t> </a:t>
            </a:r>
            <a:r>
              <a:rPr sz="2000" dirty="0">
                <a:latin typeface="Times New Roman"/>
                <a:cs typeface="Times New Roman"/>
              </a:rPr>
              <a:t>office,</a:t>
            </a:r>
            <a:r>
              <a:rPr sz="2000" spc="-25" dirty="0">
                <a:latin typeface="Times New Roman"/>
                <a:cs typeface="Times New Roman"/>
              </a:rPr>
              <a:t> </a:t>
            </a:r>
            <a:r>
              <a:rPr sz="2000" dirty="0">
                <a:latin typeface="Times New Roman"/>
                <a:cs typeface="Times New Roman"/>
              </a:rPr>
              <a:t>building,</a:t>
            </a:r>
            <a:r>
              <a:rPr sz="2000" spc="-25" dirty="0">
                <a:latin typeface="Times New Roman"/>
                <a:cs typeface="Times New Roman"/>
              </a:rPr>
              <a:t> </a:t>
            </a:r>
            <a:r>
              <a:rPr sz="2000" spc="5" dirty="0">
                <a:latin typeface="Times New Roman"/>
                <a:cs typeface="Times New Roman"/>
              </a:rPr>
              <a:t>or</a:t>
            </a:r>
            <a:r>
              <a:rPr sz="2000" spc="-10" dirty="0">
                <a:latin typeface="Times New Roman"/>
                <a:cs typeface="Times New Roman"/>
              </a:rPr>
              <a:t> </a:t>
            </a:r>
            <a:r>
              <a:rPr sz="2000" dirty="0">
                <a:latin typeface="Times New Roman"/>
                <a:cs typeface="Times New Roman"/>
              </a:rPr>
              <a:t>campus.</a:t>
            </a:r>
            <a:endParaRPr sz="2000">
              <a:latin typeface="Times New Roman"/>
              <a:cs typeface="Times New Roman"/>
            </a:endParaRPr>
          </a:p>
          <a:p>
            <a:pPr marL="355600" indent="-342900">
              <a:lnSpc>
                <a:spcPct val="100000"/>
              </a:lnSpc>
              <a:buSzPct val="160000"/>
              <a:buFont typeface="Arial MT"/>
              <a:buChar char="•"/>
              <a:tabLst>
                <a:tab pos="354965" algn="l"/>
                <a:tab pos="355600" algn="l"/>
              </a:tabLst>
            </a:pPr>
            <a:r>
              <a:rPr sz="2000" dirty="0">
                <a:latin typeface="Times New Roman"/>
                <a:cs typeface="Times New Roman"/>
              </a:rPr>
              <a:t>Each host</a:t>
            </a:r>
            <a:r>
              <a:rPr sz="2000" spc="-25" dirty="0">
                <a:latin typeface="Times New Roman"/>
                <a:cs typeface="Times New Roman"/>
              </a:rPr>
              <a:t> </a:t>
            </a:r>
            <a:r>
              <a:rPr sz="2000" dirty="0">
                <a:latin typeface="Times New Roman"/>
                <a:cs typeface="Times New Roman"/>
              </a:rPr>
              <a:t>in the</a:t>
            </a:r>
            <a:r>
              <a:rPr sz="2000" spc="-20" dirty="0">
                <a:latin typeface="Times New Roman"/>
                <a:cs typeface="Times New Roman"/>
              </a:rPr>
              <a:t> </a:t>
            </a:r>
            <a:r>
              <a:rPr sz="2000" dirty="0">
                <a:latin typeface="Times New Roman"/>
                <a:cs typeface="Times New Roman"/>
              </a:rPr>
              <a:t>LAN</a:t>
            </a:r>
            <a:r>
              <a:rPr sz="2000" spc="5" dirty="0">
                <a:latin typeface="Times New Roman"/>
                <a:cs typeface="Times New Roman"/>
              </a:rPr>
              <a:t> has</a:t>
            </a:r>
            <a:r>
              <a:rPr sz="2000" spc="-20"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dirty="0">
                <a:latin typeface="Times New Roman"/>
                <a:cs typeface="Times New Roman"/>
              </a:rPr>
              <a:t>address.</a:t>
            </a:r>
            <a:endParaRPr sz="2000">
              <a:latin typeface="Times New Roman"/>
              <a:cs typeface="Times New Roman"/>
            </a:endParaRPr>
          </a:p>
          <a:p>
            <a:pPr marL="355600" indent="-342900">
              <a:lnSpc>
                <a:spcPct val="100000"/>
              </a:lnSpc>
              <a:buSzPct val="160000"/>
              <a:buFont typeface="Arial MT"/>
              <a:buChar char="•"/>
              <a:tabLst>
                <a:tab pos="354965" algn="l"/>
                <a:tab pos="355600" algn="l"/>
              </a:tabLst>
            </a:pP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packet</a:t>
            </a:r>
            <a:r>
              <a:rPr sz="2000" spc="-5" dirty="0">
                <a:latin typeface="Times New Roman"/>
                <a:cs typeface="Times New Roman"/>
              </a:rPr>
              <a:t> </a:t>
            </a:r>
            <a:r>
              <a:rPr sz="2000" dirty="0">
                <a:latin typeface="Times New Roman"/>
                <a:cs typeface="Times New Roman"/>
              </a:rPr>
              <a:t>carries</a:t>
            </a:r>
            <a:r>
              <a:rPr sz="2000" spc="-25" dirty="0">
                <a:latin typeface="Times New Roman"/>
                <a:cs typeface="Times New Roman"/>
              </a:rPr>
              <a:t> </a:t>
            </a:r>
            <a:r>
              <a:rPr sz="2000" spc="5" dirty="0">
                <a:latin typeface="Times New Roman"/>
                <a:cs typeface="Times New Roman"/>
              </a:rPr>
              <a:t>source</a:t>
            </a:r>
            <a:r>
              <a:rPr sz="2000" spc="-25" dirty="0">
                <a:latin typeface="Times New Roman"/>
                <a:cs typeface="Times New Roman"/>
              </a:rPr>
              <a:t> </a:t>
            </a:r>
            <a:r>
              <a:rPr sz="2000" dirty="0">
                <a:latin typeface="Times New Roman"/>
                <a:cs typeface="Times New Roman"/>
              </a:rPr>
              <a:t>host</a:t>
            </a:r>
            <a:r>
              <a:rPr sz="2000" spc="-15" dirty="0">
                <a:latin typeface="Times New Roman"/>
                <a:cs typeface="Times New Roman"/>
              </a:rPr>
              <a:t> </a:t>
            </a:r>
            <a:r>
              <a:rPr sz="2000" dirty="0">
                <a:latin typeface="Times New Roman"/>
                <a:cs typeface="Times New Roman"/>
              </a:rPr>
              <a:t>address</a:t>
            </a:r>
            <a:r>
              <a:rPr sz="2000" spc="-3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destination</a:t>
            </a:r>
            <a:r>
              <a:rPr sz="2000" spc="-35" dirty="0">
                <a:latin typeface="Times New Roman"/>
                <a:cs typeface="Times New Roman"/>
              </a:rPr>
              <a:t> </a:t>
            </a:r>
            <a:r>
              <a:rPr sz="2000" dirty="0">
                <a:latin typeface="Times New Roman"/>
                <a:cs typeface="Times New Roman"/>
              </a:rPr>
              <a:t>host</a:t>
            </a:r>
            <a:r>
              <a:rPr sz="2000" spc="-15" dirty="0">
                <a:latin typeface="Times New Roman"/>
                <a:cs typeface="Times New Roman"/>
              </a:rPr>
              <a:t> </a:t>
            </a:r>
            <a:r>
              <a:rPr sz="2000" dirty="0">
                <a:latin typeface="Times New Roman"/>
                <a:cs typeface="Times New Roman"/>
              </a:rPr>
              <a:t>address</a:t>
            </a:r>
            <a:endParaRPr sz="2000">
              <a:latin typeface="Times New Roman"/>
              <a:cs typeface="Times New Roman"/>
            </a:endParaRPr>
          </a:p>
        </p:txBody>
      </p:sp>
      <p:pic>
        <p:nvPicPr>
          <p:cNvPr id="4" name="object 4"/>
          <p:cNvPicPr/>
          <p:nvPr/>
        </p:nvPicPr>
        <p:blipFill>
          <a:blip r:embed="rId2" cstate="print"/>
          <a:stretch>
            <a:fillRect/>
          </a:stretch>
        </p:blipFill>
        <p:spPr>
          <a:xfrm>
            <a:off x="457200" y="2069592"/>
            <a:ext cx="7920228" cy="3885490"/>
          </a:xfrm>
          <a:prstGeom prst="rect">
            <a:avLst/>
          </a:prstGeom>
        </p:spPr>
      </p:pic>
      <p:sp>
        <p:nvSpPr>
          <p:cNvPr id="7" name="Slide Number Placeholder 6">
            <a:extLst>
              <a:ext uri="{FF2B5EF4-FFF2-40B4-BE49-F238E27FC236}">
                <a16:creationId xmlns:a16="http://schemas.microsoft.com/office/drawing/2014/main" xmlns="" id="{A16CCE52-2B00-9F94-F38D-7281F61D9E9F}"/>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31</a:t>
            </a:fld>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0680" y="211328"/>
            <a:ext cx="4340860"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06FC0"/>
                </a:solidFill>
              </a:rPr>
              <a:t>Wide</a:t>
            </a:r>
            <a:r>
              <a:rPr sz="4000" spc="-15" dirty="0">
                <a:solidFill>
                  <a:srgbClr val="006FC0"/>
                </a:solidFill>
              </a:rPr>
              <a:t> </a:t>
            </a:r>
            <a:r>
              <a:rPr sz="4000" spc="-5" dirty="0">
                <a:solidFill>
                  <a:srgbClr val="006FC0"/>
                </a:solidFill>
              </a:rPr>
              <a:t>Area</a:t>
            </a:r>
            <a:r>
              <a:rPr sz="4000" spc="-20" dirty="0">
                <a:solidFill>
                  <a:srgbClr val="006FC0"/>
                </a:solidFill>
              </a:rPr>
              <a:t> </a:t>
            </a:r>
            <a:r>
              <a:rPr sz="4000" spc="-5" dirty="0">
                <a:solidFill>
                  <a:srgbClr val="006FC0"/>
                </a:solidFill>
              </a:rPr>
              <a:t>Networks</a:t>
            </a:r>
            <a:endParaRPr sz="4000"/>
          </a:p>
        </p:txBody>
      </p:sp>
      <p:sp>
        <p:nvSpPr>
          <p:cNvPr id="3" name="object 3"/>
          <p:cNvSpPr txBox="1"/>
          <p:nvPr/>
        </p:nvSpPr>
        <p:spPr>
          <a:xfrm>
            <a:off x="535940" y="952880"/>
            <a:ext cx="6988809" cy="1123315"/>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2400" i="1" spc="-5" dirty="0">
                <a:latin typeface="Times New Roman"/>
                <a:cs typeface="Times New Roman"/>
              </a:rPr>
              <a:t>Has</a:t>
            </a:r>
            <a:r>
              <a:rPr sz="2400" i="1" spc="5" dirty="0">
                <a:latin typeface="Times New Roman"/>
                <a:cs typeface="Times New Roman"/>
              </a:rPr>
              <a:t> </a:t>
            </a:r>
            <a:r>
              <a:rPr sz="2400" i="1" spc="-5" dirty="0">
                <a:latin typeface="Times New Roman"/>
                <a:cs typeface="Times New Roman"/>
              </a:rPr>
              <a:t>wider</a:t>
            </a:r>
            <a:r>
              <a:rPr sz="2400" i="1" spc="-15" dirty="0">
                <a:latin typeface="Times New Roman"/>
                <a:cs typeface="Times New Roman"/>
              </a:rPr>
              <a:t> </a:t>
            </a:r>
            <a:r>
              <a:rPr sz="2400" i="1" dirty="0">
                <a:latin typeface="Times New Roman"/>
                <a:cs typeface="Times New Roman"/>
              </a:rPr>
              <a:t>geographical</a:t>
            </a:r>
            <a:r>
              <a:rPr sz="2400" i="1" spc="-20" dirty="0">
                <a:latin typeface="Times New Roman"/>
                <a:cs typeface="Times New Roman"/>
              </a:rPr>
              <a:t> </a:t>
            </a:r>
            <a:r>
              <a:rPr sz="2400" i="1" dirty="0">
                <a:latin typeface="Times New Roman"/>
                <a:cs typeface="Times New Roman"/>
              </a:rPr>
              <a:t>coverage</a:t>
            </a:r>
            <a:endParaRPr sz="2400" dirty="0">
              <a:latin typeface="Times New Roman"/>
              <a:cs typeface="Times New Roman"/>
            </a:endParaRPr>
          </a:p>
          <a:p>
            <a:pPr marL="355600" indent="-342900">
              <a:lnSpc>
                <a:spcPct val="100000"/>
              </a:lnSpc>
              <a:buFont typeface="Arial MT"/>
              <a:buChar char="•"/>
              <a:tabLst>
                <a:tab pos="354965" algn="l"/>
                <a:tab pos="355600" algn="l"/>
              </a:tabLst>
            </a:pPr>
            <a:r>
              <a:rPr sz="2400" i="1" dirty="0">
                <a:latin typeface="Times New Roman"/>
                <a:cs typeface="Times New Roman"/>
              </a:rPr>
              <a:t>Spanning</a:t>
            </a:r>
            <a:r>
              <a:rPr sz="2400" i="1" spc="-15" dirty="0">
                <a:latin typeface="Times New Roman"/>
                <a:cs typeface="Times New Roman"/>
              </a:rPr>
              <a:t> </a:t>
            </a:r>
            <a:r>
              <a:rPr sz="2400" i="1" dirty="0">
                <a:latin typeface="Times New Roman"/>
                <a:cs typeface="Times New Roman"/>
              </a:rPr>
              <a:t>a town, a state,</a:t>
            </a:r>
            <a:r>
              <a:rPr sz="2400" i="1" spc="-25" dirty="0">
                <a:latin typeface="Times New Roman"/>
                <a:cs typeface="Times New Roman"/>
              </a:rPr>
              <a:t> </a:t>
            </a:r>
            <a:r>
              <a:rPr sz="2400" i="1" dirty="0">
                <a:latin typeface="Times New Roman"/>
                <a:cs typeface="Times New Roman"/>
              </a:rPr>
              <a:t>a country</a:t>
            </a:r>
            <a:r>
              <a:rPr sz="2400" i="1" spc="-20" dirty="0">
                <a:latin typeface="Times New Roman"/>
                <a:cs typeface="Times New Roman"/>
              </a:rPr>
              <a:t> </a:t>
            </a:r>
            <a:r>
              <a:rPr sz="2400" i="1" dirty="0">
                <a:latin typeface="Times New Roman"/>
                <a:cs typeface="Times New Roman"/>
              </a:rPr>
              <a:t>or even</a:t>
            </a:r>
            <a:r>
              <a:rPr sz="2400" i="1" spc="-10" dirty="0">
                <a:latin typeface="Times New Roman"/>
                <a:cs typeface="Times New Roman"/>
              </a:rPr>
              <a:t> </a:t>
            </a:r>
            <a:r>
              <a:rPr sz="2400" i="1" dirty="0">
                <a:latin typeface="Times New Roman"/>
                <a:cs typeface="Times New Roman"/>
              </a:rPr>
              <a:t>the</a:t>
            </a:r>
            <a:r>
              <a:rPr sz="2400" i="1" spc="-5" dirty="0">
                <a:latin typeface="Times New Roman"/>
                <a:cs typeface="Times New Roman"/>
              </a:rPr>
              <a:t> </a:t>
            </a:r>
            <a:r>
              <a:rPr sz="2400" i="1" dirty="0">
                <a:latin typeface="Times New Roman"/>
                <a:cs typeface="Times New Roman"/>
              </a:rPr>
              <a:t>world.</a:t>
            </a:r>
            <a:endParaRPr sz="2400" dirty="0">
              <a:latin typeface="Times New Roman"/>
              <a:cs typeface="Times New Roman"/>
            </a:endParaRPr>
          </a:p>
          <a:p>
            <a:pPr marL="355600" indent="-342900">
              <a:lnSpc>
                <a:spcPct val="100000"/>
              </a:lnSpc>
              <a:buFont typeface="Arial MT"/>
              <a:buChar char="•"/>
              <a:tabLst>
                <a:tab pos="354965" algn="l"/>
                <a:tab pos="355600" algn="l"/>
              </a:tabLst>
            </a:pPr>
            <a:r>
              <a:rPr sz="2400" i="1" dirty="0">
                <a:latin typeface="Times New Roman"/>
                <a:cs typeface="Times New Roman"/>
              </a:rPr>
              <a:t>WAN</a:t>
            </a:r>
            <a:r>
              <a:rPr sz="2400" i="1" spc="-10" dirty="0">
                <a:latin typeface="Times New Roman"/>
                <a:cs typeface="Times New Roman"/>
              </a:rPr>
              <a:t> </a:t>
            </a:r>
            <a:r>
              <a:rPr sz="2400" i="1" dirty="0">
                <a:latin typeface="Times New Roman"/>
                <a:cs typeface="Times New Roman"/>
              </a:rPr>
              <a:t>interconnects</a:t>
            </a:r>
            <a:r>
              <a:rPr sz="2400" i="1" spc="-45" dirty="0">
                <a:latin typeface="Times New Roman"/>
                <a:cs typeface="Times New Roman"/>
              </a:rPr>
              <a:t> </a:t>
            </a:r>
            <a:r>
              <a:rPr sz="2400" i="1" dirty="0">
                <a:latin typeface="Times New Roman"/>
                <a:cs typeface="Times New Roman"/>
              </a:rPr>
              <a:t>connecting</a:t>
            </a:r>
            <a:r>
              <a:rPr sz="2400" i="1" spc="-40" dirty="0">
                <a:latin typeface="Times New Roman"/>
                <a:cs typeface="Times New Roman"/>
              </a:rPr>
              <a:t> </a:t>
            </a:r>
            <a:r>
              <a:rPr sz="2400" i="1" dirty="0">
                <a:latin typeface="Times New Roman"/>
                <a:cs typeface="Times New Roman"/>
              </a:rPr>
              <a:t>devices.</a:t>
            </a:r>
            <a:endParaRPr sz="2400" dirty="0">
              <a:latin typeface="Times New Roman"/>
              <a:cs typeface="Times New Roman"/>
            </a:endParaRPr>
          </a:p>
        </p:txBody>
      </p:sp>
      <p:grpSp>
        <p:nvGrpSpPr>
          <p:cNvPr id="4" name="object 4"/>
          <p:cNvGrpSpPr/>
          <p:nvPr/>
        </p:nvGrpSpPr>
        <p:grpSpPr>
          <a:xfrm>
            <a:off x="4724400" y="2700527"/>
            <a:ext cx="3622040" cy="2544445"/>
            <a:chOff x="5280659" y="2625851"/>
            <a:chExt cx="3622040" cy="2544445"/>
          </a:xfrm>
        </p:grpSpPr>
        <p:pic>
          <p:nvPicPr>
            <p:cNvPr id="5" name="object 5"/>
            <p:cNvPicPr/>
            <p:nvPr/>
          </p:nvPicPr>
          <p:blipFill>
            <a:blip r:embed="rId2" cstate="print"/>
            <a:stretch>
              <a:fillRect/>
            </a:stretch>
          </p:blipFill>
          <p:spPr>
            <a:xfrm>
              <a:off x="5355335" y="2700527"/>
              <a:ext cx="3547110" cy="2469642"/>
            </a:xfrm>
            <a:prstGeom prst="rect">
              <a:avLst/>
            </a:prstGeom>
          </p:spPr>
        </p:pic>
        <p:pic>
          <p:nvPicPr>
            <p:cNvPr id="6" name="object 6"/>
            <p:cNvPicPr/>
            <p:nvPr/>
          </p:nvPicPr>
          <p:blipFill>
            <a:blip r:embed="rId3" cstate="print"/>
            <a:stretch>
              <a:fillRect/>
            </a:stretch>
          </p:blipFill>
          <p:spPr>
            <a:xfrm>
              <a:off x="5280659" y="2625851"/>
              <a:ext cx="3546347" cy="2468880"/>
            </a:xfrm>
            <a:prstGeom prst="rect">
              <a:avLst/>
            </a:prstGeom>
          </p:spPr>
        </p:pic>
      </p:grpSp>
      <p:sp>
        <p:nvSpPr>
          <p:cNvPr id="9" name="Slide Number Placeholder 8">
            <a:extLst>
              <a:ext uri="{FF2B5EF4-FFF2-40B4-BE49-F238E27FC236}">
                <a16:creationId xmlns:a16="http://schemas.microsoft.com/office/drawing/2014/main" xmlns="" id="{6A4DB0DB-1B2F-85D4-3308-FE0533EF46C3}"/>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32</a:t>
            </a:fld>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5464" y="614298"/>
            <a:ext cx="465963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6FC0"/>
                </a:solidFill>
              </a:rPr>
              <a:t>Two</a:t>
            </a:r>
            <a:r>
              <a:rPr sz="2800" spc="-20" dirty="0">
                <a:solidFill>
                  <a:srgbClr val="006FC0"/>
                </a:solidFill>
              </a:rPr>
              <a:t> </a:t>
            </a:r>
            <a:r>
              <a:rPr sz="2800" dirty="0">
                <a:solidFill>
                  <a:srgbClr val="006FC0"/>
                </a:solidFill>
              </a:rPr>
              <a:t>distinct</a:t>
            </a:r>
            <a:r>
              <a:rPr sz="2800" spc="-50" dirty="0">
                <a:solidFill>
                  <a:srgbClr val="006FC0"/>
                </a:solidFill>
              </a:rPr>
              <a:t> </a:t>
            </a:r>
            <a:r>
              <a:rPr sz="2800" spc="-5" dirty="0">
                <a:solidFill>
                  <a:srgbClr val="006FC0"/>
                </a:solidFill>
              </a:rPr>
              <a:t>examples</a:t>
            </a:r>
            <a:r>
              <a:rPr sz="2800" spc="-20" dirty="0">
                <a:solidFill>
                  <a:srgbClr val="006FC0"/>
                </a:solidFill>
              </a:rPr>
              <a:t> </a:t>
            </a:r>
            <a:r>
              <a:rPr sz="2800" dirty="0">
                <a:solidFill>
                  <a:srgbClr val="006FC0"/>
                </a:solidFill>
              </a:rPr>
              <a:t>of</a:t>
            </a:r>
            <a:r>
              <a:rPr sz="2800" spc="-20" dirty="0">
                <a:solidFill>
                  <a:srgbClr val="006FC0"/>
                </a:solidFill>
              </a:rPr>
              <a:t> </a:t>
            </a:r>
            <a:r>
              <a:rPr sz="2800" spc="-5" dirty="0">
                <a:solidFill>
                  <a:srgbClr val="006FC0"/>
                </a:solidFill>
              </a:rPr>
              <a:t>WAN:</a:t>
            </a:r>
            <a:endParaRPr sz="2800"/>
          </a:p>
        </p:txBody>
      </p:sp>
      <p:sp>
        <p:nvSpPr>
          <p:cNvPr id="3" name="object 3"/>
          <p:cNvSpPr txBox="1"/>
          <p:nvPr/>
        </p:nvSpPr>
        <p:spPr>
          <a:xfrm>
            <a:off x="680719" y="1579880"/>
            <a:ext cx="4301490" cy="1428750"/>
          </a:xfrm>
          <a:prstGeom prst="rect">
            <a:avLst/>
          </a:prstGeom>
        </p:spPr>
        <p:txBody>
          <a:bodyPr vert="horz" wrap="square" lIns="0" tIns="13335" rIns="0" bIns="0" rtlCol="0">
            <a:spAutoFit/>
          </a:bodyPr>
          <a:lstStyle/>
          <a:p>
            <a:pPr marL="439420" indent="-343535">
              <a:lnSpc>
                <a:spcPct val="100000"/>
              </a:lnSpc>
              <a:spcBef>
                <a:spcPts val="105"/>
              </a:spcBef>
              <a:buClr>
                <a:srgbClr val="000000"/>
              </a:buClr>
              <a:buSzPct val="141176"/>
              <a:buFont typeface="Arial MT"/>
              <a:buChar char="•"/>
              <a:tabLst>
                <a:tab pos="439420" algn="l"/>
                <a:tab pos="440055" algn="l"/>
              </a:tabLst>
            </a:pPr>
            <a:r>
              <a:rPr sz="1700" b="1" spc="-5" dirty="0">
                <a:solidFill>
                  <a:srgbClr val="974707"/>
                </a:solidFill>
                <a:latin typeface="Times New Roman"/>
                <a:cs typeface="Times New Roman"/>
              </a:rPr>
              <a:t>Point-to-point</a:t>
            </a:r>
            <a:r>
              <a:rPr sz="1700" b="1" spc="-25" dirty="0">
                <a:solidFill>
                  <a:srgbClr val="974707"/>
                </a:solidFill>
                <a:latin typeface="Times New Roman"/>
                <a:cs typeface="Times New Roman"/>
              </a:rPr>
              <a:t> </a:t>
            </a:r>
            <a:r>
              <a:rPr sz="1700" b="1" dirty="0">
                <a:solidFill>
                  <a:srgbClr val="974707"/>
                </a:solidFill>
                <a:latin typeface="Times New Roman"/>
                <a:cs typeface="Times New Roman"/>
              </a:rPr>
              <a:t>WANs</a:t>
            </a:r>
            <a:endParaRPr sz="1700">
              <a:latin typeface="Times New Roman"/>
              <a:cs typeface="Times New Roman"/>
            </a:endParaRPr>
          </a:p>
          <a:p>
            <a:pPr marL="439420" indent="-343535">
              <a:lnSpc>
                <a:spcPct val="100000"/>
              </a:lnSpc>
              <a:spcBef>
                <a:spcPts val="70"/>
              </a:spcBef>
              <a:buClr>
                <a:srgbClr val="000000"/>
              </a:buClr>
              <a:buSzPct val="141176"/>
              <a:buFont typeface="Arial MT"/>
              <a:buChar char="•"/>
              <a:tabLst>
                <a:tab pos="439420" algn="l"/>
                <a:tab pos="440055" algn="l"/>
              </a:tabLst>
            </a:pPr>
            <a:r>
              <a:rPr sz="1700" b="1" dirty="0">
                <a:solidFill>
                  <a:srgbClr val="974707"/>
                </a:solidFill>
                <a:latin typeface="Times New Roman"/>
                <a:cs typeface="Times New Roman"/>
              </a:rPr>
              <a:t>Switched</a:t>
            </a:r>
            <a:r>
              <a:rPr sz="1700" b="1" spc="-70" dirty="0">
                <a:solidFill>
                  <a:srgbClr val="974707"/>
                </a:solidFill>
                <a:latin typeface="Times New Roman"/>
                <a:cs typeface="Times New Roman"/>
              </a:rPr>
              <a:t> </a:t>
            </a:r>
            <a:r>
              <a:rPr sz="1700" b="1" dirty="0">
                <a:solidFill>
                  <a:srgbClr val="974707"/>
                </a:solidFill>
                <a:latin typeface="Times New Roman"/>
                <a:cs typeface="Times New Roman"/>
              </a:rPr>
              <a:t>WANs</a:t>
            </a:r>
            <a:endParaRPr sz="1700">
              <a:latin typeface="Times New Roman"/>
              <a:cs typeface="Times New Roman"/>
            </a:endParaRPr>
          </a:p>
          <a:p>
            <a:pPr marL="12700">
              <a:lnSpc>
                <a:spcPct val="100000"/>
              </a:lnSpc>
              <a:spcBef>
                <a:spcPts val="1150"/>
              </a:spcBef>
            </a:pPr>
            <a:r>
              <a:rPr sz="2400" spc="-5" dirty="0">
                <a:solidFill>
                  <a:srgbClr val="006FC0"/>
                </a:solidFill>
                <a:latin typeface="Times New Roman"/>
                <a:cs typeface="Times New Roman"/>
              </a:rPr>
              <a:t>Point-to-point</a:t>
            </a:r>
            <a:r>
              <a:rPr sz="2400" spc="-50" dirty="0">
                <a:solidFill>
                  <a:srgbClr val="006FC0"/>
                </a:solidFill>
                <a:latin typeface="Times New Roman"/>
                <a:cs typeface="Times New Roman"/>
              </a:rPr>
              <a:t> </a:t>
            </a:r>
            <a:r>
              <a:rPr sz="2400" spc="-10" dirty="0">
                <a:solidFill>
                  <a:srgbClr val="006FC0"/>
                </a:solidFill>
                <a:latin typeface="Times New Roman"/>
                <a:cs typeface="Times New Roman"/>
              </a:rPr>
              <a:t>WANs</a:t>
            </a:r>
            <a:endParaRPr sz="2400">
              <a:latin typeface="Times New Roman"/>
              <a:cs typeface="Times New Roman"/>
            </a:endParaRPr>
          </a:p>
          <a:p>
            <a:pPr marL="325120" indent="-193040">
              <a:lnSpc>
                <a:spcPct val="100000"/>
              </a:lnSpc>
              <a:spcBef>
                <a:spcPts val="580"/>
              </a:spcBef>
              <a:buSzPct val="133333"/>
              <a:buFont typeface="Arial MT"/>
              <a:buChar char="•"/>
              <a:tabLst>
                <a:tab pos="325755" algn="l"/>
              </a:tabLst>
            </a:pPr>
            <a:r>
              <a:rPr sz="1800" dirty="0">
                <a:latin typeface="Times New Roman"/>
                <a:cs typeface="Times New Roman"/>
              </a:rPr>
              <a:t>Two</a:t>
            </a:r>
            <a:r>
              <a:rPr sz="1800" spc="-20" dirty="0">
                <a:latin typeface="Times New Roman"/>
                <a:cs typeface="Times New Roman"/>
              </a:rPr>
              <a:t> </a:t>
            </a:r>
            <a:r>
              <a:rPr sz="1800" spc="-5" dirty="0">
                <a:latin typeface="Times New Roman"/>
                <a:cs typeface="Times New Roman"/>
              </a:rPr>
              <a:t>communicating </a:t>
            </a:r>
            <a:r>
              <a:rPr sz="1800" dirty="0">
                <a:latin typeface="Times New Roman"/>
                <a:cs typeface="Times New Roman"/>
              </a:rPr>
              <a:t>devices</a:t>
            </a:r>
            <a:r>
              <a:rPr sz="1800" spc="-20" dirty="0">
                <a:latin typeface="Times New Roman"/>
                <a:cs typeface="Times New Roman"/>
              </a:rPr>
              <a:t> </a:t>
            </a:r>
            <a:r>
              <a:rPr sz="1800" dirty="0">
                <a:latin typeface="Times New Roman"/>
                <a:cs typeface="Times New Roman"/>
              </a:rPr>
              <a:t>are</a:t>
            </a:r>
            <a:r>
              <a:rPr sz="1800" spc="-5" dirty="0">
                <a:latin typeface="Times New Roman"/>
                <a:cs typeface="Times New Roman"/>
              </a:rPr>
              <a:t> </a:t>
            </a:r>
            <a:r>
              <a:rPr sz="1800" dirty="0">
                <a:latin typeface="Times New Roman"/>
                <a:cs typeface="Times New Roman"/>
              </a:rPr>
              <a:t>connected</a:t>
            </a:r>
            <a:endParaRPr sz="1800">
              <a:latin typeface="Times New Roman"/>
              <a:cs typeface="Times New Roman"/>
            </a:endParaRPr>
          </a:p>
        </p:txBody>
      </p:sp>
      <p:pic>
        <p:nvPicPr>
          <p:cNvPr id="4" name="object 4"/>
          <p:cNvPicPr/>
          <p:nvPr/>
        </p:nvPicPr>
        <p:blipFill>
          <a:blip r:embed="rId2" cstate="print"/>
          <a:stretch>
            <a:fillRect/>
          </a:stretch>
        </p:blipFill>
        <p:spPr>
          <a:xfrm>
            <a:off x="556259" y="3249167"/>
            <a:ext cx="8208264" cy="2362199"/>
          </a:xfrm>
          <a:prstGeom prst="rect">
            <a:avLst/>
          </a:prstGeom>
        </p:spPr>
      </p:pic>
      <p:sp>
        <p:nvSpPr>
          <p:cNvPr id="7" name="Slide Number Placeholder 6">
            <a:extLst>
              <a:ext uri="{FF2B5EF4-FFF2-40B4-BE49-F238E27FC236}">
                <a16:creationId xmlns:a16="http://schemas.microsoft.com/office/drawing/2014/main" xmlns="" id="{9152CA71-D683-C260-4CF9-5B5317B336FE}"/>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33</a:t>
            </a:fld>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41503"/>
            <a:ext cx="207772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974707"/>
                </a:solidFill>
              </a:rPr>
              <a:t>Switched</a:t>
            </a:r>
            <a:r>
              <a:rPr sz="2400" spc="-65" dirty="0">
                <a:solidFill>
                  <a:srgbClr val="974707"/>
                </a:solidFill>
              </a:rPr>
              <a:t> </a:t>
            </a:r>
            <a:r>
              <a:rPr sz="2400" spc="-10" dirty="0">
                <a:solidFill>
                  <a:srgbClr val="974707"/>
                </a:solidFill>
              </a:rPr>
              <a:t>WANs</a:t>
            </a:r>
            <a:endParaRPr sz="2400"/>
          </a:p>
        </p:txBody>
      </p:sp>
      <p:sp>
        <p:nvSpPr>
          <p:cNvPr id="3" name="object 3"/>
          <p:cNvSpPr txBox="1"/>
          <p:nvPr/>
        </p:nvSpPr>
        <p:spPr>
          <a:xfrm>
            <a:off x="629513" y="859917"/>
            <a:ext cx="7348855" cy="678180"/>
          </a:xfrm>
          <a:prstGeom prst="rect">
            <a:avLst/>
          </a:prstGeom>
        </p:spPr>
        <p:txBody>
          <a:bodyPr vert="horz" wrap="square" lIns="0" tIns="64135" rIns="0" bIns="0" rtlCol="0">
            <a:spAutoFit/>
          </a:bodyPr>
          <a:lstStyle/>
          <a:p>
            <a:pPr marL="355600" indent="-343535">
              <a:lnSpc>
                <a:spcPct val="100000"/>
              </a:lnSpc>
              <a:spcBef>
                <a:spcPts val="505"/>
              </a:spcBef>
              <a:buFont typeface="Arial MT"/>
              <a:buChar char="•"/>
              <a:tabLst>
                <a:tab pos="355600" algn="l"/>
                <a:tab pos="356235" algn="l"/>
              </a:tabLst>
            </a:pPr>
            <a:r>
              <a:rPr sz="1800" dirty="0">
                <a:latin typeface="Times New Roman"/>
                <a:cs typeface="Times New Roman"/>
              </a:rPr>
              <a:t>Network</a:t>
            </a:r>
            <a:r>
              <a:rPr sz="1800" spc="-10" dirty="0">
                <a:latin typeface="Times New Roman"/>
                <a:cs typeface="Times New Roman"/>
              </a:rPr>
              <a:t> </a:t>
            </a:r>
            <a:r>
              <a:rPr sz="1800" spc="-5" dirty="0">
                <a:latin typeface="Times New Roman"/>
                <a:cs typeface="Times New Roman"/>
              </a:rPr>
              <a:t>with</a:t>
            </a:r>
            <a:r>
              <a:rPr sz="1800" spc="-10" dirty="0">
                <a:latin typeface="Times New Roman"/>
                <a:cs typeface="Times New Roman"/>
              </a:rPr>
              <a:t> </a:t>
            </a:r>
            <a:r>
              <a:rPr sz="1800" spc="-5" dirty="0">
                <a:latin typeface="Times New Roman"/>
                <a:cs typeface="Times New Roman"/>
              </a:rPr>
              <a:t>more </a:t>
            </a:r>
            <a:r>
              <a:rPr sz="1800" dirty="0">
                <a:latin typeface="Times New Roman"/>
                <a:cs typeface="Times New Roman"/>
              </a:rPr>
              <a:t>than</a:t>
            </a:r>
            <a:r>
              <a:rPr sz="1800" spc="-25" dirty="0">
                <a:latin typeface="Times New Roman"/>
                <a:cs typeface="Times New Roman"/>
              </a:rPr>
              <a:t> </a:t>
            </a:r>
            <a:r>
              <a:rPr sz="1800" spc="-5" dirty="0">
                <a:latin typeface="Times New Roman"/>
                <a:cs typeface="Times New Roman"/>
              </a:rPr>
              <a:t>two</a:t>
            </a:r>
            <a:r>
              <a:rPr sz="1800" spc="-10" dirty="0">
                <a:latin typeface="Times New Roman"/>
                <a:cs typeface="Times New Roman"/>
              </a:rPr>
              <a:t> </a:t>
            </a:r>
            <a:r>
              <a:rPr sz="1800" dirty="0">
                <a:latin typeface="Times New Roman"/>
                <a:cs typeface="Times New Roman"/>
              </a:rPr>
              <a:t>ends</a:t>
            </a:r>
            <a:endParaRPr sz="1800">
              <a:latin typeface="Times New Roman"/>
              <a:cs typeface="Times New Roman"/>
            </a:endParaRPr>
          </a:p>
          <a:p>
            <a:pPr marL="355600" indent="-343535">
              <a:lnSpc>
                <a:spcPct val="100000"/>
              </a:lnSpc>
              <a:spcBef>
                <a:spcPts val="409"/>
              </a:spcBef>
              <a:buFont typeface="Arial MT"/>
              <a:buChar char="•"/>
              <a:tabLst>
                <a:tab pos="355600" algn="l"/>
                <a:tab pos="356235" algn="l"/>
              </a:tabLst>
            </a:pPr>
            <a:r>
              <a:rPr sz="1800" spc="-5" dirty="0">
                <a:latin typeface="Times New Roman"/>
                <a:cs typeface="Times New Roman"/>
              </a:rPr>
              <a:t>WAN</a:t>
            </a:r>
            <a:r>
              <a:rPr sz="1800" spc="5" dirty="0">
                <a:latin typeface="Times New Roman"/>
                <a:cs typeface="Times New Roman"/>
              </a:rPr>
              <a:t> </a:t>
            </a:r>
            <a:r>
              <a:rPr sz="1800" spc="-5" dirty="0">
                <a:latin typeface="Times New Roman"/>
                <a:cs typeface="Times New Roman"/>
              </a:rPr>
              <a:t>is</a:t>
            </a:r>
            <a:r>
              <a:rPr sz="1800" spc="-10" dirty="0">
                <a:latin typeface="Times New Roman"/>
                <a:cs typeface="Times New Roman"/>
              </a:rPr>
              <a:t> </a:t>
            </a:r>
            <a:r>
              <a:rPr sz="1800" dirty="0">
                <a:latin typeface="Times New Roman"/>
                <a:cs typeface="Times New Roman"/>
              </a:rPr>
              <a:t>combination of</a:t>
            </a:r>
            <a:r>
              <a:rPr sz="1800" spc="-10" dirty="0">
                <a:latin typeface="Times New Roman"/>
                <a:cs typeface="Times New Roman"/>
              </a:rPr>
              <a:t> </a:t>
            </a:r>
            <a:r>
              <a:rPr sz="1800" dirty="0">
                <a:latin typeface="Times New Roman"/>
                <a:cs typeface="Times New Roman"/>
              </a:rPr>
              <a:t>several point-to-pont</a:t>
            </a:r>
            <a:r>
              <a:rPr sz="1800" spc="-15" dirty="0">
                <a:latin typeface="Times New Roman"/>
                <a:cs typeface="Times New Roman"/>
              </a:rPr>
              <a:t> </a:t>
            </a:r>
            <a:r>
              <a:rPr sz="1800" spc="-10" dirty="0">
                <a:latin typeface="Times New Roman"/>
                <a:cs typeface="Times New Roman"/>
              </a:rPr>
              <a:t>WANs</a:t>
            </a:r>
            <a:r>
              <a:rPr sz="1800" spc="10" dirty="0">
                <a:latin typeface="Times New Roman"/>
                <a:cs typeface="Times New Roman"/>
              </a:rPr>
              <a:t> </a:t>
            </a:r>
            <a:r>
              <a:rPr sz="1800" dirty="0">
                <a:latin typeface="Times New Roman"/>
                <a:cs typeface="Times New Roman"/>
              </a:rPr>
              <a:t>connected</a:t>
            </a:r>
            <a:r>
              <a:rPr sz="1800" spc="-15" dirty="0">
                <a:latin typeface="Times New Roman"/>
                <a:cs typeface="Times New Roman"/>
              </a:rPr>
              <a:t> </a:t>
            </a:r>
            <a:r>
              <a:rPr sz="1800" dirty="0">
                <a:latin typeface="Times New Roman"/>
                <a:cs typeface="Times New Roman"/>
              </a:rPr>
              <a:t>by </a:t>
            </a:r>
            <a:r>
              <a:rPr sz="1800" spc="-5" dirty="0">
                <a:latin typeface="Times New Roman"/>
                <a:cs typeface="Times New Roman"/>
              </a:rPr>
              <a:t>switches</a:t>
            </a:r>
            <a:endParaRPr sz="1800">
              <a:latin typeface="Times New Roman"/>
              <a:cs typeface="Times New Roman"/>
            </a:endParaRPr>
          </a:p>
        </p:txBody>
      </p:sp>
      <p:pic>
        <p:nvPicPr>
          <p:cNvPr id="4" name="object 4"/>
          <p:cNvPicPr/>
          <p:nvPr/>
        </p:nvPicPr>
        <p:blipFill>
          <a:blip r:embed="rId2" cstate="print"/>
          <a:stretch>
            <a:fillRect/>
          </a:stretch>
        </p:blipFill>
        <p:spPr>
          <a:xfrm>
            <a:off x="457200" y="2450556"/>
            <a:ext cx="8182772" cy="2389667"/>
          </a:xfrm>
          <a:prstGeom prst="rect">
            <a:avLst/>
          </a:prstGeom>
        </p:spPr>
      </p:pic>
      <p:sp>
        <p:nvSpPr>
          <p:cNvPr id="7" name="Slide Number Placeholder 6">
            <a:extLst>
              <a:ext uri="{FF2B5EF4-FFF2-40B4-BE49-F238E27FC236}">
                <a16:creationId xmlns:a16="http://schemas.microsoft.com/office/drawing/2014/main" xmlns="" id="{2BE395F5-D5AB-F3BC-EF9C-BC2683D6F487}"/>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34</a:t>
            </a:fld>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1098" y="478663"/>
            <a:ext cx="4440302" cy="696594"/>
          </a:xfrm>
        </p:spPr>
        <p:txBody>
          <a:bodyPr/>
          <a:lstStyle/>
          <a:p>
            <a:r>
              <a:rPr lang="en-US" dirty="0"/>
              <a:t>Examples</a:t>
            </a:r>
            <a:endParaRPr lang="en-IN" dirty="0"/>
          </a:p>
        </p:txBody>
      </p:sp>
      <p:sp>
        <p:nvSpPr>
          <p:cNvPr id="3" name="Text Placeholder 2"/>
          <p:cNvSpPr>
            <a:spLocks noGrp="1"/>
          </p:cNvSpPr>
          <p:nvPr>
            <p:ph type="body" idx="1"/>
          </p:nvPr>
        </p:nvSpPr>
        <p:spPr/>
        <p:txBody>
          <a:bodyPr/>
          <a:lstStyle/>
          <a:p>
            <a:endParaRPr lang="en-IN"/>
          </a:p>
        </p:txBody>
      </p:sp>
      <p:pic>
        <p:nvPicPr>
          <p:cNvPr id="4" name="Picture 2" descr="An illustration shows a topology with two local area networks (L A N) connected to a point-to-point wide area network (W A N).">
            <a:extLst>
              <a:ext uri="{FF2B5EF4-FFF2-40B4-BE49-F238E27FC236}">
                <a16:creationId xmlns:a16="http://schemas.microsoft.com/office/drawing/2014/main" xmlns="" id="{0ED4A9C1-3A0A-4033-A3C2-56926BC42937}"/>
              </a:ext>
            </a:extLst>
          </p:cNvPr>
          <p:cNvPicPr>
            <a:picLocks noChangeAspect="1" noChangeArrowheads="1"/>
          </p:cNvPicPr>
          <p:nvPr/>
        </p:nvPicPr>
        <p:blipFill>
          <a:blip r:embed="rId2"/>
          <a:stretch>
            <a:fillRect/>
          </a:stretch>
        </p:blipFill>
        <p:spPr bwMode="auto">
          <a:xfrm>
            <a:off x="76200" y="1447800"/>
            <a:ext cx="8609922" cy="304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Slide Number Placeholder 6">
            <a:extLst>
              <a:ext uri="{FF2B5EF4-FFF2-40B4-BE49-F238E27FC236}">
                <a16:creationId xmlns:a16="http://schemas.microsoft.com/office/drawing/2014/main" xmlns="" id="{EFB59D77-EB49-9D52-C8DB-F9ACACBAA080}"/>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35</a:t>
            </a:fld>
            <a:endParaRPr lang="en-IN" dirty="0"/>
          </a:p>
        </p:txBody>
      </p:sp>
    </p:spTree>
    <p:extLst>
      <p:ext uri="{BB962C8B-B14F-4D97-AF65-F5344CB8AC3E}">
        <p14:creationId xmlns:p14="http://schemas.microsoft.com/office/powerpoint/2010/main" xmlns="" val="31064119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n illustration shows the connections between multiple wide area networks (W A N) and local area networks (L A N).">
            <a:extLst>
              <a:ext uri="{FF2B5EF4-FFF2-40B4-BE49-F238E27FC236}">
                <a16:creationId xmlns:a16="http://schemas.microsoft.com/office/drawing/2014/main" xmlns="" id="{0ED4A9C1-3A0A-4033-A3C2-56926BC42937}"/>
              </a:ext>
            </a:extLst>
          </p:cNvPr>
          <p:cNvPicPr>
            <a:picLocks noChangeAspect="1" noChangeArrowheads="1"/>
          </p:cNvPicPr>
          <p:nvPr/>
        </p:nvPicPr>
        <p:blipFill>
          <a:blip r:embed="rId2"/>
          <a:stretch>
            <a:fillRect/>
          </a:stretch>
        </p:blipFill>
        <p:spPr bwMode="auto">
          <a:xfrm>
            <a:off x="304800" y="1600200"/>
            <a:ext cx="8478980" cy="4059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a:extLst>
              <a:ext uri="{FF2B5EF4-FFF2-40B4-BE49-F238E27FC236}">
                <a16:creationId xmlns:a16="http://schemas.microsoft.com/office/drawing/2014/main" xmlns="" id="{C4043793-0DA1-C26C-47B0-8E670F70C055}"/>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36</a:t>
            </a:fld>
            <a:endParaRPr lang="en-IN" dirty="0"/>
          </a:p>
        </p:txBody>
      </p:sp>
    </p:spTree>
    <p:extLst>
      <p:ext uri="{BB962C8B-B14F-4D97-AF65-F5344CB8AC3E}">
        <p14:creationId xmlns:p14="http://schemas.microsoft.com/office/powerpoint/2010/main" xmlns="" val="26535820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p:txBody>
          <a:bodyPr/>
          <a:lstStyle/>
          <a:p>
            <a:r>
              <a:rPr lang="en-US" sz="3600" dirty="0">
                <a:latin typeface="+mj-lt"/>
              </a:rPr>
              <a:t> </a:t>
            </a:r>
            <a:r>
              <a:rPr lang="en-US" sz="4000" dirty="0">
                <a:latin typeface="+mj-lt"/>
              </a:rPr>
              <a:t>The Internet</a:t>
            </a:r>
            <a:endParaRPr lang="en-US" sz="3600" dirty="0">
              <a:latin typeface="+mj-lt"/>
            </a:endParaRP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p:txBody>
          <a:bodyPr/>
          <a:lstStyle/>
          <a:p>
            <a:pPr algn="just">
              <a:defRPr/>
            </a:pPr>
            <a:r>
              <a:rPr lang="en-US" dirty="0"/>
              <a:t>An </a:t>
            </a:r>
            <a:r>
              <a:rPr lang="en-US" b="1" dirty="0"/>
              <a:t>internet</a:t>
            </a:r>
            <a:r>
              <a:rPr lang="en-US" dirty="0"/>
              <a:t> (note the lowercase i) is two or more networks that can communicate with each other. </a:t>
            </a:r>
          </a:p>
          <a:p>
            <a:pPr algn="just">
              <a:defRPr/>
            </a:pPr>
            <a:endParaRPr lang="en-US" dirty="0"/>
          </a:p>
          <a:p>
            <a:pPr algn="just">
              <a:defRPr/>
            </a:pPr>
            <a:r>
              <a:rPr lang="en-US" dirty="0"/>
              <a:t>The most notable internet is called the </a:t>
            </a:r>
            <a:r>
              <a:rPr lang="en-US" b="1" dirty="0"/>
              <a:t>Internet</a:t>
            </a:r>
            <a:r>
              <a:rPr lang="en-US" dirty="0"/>
              <a:t> (uppercase I) and is composed of millions of interconnected networks. </a:t>
            </a:r>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37</a:t>
            </a:fld>
            <a:endParaRPr lang="en-US">
              <a:latin typeface="+mj-lt"/>
            </a:endParaRPr>
          </a:p>
        </p:txBody>
      </p:sp>
    </p:spTree>
    <p:extLst>
      <p:ext uri="{BB962C8B-B14F-4D97-AF65-F5344CB8AC3E}">
        <p14:creationId xmlns:p14="http://schemas.microsoft.com/office/powerpoint/2010/main" xmlns="" val="283209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a:xfrm>
            <a:off x="545072" y="5375564"/>
            <a:ext cx="8458200" cy="1163781"/>
          </a:xfrm>
        </p:spPr>
        <p:txBody>
          <a:bodyPr/>
          <a:lstStyle/>
          <a:p>
            <a:r>
              <a:rPr lang="en-US" altLang="en-US" sz="1400" b="0" i="0" dirty="0">
                <a:solidFill>
                  <a:schemeClr val="tx1"/>
                </a:solidFill>
              </a:rPr>
              <a:t>Figure 1.13 The Internet today</a:t>
            </a:r>
            <a:br>
              <a:rPr lang="en-US" altLang="en-US" sz="1400" b="0" i="0" dirty="0">
                <a:solidFill>
                  <a:schemeClr val="tx1"/>
                </a:solidFill>
              </a:rPr>
            </a:br>
            <a:r>
              <a:rPr lang="en-US" sz="1400" b="0" i="0" dirty="0"/>
              <a:t>A network topology representing the internet shows several backbones connected to several provider networks and peering points. The peering points connect to the provider networks. The provider networks connect to multiple customer networks. The provider networks establish connections between them. Similarly, the customer networks have connections between them.</a:t>
            </a:r>
            <a:endParaRPr lang="en-US" altLang="en-US" dirty="0">
              <a:solidFill>
                <a:schemeClr val="tx1"/>
              </a:solidFill>
            </a:endParaRPr>
          </a:p>
        </p:txBody>
      </p:sp>
      <p:pic>
        <p:nvPicPr>
          <p:cNvPr id="9" name="Picture 2" descr="An illustration represents the functioning of today's internet.">
            <a:extLst>
              <a:ext uri="{FF2B5EF4-FFF2-40B4-BE49-F238E27FC236}">
                <a16:creationId xmlns:a16="http://schemas.microsoft.com/office/drawing/2014/main" xmlns="" id="{0ED4A9C1-3A0A-4033-A3C2-56926BC42937}"/>
              </a:ext>
            </a:extLst>
          </p:cNvPr>
          <p:cNvPicPr>
            <a:picLocks noChangeAspect="1" noChangeArrowheads="1"/>
          </p:cNvPicPr>
          <p:nvPr/>
        </p:nvPicPr>
        <p:blipFill>
          <a:blip r:embed="rId2"/>
          <a:stretch>
            <a:fillRect/>
          </a:stretch>
        </p:blipFill>
        <p:spPr bwMode="auto">
          <a:xfrm>
            <a:off x="459007" y="124355"/>
            <a:ext cx="8188425" cy="50295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4">
            <a:extLst>
              <a:ext uri="{FF2B5EF4-FFF2-40B4-BE49-F238E27FC236}">
                <a16:creationId xmlns:a16="http://schemas.microsoft.com/office/drawing/2014/main" xmlns="" id="{93FB4F65-2955-4EDB-B5C4-52570701A434}"/>
              </a:ext>
            </a:extLst>
          </p:cNvPr>
          <p:cNvSpPr>
            <a:spLocks noGrp="1"/>
          </p:cNvSpPr>
          <p:nvPr>
            <p:ph type="sldNum" sz="quarter" idx="10"/>
          </p:nvPr>
        </p:nvSpPr>
        <p:spPr/>
        <p:txBody>
          <a:bodyPr/>
          <a:lstStyle/>
          <a:p>
            <a:fld id="{68151E55-6873-49E2-B8D5-2F265E6F1973}" type="slidenum">
              <a:rPr lang="en-US" smtClean="0"/>
              <a:pPr/>
              <a:t>38</a:t>
            </a:fld>
            <a:endParaRPr lang="en-US"/>
          </a:p>
        </p:txBody>
      </p:sp>
    </p:spTree>
    <p:extLst>
      <p:ext uri="{BB962C8B-B14F-4D97-AF65-F5344CB8AC3E}">
        <p14:creationId xmlns:p14="http://schemas.microsoft.com/office/powerpoint/2010/main" xmlns="" val="1736348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Accessing the Internet</a:t>
            </a:r>
            <a:endParaRPr lang="en-IN" sz="2800" dirty="0"/>
          </a:p>
        </p:txBody>
      </p:sp>
      <p:sp>
        <p:nvSpPr>
          <p:cNvPr id="3" name="Content Placeholder 2"/>
          <p:cNvSpPr>
            <a:spLocks noGrp="1"/>
          </p:cNvSpPr>
          <p:nvPr>
            <p:ph sz="quarter" idx="11"/>
          </p:nvPr>
        </p:nvSpPr>
        <p:spPr/>
        <p:txBody>
          <a:bodyPr/>
          <a:lstStyle/>
          <a:p>
            <a:r>
              <a:rPr lang="en-US" dirty="0"/>
              <a:t>Using Telephone Networks</a:t>
            </a:r>
          </a:p>
          <a:p>
            <a:pPr lvl="1"/>
            <a:r>
              <a:rPr lang="en-US" dirty="0"/>
              <a:t>Dial-up Service</a:t>
            </a:r>
          </a:p>
          <a:p>
            <a:pPr lvl="1"/>
            <a:r>
              <a:rPr lang="en-US" dirty="0"/>
              <a:t>DSL Service</a:t>
            </a:r>
          </a:p>
          <a:p>
            <a:endParaRPr lang="en-US" dirty="0"/>
          </a:p>
          <a:p>
            <a:r>
              <a:rPr lang="en-US" dirty="0"/>
              <a:t>Using Cable Networks</a:t>
            </a:r>
          </a:p>
          <a:p>
            <a:endParaRPr lang="en-US" dirty="0"/>
          </a:p>
          <a:p>
            <a:r>
              <a:rPr lang="en-US" dirty="0"/>
              <a:t>Using Wireless Networks</a:t>
            </a:r>
          </a:p>
          <a:p>
            <a:endParaRPr lang="en-US" dirty="0"/>
          </a:p>
          <a:p>
            <a:r>
              <a:rPr lang="en-US" dirty="0"/>
              <a:t>Direct Connection to the Internet</a:t>
            </a:r>
            <a:endParaRPr lang="en-IN" dirty="0"/>
          </a:p>
        </p:txBody>
      </p:sp>
      <p:sp>
        <p:nvSpPr>
          <p:cNvPr id="4" name="Slide Number Placeholder 3">
            <a:extLst>
              <a:ext uri="{FF2B5EF4-FFF2-40B4-BE49-F238E27FC236}">
                <a16:creationId xmlns:a16="http://schemas.microsoft.com/office/drawing/2014/main" xmlns="" id="{590FB312-A521-D8A1-2E92-CFB8EAF05849}"/>
              </a:ext>
            </a:extLst>
          </p:cNvPr>
          <p:cNvSpPr>
            <a:spLocks noGrp="1"/>
          </p:cNvSpPr>
          <p:nvPr>
            <p:ph type="sldNum" sz="quarter" idx="10"/>
          </p:nvPr>
        </p:nvSpPr>
        <p:spPr/>
        <p:txBody>
          <a:bodyPr/>
          <a:lstStyle/>
          <a:p>
            <a:fld id="{68151E55-6873-49E2-B8D5-2F265E6F1973}" type="slidenum">
              <a:rPr lang="en-US" smtClean="0"/>
              <a:pPr/>
              <a:t>39</a:t>
            </a:fld>
            <a:endParaRPr lang="en-US"/>
          </a:p>
        </p:txBody>
      </p:sp>
    </p:spTree>
    <p:extLst>
      <p:ext uri="{BB962C8B-B14F-4D97-AF65-F5344CB8AC3E}">
        <p14:creationId xmlns:p14="http://schemas.microsoft.com/office/powerpoint/2010/main" xmlns="" val="2667032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F68F15-3E58-5EF0-9512-5D81F3B63A6F}"/>
              </a:ext>
            </a:extLst>
          </p:cNvPr>
          <p:cNvSpPr>
            <a:spLocks noGrp="1"/>
          </p:cNvSpPr>
          <p:nvPr>
            <p:ph type="title"/>
          </p:nvPr>
        </p:nvSpPr>
        <p:spPr/>
        <p:txBody>
          <a:bodyPr/>
          <a:lstStyle/>
          <a:p>
            <a:r>
              <a:rPr lang="en-IN" sz="2800" b="1" i="1" u="none" strike="noStrike" baseline="0" dirty="0">
                <a:latin typeface="Times New Roman" panose="02020603050405020304" pitchFamily="18" charset="0"/>
                <a:cs typeface="Times New Roman" panose="02020603050405020304" pitchFamily="18" charset="0"/>
              </a:rPr>
              <a:t>Connection-Oriented Versus Connectionless Service</a:t>
            </a:r>
            <a:endParaRPr lang="en-IN" sz="2800" i="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4FC9A791-84BC-5E0F-5845-E0DA2A14C026}"/>
              </a:ext>
            </a:extLst>
          </p:cNvPr>
          <p:cNvSpPr>
            <a:spLocks noGrp="1"/>
          </p:cNvSpPr>
          <p:nvPr>
            <p:ph sz="quarter" idx="11"/>
          </p:nvPr>
        </p:nvSpPr>
        <p:spPr>
          <a:xfrm>
            <a:off x="189232" y="1346558"/>
            <a:ext cx="8458200" cy="4974336"/>
          </a:xfrm>
        </p:spPr>
        <p:txBody>
          <a:bodyPr/>
          <a:lstStyle/>
          <a:p>
            <a:pPr algn="just"/>
            <a:r>
              <a:rPr lang="en-US" dirty="0"/>
              <a:t>Layers can offer two different types of service to the layers above them: connection- oriented and connectionless. </a:t>
            </a:r>
          </a:p>
          <a:p>
            <a:pPr algn="just"/>
            <a:endParaRPr lang="en-US" dirty="0"/>
          </a:p>
          <a:p>
            <a:pPr algn="just"/>
            <a:r>
              <a:rPr lang="en-US" dirty="0"/>
              <a:t>In this section we will look at these two types and examine the differences between them.</a:t>
            </a:r>
          </a:p>
          <a:p>
            <a:pPr algn="just"/>
            <a:endParaRPr lang="en-US" dirty="0"/>
          </a:p>
          <a:p>
            <a:pPr algn="just"/>
            <a:r>
              <a:rPr lang="en-US" b="1" dirty="0"/>
              <a:t>Connection-oriented</a:t>
            </a:r>
            <a:r>
              <a:rPr lang="en-US" dirty="0"/>
              <a:t> service is modeled after the telephone system. </a:t>
            </a:r>
          </a:p>
          <a:p>
            <a:pPr algn="just"/>
            <a:endParaRPr lang="en-US" dirty="0"/>
          </a:p>
          <a:p>
            <a:pPr algn="just"/>
            <a:r>
              <a:rPr lang="en-US" dirty="0"/>
              <a:t>To talk to someone, you pick up the phone, dial the number, talk, and then hang up. Similarly, to use a connection-oriented network service, the service user first establishes a connection, uses the connection, and then releases the connection.</a:t>
            </a:r>
            <a:endParaRPr lang="en-IN" dirty="0"/>
          </a:p>
        </p:txBody>
      </p:sp>
      <p:sp>
        <p:nvSpPr>
          <p:cNvPr id="4" name="Text Placeholder 3">
            <a:extLst>
              <a:ext uri="{FF2B5EF4-FFF2-40B4-BE49-F238E27FC236}">
                <a16:creationId xmlns:a16="http://schemas.microsoft.com/office/drawing/2014/main" xmlns="" id="{6E395404-8D32-5E5E-9282-0EE9B20D69E7}"/>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EAC7C4D4-BCC1-C39C-D308-11DDA35F500F}"/>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CD809D5B-185C-DECA-37BD-6BA637879251}"/>
              </a:ext>
            </a:extLst>
          </p:cNvPr>
          <p:cNvSpPr>
            <a:spLocks noGrp="1"/>
          </p:cNvSpPr>
          <p:nvPr>
            <p:ph type="sldNum" sz="quarter" idx="10"/>
          </p:nvPr>
        </p:nvSpPr>
        <p:spPr/>
        <p:txBody>
          <a:bodyPr/>
          <a:lstStyle/>
          <a:p>
            <a:fld id="{68151E55-6873-49E2-B8D5-2F265E6F1973}" type="slidenum">
              <a:rPr lang="en-US" smtClean="0"/>
              <a:pPr/>
              <a:t>40</a:t>
            </a:fld>
            <a:endParaRPr lang="en-US"/>
          </a:p>
        </p:txBody>
      </p:sp>
    </p:spTree>
    <p:extLst>
      <p:ext uri="{BB962C8B-B14F-4D97-AF65-F5344CB8AC3E}">
        <p14:creationId xmlns:p14="http://schemas.microsoft.com/office/powerpoint/2010/main" xmlns="" val="2818770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AEFA31-84EB-ED83-1C65-D0D8CCC98CD8}"/>
              </a:ext>
            </a:extLst>
          </p:cNvPr>
          <p:cNvSpPr>
            <a:spLocks noGrp="1"/>
          </p:cNvSpPr>
          <p:nvPr>
            <p:ph type="title"/>
          </p:nvPr>
        </p:nvSpPr>
        <p:spPr/>
        <p:txBody>
          <a:bodyPr/>
          <a:lstStyle/>
          <a:p>
            <a:r>
              <a:rPr lang="en-IN" b="1" i="1" u="none" strike="noStrike" baseline="0" dirty="0">
                <a:latin typeface="Times New Roman" panose="02020603050405020304" pitchFamily="18" charset="0"/>
                <a:cs typeface="Times New Roman" panose="02020603050405020304" pitchFamily="18" charset="0"/>
              </a:rPr>
              <a:t>Connection-Oriented Versus Connectionless Service</a:t>
            </a:r>
            <a:endParaRPr lang="en-IN" dirty="0"/>
          </a:p>
        </p:txBody>
      </p:sp>
      <p:sp>
        <p:nvSpPr>
          <p:cNvPr id="3" name="Content Placeholder 2">
            <a:extLst>
              <a:ext uri="{FF2B5EF4-FFF2-40B4-BE49-F238E27FC236}">
                <a16:creationId xmlns:a16="http://schemas.microsoft.com/office/drawing/2014/main" xmlns="" id="{6940CA35-3526-BC9C-14BF-D62C5E08CCC1}"/>
              </a:ext>
            </a:extLst>
          </p:cNvPr>
          <p:cNvSpPr>
            <a:spLocks noGrp="1"/>
          </p:cNvSpPr>
          <p:nvPr>
            <p:ph sz="quarter" idx="11"/>
          </p:nvPr>
        </p:nvSpPr>
        <p:spPr/>
        <p:txBody>
          <a:bodyPr/>
          <a:lstStyle/>
          <a:p>
            <a:pPr marL="342900" indent="-342900" algn="l">
              <a:buFont typeface="Arial" panose="020B0604020202020204" pitchFamily="34" charset="0"/>
              <a:buChar char="•"/>
            </a:pPr>
            <a:r>
              <a:rPr lang="en-US" sz="2800" b="0" i="0" u="none" strike="noStrike" baseline="0" dirty="0">
                <a:latin typeface="Times New Roman" panose="02020603050405020304" pitchFamily="18" charset="0"/>
                <a:cs typeface="Times New Roman" panose="02020603050405020304" pitchFamily="18" charset="0"/>
              </a:rPr>
              <a:t>In some cases when a connection is established, the sender, receiver, and subnet conduct a </a:t>
            </a:r>
            <a:r>
              <a:rPr lang="en-US" sz="2800" b="1" i="0" u="none" strike="noStrike" baseline="0" dirty="0">
                <a:latin typeface="Times New Roman" panose="02020603050405020304" pitchFamily="18" charset="0"/>
                <a:cs typeface="Times New Roman" panose="02020603050405020304" pitchFamily="18" charset="0"/>
              </a:rPr>
              <a:t>negotiation </a:t>
            </a:r>
            <a:r>
              <a:rPr lang="en-US" sz="2800" b="0" i="0" u="none" strike="noStrike" baseline="0" dirty="0">
                <a:latin typeface="Times New Roman" panose="02020603050405020304" pitchFamily="18" charset="0"/>
                <a:cs typeface="Times New Roman" panose="02020603050405020304" pitchFamily="18" charset="0"/>
              </a:rPr>
              <a:t>about the parameters to be used, such as maximum message size, quality of service required, and other issues. </a:t>
            </a:r>
          </a:p>
          <a:p>
            <a:pPr marL="342900" indent="-342900" algn="l">
              <a:buFont typeface="Arial" panose="020B0604020202020204" pitchFamily="34" charset="0"/>
              <a:buChar char="•"/>
            </a:pPr>
            <a:r>
              <a:rPr lang="en-US" sz="2800" b="0" i="0" u="none" strike="noStrike" baseline="0" dirty="0">
                <a:latin typeface="Times New Roman" panose="02020603050405020304" pitchFamily="18" charset="0"/>
                <a:cs typeface="Times New Roman" panose="02020603050405020304" pitchFamily="18" charset="0"/>
              </a:rPr>
              <a:t>Typically, one side makes a proposal and the other side can accept it, reject it, or make a counterproposal.</a:t>
            </a:r>
          </a:p>
          <a:p>
            <a:pPr marL="342900" indent="-342900" algn="l">
              <a:buFont typeface="Arial" panose="020B0604020202020204" pitchFamily="34" charset="0"/>
              <a:buChar char="•"/>
            </a:pPr>
            <a:r>
              <a:rPr lang="en-US" sz="2800" b="0" i="0" u="none" strike="noStrike" baseline="0" dirty="0">
                <a:latin typeface="Times New Roman" panose="02020603050405020304" pitchFamily="18" charset="0"/>
                <a:cs typeface="Times New Roman" panose="02020603050405020304" pitchFamily="18" charset="0"/>
              </a:rPr>
              <a:t>A </a:t>
            </a:r>
            <a:r>
              <a:rPr lang="en-US" sz="2800" b="1" i="0" u="none" strike="noStrike" baseline="0" dirty="0">
                <a:latin typeface="Times New Roman" panose="02020603050405020304" pitchFamily="18" charset="0"/>
                <a:cs typeface="Times New Roman" panose="02020603050405020304" pitchFamily="18" charset="0"/>
              </a:rPr>
              <a:t>circuit </a:t>
            </a:r>
            <a:r>
              <a:rPr lang="en-US" sz="2800" b="0" i="0" u="none" strike="noStrike" baseline="0" dirty="0">
                <a:latin typeface="Times New Roman" panose="02020603050405020304" pitchFamily="18" charset="0"/>
                <a:cs typeface="Times New Roman" panose="02020603050405020304" pitchFamily="18" charset="0"/>
              </a:rPr>
              <a:t>is another name for a connection with associated resources, such as a fixed bandwidth. </a:t>
            </a:r>
          </a:p>
          <a:p>
            <a:pPr marL="342900" indent="-342900" algn="l">
              <a:buFont typeface="Arial" panose="020B0604020202020204" pitchFamily="34" charset="0"/>
              <a:buChar char="•"/>
            </a:pPr>
            <a:r>
              <a:rPr lang="en-US" sz="2800" b="0" i="0" u="none" strike="noStrike" baseline="0" dirty="0">
                <a:latin typeface="Times New Roman" panose="02020603050405020304" pitchFamily="18" charset="0"/>
                <a:cs typeface="Times New Roman" panose="02020603050405020304" pitchFamily="18" charset="0"/>
              </a:rPr>
              <a:t>This dates from the telephone network in which a circuit was a path over copper wire that carried a phone conversation.</a:t>
            </a:r>
            <a:endParaRPr lang="en-IN" sz="28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xmlns="" id="{28E6AED0-B00C-F84E-0567-BB37FFDBB72C}"/>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042C4CFB-7B98-BFF1-BD3F-D6E78C43CB34}"/>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C49B0AEF-0580-0C24-3196-113F9BD96CFE}"/>
              </a:ext>
            </a:extLst>
          </p:cNvPr>
          <p:cNvSpPr>
            <a:spLocks noGrp="1"/>
          </p:cNvSpPr>
          <p:nvPr>
            <p:ph type="sldNum" sz="quarter" idx="10"/>
          </p:nvPr>
        </p:nvSpPr>
        <p:spPr/>
        <p:txBody>
          <a:bodyPr/>
          <a:lstStyle/>
          <a:p>
            <a:fld id="{68151E55-6873-49E2-B8D5-2F265E6F1973}" type="slidenum">
              <a:rPr lang="en-US" smtClean="0"/>
              <a:pPr/>
              <a:t>41</a:t>
            </a:fld>
            <a:endParaRPr lang="en-US"/>
          </a:p>
        </p:txBody>
      </p:sp>
    </p:spTree>
    <p:extLst>
      <p:ext uri="{BB962C8B-B14F-4D97-AF65-F5344CB8AC3E}">
        <p14:creationId xmlns:p14="http://schemas.microsoft.com/office/powerpoint/2010/main" xmlns="" val="2520175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E8EF1A-EA0B-4CCD-23B1-8B0AA948A21C}"/>
              </a:ext>
            </a:extLst>
          </p:cNvPr>
          <p:cNvSpPr>
            <a:spLocks noGrp="1"/>
          </p:cNvSpPr>
          <p:nvPr>
            <p:ph type="title"/>
          </p:nvPr>
        </p:nvSpPr>
        <p:spPr/>
        <p:txBody>
          <a:bodyPr/>
          <a:lstStyle/>
          <a:p>
            <a:r>
              <a:rPr lang="en-IN" b="1" i="1" u="none" strike="noStrike" baseline="0" dirty="0">
                <a:latin typeface="Times New Roman" panose="02020603050405020304" pitchFamily="18" charset="0"/>
                <a:cs typeface="Times New Roman" panose="02020603050405020304" pitchFamily="18" charset="0"/>
              </a:rPr>
              <a:t>Connection-Oriented Versus Connectionless Service</a:t>
            </a:r>
            <a:endParaRPr lang="en-IN" dirty="0"/>
          </a:p>
        </p:txBody>
      </p:sp>
      <p:sp>
        <p:nvSpPr>
          <p:cNvPr id="3" name="Content Placeholder 2">
            <a:extLst>
              <a:ext uri="{FF2B5EF4-FFF2-40B4-BE49-F238E27FC236}">
                <a16:creationId xmlns:a16="http://schemas.microsoft.com/office/drawing/2014/main" xmlns="" id="{C1973091-DA30-AE17-27DB-479541C8693C}"/>
              </a:ext>
            </a:extLst>
          </p:cNvPr>
          <p:cNvSpPr>
            <a:spLocks noGrp="1"/>
          </p:cNvSpPr>
          <p:nvPr>
            <p:ph sz="quarter" idx="11"/>
          </p:nvPr>
        </p:nvSpPr>
        <p:spPr/>
        <p:txBody>
          <a:bodyPr/>
          <a:lstStyle/>
          <a:p>
            <a:pPr marL="342900" indent="-342900" algn="just">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In contrast to connection-oriented service, </a:t>
            </a:r>
            <a:r>
              <a:rPr lang="en-US" b="1" i="0" u="none" strike="noStrike" baseline="0" dirty="0">
                <a:latin typeface="Times New Roman" panose="02020603050405020304" pitchFamily="18" charset="0"/>
                <a:cs typeface="Times New Roman" panose="02020603050405020304" pitchFamily="18" charset="0"/>
              </a:rPr>
              <a:t>connectionless </a:t>
            </a:r>
            <a:r>
              <a:rPr lang="en-US" b="0" i="0" u="none" strike="noStrike" baseline="0" dirty="0">
                <a:latin typeface="Times New Roman" panose="02020603050405020304" pitchFamily="18" charset="0"/>
                <a:cs typeface="Times New Roman" panose="02020603050405020304" pitchFamily="18" charset="0"/>
              </a:rPr>
              <a:t>service is modeled after the postal system. </a:t>
            </a:r>
          </a:p>
          <a:p>
            <a:pPr marL="342900" indent="-342900" algn="just">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Each message (letter) carries the full destination address, and each one is routed through the intermediate nodes inside the system independent of all the subsequent messages.</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kind of service can further be characterized by its </a:t>
            </a:r>
            <a:r>
              <a:rPr lang="en-US" b="1" dirty="0">
                <a:latin typeface="Times New Roman" panose="02020603050405020304" pitchFamily="18" charset="0"/>
                <a:cs typeface="Times New Roman" panose="02020603050405020304" pitchFamily="18" charset="0"/>
              </a:rPr>
              <a:t>reliability.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services are reliable in the sense that they never lose data. Usually, a reliable service is implemented by having the receiver acknowledge the receipt of each message so the sender is sure that it arrived.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acknowledgement process introduces overhead and delays, which are often worth it but are sometimes undesirable.</a:t>
            </a:r>
          </a:p>
          <a:p>
            <a:pPr algn="just"/>
            <a:endParaRPr lang="en-IN" sz="20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xmlns="" id="{B5879313-18D4-9A63-FCF5-66EDC5A2A6A2}"/>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DA8B06DA-ADE3-75BC-3E06-CB7436964A33}"/>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F294477C-D34B-42F9-339C-320B6D70EC28}"/>
              </a:ext>
            </a:extLst>
          </p:cNvPr>
          <p:cNvSpPr>
            <a:spLocks noGrp="1"/>
          </p:cNvSpPr>
          <p:nvPr>
            <p:ph type="sldNum" sz="quarter" idx="10"/>
          </p:nvPr>
        </p:nvSpPr>
        <p:spPr/>
        <p:txBody>
          <a:bodyPr/>
          <a:lstStyle/>
          <a:p>
            <a:fld id="{68151E55-6873-49E2-B8D5-2F265E6F1973}" type="slidenum">
              <a:rPr lang="en-US" smtClean="0"/>
              <a:pPr/>
              <a:t>42</a:t>
            </a:fld>
            <a:endParaRPr lang="en-US"/>
          </a:p>
        </p:txBody>
      </p:sp>
    </p:spTree>
    <p:extLst>
      <p:ext uri="{BB962C8B-B14F-4D97-AF65-F5344CB8AC3E}">
        <p14:creationId xmlns:p14="http://schemas.microsoft.com/office/powerpoint/2010/main" xmlns="" val="31924015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C2EB5A-7411-72E7-8116-3B669AEE15F0}"/>
              </a:ext>
            </a:extLst>
          </p:cNvPr>
          <p:cNvSpPr>
            <a:spLocks noGrp="1"/>
          </p:cNvSpPr>
          <p:nvPr>
            <p:ph type="title"/>
          </p:nvPr>
        </p:nvSpPr>
        <p:spPr/>
        <p:txBody>
          <a:bodyPr/>
          <a:lstStyle/>
          <a:p>
            <a:r>
              <a:rPr lang="en-IN" b="1" i="1" u="none" strike="noStrike" baseline="0" dirty="0">
                <a:latin typeface="Times New Roman" panose="02020603050405020304" pitchFamily="18" charset="0"/>
                <a:cs typeface="Times New Roman" panose="02020603050405020304" pitchFamily="18" charset="0"/>
              </a:rPr>
              <a:t>Connection-Oriented Versus Connectionless Service</a:t>
            </a:r>
            <a:endParaRPr lang="en-IN" dirty="0"/>
          </a:p>
        </p:txBody>
      </p:sp>
      <p:sp>
        <p:nvSpPr>
          <p:cNvPr id="3" name="Content Placeholder 2">
            <a:extLst>
              <a:ext uri="{FF2B5EF4-FFF2-40B4-BE49-F238E27FC236}">
                <a16:creationId xmlns:a16="http://schemas.microsoft.com/office/drawing/2014/main" xmlns="" id="{5B6FDCC7-7EC1-0A2F-FEA6-11F058A10870}"/>
              </a:ext>
            </a:extLst>
          </p:cNvPr>
          <p:cNvSpPr>
            <a:spLocks noGrp="1"/>
          </p:cNvSpPr>
          <p:nvPr>
            <p:ph sz="quarter" idx="11"/>
          </p:nvPr>
        </p:nvSpPr>
        <p:spPr/>
        <p:txBody>
          <a:bodyPr/>
          <a:lstStyle/>
          <a:p>
            <a:pPr marL="285750" indent="-285750" algn="l">
              <a:buFont typeface="Arial" panose="020B0604020202020204" pitchFamily="34" charset="0"/>
              <a:buChar char="•"/>
            </a:pPr>
            <a:r>
              <a:rPr lang="en-US" sz="1800" b="0" i="0" u="none" strike="noStrike" baseline="0" dirty="0">
                <a:latin typeface="Times-Roman"/>
              </a:rPr>
              <a:t>A typical situation in which a reliable connection-oriented service is appropriate is file transfer. The owner of the file wants to be sure that all the bits arrive correctly and in the same order they were sent. </a:t>
            </a:r>
          </a:p>
          <a:p>
            <a:pPr marL="285750" indent="-285750" algn="l">
              <a:buFont typeface="Arial" panose="020B0604020202020204" pitchFamily="34" charset="0"/>
              <a:buChar char="•"/>
            </a:pPr>
            <a:r>
              <a:rPr lang="en-US" sz="1800" b="0" i="0" u="none" strike="noStrike" baseline="0" dirty="0">
                <a:latin typeface="Times-Roman"/>
              </a:rPr>
              <a:t>Very few file transfer customers would prefer a service that occasionally scrambles or loses a few bits, even if it is </a:t>
            </a:r>
            <a:r>
              <a:rPr lang="en-IN" sz="1800" b="0" i="0" u="none" strike="noStrike" baseline="0" dirty="0">
                <a:latin typeface="Times-Roman"/>
              </a:rPr>
              <a:t>much faster.</a:t>
            </a:r>
          </a:p>
          <a:p>
            <a:pPr algn="l"/>
            <a:r>
              <a:rPr lang="en-US" sz="1800" b="0" i="0" u="none" strike="noStrike" baseline="0" dirty="0">
                <a:latin typeface="Times-Roman"/>
              </a:rPr>
              <a:t>Reliable connection-oriented service has two minor variations:</a:t>
            </a:r>
          </a:p>
          <a:p>
            <a:pPr algn="l"/>
            <a:r>
              <a:rPr lang="en-US" sz="1800" b="0" i="0" u="none" strike="noStrike" baseline="0" dirty="0">
                <a:latin typeface="Times-Roman"/>
              </a:rPr>
              <a:t>In </a:t>
            </a:r>
            <a:r>
              <a:rPr lang="en-US" sz="1800" b="1" i="0" u="none" strike="noStrike" baseline="0" dirty="0">
                <a:latin typeface="Times-Roman"/>
              </a:rPr>
              <a:t>message sequences</a:t>
            </a:r>
            <a:r>
              <a:rPr lang="en-US" sz="1800" b="0" i="0" u="none" strike="noStrike" baseline="0" dirty="0">
                <a:latin typeface="Times-Roman"/>
              </a:rPr>
              <a:t> variant, the message boundaries are preserved. When two 1024-byte messages are sent, they arrive as two distinct 1024-byte messages, never as one 2048-byte message. </a:t>
            </a:r>
          </a:p>
          <a:p>
            <a:pPr algn="l"/>
            <a:r>
              <a:rPr lang="en-US" sz="1800" b="0" i="0" u="none" strike="noStrike" baseline="0" dirty="0">
                <a:latin typeface="Times-Roman"/>
              </a:rPr>
              <a:t>In </a:t>
            </a:r>
            <a:r>
              <a:rPr lang="en-US" sz="1800" b="1" i="0" u="none" strike="noStrike" baseline="0" dirty="0">
                <a:latin typeface="Times-Roman"/>
              </a:rPr>
              <a:t> byte streams. </a:t>
            </a:r>
            <a:r>
              <a:rPr lang="en-US" sz="1800" b="0" i="0" u="none" strike="noStrike" baseline="0" dirty="0">
                <a:latin typeface="Times-Roman"/>
              </a:rPr>
              <a:t>, the connection is simply a stream of bytes, with no message boundaries. When 2048 bytes arrive at the receiver, there is no way to tell if they were sent as one 2048-byte message, two 1024-byte messages, or 2048 1-byte messages.</a:t>
            </a:r>
          </a:p>
          <a:p>
            <a:pPr algn="l"/>
            <a:r>
              <a:rPr lang="en-US" sz="1800" b="1" dirty="0">
                <a:latin typeface="Times-Roman"/>
              </a:rPr>
              <a:t>Example : </a:t>
            </a:r>
          </a:p>
          <a:p>
            <a:pPr marL="342900" indent="-342900" algn="l">
              <a:buFont typeface="+mj-lt"/>
              <a:buAutoNum type="arabicPeriod"/>
            </a:pPr>
            <a:r>
              <a:rPr lang="en-US" sz="1800" b="0" i="0" u="none" strike="noStrike" baseline="0" dirty="0">
                <a:latin typeface="Times-Roman"/>
              </a:rPr>
              <a:t>If the pages of a book are sent over a network to a phototypesetter as separate messages, it might be important to preserve the message boundaries. </a:t>
            </a:r>
          </a:p>
          <a:p>
            <a:pPr marL="342900" indent="-342900" algn="l">
              <a:buFont typeface="+mj-lt"/>
              <a:buAutoNum type="arabicPeriod"/>
            </a:pPr>
            <a:r>
              <a:rPr lang="en-US" sz="1800" b="0" i="0" u="none" strike="noStrike" baseline="0" dirty="0">
                <a:latin typeface="Times-Roman"/>
              </a:rPr>
              <a:t>On the other hand, to download a DVD movie, a byte stream from the server to the user’s computer is all that is needed. Message boundaries within the movie are not relevant.</a:t>
            </a:r>
            <a:endParaRPr lang="en-IN" dirty="0"/>
          </a:p>
        </p:txBody>
      </p:sp>
      <p:sp>
        <p:nvSpPr>
          <p:cNvPr id="4" name="Text Placeholder 3">
            <a:extLst>
              <a:ext uri="{FF2B5EF4-FFF2-40B4-BE49-F238E27FC236}">
                <a16:creationId xmlns:a16="http://schemas.microsoft.com/office/drawing/2014/main" xmlns="" id="{9619BF8C-5565-88C1-9899-242881F0E56A}"/>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023F1CB5-7D8B-D009-41DE-5F81574D4DF3}"/>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2AD94D00-91F7-31CF-3560-9F1C675BACD6}"/>
              </a:ext>
            </a:extLst>
          </p:cNvPr>
          <p:cNvSpPr>
            <a:spLocks noGrp="1"/>
          </p:cNvSpPr>
          <p:nvPr>
            <p:ph type="sldNum" sz="quarter" idx="10"/>
          </p:nvPr>
        </p:nvSpPr>
        <p:spPr/>
        <p:txBody>
          <a:bodyPr/>
          <a:lstStyle/>
          <a:p>
            <a:fld id="{68151E55-6873-49E2-B8D5-2F265E6F1973}" type="slidenum">
              <a:rPr lang="en-US" smtClean="0"/>
              <a:pPr/>
              <a:t>43</a:t>
            </a:fld>
            <a:endParaRPr lang="en-US"/>
          </a:p>
        </p:txBody>
      </p:sp>
    </p:spTree>
    <p:extLst>
      <p:ext uri="{BB962C8B-B14F-4D97-AF65-F5344CB8AC3E}">
        <p14:creationId xmlns:p14="http://schemas.microsoft.com/office/powerpoint/2010/main" xmlns="" val="383109144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5F8F13-D7C5-27BC-1347-02F13643741E}"/>
              </a:ext>
            </a:extLst>
          </p:cNvPr>
          <p:cNvSpPr>
            <a:spLocks noGrp="1"/>
          </p:cNvSpPr>
          <p:nvPr>
            <p:ph type="title"/>
          </p:nvPr>
        </p:nvSpPr>
        <p:spPr/>
        <p:txBody>
          <a:bodyPr/>
          <a:lstStyle/>
          <a:p>
            <a:r>
              <a:rPr lang="en-IN" b="1" i="1" u="none" strike="noStrike" baseline="0" dirty="0">
                <a:latin typeface="Times New Roman" panose="02020603050405020304" pitchFamily="18" charset="0"/>
                <a:cs typeface="Times New Roman" panose="02020603050405020304" pitchFamily="18" charset="0"/>
              </a:rPr>
              <a:t>Connection-Oriented Versus Connectionless Service</a:t>
            </a:r>
            <a:endParaRPr lang="en-IN" dirty="0"/>
          </a:p>
        </p:txBody>
      </p:sp>
      <p:sp>
        <p:nvSpPr>
          <p:cNvPr id="3" name="Content Placeholder 2">
            <a:extLst>
              <a:ext uri="{FF2B5EF4-FFF2-40B4-BE49-F238E27FC236}">
                <a16:creationId xmlns:a16="http://schemas.microsoft.com/office/drawing/2014/main" xmlns="" id="{DFC87E61-B4B9-ECBB-8BC6-BF444DDCF5B2}"/>
              </a:ext>
            </a:extLst>
          </p:cNvPr>
          <p:cNvSpPr>
            <a:spLocks noGrp="1"/>
          </p:cNvSpPr>
          <p:nvPr>
            <p:ph sz="quarter" idx="11"/>
          </p:nvPr>
        </p:nvSpPr>
        <p:spPr/>
        <p:txBody>
          <a:bodyPr/>
          <a:lstStyle/>
          <a:p>
            <a:pPr algn="l"/>
            <a:r>
              <a:rPr lang="en-US" b="1" i="0" u="none" strike="noStrike" baseline="0" dirty="0">
                <a:latin typeface="Times-Roman"/>
              </a:rPr>
              <a:t>Not all applications require connections. </a:t>
            </a:r>
          </a:p>
          <a:p>
            <a:pPr marL="285750" indent="-285750" algn="l">
              <a:buFont typeface="Arial" panose="020B0604020202020204" pitchFamily="34" charset="0"/>
              <a:buChar char="•"/>
            </a:pPr>
            <a:r>
              <a:rPr lang="en-US" b="0" i="0" u="none" strike="noStrike" baseline="0" dirty="0">
                <a:latin typeface="Times-Roman"/>
              </a:rPr>
              <a:t>For example, spammers send electronic junk-mail to many recipients. The spammer probably does not want to go to the trouble of setting up and later tearing down a connection to a recipient just to send them one item. </a:t>
            </a:r>
          </a:p>
          <a:p>
            <a:pPr marL="285750" indent="-285750" algn="l">
              <a:buFont typeface="Arial" panose="020B0604020202020204" pitchFamily="34" charset="0"/>
              <a:buChar char="•"/>
            </a:pPr>
            <a:r>
              <a:rPr lang="en-US" b="0" i="0" u="none" strike="noStrike" baseline="0" dirty="0">
                <a:latin typeface="Times-Roman"/>
              </a:rPr>
              <a:t>Nor is 100 percent reliable delivery essential, especially if it costs more. All that is needed is a way to send a single message that has a high probability of arrival, but no guarantee.</a:t>
            </a:r>
          </a:p>
          <a:p>
            <a:pPr marL="285750" indent="-285750" algn="l">
              <a:buFont typeface="Arial" panose="020B0604020202020204" pitchFamily="34" charset="0"/>
              <a:buChar char="•"/>
            </a:pPr>
            <a:r>
              <a:rPr lang="en-US" dirty="0"/>
              <a:t>Unreliable (meaning not acknowledged) connectionless service is often called </a:t>
            </a:r>
            <a:r>
              <a:rPr lang="en-US" b="1" dirty="0"/>
              <a:t>datagram </a:t>
            </a:r>
            <a:r>
              <a:rPr lang="en-US" dirty="0"/>
              <a:t>service, in analogy with telegram service, which also does not return an acknowledgement to the sender.</a:t>
            </a:r>
            <a:endParaRPr lang="en-IN" dirty="0"/>
          </a:p>
        </p:txBody>
      </p:sp>
      <p:sp>
        <p:nvSpPr>
          <p:cNvPr id="4" name="Text Placeholder 3">
            <a:extLst>
              <a:ext uri="{FF2B5EF4-FFF2-40B4-BE49-F238E27FC236}">
                <a16:creationId xmlns:a16="http://schemas.microsoft.com/office/drawing/2014/main" xmlns="" id="{49585DF4-E1B3-178D-A6AD-1A1A55E3DA61}"/>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9F829583-A3DB-19F7-0B25-2BF2748D3DD5}"/>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BD9EC54B-CCEF-B002-538F-BB16559A2B86}"/>
              </a:ext>
            </a:extLst>
          </p:cNvPr>
          <p:cNvSpPr>
            <a:spLocks noGrp="1"/>
          </p:cNvSpPr>
          <p:nvPr>
            <p:ph type="sldNum" sz="quarter" idx="10"/>
          </p:nvPr>
        </p:nvSpPr>
        <p:spPr/>
        <p:txBody>
          <a:bodyPr/>
          <a:lstStyle/>
          <a:p>
            <a:fld id="{68151E55-6873-49E2-B8D5-2F265E6F1973}" type="slidenum">
              <a:rPr lang="en-US" smtClean="0"/>
              <a:pPr/>
              <a:t>44</a:t>
            </a:fld>
            <a:endParaRPr lang="en-US"/>
          </a:p>
        </p:txBody>
      </p:sp>
    </p:spTree>
    <p:extLst>
      <p:ext uri="{BB962C8B-B14F-4D97-AF65-F5344CB8AC3E}">
        <p14:creationId xmlns:p14="http://schemas.microsoft.com/office/powerpoint/2010/main" xmlns="" val="298212323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BE9D87-1130-C3BD-C013-FF3C79AA3B5B}"/>
              </a:ext>
            </a:extLst>
          </p:cNvPr>
          <p:cNvSpPr>
            <a:spLocks noGrp="1"/>
          </p:cNvSpPr>
          <p:nvPr>
            <p:ph type="title"/>
          </p:nvPr>
        </p:nvSpPr>
        <p:spPr/>
        <p:txBody>
          <a:bodyPr/>
          <a:lstStyle/>
          <a:p>
            <a:r>
              <a:rPr lang="en-IN" b="1" i="1" u="none" strike="noStrike" baseline="0" dirty="0">
                <a:latin typeface="Times New Roman" panose="02020603050405020304" pitchFamily="18" charset="0"/>
                <a:cs typeface="Times New Roman" panose="02020603050405020304" pitchFamily="18" charset="0"/>
              </a:rPr>
              <a:t>Connection-Oriented Versus Connectionless Service</a:t>
            </a:r>
            <a:endParaRPr lang="en-IN" dirty="0"/>
          </a:p>
        </p:txBody>
      </p:sp>
      <p:sp>
        <p:nvSpPr>
          <p:cNvPr id="3" name="Content Placeholder 2">
            <a:extLst>
              <a:ext uri="{FF2B5EF4-FFF2-40B4-BE49-F238E27FC236}">
                <a16:creationId xmlns:a16="http://schemas.microsoft.com/office/drawing/2014/main" xmlns="" id="{0E5C4C3A-8157-052B-0AEC-20E286E6C275}"/>
              </a:ext>
            </a:extLst>
          </p:cNvPr>
          <p:cNvSpPr>
            <a:spLocks noGrp="1"/>
          </p:cNvSpPr>
          <p:nvPr>
            <p:ph sz="quarter" idx="11"/>
          </p:nvPr>
        </p:nvSpPr>
        <p:spPr/>
        <p:txBody>
          <a:bodyPr/>
          <a:lstStyle/>
          <a:p>
            <a:pPr marL="342900" indent="-342900" algn="just">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For some applications, the transit delays introduced by acknowledgements are unacceptable. One such application is digitized voice traffic for </a:t>
            </a:r>
            <a:r>
              <a:rPr lang="en-US" sz="2000" b="1" i="0" u="none" strike="noStrike" baseline="0" dirty="0">
                <a:latin typeface="Times New Roman" panose="02020603050405020304" pitchFamily="18" charset="0"/>
                <a:cs typeface="Times New Roman" panose="02020603050405020304" pitchFamily="18" charset="0"/>
              </a:rPr>
              <a:t>voice over IP</a:t>
            </a:r>
            <a:r>
              <a:rPr lang="en-US" sz="2000" b="0" i="0" u="none" strike="noStrike" baseline="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It is less disruptive for telephone users to hear a bit of noise on the line from time to time than to experience a delay waiting for acknowledgements.</a:t>
            </a:r>
          </a:p>
          <a:p>
            <a:pPr marL="342900" indent="-342900" algn="just">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In other situations, the convenience of not having to establish a connection to send one message is desired, but reliability is essential. </a:t>
            </a:r>
          </a:p>
          <a:p>
            <a:pPr marL="342900" indent="-342900" algn="just">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The </a:t>
            </a:r>
            <a:r>
              <a:rPr lang="en-US" sz="2000" b="1" i="0" u="none" strike="noStrike" baseline="0" dirty="0">
                <a:latin typeface="Times New Roman" panose="02020603050405020304" pitchFamily="18" charset="0"/>
                <a:cs typeface="Times New Roman" panose="02020603050405020304" pitchFamily="18" charset="0"/>
              </a:rPr>
              <a:t>acknowledged datagram </a:t>
            </a:r>
            <a:r>
              <a:rPr lang="en-US" sz="2000" b="0" i="0" u="none" strike="noStrike" baseline="0" dirty="0">
                <a:latin typeface="Times New Roman" panose="02020603050405020304" pitchFamily="18" charset="0"/>
                <a:cs typeface="Times New Roman" panose="02020603050405020304" pitchFamily="18" charset="0"/>
              </a:rPr>
              <a:t>service can be provided for these applications.</a:t>
            </a:r>
          </a:p>
          <a:p>
            <a:pPr marL="342900" indent="-342900" algn="just">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Still another service is the </a:t>
            </a:r>
            <a:r>
              <a:rPr lang="en-US" sz="2000" b="1" i="0" u="none" strike="noStrike" baseline="0" dirty="0">
                <a:latin typeface="Times New Roman" panose="02020603050405020304" pitchFamily="18" charset="0"/>
                <a:cs typeface="Times New Roman" panose="02020603050405020304" pitchFamily="18" charset="0"/>
              </a:rPr>
              <a:t>request-reply </a:t>
            </a:r>
            <a:r>
              <a:rPr lang="en-US" sz="2000" b="0" i="0" u="none" strike="noStrike" baseline="0" dirty="0">
                <a:latin typeface="Times New Roman" panose="02020603050405020304" pitchFamily="18" charset="0"/>
                <a:cs typeface="Times New Roman" panose="02020603050405020304" pitchFamily="18" charset="0"/>
              </a:rPr>
              <a:t>service. In this service the sender transmits a single datagram containing a request; the reply contains the answer. </a:t>
            </a:r>
          </a:p>
          <a:p>
            <a:pPr marL="342900" indent="-342900" algn="just">
              <a:buFont typeface="Arial" panose="020B0604020202020204" pitchFamily="34" charset="0"/>
              <a:buChar char="•"/>
            </a:pPr>
            <a:r>
              <a:rPr lang="en-US" sz="2000" b="1" i="0" u="none" strike="noStrike" baseline="0" dirty="0">
                <a:latin typeface="Times New Roman" panose="02020603050405020304" pitchFamily="18" charset="0"/>
                <a:cs typeface="Times New Roman" panose="02020603050405020304" pitchFamily="18" charset="0"/>
              </a:rPr>
              <a:t>Request-reply</a:t>
            </a:r>
            <a:r>
              <a:rPr lang="en-US" sz="2000" b="0" i="0" u="none" strike="noStrike" baseline="0" dirty="0">
                <a:latin typeface="Times New Roman" panose="02020603050405020304" pitchFamily="18" charset="0"/>
                <a:cs typeface="Times New Roman" panose="02020603050405020304" pitchFamily="18" charset="0"/>
              </a:rPr>
              <a:t> is commonly used to implement communication in the client-server model: the client issues a request and the server responds to it. </a:t>
            </a:r>
          </a:p>
          <a:p>
            <a:pPr marL="342900" indent="-342900" algn="just">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For example, a mobile phone client might send a query to a map server to retrieve the map data </a:t>
            </a:r>
            <a:r>
              <a:rPr lang="en-IN" sz="2000" b="0" i="0" u="none" strike="noStrike" baseline="0" dirty="0">
                <a:latin typeface="Times New Roman" panose="02020603050405020304" pitchFamily="18" charset="0"/>
                <a:cs typeface="Times New Roman" panose="02020603050405020304" pitchFamily="18" charset="0"/>
              </a:rPr>
              <a:t>for the current location.</a:t>
            </a:r>
            <a:endParaRPr lang="en-IN" sz="20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xmlns="" id="{1D5AE92E-4890-B16B-FE07-4C54E2E14A1E}"/>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ABE81469-3581-55E3-7E29-41E9584D0417}"/>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31764436-44E8-D411-33AA-7CA776B6AEC5}"/>
              </a:ext>
            </a:extLst>
          </p:cNvPr>
          <p:cNvSpPr>
            <a:spLocks noGrp="1"/>
          </p:cNvSpPr>
          <p:nvPr>
            <p:ph type="sldNum" sz="quarter" idx="10"/>
          </p:nvPr>
        </p:nvSpPr>
        <p:spPr/>
        <p:txBody>
          <a:bodyPr/>
          <a:lstStyle/>
          <a:p>
            <a:fld id="{68151E55-6873-49E2-B8D5-2F265E6F1973}" type="slidenum">
              <a:rPr lang="en-US" smtClean="0"/>
              <a:pPr/>
              <a:t>45</a:t>
            </a:fld>
            <a:endParaRPr lang="en-US"/>
          </a:p>
        </p:txBody>
      </p:sp>
    </p:spTree>
    <p:extLst>
      <p:ext uri="{BB962C8B-B14F-4D97-AF65-F5344CB8AC3E}">
        <p14:creationId xmlns:p14="http://schemas.microsoft.com/office/powerpoint/2010/main" xmlns="" val="116203719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B9821F-C9C8-3C9D-350B-493F66E12F06}"/>
              </a:ext>
            </a:extLst>
          </p:cNvPr>
          <p:cNvSpPr>
            <a:spLocks noGrp="1"/>
          </p:cNvSpPr>
          <p:nvPr>
            <p:ph type="title"/>
          </p:nvPr>
        </p:nvSpPr>
        <p:spPr/>
        <p:txBody>
          <a:bodyPr/>
          <a:lstStyle/>
          <a:p>
            <a:r>
              <a:rPr lang="en-IN" b="1" i="1" u="none" strike="noStrike" baseline="0" dirty="0">
                <a:latin typeface="Times New Roman" panose="02020603050405020304" pitchFamily="18" charset="0"/>
                <a:cs typeface="Times New Roman" panose="02020603050405020304" pitchFamily="18" charset="0"/>
              </a:rPr>
              <a:t>Connection-Oriented Versus Connectionless Service</a:t>
            </a:r>
            <a:endParaRPr lang="en-IN" dirty="0"/>
          </a:p>
        </p:txBody>
      </p:sp>
      <p:sp>
        <p:nvSpPr>
          <p:cNvPr id="3" name="Content Placeholder 2">
            <a:extLst>
              <a:ext uri="{FF2B5EF4-FFF2-40B4-BE49-F238E27FC236}">
                <a16:creationId xmlns:a16="http://schemas.microsoft.com/office/drawing/2014/main" xmlns="" id="{812A7B4E-FCAE-6E40-DDEC-10393CBF6517}"/>
              </a:ext>
            </a:extLst>
          </p:cNvPr>
          <p:cNvSpPr>
            <a:spLocks noGrp="1"/>
          </p:cNvSpPr>
          <p:nvPr>
            <p:ph sz="quarter" idx="11"/>
          </p:nvPr>
        </p:nvSpPr>
        <p:spPr/>
        <p:txBody>
          <a:bodyPr/>
          <a:lstStyle/>
          <a:p>
            <a:endParaRPr lang="en-IN"/>
          </a:p>
        </p:txBody>
      </p:sp>
      <p:sp>
        <p:nvSpPr>
          <p:cNvPr id="4" name="Text Placeholder 3">
            <a:extLst>
              <a:ext uri="{FF2B5EF4-FFF2-40B4-BE49-F238E27FC236}">
                <a16:creationId xmlns:a16="http://schemas.microsoft.com/office/drawing/2014/main" xmlns="" id="{1DBE5198-0710-F096-56C5-D99970AAC1F2}"/>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5C3E7A44-17E8-4BEA-0541-B377941C4A67}"/>
              </a:ext>
            </a:extLst>
          </p:cNvPr>
          <p:cNvSpPr>
            <a:spLocks noGrp="1"/>
          </p:cNvSpPr>
          <p:nvPr>
            <p:ph type="body" sz="quarter" idx="40"/>
          </p:nvPr>
        </p:nvSpPr>
        <p:spPr/>
        <p:txBody>
          <a:bodyPr/>
          <a:lstStyle/>
          <a:p>
            <a:endParaRPr lang="en-IN" dirty="0"/>
          </a:p>
        </p:txBody>
      </p:sp>
      <p:sp>
        <p:nvSpPr>
          <p:cNvPr id="6" name="Slide Number Placeholder 5">
            <a:extLst>
              <a:ext uri="{FF2B5EF4-FFF2-40B4-BE49-F238E27FC236}">
                <a16:creationId xmlns:a16="http://schemas.microsoft.com/office/drawing/2014/main" xmlns="" id="{580070D2-1B69-1945-F321-2F6B01CE1403}"/>
              </a:ext>
            </a:extLst>
          </p:cNvPr>
          <p:cNvSpPr>
            <a:spLocks noGrp="1"/>
          </p:cNvSpPr>
          <p:nvPr>
            <p:ph type="sldNum" sz="quarter" idx="10"/>
          </p:nvPr>
        </p:nvSpPr>
        <p:spPr/>
        <p:txBody>
          <a:bodyPr/>
          <a:lstStyle/>
          <a:p>
            <a:fld id="{68151E55-6873-49E2-B8D5-2F265E6F1973}" type="slidenum">
              <a:rPr lang="en-US" smtClean="0"/>
              <a:pPr/>
              <a:t>46</a:t>
            </a:fld>
            <a:endParaRPr lang="en-US"/>
          </a:p>
        </p:txBody>
      </p:sp>
      <p:pic>
        <p:nvPicPr>
          <p:cNvPr id="2050" name="Picture 2" descr="enter image description here">
            <a:extLst>
              <a:ext uri="{FF2B5EF4-FFF2-40B4-BE49-F238E27FC236}">
                <a16:creationId xmlns:a16="http://schemas.microsoft.com/office/drawing/2014/main" xmlns="" id="{C0499CE9-6BC1-DB9D-96F7-D35AE41BDB75}"/>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 y="983411"/>
            <a:ext cx="8572500" cy="556978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1097444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72D699-79A9-8054-C162-039E9ECA2E49}"/>
              </a:ext>
            </a:extLst>
          </p:cNvPr>
          <p:cNvSpPr>
            <a:spLocks noGrp="1"/>
          </p:cNvSpPr>
          <p:nvPr>
            <p:ph type="title"/>
          </p:nvPr>
        </p:nvSpPr>
        <p:spPr/>
        <p:txBody>
          <a:bodyPr/>
          <a:lstStyle/>
          <a:p>
            <a:r>
              <a:rPr lang="en-US" dirty="0"/>
              <a:t>Summary of the types of services discussed</a:t>
            </a:r>
            <a:endParaRPr lang="en-IN" dirty="0"/>
          </a:p>
        </p:txBody>
      </p:sp>
      <p:sp>
        <p:nvSpPr>
          <p:cNvPr id="4" name="Text Placeholder 3">
            <a:extLst>
              <a:ext uri="{FF2B5EF4-FFF2-40B4-BE49-F238E27FC236}">
                <a16:creationId xmlns:a16="http://schemas.microsoft.com/office/drawing/2014/main" xmlns="" id="{E3EA8819-4EFF-CB30-F7E7-C73955E6BC09}"/>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A84769D8-8C92-A8D0-CFD4-48B989F23E23}"/>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99E27759-7FC3-E84B-5133-9293341D5FBE}"/>
              </a:ext>
            </a:extLst>
          </p:cNvPr>
          <p:cNvSpPr>
            <a:spLocks noGrp="1"/>
          </p:cNvSpPr>
          <p:nvPr>
            <p:ph type="sldNum" sz="quarter" idx="10"/>
          </p:nvPr>
        </p:nvSpPr>
        <p:spPr/>
        <p:txBody>
          <a:bodyPr/>
          <a:lstStyle/>
          <a:p>
            <a:fld id="{68151E55-6873-49E2-B8D5-2F265E6F1973}" type="slidenum">
              <a:rPr lang="en-US" smtClean="0"/>
              <a:pPr/>
              <a:t>47</a:t>
            </a:fld>
            <a:endParaRPr lang="en-US"/>
          </a:p>
        </p:txBody>
      </p:sp>
      <p:pic>
        <p:nvPicPr>
          <p:cNvPr id="1030" name="Picture 6" descr="PPT - Network Software PowerPoint Presentation, free download - ID:2190976">
            <a:extLst>
              <a:ext uri="{FF2B5EF4-FFF2-40B4-BE49-F238E27FC236}">
                <a16:creationId xmlns:a16="http://schemas.microsoft.com/office/drawing/2014/main" xmlns="" id="{772A5653-1F73-0623-2E67-A0F2FDE3E919}"/>
              </a:ext>
            </a:extLst>
          </p:cNvPr>
          <p:cNvPicPr>
            <a:picLocks noGrp="1" noChangeAspect="1" noChangeArrowheads="1"/>
          </p:cNvPicPr>
          <p:nvPr>
            <p:ph sz="quarter" idx="11"/>
          </p:nvPr>
        </p:nvPicPr>
        <p:blipFill rotWithShape="1">
          <a:blip r:embed="rId2">
            <a:extLst>
              <a:ext uri="{28A0092B-C50C-407E-A947-70E740481C1C}">
                <a14:useLocalDpi xmlns:a14="http://schemas.microsoft.com/office/drawing/2010/main" xmlns="" val="0"/>
              </a:ext>
            </a:extLst>
          </a:blip>
          <a:srcRect l="4223" t="1995" r="3592" b="24576"/>
          <a:stretch/>
        </p:blipFill>
        <p:spPr bwMode="auto">
          <a:xfrm>
            <a:off x="685800" y="1167015"/>
            <a:ext cx="7612929" cy="454798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8863197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F8DC62-51A8-3EB8-3478-B534B20DA1B6}"/>
              </a:ext>
            </a:extLst>
          </p:cNvPr>
          <p:cNvSpPr>
            <a:spLocks noGrp="1"/>
          </p:cNvSpPr>
          <p:nvPr>
            <p:ph type="title"/>
          </p:nvPr>
        </p:nvSpPr>
        <p:spPr/>
        <p:txBody>
          <a:bodyPr/>
          <a:lstStyle/>
          <a:p>
            <a:r>
              <a:rPr lang="en-IN" sz="3200" b="1" i="1" dirty="0">
                <a:latin typeface="Times New Roman" panose="02020603050405020304" pitchFamily="18" charset="0"/>
                <a:cs typeface="Times New Roman" panose="02020603050405020304" pitchFamily="18" charset="0"/>
              </a:rPr>
              <a:t>Introduction to network Devices</a:t>
            </a:r>
          </a:p>
        </p:txBody>
      </p:sp>
      <p:sp>
        <p:nvSpPr>
          <p:cNvPr id="3" name="Content Placeholder 2">
            <a:extLst>
              <a:ext uri="{FF2B5EF4-FFF2-40B4-BE49-F238E27FC236}">
                <a16:creationId xmlns:a16="http://schemas.microsoft.com/office/drawing/2014/main" xmlns="" id="{2118D89F-D8F6-A85C-7EF3-6A110847AC0E}"/>
              </a:ext>
            </a:extLst>
          </p:cNvPr>
          <p:cNvSpPr>
            <a:spLocks noGrp="1"/>
          </p:cNvSpPr>
          <p:nvPr>
            <p:ph sz="quarter" idx="11"/>
          </p:nvPr>
        </p:nvSpPr>
        <p:spPr/>
        <p:txBody>
          <a:bodyPr/>
          <a:lstStyle/>
          <a:p>
            <a:r>
              <a:rPr lang="en-US" b="1" i="0" dirty="0">
                <a:solidFill>
                  <a:srgbClr val="273239"/>
                </a:solidFill>
                <a:effectLst/>
                <a:highlight>
                  <a:srgbClr val="FFFFFF"/>
                </a:highlight>
                <a:latin typeface="Times New Roman" panose="02020603050405020304" pitchFamily="18" charset="0"/>
                <a:cs typeface="Times New Roman" panose="02020603050405020304" pitchFamily="18" charset="0"/>
              </a:rPr>
              <a:t>Network Devices:</a:t>
            </a:r>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 Network devices, also known as networking hardware, are physical devices that allow hardware on a computer network to communicate and interact with one another. </a:t>
            </a:r>
          </a:p>
          <a:p>
            <a:endPar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For example </a:t>
            </a:r>
          </a:p>
          <a:p>
            <a:endParaRPr lang="en-US" dirty="0">
              <a:solidFill>
                <a:srgbClr val="273239"/>
              </a:solidFill>
              <a:highlight>
                <a:srgbClr val="FFFFFF"/>
              </a:highlight>
              <a:latin typeface="Times New Roman" panose="02020603050405020304" pitchFamily="18" charset="0"/>
              <a:cs typeface="Times New Roman" panose="02020603050405020304" pitchFamily="18" charset="0"/>
            </a:endParaRPr>
          </a:p>
          <a:p>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Repeater, Hub, Bridge, Switch, Routers, Gateway, </a:t>
            </a:r>
            <a:r>
              <a:rPr lang="en-US" b="0" i="0" dirty="0" err="1">
                <a:solidFill>
                  <a:srgbClr val="273239"/>
                </a:solidFill>
                <a:effectLst/>
                <a:highlight>
                  <a:srgbClr val="FFFFFF"/>
                </a:highlight>
                <a:latin typeface="Times New Roman" panose="02020603050405020304" pitchFamily="18" charset="0"/>
                <a:cs typeface="Times New Roman" panose="02020603050405020304" pitchFamily="18" charset="0"/>
              </a:rPr>
              <a:t>Brouter</a:t>
            </a:r>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 and NIC, </a:t>
            </a:r>
            <a:r>
              <a:rPr lang="en-US" b="0" i="0" dirty="0" err="1">
                <a:solidFill>
                  <a:srgbClr val="273239"/>
                </a:solidFill>
                <a:effectLst/>
                <a:highlight>
                  <a:srgbClr val="FFFFFF"/>
                </a:highlight>
                <a:latin typeface="Times New Roman" panose="02020603050405020304" pitchFamily="18" charset="0"/>
                <a:cs typeface="Times New Roman" panose="02020603050405020304" pitchFamily="18" charset="0"/>
              </a:rPr>
              <a:t>etc</a:t>
            </a:r>
            <a:endPar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endParaRPr lang="en-US" dirty="0">
              <a:solidFill>
                <a:srgbClr val="273239"/>
              </a:solidFill>
              <a:highlight>
                <a:srgbClr val="FFFFFF"/>
              </a:highlight>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xmlns="" id="{C6054505-D932-B431-0BF2-3C126B29C8E7}"/>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C39C9396-6468-45FE-3E90-7C6A5CF5BC35}"/>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84C6E695-2729-6C93-C4A6-1F29B642CFC3}"/>
              </a:ext>
            </a:extLst>
          </p:cNvPr>
          <p:cNvSpPr>
            <a:spLocks noGrp="1"/>
          </p:cNvSpPr>
          <p:nvPr>
            <p:ph type="sldNum" sz="quarter" idx="10"/>
          </p:nvPr>
        </p:nvSpPr>
        <p:spPr/>
        <p:txBody>
          <a:bodyPr/>
          <a:lstStyle/>
          <a:p>
            <a:fld id="{68151E55-6873-49E2-B8D5-2F265E6F1973}" type="slidenum">
              <a:rPr lang="en-US" smtClean="0"/>
              <a:pPr/>
              <a:t>48</a:t>
            </a:fld>
            <a:endParaRPr lang="en-US"/>
          </a:p>
        </p:txBody>
      </p:sp>
    </p:spTree>
    <p:extLst>
      <p:ext uri="{BB962C8B-B14F-4D97-AF65-F5344CB8AC3E}">
        <p14:creationId xmlns:p14="http://schemas.microsoft.com/office/powerpoint/2010/main" xmlns="" val="1388926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0A065F-5767-D2A3-10A0-EEA5E3D6D8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FE4941CD-C14C-4369-A8E1-86970A2CF4F4}"/>
              </a:ext>
            </a:extLst>
          </p:cNvPr>
          <p:cNvSpPr>
            <a:spLocks noGrp="1"/>
          </p:cNvSpPr>
          <p:nvPr>
            <p:ph sz="quarter" idx="11"/>
          </p:nvPr>
        </p:nvSpPr>
        <p:spPr/>
        <p:txBody>
          <a:bodyPr/>
          <a:lstStyle/>
          <a:p>
            <a:endParaRPr lang="en-IN"/>
          </a:p>
        </p:txBody>
      </p:sp>
      <p:sp>
        <p:nvSpPr>
          <p:cNvPr id="4" name="Text Placeholder 3">
            <a:extLst>
              <a:ext uri="{FF2B5EF4-FFF2-40B4-BE49-F238E27FC236}">
                <a16:creationId xmlns:a16="http://schemas.microsoft.com/office/drawing/2014/main" xmlns="" id="{EEBFB06D-1D48-E168-65BB-C6CCAA9D0439}"/>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F7A0269A-2826-D9ED-5115-F72943AA7470}"/>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AF69D47E-1A9E-E624-9898-7EECDE90CA3D}"/>
              </a:ext>
            </a:extLst>
          </p:cNvPr>
          <p:cNvSpPr>
            <a:spLocks noGrp="1"/>
          </p:cNvSpPr>
          <p:nvPr>
            <p:ph type="sldNum" sz="quarter" idx="10"/>
          </p:nvPr>
        </p:nvSpPr>
        <p:spPr/>
        <p:txBody>
          <a:bodyPr/>
          <a:lstStyle/>
          <a:p>
            <a:fld id="{68151E55-6873-49E2-B8D5-2F265E6F1973}" type="slidenum">
              <a:rPr lang="en-US" smtClean="0"/>
              <a:pPr/>
              <a:t>49</a:t>
            </a:fld>
            <a:endParaRPr lang="en-US"/>
          </a:p>
        </p:txBody>
      </p:sp>
      <p:pic>
        <p:nvPicPr>
          <p:cNvPr id="1026" name="Picture 2">
            <a:extLst>
              <a:ext uri="{FF2B5EF4-FFF2-40B4-BE49-F238E27FC236}">
                <a16:creationId xmlns:a16="http://schemas.microsoft.com/office/drawing/2014/main" xmlns="" id="{71F72EDE-9F86-E48E-7AA8-F47AE0459295}"/>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676400" y="1535028"/>
            <a:ext cx="5867399" cy="458238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7413833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A77430-3C27-71BA-3060-2A1D0C4B7E84}"/>
              </a:ext>
            </a:extLst>
          </p:cNvPr>
          <p:cNvSpPr>
            <a:spLocks noGrp="1"/>
          </p:cNvSpPr>
          <p:nvPr>
            <p:ph type="title"/>
          </p:nvPr>
        </p:nvSpPr>
        <p:spPr/>
        <p:txBody>
          <a:bodyPr/>
          <a:lstStyle/>
          <a:p>
            <a:r>
              <a:rPr lang="en-US" sz="3200" b="1" dirty="0">
                <a:solidFill>
                  <a:srgbClr val="273239"/>
                </a:solidFill>
                <a:highlight>
                  <a:srgbClr val="FFFFFF"/>
                </a:highlight>
                <a:latin typeface="Times New Roman" panose="02020603050405020304" pitchFamily="18" charset="0"/>
                <a:cs typeface="Times New Roman" panose="02020603050405020304" pitchFamily="18" charset="0"/>
              </a:rPr>
              <a:t>Modem</a:t>
            </a:r>
            <a:endParaRPr lang="en-IN" sz="3200" dirty="0"/>
          </a:p>
        </p:txBody>
      </p:sp>
      <p:sp>
        <p:nvSpPr>
          <p:cNvPr id="3" name="Content Placeholder 2">
            <a:extLst>
              <a:ext uri="{FF2B5EF4-FFF2-40B4-BE49-F238E27FC236}">
                <a16:creationId xmlns:a16="http://schemas.microsoft.com/office/drawing/2014/main" xmlns="" id="{7A1EB242-7689-17BA-7AE9-F2E2CBA4D782}"/>
              </a:ext>
            </a:extLst>
          </p:cNvPr>
          <p:cNvSpPr>
            <a:spLocks noGrp="1"/>
          </p:cNvSpPr>
          <p:nvPr>
            <p:ph sz="quarter" idx="11"/>
          </p:nvPr>
        </p:nvSpPr>
        <p:spPr/>
        <p:txBody>
          <a:bodyPr/>
          <a:lstStyle/>
          <a:p>
            <a:pPr marL="342900" indent="-342900">
              <a:buFont typeface="Arial" panose="020B0604020202020204" pitchFamily="34" charset="0"/>
              <a:buChar char="•"/>
            </a:pPr>
            <a:r>
              <a:rPr lang="en-US" dirty="0">
                <a:solidFill>
                  <a:srgbClr val="273239"/>
                </a:solidFill>
                <a:highlight>
                  <a:srgbClr val="FFFFFF"/>
                </a:highlight>
                <a:latin typeface="Times New Roman" panose="02020603050405020304" pitchFamily="18" charset="0"/>
                <a:cs typeface="Times New Roman" panose="02020603050405020304" pitchFamily="18" charset="0"/>
              </a:rPr>
              <a:t>The main purpose of a modem is to modulate and demodulate -- or convert -- signals between devices, such as analog to digital.</a:t>
            </a:r>
          </a:p>
          <a:p>
            <a:pPr marL="342900" indent="-342900">
              <a:buFont typeface="Arial" panose="020B0604020202020204" pitchFamily="34" charset="0"/>
              <a:buChar char="•"/>
            </a:pPr>
            <a:endParaRPr lang="en-US"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solidFill>
                  <a:srgbClr val="273239"/>
                </a:solidFill>
                <a:highlight>
                  <a:srgbClr val="FFFFFF"/>
                </a:highlight>
                <a:latin typeface="Times New Roman" panose="02020603050405020304" pitchFamily="18" charset="0"/>
                <a:cs typeface="Times New Roman" panose="02020603050405020304" pitchFamily="18" charset="0"/>
              </a:rPr>
              <a:t>Nowadays, the most common type of modem is an internet modem</a:t>
            </a:r>
            <a:br>
              <a:rPr lang="en-US" dirty="0">
                <a:solidFill>
                  <a:srgbClr val="273239"/>
                </a:solidFill>
                <a:highlight>
                  <a:srgbClr val="FFFFFF"/>
                </a:highlight>
                <a:latin typeface="Times New Roman" panose="02020603050405020304" pitchFamily="18" charset="0"/>
                <a:cs typeface="Times New Roman" panose="02020603050405020304" pitchFamily="18" charset="0"/>
              </a:rPr>
            </a:br>
            <a:endParaRPr lang="en-US"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solidFill>
                  <a:srgbClr val="273239"/>
                </a:solidFill>
                <a:highlight>
                  <a:srgbClr val="FFFFFF"/>
                </a:highlight>
                <a:latin typeface="Times New Roman" panose="02020603050405020304" pitchFamily="18" charset="0"/>
                <a:cs typeface="Times New Roman" panose="02020603050405020304" pitchFamily="18" charset="0"/>
              </a:rPr>
              <a:t>Which facilitates internet access by receiving signals from an ISP and converting them into a format that connected devices can use, such as radio or digital signals.</a:t>
            </a:r>
            <a:endParaRPr lang="en-IN" dirty="0"/>
          </a:p>
        </p:txBody>
      </p:sp>
      <p:sp>
        <p:nvSpPr>
          <p:cNvPr id="4" name="Text Placeholder 3">
            <a:extLst>
              <a:ext uri="{FF2B5EF4-FFF2-40B4-BE49-F238E27FC236}">
                <a16:creationId xmlns:a16="http://schemas.microsoft.com/office/drawing/2014/main" xmlns="" id="{653F3174-DB1D-A342-E82D-F8BC72AE6249}"/>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26F3450A-A084-7FE3-7A06-BF34A932A707}"/>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7BC2CBC1-6F8D-6845-BAD1-240F5C165754}"/>
              </a:ext>
            </a:extLst>
          </p:cNvPr>
          <p:cNvSpPr>
            <a:spLocks noGrp="1"/>
          </p:cNvSpPr>
          <p:nvPr>
            <p:ph type="sldNum" sz="quarter" idx="10"/>
          </p:nvPr>
        </p:nvSpPr>
        <p:spPr/>
        <p:txBody>
          <a:bodyPr/>
          <a:lstStyle/>
          <a:p>
            <a:fld id="{68151E55-6873-49E2-B8D5-2F265E6F1973}" type="slidenum">
              <a:rPr lang="en-US" smtClean="0"/>
              <a:pPr/>
              <a:t>50</a:t>
            </a:fld>
            <a:endParaRPr lang="en-US"/>
          </a:p>
        </p:txBody>
      </p:sp>
    </p:spTree>
    <p:extLst>
      <p:ext uri="{BB962C8B-B14F-4D97-AF65-F5344CB8AC3E}">
        <p14:creationId xmlns:p14="http://schemas.microsoft.com/office/powerpoint/2010/main" xmlns="" val="27770545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101D08-406E-DE2C-FC48-3568C637A3FB}"/>
              </a:ext>
            </a:extLst>
          </p:cNvPr>
          <p:cNvSpPr>
            <a:spLocks noGrp="1"/>
          </p:cNvSpPr>
          <p:nvPr>
            <p:ph type="title"/>
          </p:nvPr>
        </p:nvSpPr>
        <p:spPr/>
        <p:txBody>
          <a:bodyPr/>
          <a:lstStyle/>
          <a:p>
            <a:r>
              <a:rPr lang="en-US" sz="3200" b="1" dirty="0">
                <a:solidFill>
                  <a:srgbClr val="273239"/>
                </a:solidFill>
                <a:highlight>
                  <a:srgbClr val="FFFFFF"/>
                </a:highlight>
                <a:latin typeface="Times New Roman" panose="02020603050405020304" pitchFamily="18" charset="0"/>
                <a:cs typeface="Times New Roman" panose="02020603050405020304" pitchFamily="18" charset="0"/>
              </a:rPr>
              <a:t>Modem</a:t>
            </a:r>
            <a:endParaRPr lang="en-IN" sz="3200" dirty="0"/>
          </a:p>
        </p:txBody>
      </p:sp>
      <p:sp>
        <p:nvSpPr>
          <p:cNvPr id="3" name="Content Placeholder 2">
            <a:extLst>
              <a:ext uri="{FF2B5EF4-FFF2-40B4-BE49-F238E27FC236}">
                <a16:creationId xmlns:a16="http://schemas.microsoft.com/office/drawing/2014/main" xmlns="" id="{4E9C4B45-8E61-C4BF-78E5-C801532057E1}"/>
              </a:ext>
            </a:extLst>
          </p:cNvPr>
          <p:cNvSpPr>
            <a:spLocks noGrp="1"/>
          </p:cNvSpPr>
          <p:nvPr>
            <p:ph sz="quarter" idx="11"/>
          </p:nvPr>
        </p:nvSpPr>
        <p:spPr/>
        <p:txBody>
          <a:bodyPr/>
          <a:lstStyle/>
          <a:p>
            <a:pPr marL="342900" indent="-342900">
              <a:buFont typeface="Arial" panose="020B0604020202020204" pitchFamily="34" charset="0"/>
              <a:buChar char="•"/>
            </a:pPr>
            <a:r>
              <a:rPr lang="en-US" dirty="0"/>
              <a:t>A modem typically connects to a router, which receives internet access from the modem and sends it to other devices on the network. </a:t>
            </a:r>
          </a:p>
          <a:p>
            <a:pPr marL="342900" indent="-342900">
              <a:buFont typeface="Arial" panose="020B0604020202020204" pitchFamily="34" charset="0"/>
              <a:buChar char="•"/>
            </a:pPr>
            <a:r>
              <a:rPr lang="en-US" dirty="0"/>
              <a:t>Modems can use Ethernet cable, DSL, fiber or wireless mediums for connectivity. </a:t>
            </a:r>
          </a:p>
          <a:p>
            <a:pPr marL="342900" indent="-342900">
              <a:buFont typeface="Arial" panose="020B0604020202020204" pitchFamily="34" charset="0"/>
              <a:buChar char="•"/>
            </a:pPr>
            <a:r>
              <a:rPr lang="en-US" dirty="0"/>
              <a:t>ISPs frequently provide modems that have combined routing and firewalling capabilities.</a:t>
            </a:r>
          </a:p>
          <a:p>
            <a:pPr marL="342900" indent="-342900">
              <a:buFont typeface="Arial" panose="020B0604020202020204" pitchFamily="34" charset="0"/>
              <a:buChar char="•"/>
            </a:pPr>
            <a:r>
              <a:rPr lang="en-US" dirty="0"/>
              <a:t>Depending on the type, a modem operates at Layer 1 or Layer 2 of the OSI model.</a:t>
            </a:r>
          </a:p>
          <a:p>
            <a:pPr marL="342900" indent="-342900">
              <a:buFont typeface="Arial" panose="020B0604020202020204" pitchFamily="34" charset="0"/>
              <a:buChar char="•"/>
            </a:pPr>
            <a:endParaRPr lang="en-US" dirty="0"/>
          </a:p>
        </p:txBody>
      </p:sp>
      <p:sp>
        <p:nvSpPr>
          <p:cNvPr id="6" name="Slide Number Placeholder 5">
            <a:extLst>
              <a:ext uri="{FF2B5EF4-FFF2-40B4-BE49-F238E27FC236}">
                <a16:creationId xmlns:a16="http://schemas.microsoft.com/office/drawing/2014/main" xmlns="" id="{C34D41A6-70E5-36FE-4E0A-F0D888EBCAEC}"/>
              </a:ext>
            </a:extLst>
          </p:cNvPr>
          <p:cNvSpPr>
            <a:spLocks noGrp="1"/>
          </p:cNvSpPr>
          <p:nvPr>
            <p:ph type="sldNum" sz="quarter" idx="10"/>
          </p:nvPr>
        </p:nvSpPr>
        <p:spPr/>
        <p:txBody>
          <a:bodyPr/>
          <a:lstStyle/>
          <a:p>
            <a:fld id="{68151E55-6873-49E2-B8D5-2F265E6F1973}" type="slidenum">
              <a:rPr lang="en-US" smtClean="0"/>
              <a:pPr/>
              <a:t>51</a:t>
            </a:fld>
            <a:endParaRPr lang="en-US"/>
          </a:p>
        </p:txBody>
      </p:sp>
    </p:spTree>
    <p:extLst>
      <p:ext uri="{BB962C8B-B14F-4D97-AF65-F5344CB8AC3E}">
        <p14:creationId xmlns:p14="http://schemas.microsoft.com/office/powerpoint/2010/main" xmlns="" val="1606620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1F6F86-D905-84E6-F587-59CABD373FED}"/>
              </a:ext>
            </a:extLst>
          </p:cNvPr>
          <p:cNvSpPr>
            <a:spLocks noGrp="1"/>
          </p:cNvSpPr>
          <p:nvPr>
            <p:ph type="title"/>
          </p:nvPr>
        </p:nvSpPr>
        <p:spPr/>
        <p:txBody>
          <a:bodyPr/>
          <a:lstStyle/>
          <a:p>
            <a:r>
              <a:rPr lang="en-US" sz="3200" b="1" dirty="0"/>
              <a:t>Hub</a:t>
            </a:r>
          </a:p>
        </p:txBody>
      </p:sp>
      <p:sp>
        <p:nvSpPr>
          <p:cNvPr id="3" name="Content Placeholder 2">
            <a:extLst>
              <a:ext uri="{FF2B5EF4-FFF2-40B4-BE49-F238E27FC236}">
                <a16:creationId xmlns:a16="http://schemas.microsoft.com/office/drawing/2014/main" xmlns="" id="{64C8CB9C-2927-5951-2D82-235BB7D334D5}"/>
              </a:ext>
            </a:extLst>
          </p:cNvPr>
          <p:cNvSpPr>
            <a:spLocks noGrp="1"/>
          </p:cNvSpPr>
          <p:nvPr>
            <p:ph sz="quarter" idx="11"/>
          </p:nvPr>
        </p:nvSpPr>
        <p:spPr/>
        <p:txBody>
          <a:bodyPr/>
          <a:lstStyle/>
          <a:p>
            <a:pPr marL="457200" indent="-457200">
              <a:buFont typeface="Arial" panose="020B0604020202020204" pitchFamily="34" charset="0"/>
              <a:buChar char="•"/>
            </a:pPr>
            <a:r>
              <a:rPr lang="en-US" dirty="0"/>
              <a:t>A hub is a physical device used to join multiple devices on the same LAN.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For example, a laptop, desktop computer and printer can connect into a hub's ports with Ethernet cables and be part of the same local network.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Unlike a bridge, router or switch, a hub broadcasts messages it receives from one port to all remaining ports without examining the frames or isolating the message for the intended destination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 hub must connect to a router or switch in order to communicate outside its LAN.</a:t>
            </a:r>
          </a:p>
          <a:p>
            <a:pPr marL="342900" indent="-342900">
              <a:buFont typeface="Arial" panose="020B0604020202020204" pitchFamily="34" charset="0"/>
              <a:buChar char="•"/>
            </a:pPr>
            <a:endParaRPr lang="en-IN" dirty="0"/>
          </a:p>
        </p:txBody>
      </p:sp>
      <p:sp>
        <p:nvSpPr>
          <p:cNvPr id="4" name="Text Placeholder 3">
            <a:extLst>
              <a:ext uri="{FF2B5EF4-FFF2-40B4-BE49-F238E27FC236}">
                <a16:creationId xmlns:a16="http://schemas.microsoft.com/office/drawing/2014/main" xmlns="" id="{E29E1292-AF8D-D04F-1CEA-A2FDDDB4F6DF}"/>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BECC0937-49DE-8A05-9C83-33490FC6BC13}"/>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6648F04F-8067-18C7-5061-360A52CB7555}"/>
              </a:ext>
            </a:extLst>
          </p:cNvPr>
          <p:cNvSpPr>
            <a:spLocks noGrp="1"/>
          </p:cNvSpPr>
          <p:nvPr>
            <p:ph type="sldNum" sz="quarter" idx="10"/>
          </p:nvPr>
        </p:nvSpPr>
        <p:spPr/>
        <p:txBody>
          <a:bodyPr/>
          <a:lstStyle/>
          <a:p>
            <a:fld id="{68151E55-6873-49E2-B8D5-2F265E6F1973}" type="slidenum">
              <a:rPr lang="en-US" smtClean="0"/>
              <a:pPr/>
              <a:t>52</a:t>
            </a:fld>
            <a:endParaRPr lang="en-US"/>
          </a:p>
        </p:txBody>
      </p:sp>
    </p:spTree>
    <p:extLst>
      <p:ext uri="{BB962C8B-B14F-4D97-AF65-F5344CB8AC3E}">
        <p14:creationId xmlns:p14="http://schemas.microsoft.com/office/powerpoint/2010/main" xmlns="" val="6747999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AECBE0-264F-7543-A1A5-0C07469EEC34}"/>
              </a:ext>
            </a:extLst>
          </p:cNvPr>
          <p:cNvSpPr>
            <a:spLocks noGrp="1"/>
          </p:cNvSpPr>
          <p:nvPr>
            <p:ph type="title"/>
          </p:nvPr>
        </p:nvSpPr>
        <p:spPr/>
        <p:txBody>
          <a:bodyPr/>
          <a:lstStyle/>
          <a:p>
            <a:r>
              <a:rPr lang="en-US" sz="3200" b="1" dirty="0"/>
              <a:t>Switch</a:t>
            </a:r>
          </a:p>
        </p:txBody>
      </p:sp>
      <p:sp>
        <p:nvSpPr>
          <p:cNvPr id="3" name="Content Placeholder 2">
            <a:extLst>
              <a:ext uri="{FF2B5EF4-FFF2-40B4-BE49-F238E27FC236}">
                <a16:creationId xmlns:a16="http://schemas.microsoft.com/office/drawing/2014/main" xmlns="" id="{A2060991-2158-B1D1-E19E-4B36636742A6}"/>
              </a:ext>
            </a:extLst>
          </p:cNvPr>
          <p:cNvSpPr>
            <a:spLocks noGrp="1"/>
          </p:cNvSpPr>
          <p:nvPr>
            <p:ph sz="quarter" idx="11"/>
          </p:nvPr>
        </p:nvSpPr>
        <p:spPr/>
        <p:txBody>
          <a:bodyPr/>
          <a:lstStyle/>
          <a:p>
            <a:r>
              <a:rPr lang="en-US" dirty="0"/>
              <a:t>A network switch forwards data to its destination by examining an incoming frame's MAC address and sending it to the device with the matching address.</a:t>
            </a:r>
          </a:p>
          <a:p>
            <a:pPr marL="342900" indent="-342900">
              <a:buFont typeface="Arial" panose="020B0604020202020204" pitchFamily="34" charset="0"/>
              <a:buChar char="•"/>
            </a:pPr>
            <a:r>
              <a:rPr lang="en-US" dirty="0"/>
              <a:t>Devices connect into a switch's ports usually via an Ethernet cable. </a:t>
            </a:r>
          </a:p>
          <a:p>
            <a:pPr marL="342900" indent="-342900">
              <a:buFont typeface="Arial" panose="020B0604020202020204" pitchFamily="34" charset="0"/>
              <a:buChar char="•"/>
            </a:pPr>
            <a:r>
              <a:rPr lang="en-US" dirty="0"/>
              <a:t>The switch stores those devices' MAC addresses in an address table it uses as a reference when transferring frames. </a:t>
            </a:r>
          </a:p>
          <a:p>
            <a:pPr marL="342900" indent="-342900">
              <a:buFont typeface="Arial" panose="020B0604020202020204" pitchFamily="34" charset="0"/>
              <a:buChar char="•"/>
            </a:pPr>
            <a:r>
              <a:rPr lang="en-US" dirty="0"/>
              <a:t>While a router forwards data to an IP address or network, a switch sends the information directly to the specific destination port</a:t>
            </a:r>
            <a:endParaRPr lang="en-IN" dirty="0"/>
          </a:p>
        </p:txBody>
      </p:sp>
      <p:sp>
        <p:nvSpPr>
          <p:cNvPr id="4" name="Text Placeholder 3">
            <a:extLst>
              <a:ext uri="{FF2B5EF4-FFF2-40B4-BE49-F238E27FC236}">
                <a16:creationId xmlns:a16="http://schemas.microsoft.com/office/drawing/2014/main" xmlns="" id="{20C0C274-6518-40D2-B7F8-B859A979FE79}"/>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B8BA692F-BD0D-F323-396D-67B9B262490B}"/>
              </a:ext>
            </a:extLst>
          </p:cNvPr>
          <p:cNvSpPr>
            <a:spLocks noGrp="1"/>
          </p:cNvSpPr>
          <p:nvPr>
            <p:ph type="body" sz="quarter" idx="40"/>
          </p:nvPr>
        </p:nvSpPr>
        <p:spPr/>
        <p:txBody>
          <a:bodyPr/>
          <a:lstStyle/>
          <a:p>
            <a:endParaRPr lang="en-IN" dirty="0"/>
          </a:p>
        </p:txBody>
      </p:sp>
      <p:sp>
        <p:nvSpPr>
          <p:cNvPr id="6" name="Slide Number Placeholder 5">
            <a:extLst>
              <a:ext uri="{FF2B5EF4-FFF2-40B4-BE49-F238E27FC236}">
                <a16:creationId xmlns:a16="http://schemas.microsoft.com/office/drawing/2014/main" xmlns="" id="{067A50A7-2BE9-8E67-085B-7481F3FB3B58}"/>
              </a:ext>
            </a:extLst>
          </p:cNvPr>
          <p:cNvSpPr>
            <a:spLocks noGrp="1"/>
          </p:cNvSpPr>
          <p:nvPr>
            <p:ph type="sldNum" sz="quarter" idx="10"/>
          </p:nvPr>
        </p:nvSpPr>
        <p:spPr/>
        <p:txBody>
          <a:bodyPr/>
          <a:lstStyle/>
          <a:p>
            <a:fld id="{68151E55-6873-49E2-B8D5-2F265E6F1973}" type="slidenum">
              <a:rPr lang="en-US" smtClean="0"/>
              <a:pPr/>
              <a:t>53</a:t>
            </a:fld>
            <a:endParaRPr lang="en-US"/>
          </a:p>
        </p:txBody>
      </p:sp>
    </p:spTree>
    <p:extLst>
      <p:ext uri="{BB962C8B-B14F-4D97-AF65-F5344CB8AC3E}">
        <p14:creationId xmlns:p14="http://schemas.microsoft.com/office/powerpoint/2010/main" xmlns="" val="32693948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07270A-5ECF-7003-B9B3-CB7F25D48A12}"/>
              </a:ext>
            </a:extLst>
          </p:cNvPr>
          <p:cNvSpPr>
            <a:spLocks noGrp="1"/>
          </p:cNvSpPr>
          <p:nvPr>
            <p:ph type="title"/>
          </p:nvPr>
        </p:nvSpPr>
        <p:spPr/>
        <p:txBody>
          <a:bodyPr/>
          <a:lstStyle/>
          <a:p>
            <a:r>
              <a:rPr lang="en-US" sz="3200" b="1" dirty="0"/>
              <a:t>Router</a:t>
            </a:r>
          </a:p>
        </p:txBody>
      </p:sp>
      <p:sp>
        <p:nvSpPr>
          <p:cNvPr id="3" name="Content Placeholder 2">
            <a:extLst>
              <a:ext uri="{FF2B5EF4-FFF2-40B4-BE49-F238E27FC236}">
                <a16:creationId xmlns:a16="http://schemas.microsoft.com/office/drawing/2014/main" xmlns="" id="{9893090B-18D0-7993-D0CA-5D019ED143D7}"/>
              </a:ext>
            </a:extLst>
          </p:cNvPr>
          <p:cNvSpPr>
            <a:spLocks noGrp="1"/>
          </p:cNvSpPr>
          <p:nvPr>
            <p:ph sz="quarter" idx="11"/>
          </p:nvPr>
        </p:nvSpPr>
        <p:spPr/>
        <p:txBody>
          <a:bodyPr/>
          <a:lstStyle/>
          <a:p>
            <a:pPr marL="342900" indent="-342900">
              <a:buFont typeface="Arial" panose="020B0604020202020204" pitchFamily="34" charset="0"/>
              <a:buChar char="•"/>
            </a:pPr>
            <a:r>
              <a:rPr lang="en-US" dirty="0"/>
              <a:t>A router directs data requests from one network to another.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Routers examine incoming packets to determine the appropriate destination IP address and then forward the packet to that destination. </a:t>
            </a:r>
          </a:p>
          <a:p>
            <a:pPr marL="342900" indent="-342900">
              <a:buFont typeface="Arial" panose="020B0604020202020204" pitchFamily="34" charset="0"/>
              <a:buChar char="•"/>
            </a:pPr>
            <a:endParaRPr lang="en-US" dirty="0"/>
          </a:p>
          <a:p>
            <a:pPr marL="800100" lvl="1" indent="-342900">
              <a:buFont typeface="Arial" panose="020B0604020202020204" pitchFamily="34" charset="0"/>
              <a:buChar char="•"/>
            </a:pPr>
            <a:r>
              <a:rPr lang="en-US" sz="2000" dirty="0"/>
              <a:t>A router can also enable internet access through its connection to a modem, or as a combined modem-router.</a:t>
            </a:r>
          </a:p>
          <a:p>
            <a:pPr marL="800100" lvl="1" indent="-342900">
              <a:buFont typeface="Arial" panose="020B0604020202020204" pitchFamily="34" charset="0"/>
              <a:buChar char="•"/>
            </a:pPr>
            <a:r>
              <a:rPr lang="en-US" sz="2000" dirty="0"/>
              <a:t>As with a bridge, routers maintain and use routing tables that contain route information, such as IP addresses and interfaces. </a:t>
            </a:r>
          </a:p>
          <a:p>
            <a:pPr marL="800100" lvl="1" indent="-342900">
              <a:buFont typeface="Arial" panose="020B0604020202020204" pitchFamily="34" charset="0"/>
              <a:buChar char="•"/>
            </a:pPr>
            <a:r>
              <a:rPr lang="en-US" sz="2000" dirty="0"/>
              <a:t>Once a router inspects a packet, it refers to the routing table to find the best path toward the destination. </a:t>
            </a:r>
          </a:p>
          <a:p>
            <a:pPr marL="800100" lvl="1" indent="-342900">
              <a:buFont typeface="Arial" panose="020B0604020202020204" pitchFamily="34" charset="0"/>
              <a:buChar char="•"/>
            </a:pPr>
            <a:r>
              <a:rPr lang="en-US" sz="2000" dirty="0"/>
              <a:t>Routers use routing protocols to communicate and exchange data.</a:t>
            </a:r>
            <a:endParaRPr lang="en-IN" sz="2000" dirty="0"/>
          </a:p>
        </p:txBody>
      </p:sp>
      <p:sp>
        <p:nvSpPr>
          <p:cNvPr id="4" name="Text Placeholder 3">
            <a:extLst>
              <a:ext uri="{FF2B5EF4-FFF2-40B4-BE49-F238E27FC236}">
                <a16:creationId xmlns:a16="http://schemas.microsoft.com/office/drawing/2014/main" xmlns="" id="{02D1348B-577F-4914-E82C-BC4135AC2990}"/>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DEC0F642-BB6E-716A-ACAC-F24BD6E8CE30}"/>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41C33F29-F02A-CC1F-6921-8BCA47B2B112}"/>
              </a:ext>
            </a:extLst>
          </p:cNvPr>
          <p:cNvSpPr>
            <a:spLocks noGrp="1"/>
          </p:cNvSpPr>
          <p:nvPr>
            <p:ph type="sldNum" sz="quarter" idx="10"/>
          </p:nvPr>
        </p:nvSpPr>
        <p:spPr/>
        <p:txBody>
          <a:bodyPr/>
          <a:lstStyle/>
          <a:p>
            <a:fld id="{68151E55-6873-49E2-B8D5-2F265E6F1973}" type="slidenum">
              <a:rPr lang="en-US" smtClean="0"/>
              <a:pPr/>
              <a:t>54</a:t>
            </a:fld>
            <a:endParaRPr lang="en-US"/>
          </a:p>
        </p:txBody>
      </p:sp>
    </p:spTree>
    <p:extLst>
      <p:ext uri="{BB962C8B-B14F-4D97-AF65-F5344CB8AC3E}">
        <p14:creationId xmlns:p14="http://schemas.microsoft.com/office/powerpoint/2010/main" xmlns="" val="40583242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B05C3B-572E-A831-C63E-6BF0ED3461E4}"/>
              </a:ext>
            </a:extLst>
          </p:cNvPr>
          <p:cNvSpPr>
            <a:spLocks noGrp="1"/>
          </p:cNvSpPr>
          <p:nvPr>
            <p:ph type="title"/>
          </p:nvPr>
        </p:nvSpPr>
        <p:spPr/>
        <p:txBody>
          <a:bodyPr/>
          <a:lstStyle/>
          <a:p>
            <a:r>
              <a:rPr lang="en-US" sz="3200" b="1" dirty="0"/>
              <a:t>Router</a:t>
            </a:r>
            <a:endParaRPr lang="en-IN" sz="3200" dirty="0"/>
          </a:p>
        </p:txBody>
      </p:sp>
      <p:sp>
        <p:nvSpPr>
          <p:cNvPr id="3" name="Content Placeholder 2">
            <a:extLst>
              <a:ext uri="{FF2B5EF4-FFF2-40B4-BE49-F238E27FC236}">
                <a16:creationId xmlns:a16="http://schemas.microsoft.com/office/drawing/2014/main" xmlns="" id="{2B0FD972-CBF3-BEDB-A801-ACCE62D6A9E5}"/>
              </a:ext>
            </a:extLst>
          </p:cNvPr>
          <p:cNvSpPr>
            <a:spLocks noGrp="1"/>
          </p:cNvSpPr>
          <p:nvPr>
            <p:ph sz="quarter" idx="11"/>
          </p:nvPr>
        </p:nvSpPr>
        <p:spPr/>
        <p:txBody>
          <a:bodyPr/>
          <a:lstStyle/>
          <a:p>
            <a:r>
              <a:rPr lang="en-US" dirty="0"/>
              <a:t>Types of routers typically used in enterprise networks include the following:</a:t>
            </a:r>
          </a:p>
          <a:p>
            <a:endParaRPr lang="en-US" dirty="0"/>
          </a:p>
          <a:p>
            <a:pPr marL="342900" indent="-342900">
              <a:buFont typeface="Arial" panose="020B0604020202020204" pitchFamily="34" charset="0"/>
              <a:buChar char="•"/>
            </a:pPr>
            <a:r>
              <a:rPr lang="en-US" dirty="0"/>
              <a:t>edge routers</a:t>
            </a:r>
          </a:p>
          <a:p>
            <a:pPr marL="342900" indent="-342900">
              <a:buFont typeface="Arial" panose="020B0604020202020204" pitchFamily="34" charset="0"/>
              <a:buChar char="•"/>
            </a:pPr>
            <a:r>
              <a:rPr lang="en-US" dirty="0"/>
              <a:t>core routers</a:t>
            </a:r>
          </a:p>
          <a:p>
            <a:pPr marL="342900" indent="-342900">
              <a:buFont typeface="Arial" panose="020B0604020202020204" pitchFamily="34" charset="0"/>
              <a:buChar char="•"/>
            </a:pPr>
            <a:r>
              <a:rPr lang="en-US" dirty="0"/>
              <a:t>distribution routers</a:t>
            </a:r>
          </a:p>
          <a:p>
            <a:pPr marL="342900" indent="-342900">
              <a:buFont typeface="Arial" panose="020B0604020202020204" pitchFamily="34" charset="0"/>
              <a:buChar char="•"/>
            </a:pPr>
            <a:r>
              <a:rPr lang="en-US" dirty="0"/>
              <a:t>wireless routers</a:t>
            </a:r>
          </a:p>
          <a:p>
            <a:endParaRPr lang="en-IN" dirty="0"/>
          </a:p>
        </p:txBody>
      </p:sp>
      <p:sp>
        <p:nvSpPr>
          <p:cNvPr id="4" name="Text Placeholder 3">
            <a:extLst>
              <a:ext uri="{FF2B5EF4-FFF2-40B4-BE49-F238E27FC236}">
                <a16:creationId xmlns:a16="http://schemas.microsoft.com/office/drawing/2014/main" xmlns="" id="{9D10E3D9-9EB3-B9F5-A24D-983CB2C1D2B6}"/>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3AFFD1B6-E3E1-9375-3A37-2F159BDCE29E}"/>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90255C8B-68A5-7924-A854-6009440F7742}"/>
              </a:ext>
            </a:extLst>
          </p:cNvPr>
          <p:cNvSpPr>
            <a:spLocks noGrp="1"/>
          </p:cNvSpPr>
          <p:nvPr>
            <p:ph type="sldNum" sz="quarter" idx="10"/>
          </p:nvPr>
        </p:nvSpPr>
        <p:spPr/>
        <p:txBody>
          <a:bodyPr/>
          <a:lstStyle/>
          <a:p>
            <a:fld id="{68151E55-6873-49E2-B8D5-2F265E6F1973}" type="slidenum">
              <a:rPr lang="en-US" smtClean="0"/>
              <a:pPr/>
              <a:t>55</a:t>
            </a:fld>
            <a:endParaRPr lang="en-US"/>
          </a:p>
        </p:txBody>
      </p:sp>
    </p:spTree>
    <p:extLst>
      <p:ext uri="{BB962C8B-B14F-4D97-AF65-F5344CB8AC3E}">
        <p14:creationId xmlns:p14="http://schemas.microsoft.com/office/powerpoint/2010/main" xmlns="" val="18486119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DD5200-52B1-CE5C-DF03-97CE0DDBFA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F16DDCC0-A829-F260-6F27-8D0BAFA869E1}"/>
              </a:ext>
            </a:extLst>
          </p:cNvPr>
          <p:cNvSpPr>
            <a:spLocks noGrp="1"/>
          </p:cNvSpPr>
          <p:nvPr>
            <p:ph sz="quarter" idx="11"/>
          </p:nvPr>
        </p:nvSpPr>
        <p:spPr/>
        <p:txBody>
          <a:bodyPr/>
          <a:lstStyle/>
          <a:p>
            <a:endParaRPr lang="en-IN" dirty="0"/>
          </a:p>
        </p:txBody>
      </p:sp>
      <p:sp>
        <p:nvSpPr>
          <p:cNvPr id="4" name="Text Placeholder 3">
            <a:extLst>
              <a:ext uri="{FF2B5EF4-FFF2-40B4-BE49-F238E27FC236}">
                <a16:creationId xmlns:a16="http://schemas.microsoft.com/office/drawing/2014/main" xmlns="" id="{62E41D8D-0612-0180-D98A-98ABFD892B8D}"/>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24CA5552-84E6-9EA0-667F-5D1BA55824DF}"/>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5F44FCA5-43F5-E7CD-E045-D31DEC5A3DEA}"/>
              </a:ext>
            </a:extLst>
          </p:cNvPr>
          <p:cNvSpPr>
            <a:spLocks noGrp="1"/>
          </p:cNvSpPr>
          <p:nvPr>
            <p:ph type="sldNum" sz="quarter" idx="10"/>
          </p:nvPr>
        </p:nvSpPr>
        <p:spPr/>
        <p:txBody>
          <a:bodyPr/>
          <a:lstStyle/>
          <a:p>
            <a:fld id="{68151E55-6873-49E2-B8D5-2F265E6F1973}" type="slidenum">
              <a:rPr lang="en-US" smtClean="0"/>
              <a:pPr/>
              <a:t>56</a:t>
            </a:fld>
            <a:endParaRPr lang="en-US"/>
          </a:p>
        </p:txBody>
      </p:sp>
      <p:pic>
        <p:nvPicPr>
          <p:cNvPr id="7" name="Computer Networking Devices _ HUB,SWITCH,BRIDGE,ROUTER,GATEWAY,NIC _ #MakeEasy">
            <a:hlinkClick r:id="" action="ppaction://media"/>
            <a:extLst>
              <a:ext uri="{FF2B5EF4-FFF2-40B4-BE49-F238E27FC236}">
                <a16:creationId xmlns:a16="http://schemas.microsoft.com/office/drawing/2014/main" xmlns="" id="{DC38FE9C-7C9C-15A2-4823-23CA5BBA4183}"/>
              </a:ext>
            </a:extLst>
          </p:cNvPr>
          <p:cNvPicPr>
            <a:picLocks noChangeAspect="1"/>
          </p:cNvPicPr>
          <p:nvPr>
            <a:videoFile r:link="rId1"/>
            <p:extLst>
              <p:ext uri="{DAA4B4D4-6D71-4841-9C94-3DE7FCFB9230}">
                <p14:media xmlns:p14="http://schemas.microsoft.com/office/powerpoint/2010/main" xmlns="" r:embed="rId3"/>
              </p:ext>
            </p:extLst>
          </p:nvPr>
        </p:nvPicPr>
        <p:blipFill>
          <a:blip r:embed="rId4"/>
          <a:stretch>
            <a:fillRect/>
          </a:stretch>
        </p:blipFill>
        <p:spPr>
          <a:xfrm>
            <a:off x="342900" y="1276711"/>
            <a:ext cx="8458200" cy="4840702"/>
          </a:xfrm>
          <a:prstGeom prst="rect">
            <a:avLst/>
          </a:prstGeom>
        </p:spPr>
      </p:pic>
    </p:spTree>
    <p:extLst>
      <p:ext uri="{BB962C8B-B14F-4D97-AF65-F5344CB8AC3E}">
        <p14:creationId xmlns:p14="http://schemas.microsoft.com/office/powerpoint/2010/main" xmlns="" val="224207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976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AB80E6-67D6-E74C-1386-F81671AEC507}"/>
              </a:ext>
            </a:extLst>
          </p:cNvPr>
          <p:cNvSpPr>
            <a:spLocks noGrp="1"/>
          </p:cNvSpPr>
          <p:nvPr>
            <p:ph type="title"/>
          </p:nvPr>
        </p:nvSpPr>
        <p:spPr/>
        <p:txBody>
          <a:bodyPr/>
          <a:lstStyle/>
          <a:p>
            <a:pPr algn="ctr"/>
            <a:r>
              <a:rPr lang="en-IN" sz="1400" b="0" i="0" u="none" strike="noStrike" baseline="0" dirty="0">
                <a:solidFill>
                  <a:srgbClr val="000000"/>
                </a:solidFill>
              </a:rPr>
              <a:t/>
            </a:r>
            <a:br>
              <a:rPr lang="en-IN" sz="1400" b="0" i="0" u="none" strike="noStrike" baseline="0" dirty="0">
                <a:solidFill>
                  <a:srgbClr val="000000"/>
                </a:solidFill>
              </a:rPr>
            </a:br>
            <a:r>
              <a:rPr lang="en-IN" sz="1400" b="0" i="0" u="none" strike="noStrike" baseline="0" dirty="0">
                <a:solidFill>
                  <a:srgbClr val="000000"/>
                </a:solidFill>
              </a:rPr>
              <a:t> </a:t>
            </a:r>
            <a:r>
              <a:rPr lang="en-IN" sz="4000" b="1" kern="1200" spc="-5" dirty="0">
                <a:ea typeface="+mn-ea"/>
              </a:rPr>
              <a:t>Network Models</a:t>
            </a:r>
            <a:r>
              <a:rPr lang="en-IN" sz="2000" b="0" i="0" u="none" strike="noStrike" baseline="0" dirty="0">
                <a:solidFill>
                  <a:srgbClr val="000000"/>
                </a:solidFill>
              </a:rPr>
              <a:t>	</a:t>
            </a:r>
            <a:r>
              <a:rPr lang="en-IN" sz="1400" b="0" i="0" u="none" strike="noStrike" baseline="0" dirty="0">
                <a:solidFill>
                  <a:srgbClr val="000000"/>
                </a:solidFill>
              </a:rPr>
              <a:t/>
            </a:r>
            <a:br>
              <a:rPr lang="en-IN" sz="1400" b="0" i="0" u="none" strike="noStrike" baseline="0" dirty="0">
                <a:solidFill>
                  <a:srgbClr val="000000"/>
                </a:solidFill>
              </a:rPr>
            </a:br>
            <a:endParaRPr lang="en-IN" dirty="0"/>
          </a:p>
        </p:txBody>
      </p:sp>
      <p:sp>
        <p:nvSpPr>
          <p:cNvPr id="3" name="Content Placeholder 2">
            <a:extLst>
              <a:ext uri="{FF2B5EF4-FFF2-40B4-BE49-F238E27FC236}">
                <a16:creationId xmlns:a16="http://schemas.microsoft.com/office/drawing/2014/main" xmlns="" id="{0D3638B4-ABE4-869D-FEDB-41B3608DBEDB}"/>
              </a:ext>
            </a:extLst>
          </p:cNvPr>
          <p:cNvSpPr>
            <a:spLocks noGrp="1"/>
          </p:cNvSpPr>
          <p:nvPr>
            <p:ph sz="quarter" idx="11"/>
          </p:nvPr>
        </p:nvSpPr>
        <p:spPr/>
        <p:txBody>
          <a:bodyPr/>
          <a:lstStyle/>
          <a:p>
            <a:pPr algn="just"/>
            <a:r>
              <a:rPr lang="en-US" sz="2800" b="1" dirty="0"/>
              <a:t>THE OSI</a:t>
            </a:r>
            <a:r>
              <a:rPr lang="en-US" sz="2800" dirty="0">
                <a:effectLst>
                  <a:outerShdw blurRad="38100" dist="38100" dir="2700000" algn="tl">
                    <a:srgbClr val="C0C0C0"/>
                  </a:outerShdw>
                </a:effectLst>
                <a:latin typeface="Times" pitchFamily="18" charset="0"/>
              </a:rPr>
              <a:t> (Open System Interconnection)</a:t>
            </a:r>
            <a:r>
              <a:rPr lang="en-US" sz="2800" b="1" dirty="0"/>
              <a:t> MODEL</a:t>
            </a:r>
          </a:p>
          <a:p>
            <a:pPr algn="just"/>
            <a:endParaRPr lang="en-US" dirty="0"/>
          </a:p>
          <a:p>
            <a:pPr marL="342900" indent="-342900" algn="just">
              <a:buFont typeface="Arial" panose="020B0604020202020204" pitchFamily="34" charset="0"/>
              <a:buChar char="•"/>
            </a:pPr>
            <a:r>
              <a:rPr lang="en-US" dirty="0"/>
              <a:t>Established in 1947, the ISO (International </a:t>
            </a:r>
            <a:r>
              <a:rPr lang="en-US" dirty="0" smtClean="0"/>
              <a:t>Organization </a:t>
            </a:r>
            <a:r>
              <a:rPr lang="en-US" smtClean="0"/>
              <a:t>for </a:t>
            </a:r>
            <a:r>
              <a:rPr lang="en-US" smtClean="0"/>
              <a:t>Standard)  </a:t>
            </a:r>
            <a:r>
              <a:rPr lang="en-US" dirty="0"/>
              <a:t>is a multinational body dedicated to worldwide agreement on international standards. </a:t>
            </a:r>
          </a:p>
          <a:p>
            <a:pPr marL="342900" indent="-342900" algn="just">
              <a:buFont typeface="Arial" panose="020B0604020202020204" pitchFamily="34" charset="0"/>
              <a:buChar char="•"/>
            </a:pPr>
            <a:r>
              <a:rPr lang="en-US" dirty="0"/>
              <a:t>An ISO standard that covers all aspects of network communications is the OSI model. </a:t>
            </a:r>
          </a:p>
          <a:p>
            <a:pPr marL="342900" indent="-342900" algn="just">
              <a:buFont typeface="Arial" panose="020B0604020202020204" pitchFamily="34" charset="0"/>
              <a:buChar char="•"/>
            </a:pPr>
            <a:r>
              <a:rPr lang="en-US" dirty="0"/>
              <a:t>It was first introduced in the late 1970s. </a:t>
            </a:r>
          </a:p>
          <a:p>
            <a:pPr marL="342900" indent="-342900" algn="just">
              <a:buFont typeface="Arial" panose="020B0604020202020204" pitchFamily="34" charset="0"/>
              <a:buChar char="•"/>
            </a:pPr>
            <a:r>
              <a:rPr lang="en-US" dirty="0"/>
              <a:t>Open System refers to a set protocols that allows two computers to communicate regardless of underlying architecture.</a:t>
            </a:r>
          </a:p>
          <a:p>
            <a:pPr marL="342900" indent="-342900" algn="just">
              <a:buFont typeface="Arial" panose="020B0604020202020204" pitchFamily="34" charset="0"/>
              <a:buChar char="•"/>
            </a:pPr>
            <a:r>
              <a:rPr lang="en-US" dirty="0"/>
              <a:t>OSI is not a protocol; but it is a model for understanding and design of a network architecture that is  robust , flexible and interoperable.</a:t>
            </a:r>
          </a:p>
          <a:p>
            <a:pPr marL="342900" indent="-342900" algn="just">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xmlns="" id="{C64141D1-0F44-F3D7-3D59-911FEFAC12CE}"/>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47C6C45D-1261-B819-0B71-ADFC8AA80871}"/>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76307C55-283B-4E7F-54D8-7A7EB5925435}"/>
              </a:ext>
            </a:extLst>
          </p:cNvPr>
          <p:cNvSpPr>
            <a:spLocks noGrp="1"/>
          </p:cNvSpPr>
          <p:nvPr>
            <p:ph type="sldNum" sz="quarter" idx="10"/>
          </p:nvPr>
        </p:nvSpPr>
        <p:spPr/>
        <p:txBody>
          <a:bodyPr/>
          <a:lstStyle/>
          <a:p>
            <a:fld id="{68151E55-6873-49E2-B8D5-2F265E6F1973}" type="slidenum">
              <a:rPr lang="en-US" smtClean="0"/>
              <a:pPr/>
              <a:t>57</a:t>
            </a:fld>
            <a:endParaRPr lang="en-US"/>
          </a:p>
        </p:txBody>
      </p:sp>
    </p:spTree>
    <p:extLst>
      <p:ext uri="{BB962C8B-B14F-4D97-AF65-F5344CB8AC3E}">
        <p14:creationId xmlns:p14="http://schemas.microsoft.com/office/powerpoint/2010/main" xmlns="" val="26158915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81C52D-F465-1D3F-2C49-5B8596E70DCC}"/>
              </a:ext>
            </a:extLst>
          </p:cNvPr>
          <p:cNvSpPr>
            <a:spLocks noGrp="1"/>
          </p:cNvSpPr>
          <p:nvPr>
            <p:ph type="title"/>
          </p:nvPr>
        </p:nvSpPr>
        <p:spPr/>
        <p:txBody>
          <a:bodyPr/>
          <a:lstStyle/>
          <a:p>
            <a:r>
              <a:rPr lang="en-US" sz="2800" dirty="0"/>
              <a:t>The OSI model</a:t>
            </a:r>
            <a:endParaRPr lang="en-IN" sz="2800" dirty="0"/>
          </a:p>
        </p:txBody>
      </p:sp>
      <p:sp>
        <p:nvSpPr>
          <p:cNvPr id="3" name="Content Placeholder 2">
            <a:extLst>
              <a:ext uri="{FF2B5EF4-FFF2-40B4-BE49-F238E27FC236}">
                <a16:creationId xmlns:a16="http://schemas.microsoft.com/office/drawing/2014/main" xmlns="" id="{FC6EDA63-D393-AFE6-D084-DD84612DA8A5}"/>
              </a:ext>
            </a:extLst>
          </p:cNvPr>
          <p:cNvSpPr>
            <a:spLocks noGrp="1"/>
          </p:cNvSpPr>
          <p:nvPr>
            <p:ph sz="quarter" idx="11"/>
          </p:nvPr>
        </p:nvSpPr>
        <p:spPr/>
        <p:txBody>
          <a:bodyPr/>
          <a:lstStyle/>
          <a:p>
            <a:pPr marL="342900" indent="-342900" algn="just">
              <a:buFont typeface="Arial" panose="020B0604020202020204" pitchFamily="34" charset="0"/>
              <a:buChar char="•"/>
            </a:pPr>
            <a:r>
              <a:rPr lang="en-US" dirty="0"/>
              <a:t>The OSI model is a layered framework for the design of network systems that allows communication between all types of computer systems.</a:t>
            </a:r>
          </a:p>
          <a:p>
            <a:pPr marL="342900" indent="-342900" algn="just">
              <a:buFont typeface="Arial" panose="020B0604020202020204" pitchFamily="34" charset="0"/>
              <a:buChar char="•"/>
            </a:pPr>
            <a:r>
              <a:rPr lang="en-US" dirty="0"/>
              <a:t> It consists of seven separate but related layers, each of which defines a part of the process of moving information across a network</a:t>
            </a:r>
            <a:endParaRPr lang="en-IN" dirty="0"/>
          </a:p>
          <a:p>
            <a:endParaRPr lang="en-IN" dirty="0"/>
          </a:p>
        </p:txBody>
      </p:sp>
      <p:sp>
        <p:nvSpPr>
          <p:cNvPr id="4" name="Text Placeholder 3">
            <a:extLst>
              <a:ext uri="{FF2B5EF4-FFF2-40B4-BE49-F238E27FC236}">
                <a16:creationId xmlns:a16="http://schemas.microsoft.com/office/drawing/2014/main" xmlns="" id="{D3C4A554-3467-88E8-5543-5FE69310A0DD}"/>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6BFF9769-83C0-3E37-C665-241E49CF5F9C}"/>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7AC85946-2E23-D200-D157-92489508F11C}"/>
              </a:ext>
            </a:extLst>
          </p:cNvPr>
          <p:cNvSpPr>
            <a:spLocks noGrp="1"/>
          </p:cNvSpPr>
          <p:nvPr>
            <p:ph type="sldNum" sz="quarter" idx="10"/>
          </p:nvPr>
        </p:nvSpPr>
        <p:spPr/>
        <p:txBody>
          <a:bodyPr/>
          <a:lstStyle/>
          <a:p>
            <a:fld id="{68151E55-6873-49E2-B8D5-2F265E6F1973}" type="slidenum">
              <a:rPr lang="en-US" smtClean="0"/>
              <a:pPr/>
              <a:t>58</a:t>
            </a:fld>
            <a:endParaRPr lang="en-US"/>
          </a:p>
        </p:txBody>
      </p:sp>
    </p:spTree>
    <p:extLst>
      <p:ext uri="{BB962C8B-B14F-4D97-AF65-F5344CB8AC3E}">
        <p14:creationId xmlns:p14="http://schemas.microsoft.com/office/powerpoint/2010/main" xmlns="" val="40040690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xmlns="" id="{6E2E5835-6543-9503-B9BE-8D3093563650}"/>
              </a:ext>
            </a:extLst>
          </p:cNvPr>
          <p:cNvPicPr>
            <a:picLocks noGrp="1" noChangeAspect="1"/>
          </p:cNvPicPr>
          <p:nvPr>
            <p:ph sz="quarter" idx="11"/>
          </p:nvPr>
        </p:nvPicPr>
        <p:blipFill>
          <a:blip r:embed="rId2"/>
          <a:stretch>
            <a:fillRect/>
          </a:stretch>
        </p:blipFill>
        <p:spPr>
          <a:xfrm>
            <a:off x="304800" y="2667000"/>
            <a:ext cx="8077900" cy="1012024"/>
          </a:xfrm>
          <a:prstGeom prst="rect">
            <a:avLst/>
          </a:prstGeom>
        </p:spPr>
      </p:pic>
      <p:sp>
        <p:nvSpPr>
          <p:cNvPr id="4" name="Text Placeholder 3">
            <a:extLst>
              <a:ext uri="{FF2B5EF4-FFF2-40B4-BE49-F238E27FC236}">
                <a16:creationId xmlns:a16="http://schemas.microsoft.com/office/drawing/2014/main" xmlns="" id="{3F1C8A3B-CE9B-6216-8307-7C282DF63117}"/>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1BF6DE06-9860-79E6-0180-6D6562A58C78}"/>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E817D742-E6A7-8E71-9B5B-E3018D10A329}"/>
              </a:ext>
            </a:extLst>
          </p:cNvPr>
          <p:cNvSpPr>
            <a:spLocks noGrp="1"/>
          </p:cNvSpPr>
          <p:nvPr>
            <p:ph type="sldNum" sz="quarter" idx="10"/>
          </p:nvPr>
        </p:nvSpPr>
        <p:spPr/>
        <p:txBody>
          <a:bodyPr/>
          <a:lstStyle/>
          <a:p>
            <a:fld id="{68151E55-6873-49E2-B8D5-2F265E6F1973}" type="slidenum">
              <a:rPr lang="en-US" smtClean="0"/>
              <a:pPr/>
              <a:t>59</a:t>
            </a:fld>
            <a:endParaRPr lang="en-US"/>
          </a:p>
        </p:txBody>
      </p:sp>
      <p:pic>
        <p:nvPicPr>
          <p:cNvPr id="12" name="Picture 11">
            <a:extLst>
              <a:ext uri="{FF2B5EF4-FFF2-40B4-BE49-F238E27FC236}">
                <a16:creationId xmlns:a16="http://schemas.microsoft.com/office/drawing/2014/main" xmlns="" id="{8B57FA82-D123-1AB9-7A3B-10D91DF17574}"/>
              </a:ext>
            </a:extLst>
          </p:cNvPr>
          <p:cNvPicPr>
            <a:picLocks noChangeAspect="1"/>
          </p:cNvPicPr>
          <p:nvPr/>
        </p:nvPicPr>
        <p:blipFill>
          <a:blip r:embed="rId3"/>
          <a:stretch>
            <a:fillRect/>
          </a:stretch>
        </p:blipFill>
        <p:spPr>
          <a:xfrm>
            <a:off x="533400" y="1905000"/>
            <a:ext cx="1146147" cy="566977"/>
          </a:xfrm>
          <a:prstGeom prst="rect">
            <a:avLst/>
          </a:prstGeom>
        </p:spPr>
      </p:pic>
      <p:pic>
        <p:nvPicPr>
          <p:cNvPr id="14" name="Picture 13">
            <a:extLst>
              <a:ext uri="{FF2B5EF4-FFF2-40B4-BE49-F238E27FC236}">
                <a16:creationId xmlns:a16="http://schemas.microsoft.com/office/drawing/2014/main" xmlns="" id="{41047898-6DD9-3017-D965-1183CE6DA308}"/>
              </a:ext>
            </a:extLst>
          </p:cNvPr>
          <p:cNvPicPr>
            <a:picLocks noChangeAspect="1"/>
          </p:cNvPicPr>
          <p:nvPr/>
        </p:nvPicPr>
        <p:blipFill>
          <a:blip r:embed="rId4"/>
          <a:stretch>
            <a:fillRect/>
          </a:stretch>
        </p:blipFill>
        <p:spPr>
          <a:xfrm>
            <a:off x="533400" y="1813551"/>
            <a:ext cx="1115665" cy="749873"/>
          </a:xfrm>
          <a:prstGeom prst="rect">
            <a:avLst/>
          </a:prstGeom>
        </p:spPr>
      </p:pic>
    </p:spTree>
    <p:extLst>
      <p:ext uri="{BB962C8B-B14F-4D97-AF65-F5344CB8AC3E}">
        <p14:creationId xmlns:p14="http://schemas.microsoft.com/office/powerpoint/2010/main" xmlns="" val="14849015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986"/>
            <a:ext cx="4516502" cy="677108"/>
          </a:xfrm>
        </p:spPr>
        <p:txBody>
          <a:bodyPr/>
          <a:lstStyle/>
          <a:p>
            <a:r>
              <a:rPr lang="en-IN" b="1" dirty="0"/>
              <a:t>The OSI 7 Layers</a:t>
            </a:r>
            <a:endParaRPr lang="en-IN" dirty="0"/>
          </a:p>
        </p:txBody>
      </p:sp>
      <p:sp>
        <p:nvSpPr>
          <p:cNvPr id="4" name="AutoShape 2" descr="https://www.imperva.com/learn/wp-content/uploads/sites/13/2020/02/OSI-7-layers.jpg.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09600" y="1134308"/>
            <a:ext cx="8153400" cy="55087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a:extLst>
              <a:ext uri="{FF2B5EF4-FFF2-40B4-BE49-F238E27FC236}">
                <a16:creationId xmlns:a16="http://schemas.microsoft.com/office/drawing/2014/main" xmlns="" id="{8FC984A9-BF3E-69A9-2104-A1DF49D1B66A}"/>
              </a:ext>
            </a:extLst>
          </p:cNvPr>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60</a:t>
            </a:fld>
            <a:endParaRPr lang="en-IN" dirty="0"/>
          </a:p>
        </p:txBody>
      </p:sp>
    </p:spTree>
    <p:extLst>
      <p:ext uri="{BB962C8B-B14F-4D97-AF65-F5344CB8AC3E}">
        <p14:creationId xmlns:p14="http://schemas.microsoft.com/office/powerpoint/2010/main" xmlns="" val="11009648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B15F03-E77C-90A6-B2D4-F5DB4E24AC83}"/>
              </a:ext>
            </a:extLst>
          </p:cNvPr>
          <p:cNvSpPr>
            <a:spLocks noGrp="1"/>
          </p:cNvSpPr>
          <p:nvPr>
            <p:ph type="title"/>
          </p:nvPr>
        </p:nvSpPr>
        <p:spPr/>
        <p:txBody>
          <a:bodyPr/>
          <a:lstStyle/>
          <a:p>
            <a:r>
              <a:rPr lang="en-US" altLang="en-US" sz="3200" dirty="0">
                <a:solidFill>
                  <a:schemeClr val="folHlink"/>
                </a:solidFill>
              </a:rPr>
              <a:t> </a:t>
            </a:r>
            <a:r>
              <a:rPr lang="en-US" altLang="en-US" sz="2800" i="1" dirty="0"/>
              <a:t>The interaction between layers in the OSI model</a:t>
            </a:r>
            <a:endParaRPr lang="en-IN" sz="2800" dirty="0"/>
          </a:p>
        </p:txBody>
      </p:sp>
      <p:sp>
        <p:nvSpPr>
          <p:cNvPr id="3" name="Content Placeholder 2">
            <a:extLst>
              <a:ext uri="{FF2B5EF4-FFF2-40B4-BE49-F238E27FC236}">
                <a16:creationId xmlns:a16="http://schemas.microsoft.com/office/drawing/2014/main" xmlns="" id="{0F1D6AFD-FFE2-242D-BABF-661D340B0E47}"/>
              </a:ext>
            </a:extLst>
          </p:cNvPr>
          <p:cNvSpPr>
            <a:spLocks noGrp="1"/>
          </p:cNvSpPr>
          <p:nvPr>
            <p:ph sz="quarter" idx="11"/>
          </p:nvPr>
        </p:nvSpPr>
        <p:spPr/>
        <p:txBody>
          <a:bodyPr/>
          <a:lstStyle/>
          <a:p>
            <a:endParaRPr lang="en-IN"/>
          </a:p>
        </p:txBody>
      </p:sp>
      <p:sp>
        <p:nvSpPr>
          <p:cNvPr id="4" name="Text Placeholder 3">
            <a:extLst>
              <a:ext uri="{FF2B5EF4-FFF2-40B4-BE49-F238E27FC236}">
                <a16:creationId xmlns:a16="http://schemas.microsoft.com/office/drawing/2014/main" xmlns="" id="{7D630DC5-8903-7DF1-627B-D7F48629BA7A}"/>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F986C4E6-8780-F0CF-E2EA-6BF3C33E3B69}"/>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241ABA00-5EF3-DF0E-C8BB-E0B03718922F}"/>
              </a:ext>
            </a:extLst>
          </p:cNvPr>
          <p:cNvSpPr>
            <a:spLocks noGrp="1"/>
          </p:cNvSpPr>
          <p:nvPr>
            <p:ph type="sldNum" sz="quarter" idx="10"/>
          </p:nvPr>
        </p:nvSpPr>
        <p:spPr/>
        <p:txBody>
          <a:bodyPr/>
          <a:lstStyle/>
          <a:p>
            <a:fld id="{68151E55-6873-49E2-B8D5-2F265E6F1973}" type="slidenum">
              <a:rPr lang="en-US" smtClean="0"/>
              <a:pPr/>
              <a:t>61</a:t>
            </a:fld>
            <a:endParaRPr lang="en-US"/>
          </a:p>
        </p:txBody>
      </p:sp>
      <p:pic>
        <p:nvPicPr>
          <p:cNvPr id="7" name="Picture 6">
            <a:extLst>
              <a:ext uri="{FF2B5EF4-FFF2-40B4-BE49-F238E27FC236}">
                <a16:creationId xmlns:a16="http://schemas.microsoft.com/office/drawing/2014/main" xmlns="" id="{F578FEC3-9B5E-8A68-26C6-B834C3442D67}"/>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42900" y="1276710"/>
            <a:ext cx="8458200" cy="5160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2521794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B57785-6BF7-1F77-F48A-4F6AF8C03349}"/>
              </a:ext>
            </a:extLst>
          </p:cNvPr>
          <p:cNvSpPr>
            <a:spLocks noGrp="1"/>
          </p:cNvSpPr>
          <p:nvPr>
            <p:ph type="title"/>
          </p:nvPr>
        </p:nvSpPr>
        <p:spPr/>
        <p:txBody>
          <a:bodyPr/>
          <a:lstStyle/>
          <a:p>
            <a:r>
              <a:rPr lang="en-US" altLang="en-US" sz="2800" i="1" dirty="0"/>
              <a:t>An exchange using the OSI model</a:t>
            </a:r>
            <a:endParaRPr lang="en-IN" sz="2800" dirty="0"/>
          </a:p>
        </p:txBody>
      </p:sp>
      <p:sp>
        <p:nvSpPr>
          <p:cNvPr id="6" name="Slide Number Placeholder 5">
            <a:extLst>
              <a:ext uri="{FF2B5EF4-FFF2-40B4-BE49-F238E27FC236}">
                <a16:creationId xmlns:a16="http://schemas.microsoft.com/office/drawing/2014/main" xmlns="" id="{2D7A9F96-EE3F-D3E6-C0B7-15003904D5C8}"/>
              </a:ext>
            </a:extLst>
          </p:cNvPr>
          <p:cNvSpPr>
            <a:spLocks noGrp="1"/>
          </p:cNvSpPr>
          <p:nvPr>
            <p:ph type="sldNum" sz="quarter" idx="10"/>
          </p:nvPr>
        </p:nvSpPr>
        <p:spPr/>
        <p:txBody>
          <a:bodyPr/>
          <a:lstStyle/>
          <a:p>
            <a:fld id="{68151E55-6873-49E2-B8D5-2F265E6F1973}" type="slidenum">
              <a:rPr lang="en-US" smtClean="0"/>
              <a:pPr/>
              <a:t>62</a:t>
            </a:fld>
            <a:endParaRPr lang="en-US"/>
          </a:p>
        </p:txBody>
      </p:sp>
      <p:pic>
        <p:nvPicPr>
          <p:cNvPr id="7" name="Content Placeholder 6">
            <a:extLst>
              <a:ext uri="{FF2B5EF4-FFF2-40B4-BE49-F238E27FC236}">
                <a16:creationId xmlns:a16="http://schemas.microsoft.com/office/drawing/2014/main" xmlns="" id="{3C060A50-409C-01CB-D3BD-032BDE40F237}"/>
              </a:ext>
            </a:extLst>
          </p:cNvPr>
          <p:cNvPicPr>
            <a:picLocks noGrp="1" noChangeAspect="1" noChangeArrowheads="1"/>
          </p:cNvPicPr>
          <p:nvPr>
            <p:ph sz="quarter" idx="11"/>
          </p:nvPr>
        </p:nvPicPr>
        <p:blipFill>
          <a:blip r:embed="rId2">
            <a:extLst>
              <a:ext uri="{28A0092B-C50C-407E-A947-70E740481C1C}">
                <a14:useLocalDpi xmlns:a14="http://schemas.microsoft.com/office/drawing/2010/main" xmlns="" val="0"/>
              </a:ext>
            </a:extLst>
          </a:blip>
          <a:srcRect/>
          <a:stretch>
            <a:fillRect/>
          </a:stretch>
        </p:blipFill>
        <p:spPr bwMode="auto">
          <a:xfrm>
            <a:off x="803120" y="1142187"/>
            <a:ext cx="7768360" cy="4975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0215036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4917B5-0605-50B5-19D9-91C3AD92A5C1}"/>
              </a:ext>
            </a:extLst>
          </p:cNvPr>
          <p:cNvSpPr>
            <a:spLocks noGrp="1"/>
          </p:cNvSpPr>
          <p:nvPr>
            <p:ph type="title"/>
          </p:nvPr>
        </p:nvSpPr>
        <p:spPr/>
        <p:txBody>
          <a:bodyPr/>
          <a:lstStyle/>
          <a:p>
            <a:r>
              <a:rPr lang="en-US" sz="2400" dirty="0">
                <a:effectLst>
                  <a:outerShdw blurRad="38100" dist="38100" dir="2700000" algn="tl">
                    <a:srgbClr val="C0C0C0"/>
                  </a:outerShdw>
                </a:effectLst>
                <a:latin typeface="Times" pitchFamily="18" charset="0"/>
              </a:rPr>
              <a:t>LAYERS IN THE OSI MODEL</a:t>
            </a:r>
            <a:endParaRPr lang="en-IN" dirty="0"/>
          </a:p>
        </p:txBody>
      </p:sp>
      <p:sp>
        <p:nvSpPr>
          <p:cNvPr id="3" name="Content Placeholder 2">
            <a:extLst>
              <a:ext uri="{FF2B5EF4-FFF2-40B4-BE49-F238E27FC236}">
                <a16:creationId xmlns:a16="http://schemas.microsoft.com/office/drawing/2014/main" xmlns="" id="{1D4EEBC7-2C17-4951-510A-4482E8831A43}"/>
              </a:ext>
            </a:extLst>
          </p:cNvPr>
          <p:cNvSpPr>
            <a:spLocks noGrp="1"/>
          </p:cNvSpPr>
          <p:nvPr>
            <p:ph sz="quarter" idx="11"/>
          </p:nvPr>
        </p:nvSpPr>
        <p:spPr>
          <a:xfrm>
            <a:off x="228600" y="1167015"/>
            <a:ext cx="8572500" cy="5084031"/>
          </a:xfrm>
        </p:spPr>
        <p:txBody>
          <a:bodyPr/>
          <a:lstStyle/>
          <a:p>
            <a:pPr marL="457200" indent="-457200">
              <a:buAutoNum type="arabicPeriod"/>
            </a:pPr>
            <a:r>
              <a:rPr lang="en-US" altLang="en-US" b="1" i="1" dirty="0"/>
              <a:t>Physical </a:t>
            </a:r>
            <a:r>
              <a:rPr lang="en-US" altLang="en-US" b="1" i="1"/>
              <a:t>layer:</a:t>
            </a:r>
            <a:endParaRPr lang="en-US" altLang="en-US" sz="2000" i="1" dirty="0"/>
          </a:p>
          <a:p>
            <a:r>
              <a:rPr lang="en-US" sz="2000" dirty="0"/>
              <a:t>Defining the Characteristics of the interface between the devices  and the transmission medium.</a:t>
            </a:r>
          </a:p>
          <a:p>
            <a:r>
              <a:rPr lang="en-US" sz="2000" b="1" dirty="0"/>
              <a:t>Representations of the bits </a:t>
            </a:r>
            <a:r>
              <a:rPr lang="en-US" sz="2000" dirty="0"/>
              <a:t>: Sequences of 1’s and 0’s and encoding these bits into signals.</a:t>
            </a:r>
          </a:p>
          <a:p>
            <a:r>
              <a:rPr lang="en-US" sz="2000" dirty="0"/>
              <a:t> </a:t>
            </a:r>
            <a:r>
              <a:rPr lang="en-US" sz="2000" b="1" dirty="0"/>
              <a:t>Data rate : </a:t>
            </a:r>
            <a:r>
              <a:rPr lang="en-US" sz="2000" dirty="0"/>
              <a:t>No. of bits sent per second</a:t>
            </a:r>
          </a:p>
          <a:p>
            <a:r>
              <a:rPr lang="en-US" sz="2000" b="1" dirty="0"/>
              <a:t>Synchronization of bits : </a:t>
            </a:r>
            <a:r>
              <a:rPr lang="en-US" sz="2000" dirty="0"/>
              <a:t>Receiver and senders clock synchronization.</a:t>
            </a:r>
          </a:p>
          <a:p>
            <a:endParaRPr lang="en-US" sz="2000" dirty="0"/>
          </a:p>
          <a:p>
            <a:r>
              <a:rPr lang="en-US" sz="2000" b="1" dirty="0"/>
              <a:t>Line Configuration :</a:t>
            </a:r>
            <a:r>
              <a:rPr lang="en-US" sz="2000" dirty="0"/>
              <a:t>Connection of the devices to the media.</a:t>
            </a:r>
          </a:p>
          <a:p>
            <a:r>
              <a:rPr lang="en-US" sz="2000" dirty="0"/>
              <a:t>Point to point</a:t>
            </a:r>
          </a:p>
          <a:p>
            <a:r>
              <a:rPr lang="en-US" sz="2000" dirty="0"/>
              <a:t>Multi point</a:t>
            </a:r>
          </a:p>
          <a:p>
            <a:endParaRPr lang="en-US" sz="2000" dirty="0"/>
          </a:p>
          <a:p>
            <a:r>
              <a:rPr lang="en-US" sz="2000" b="1" dirty="0"/>
              <a:t>Physical Topology : </a:t>
            </a:r>
            <a:r>
              <a:rPr lang="en-US" sz="2000" dirty="0"/>
              <a:t>Defines the structure of a network.</a:t>
            </a:r>
          </a:p>
          <a:p>
            <a:endParaRPr lang="en-US" sz="2000" dirty="0"/>
          </a:p>
          <a:p>
            <a:r>
              <a:rPr lang="en-US" sz="2000" b="1" dirty="0"/>
              <a:t>Transmission mode: </a:t>
            </a:r>
            <a:r>
              <a:rPr lang="en-US" sz="2000" dirty="0"/>
              <a:t>Simplex , half-duplex , full-duplex</a:t>
            </a:r>
          </a:p>
          <a:p>
            <a:endParaRPr lang="en-IN" sz="2000" dirty="0"/>
          </a:p>
        </p:txBody>
      </p:sp>
      <p:sp>
        <p:nvSpPr>
          <p:cNvPr id="4" name="Text Placeholder 3">
            <a:extLst>
              <a:ext uri="{FF2B5EF4-FFF2-40B4-BE49-F238E27FC236}">
                <a16:creationId xmlns:a16="http://schemas.microsoft.com/office/drawing/2014/main" xmlns="" id="{A578DFED-4C42-4F4E-4144-7AA27B9635DC}"/>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A61B57E3-8F39-5424-5E9B-31A556DFA840}"/>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3BDE7075-E869-DCCC-DF0C-EBE34CD7F788}"/>
              </a:ext>
            </a:extLst>
          </p:cNvPr>
          <p:cNvSpPr>
            <a:spLocks noGrp="1"/>
          </p:cNvSpPr>
          <p:nvPr>
            <p:ph type="sldNum" sz="quarter" idx="10"/>
          </p:nvPr>
        </p:nvSpPr>
        <p:spPr/>
        <p:txBody>
          <a:bodyPr/>
          <a:lstStyle/>
          <a:p>
            <a:fld id="{68151E55-6873-49E2-B8D5-2F265E6F1973}" type="slidenum">
              <a:rPr lang="en-US" smtClean="0"/>
              <a:pPr/>
              <a:t>63</a:t>
            </a:fld>
            <a:endParaRPr lang="en-US"/>
          </a:p>
        </p:txBody>
      </p:sp>
    </p:spTree>
    <p:extLst>
      <p:ext uri="{BB962C8B-B14F-4D97-AF65-F5344CB8AC3E}">
        <p14:creationId xmlns:p14="http://schemas.microsoft.com/office/powerpoint/2010/main" xmlns="" val="16668499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2F164F-A866-BF5F-21F3-17A1A55B9D9D}"/>
              </a:ext>
            </a:extLst>
          </p:cNvPr>
          <p:cNvSpPr>
            <a:spLocks noGrp="1"/>
          </p:cNvSpPr>
          <p:nvPr>
            <p:ph type="title"/>
          </p:nvPr>
        </p:nvSpPr>
        <p:spPr/>
        <p:txBody>
          <a:bodyPr/>
          <a:lstStyle/>
          <a:p>
            <a:r>
              <a:rPr lang="en-US" altLang="en-US" sz="2400" i="1" dirty="0"/>
              <a:t>Physical layer</a:t>
            </a:r>
            <a:endParaRPr lang="en-IN" dirty="0"/>
          </a:p>
        </p:txBody>
      </p:sp>
      <p:sp>
        <p:nvSpPr>
          <p:cNvPr id="4" name="Text Placeholder 3">
            <a:extLst>
              <a:ext uri="{FF2B5EF4-FFF2-40B4-BE49-F238E27FC236}">
                <a16:creationId xmlns:a16="http://schemas.microsoft.com/office/drawing/2014/main" xmlns="" id="{C102B840-41F4-3B03-6582-478EFF61597E}"/>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FC3AEA7C-8E68-B60E-07AD-3C4CCF2F2364}"/>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F2765913-63B5-03EC-0202-CD4CE86B640E}"/>
              </a:ext>
            </a:extLst>
          </p:cNvPr>
          <p:cNvSpPr>
            <a:spLocks noGrp="1"/>
          </p:cNvSpPr>
          <p:nvPr>
            <p:ph type="sldNum" sz="quarter" idx="10"/>
          </p:nvPr>
        </p:nvSpPr>
        <p:spPr/>
        <p:txBody>
          <a:bodyPr/>
          <a:lstStyle/>
          <a:p>
            <a:fld id="{68151E55-6873-49E2-B8D5-2F265E6F1973}" type="slidenum">
              <a:rPr lang="en-US" smtClean="0"/>
              <a:pPr/>
              <a:t>64</a:t>
            </a:fld>
            <a:endParaRPr lang="en-US"/>
          </a:p>
        </p:txBody>
      </p:sp>
      <p:pic>
        <p:nvPicPr>
          <p:cNvPr id="10" name="Picture 6">
            <a:extLst>
              <a:ext uri="{FF2B5EF4-FFF2-40B4-BE49-F238E27FC236}">
                <a16:creationId xmlns:a16="http://schemas.microsoft.com/office/drawing/2014/main" xmlns="" id="{26DDA475-771B-1A97-25DF-2D17BE39540B}"/>
              </a:ext>
            </a:extLst>
          </p:cNvPr>
          <p:cNvPicPr>
            <a:picLocks noGrp="1" noChangeAspect="1" noChangeArrowheads="1"/>
          </p:cNvPicPr>
          <p:nvPr>
            <p:ph sz="quarter" idx="11"/>
          </p:nvPr>
        </p:nvPicPr>
        <p:blipFill>
          <a:blip r:embed="rId2">
            <a:extLst>
              <a:ext uri="{28A0092B-C50C-407E-A947-70E740481C1C}">
                <a14:useLocalDpi xmlns:a14="http://schemas.microsoft.com/office/drawing/2010/main" xmlns="" val="0"/>
              </a:ext>
            </a:extLst>
          </a:blip>
          <a:srcRect/>
          <a:stretch>
            <a:fillRect/>
          </a:stretch>
        </p:blipFill>
        <p:spPr bwMode="auto">
          <a:xfrm>
            <a:off x="315502" y="1905000"/>
            <a:ext cx="8458200" cy="27016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0000373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BA17DE-C94C-5745-46BA-D53273B4554D}"/>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xmlns="" id="{937D8C52-017D-4C84-3E8E-E66789D18B98}"/>
              </a:ext>
            </a:extLst>
          </p:cNvPr>
          <p:cNvPicPr>
            <a:picLocks noGrp="1" noChangeAspect="1"/>
          </p:cNvPicPr>
          <p:nvPr>
            <p:ph sz="quarter" idx="11"/>
          </p:nvPr>
        </p:nvPicPr>
        <p:blipFill>
          <a:blip r:embed="rId2"/>
          <a:stretch>
            <a:fillRect/>
          </a:stretch>
        </p:blipFill>
        <p:spPr>
          <a:xfrm>
            <a:off x="685800" y="2430269"/>
            <a:ext cx="1146147" cy="749873"/>
          </a:xfrm>
          <a:prstGeom prst="rect">
            <a:avLst/>
          </a:prstGeom>
        </p:spPr>
      </p:pic>
      <p:sp>
        <p:nvSpPr>
          <p:cNvPr id="4" name="Text Placeholder 3">
            <a:extLst>
              <a:ext uri="{FF2B5EF4-FFF2-40B4-BE49-F238E27FC236}">
                <a16:creationId xmlns:a16="http://schemas.microsoft.com/office/drawing/2014/main" xmlns="" id="{F15B23F7-0CC5-1C07-B06E-437F5F7E70D1}"/>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989631BE-3F87-4F37-1E37-84BC60DC3631}"/>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088E54D8-92E2-2F54-208A-2452C540E607}"/>
              </a:ext>
            </a:extLst>
          </p:cNvPr>
          <p:cNvSpPr>
            <a:spLocks noGrp="1"/>
          </p:cNvSpPr>
          <p:nvPr>
            <p:ph type="sldNum" sz="quarter" idx="10"/>
          </p:nvPr>
        </p:nvSpPr>
        <p:spPr/>
        <p:txBody>
          <a:bodyPr/>
          <a:lstStyle/>
          <a:p>
            <a:fld id="{68151E55-6873-49E2-B8D5-2F265E6F1973}" type="slidenum">
              <a:rPr lang="en-US" smtClean="0"/>
              <a:pPr/>
              <a:t>65</a:t>
            </a:fld>
            <a:endParaRPr lang="en-US"/>
          </a:p>
        </p:txBody>
      </p:sp>
      <p:pic>
        <p:nvPicPr>
          <p:cNvPr id="9" name="Picture 8">
            <a:extLst>
              <a:ext uri="{FF2B5EF4-FFF2-40B4-BE49-F238E27FC236}">
                <a16:creationId xmlns:a16="http://schemas.microsoft.com/office/drawing/2014/main" xmlns="" id="{C1B80020-C87C-D40B-525A-B39C7C437099}"/>
              </a:ext>
            </a:extLst>
          </p:cNvPr>
          <p:cNvPicPr>
            <a:picLocks noChangeAspect="1"/>
          </p:cNvPicPr>
          <p:nvPr/>
        </p:nvPicPr>
        <p:blipFill>
          <a:blip r:embed="rId3"/>
          <a:stretch>
            <a:fillRect/>
          </a:stretch>
        </p:blipFill>
        <p:spPr>
          <a:xfrm>
            <a:off x="685800" y="3001221"/>
            <a:ext cx="8077900" cy="1012024"/>
          </a:xfrm>
          <a:prstGeom prst="rect">
            <a:avLst/>
          </a:prstGeom>
        </p:spPr>
      </p:pic>
    </p:spTree>
    <p:extLst>
      <p:ext uri="{BB962C8B-B14F-4D97-AF65-F5344CB8AC3E}">
        <p14:creationId xmlns:p14="http://schemas.microsoft.com/office/powerpoint/2010/main" xmlns="" val="25809313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12EF3E-6292-3179-1964-6BC2E45E86D8}"/>
              </a:ext>
            </a:extLst>
          </p:cNvPr>
          <p:cNvSpPr>
            <a:spLocks noGrp="1"/>
          </p:cNvSpPr>
          <p:nvPr>
            <p:ph type="title"/>
          </p:nvPr>
        </p:nvSpPr>
        <p:spPr/>
        <p:txBody>
          <a:bodyPr/>
          <a:lstStyle/>
          <a:p>
            <a:r>
              <a:rPr lang="en-US" altLang="en-US" sz="2400" i="1" dirty="0"/>
              <a:t>2. Data link layer</a:t>
            </a:r>
            <a:endParaRPr lang="en-IN" dirty="0"/>
          </a:p>
        </p:txBody>
      </p:sp>
      <p:sp>
        <p:nvSpPr>
          <p:cNvPr id="4" name="Text Placeholder 3">
            <a:extLst>
              <a:ext uri="{FF2B5EF4-FFF2-40B4-BE49-F238E27FC236}">
                <a16:creationId xmlns:a16="http://schemas.microsoft.com/office/drawing/2014/main" xmlns="" id="{2BE6F90E-67D2-CBEA-CF42-49052DD2CFEA}"/>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877B4C13-0A0F-9F8E-9DE1-21A34C02C7E9}"/>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7469BC81-8DB8-AF62-BF94-4E9E35FF7B9B}"/>
              </a:ext>
            </a:extLst>
          </p:cNvPr>
          <p:cNvSpPr>
            <a:spLocks noGrp="1"/>
          </p:cNvSpPr>
          <p:nvPr>
            <p:ph type="sldNum" sz="quarter" idx="10"/>
          </p:nvPr>
        </p:nvSpPr>
        <p:spPr/>
        <p:txBody>
          <a:bodyPr/>
          <a:lstStyle/>
          <a:p>
            <a:fld id="{68151E55-6873-49E2-B8D5-2F265E6F1973}" type="slidenum">
              <a:rPr lang="en-US" smtClean="0"/>
              <a:pPr/>
              <a:t>66</a:t>
            </a:fld>
            <a:endParaRPr lang="en-US"/>
          </a:p>
        </p:txBody>
      </p:sp>
      <p:pic>
        <p:nvPicPr>
          <p:cNvPr id="7" name="Content Placeholder 6">
            <a:extLst>
              <a:ext uri="{FF2B5EF4-FFF2-40B4-BE49-F238E27FC236}">
                <a16:creationId xmlns:a16="http://schemas.microsoft.com/office/drawing/2014/main" xmlns="" id="{ADB872CD-1764-7508-9F62-FD41AA7C9648}"/>
              </a:ext>
            </a:extLst>
          </p:cNvPr>
          <p:cNvPicPr>
            <a:picLocks noGrp="1" noChangeAspect="1" noChangeArrowheads="1"/>
          </p:cNvPicPr>
          <p:nvPr>
            <p:ph sz="quarter" idx="11"/>
          </p:nvPr>
        </p:nvPicPr>
        <p:blipFill>
          <a:blip r:embed="rId2">
            <a:extLst>
              <a:ext uri="{28A0092B-C50C-407E-A947-70E740481C1C}">
                <a14:useLocalDpi xmlns:a14="http://schemas.microsoft.com/office/drawing/2010/main" xmlns="" val="0"/>
              </a:ext>
            </a:extLst>
          </a:blip>
          <a:srcRect/>
          <a:stretch>
            <a:fillRect/>
          </a:stretch>
        </p:blipFill>
        <p:spPr bwMode="auto">
          <a:xfrm>
            <a:off x="340331" y="2073567"/>
            <a:ext cx="8458200" cy="2809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145121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25019E-6D78-E8FD-21D5-1AA609380B5C}"/>
              </a:ext>
            </a:extLst>
          </p:cNvPr>
          <p:cNvSpPr>
            <a:spLocks noGrp="1"/>
          </p:cNvSpPr>
          <p:nvPr>
            <p:ph type="title"/>
          </p:nvPr>
        </p:nvSpPr>
        <p:spPr/>
        <p:txBody>
          <a:bodyPr/>
          <a:lstStyle/>
          <a:p>
            <a:r>
              <a:rPr lang="en-IN" sz="3200" dirty="0"/>
              <a:t>Data link layer functionalities</a:t>
            </a:r>
          </a:p>
        </p:txBody>
      </p:sp>
      <p:sp>
        <p:nvSpPr>
          <p:cNvPr id="3" name="Content Placeholder 2">
            <a:extLst>
              <a:ext uri="{FF2B5EF4-FFF2-40B4-BE49-F238E27FC236}">
                <a16:creationId xmlns:a16="http://schemas.microsoft.com/office/drawing/2014/main" xmlns="" id="{71832FAD-9032-39E7-B741-A093C1586E05}"/>
              </a:ext>
            </a:extLst>
          </p:cNvPr>
          <p:cNvSpPr>
            <a:spLocks noGrp="1"/>
          </p:cNvSpPr>
          <p:nvPr>
            <p:ph sz="quarter" idx="11"/>
          </p:nvPr>
        </p:nvSpPr>
        <p:spPr>
          <a:xfrm>
            <a:off x="228600" y="1167015"/>
            <a:ext cx="8572500" cy="5084031"/>
          </a:xfrm>
        </p:spPr>
        <p:txBody>
          <a:bodyPr/>
          <a:lstStyle/>
          <a:p>
            <a:r>
              <a:rPr lang="en-US" dirty="0"/>
              <a:t>Responsible for hop to hop delivery</a:t>
            </a:r>
          </a:p>
          <a:p>
            <a:endParaRPr lang="en-US" dirty="0"/>
          </a:p>
          <a:p>
            <a:r>
              <a:rPr lang="en-US" b="1" dirty="0"/>
              <a:t>Framing : </a:t>
            </a:r>
            <a:r>
              <a:rPr lang="en-US" dirty="0"/>
              <a:t>Division of stream of bits into manageable data.</a:t>
            </a:r>
          </a:p>
          <a:p>
            <a:endParaRPr lang="en-US" dirty="0"/>
          </a:p>
          <a:p>
            <a:r>
              <a:rPr lang="en-US" b="1" dirty="0"/>
              <a:t>Physical Addressing : </a:t>
            </a:r>
            <a:r>
              <a:rPr lang="en-US" dirty="0"/>
              <a:t>Adding sender and receiver addressing information to the frame</a:t>
            </a:r>
          </a:p>
          <a:p>
            <a:endParaRPr lang="en-US" dirty="0"/>
          </a:p>
          <a:p>
            <a:r>
              <a:rPr lang="en-US" b="1" dirty="0"/>
              <a:t>Flow Control :  </a:t>
            </a:r>
            <a:r>
              <a:rPr lang="en-US" dirty="0"/>
              <a:t>Controlling the flow of data to avoid bottleneck.</a:t>
            </a:r>
          </a:p>
          <a:p>
            <a:endParaRPr lang="en-US" dirty="0"/>
          </a:p>
          <a:p>
            <a:r>
              <a:rPr lang="en-US" b="1" dirty="0"/>
              <a:t>Error Control : </a:t>
            </a:r>
            <a:r>
              <a:rPr lang="en-US" dirty="0"/>
              <a:t>Avoiding the loss of data</a:t>
            </a:r>
          </a:p>
          <a:p>
            <a:endParaRPr lang="en-US" dirty="0"/>
          </a:p>
          <a:p>
            <a:r>
              <a:rPr lang="en-US" b="1" dirty="0"/>
              <a:t>Access Control : </a:t>
            </a:r>
            <a:r>
              <a:rPr lang="en-US" dirty="0"/>
              <a:t>Determining which device has the control over the transmission line.</a:t>
            </a:r>
          </a:p>
          <a:p>
            <a:endParaRPr lang="en-IN" dirty="0"/>
          </a:p>
        </p:txBody>
      </p:sp>
      <p:sp>
        <p:nvSpPr>
          <p:cNvPr id="4" name="Text Placeholder 3">
            <a:extLst>
              <a:ext uri="{FF2B5EF4-FFF2-40B4-BE49-F238E27FC236}">
                <a16:creationId xmlns:a16="http://schemas.microsoft.com/office/drawing/2014/main" xmlns="" id="{D526FAD7-E704-6A59-7CEB-1AEE8158ABFB}"/>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ECF16F8B-F11C-0069-05CE-F553F05122BF}"/>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E879B5B1-7DAD-9205-AE97-E2EA80DF93F7}"/>
              </a:ext>
            </a:extLst>
          </p:cNvPr>
          <p:cNvSpPr>
            <a:spLocks noGrp="1"/>
          </p:cNvSpPr>
          <p:nvPr>
            <p:ph type="sldNum" sz="quarter" idx="10"/>
          </p:nvPr>
        </p:nvSpPr>
        <p:spPr/>
        <p:txBody>
          <a:bodyPr/>
          <a:lstStyle/>
          <a:p>
            <a:fld id="{68151E55-6873-49E2-B8D5-2F265E6F1973}" type="slidenum">
              <a:rPr lang="en-US" smtClean="0"/>
              <a:pPr/>
              <a:t>67</a:t>
            </a:fld>
            <a:endParaRPr lang="en-US"/>
          </a:p>
        </p:txBody>
      </p:sp>
    </p:spTree>
    <p:extLst>
      <p:ext uri="{BB962C8B-B14F-4D97-AF65-F5344CB8AC3E}">
        <p14:creationId xmlns:p14="http://schemas.microsoft.com/office/powerpoint/2010/main" xmlns="" val="5377831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EB7354-3373-56EB-1C11-6E5E720FBA3A}"/>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xmlns="" id="{865D9154-9B02-E231-426E-5CDF2938BA9C}"/>
              </a:ext>
            </a:extLst>
          </p:cNvPr>
          <p:cNvPicPr>
            <a:picLocks noGrp="1" noChangeAspect="1"/>
          </p:cNvPicPr>
          <p:nvPr>
            <p:ph sz="quarter" idx="11"/>
          </p:nvPr>
        </p:nvPicPr>
        <p:blipFill>
          <a:blip r:embed="rId2"/>
          <a:stretch>
            <a:fillRect/>
          </a:stretch>
        </p:blipFill>
        <p:spPr>
          <a:xfrm>
            <a:off x="533400" y="2209800"/>
            <a:ext cx="1146147" cy="749873"/>
          </a:xfrm>
          <a:prstGeom prst="rect">
            <a:avLst/>
          </a:prstGeom>
        </p:spPr>
      </p:pic>
      <p:sp>
        <p:nvSpPr>
          <p:cNvPr id="4" name="Text Placeholder 3">
            <a:extLst>
              <a:ext uri="{FF2B5EF4-FFF2-40B4-BE49-F238E27FC236}">
                <a16:creationId xmlns:a16="http://schemas.microsoft.com/office/drawing/2014/main" xmlns="" id="{59459D09-8287-D051-DCC3-2514961C0FDF}"/>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F1E5C8BE-E35B-C927-A2A0-6A25FD76A287}"/>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1D65EE27-34CB-31A2-5D34-1DA0BEE275AB}"/>
              </a:ext>
            </a:extLst>
          </p:cNvPr>
          <p:cNvSpPr>
            <a:spLocks noGrp="1"/>
          </p:cNvSpPr>
          <p:nvPr>
            <p:ph type="sldNum" sz="quarter" idx="10"/>
          </p:nvPr>
        </p:nvSpPr>
        <p:spPr/>
        <p:txBody>
          <a:bodyPr/>
          <a:lstStyle/>
          <a:p>
            <a:fld id="{68151E55-6873-49E2-B8D5-2F265E6F1973}" type="slidenum">
              <a:rPr lang="en-US" smtClean="0"/>
              <a:pPr/>
              <a:t>68</a:t>
            </a:fld>
            <a:endParaRPr lang="en-US"/>
          </a:p>
        </p:txBody>
      </p:sp>
      <p:pic>
        <p:nvPicPr>
          <p:cNvPr id="8" name="Picture 7">
            <a:extLst>
              <a:ext uri="{FF2B5EF4-FFF2-40B4-BE49-F238E27FC236}">
                <a16:creationId xmlns:a16="http://schemas.microsoft.com/office/drawing/2014/main" xmlns="" id="{84F27C57-DCB3-A18A-A3B7-3B27003FDF81}"/>
              </a:ext>
            </a:extLst>
          </p:cNvPr>
          <p:cNvPicPr>
            <a:picLocks noChangeAspect="1"/>
          </p:cNvPicPr>
          <p:nvPr/>
        </p:nvPicPr>
        <p:blipFill>
          <a:blip r:embed="rId3"/>
          <a:stretch>
            <a:fillRect/>
          </a:stretch>
        </p:blipFill>
        <p:spPr>
          <a:xfrm>
            <a:off x="492724" y="2818003"/>
            <a:ext cx="8077900" cy="1012024"/>
          </a:xfrm>
          <a:prstGeom prst="rect">
            <a:avLst/>
          </a:prstGeom>
        </p:spPr>
      </p:pic>
    </p:spTree>
    <p:extLst>
      <p:ext uri="{BB962C8B-B14F-4D97-AF65-F5344CB8AC3E}">
        <p14:creationId xmlns:p14="http://schemas.microsoft.com/office/powerpoint/2010/main" xmlns="" val="38081694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8E064C-9ED1-934B-B61A-B9B6D1D8B3E9}"/>
              </a:ext>
            </a:extLst>
          </p:cNvPr>
          <p:cNvSpPr>
            <a:spLocks noGrp="1"/>
          </p:cNvSpPr>
          <p:nvPr>
            <p:ph type="title"/>
          </p:nvPr>
        </p:nvSpPr>
        <p:spPr/>
        <p:txBody>
          <a:bodyPr/>
          <a:lstStyle/>
          <a:p>
            <a:r>
              <a:rPr lang="en-US" altLang="en-US" sz="2400" i="1" dirty="0"/>
              <a:t>Hop-to-hop delivery</a:t>
            </a:r>
            <a:endParaRPr lang="en-IN" dirty="0"/>
          </a:p>
        </p:txBody>
      </p:sp>
      <p:pic>
        <p:nvPicPr>
          <p:cNvPr id="7" name="Content Placeholder 6">
            <a:extLst>
              <a:ext uri="{FF2B5EF4-FFF2-40B4-BE49-F238E27FC236}">
                <a16:creationId xmlns:a16="http://schemas.microsoft.com/office/drawing/2014/main" xmlns="" id="{61C76068-0D41-3319-5121-2A773E31FD4F}"/>
              </a:ext>
            </a:extLst>
          </p:cNvPr>
          <p:cNvPicPr>
            <a:picLocks noGrp="1" noChangeAspect="1"/>
          </p:cNvPicPr>
          <p:nvPr>
            <p:ph sz="quarter" idx="11"/>
          </p:nvPr>
        </p:nvPicPr>
        <p:blipFill>
          <a:blip r:embed="rId2"/>
          <a:stretch>
            <a:fillRect/>
          </a:stretch>
        </p:blipFill>
        <p:spPr>
          <a:xfrm>
            <a:off x="1219200" y="986836"/>
            <a:ext cx="6218459" cy="4578493"/>
          </a:xfrm>
          <a:prstGeom prst="rect">
            <a:avLst/>
          </a:prstGeom>
        </p:spPr>
      </p:pic>
      <p:sp>
        <p:nvSpPr>
          <p:cNvPr id="4" name="Text Placeholder 3">
            <a:extLst>
              <a:ext uri="{FF2B5EF4-FFF2-40B4-BE49-F238E27FC236}">
                <a16:creationId xmlns:a16="http://schemas.microsoft.com/office/drawing/2014/main" xmlns="" id="{048980D2-F2A6-F45E-A0F9-769E0DD22BFF}"/>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EB7467F4-6DFD-EDA4-8050-A99C6E801EF0}"/>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BF06D7D8-8D71-15DD-670D-77C890F5C1A3}"/>
              </a:ext>
            </a:extLst>
          </p:cNvPr>
          <p:cNvSpPr>
            <a:spLocks noGrp="1"/>
          </p:cNvSpPr>
          <p:nvPr>
            <p:ph type="sldNum" sz="quarter" idx="10"/>
          </p:nvPr>
        </p:nvSpPr>
        <p:spPr/>
        <p:txBody>
          <a:bodyPr/>
          <a:lstStyle/>
          <a:p>
            <a:fld id="{68151E55-6873-49E2-B8D5-2F265E6F1973}" type="slidenum">
              <a:rPr lang="en-US" smtClean="0"/>
              <a:pPr/>
              <a:t>69</a:t>
            </a:fld>
            <a:endParaRPr lang="en-US"/>
          </a:p>
        </p:txBody>
      </p:sp>
    </p:spTree>
    <p:extLst>
      <p:ext uri="{BB962C8B-B14F-4D97-AF65-F5344CB8AC3E}">
        <p14:creationId xmlns:p14="http://schemas.microsoft.com/office/powerpoint/2010/main" xmlns="" val="25402671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Line 2">
            <a:extLst>
              <a:ext uri="{FF2B5EF4-FFF2-40B4-BE49-F238E27FC236}">
                <a16:creationId xmlns:a16="http://schemas.microsoft.com/office/drawing/2014/main" xmlns="" id="{D822EF16-5CEF-FD7F-BADA-D6FA34E08157}"/>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0483" name="Line 3">
            <a:extLst>
              <a:ext uri="{FF2B5EF4-FFF2-40B4-BE49-F238E27FC236}">
                <a16:creationId xmlns:a16="http://schemas.microsoft.com/office/drawing/2014/main" xmlns="" id="{C9A7CC18-924B-1754-578C-8CCF25C181F2}"/>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0484" name="Text Box 4">
            <a:extLst>
              <a:ext uri="{FF2B5EF4-FFF2-40B4-BE49-F238E27FC236}">
                <a16:creationId xmlns:a16="http://schemas.microsoft.com/office/drawing/2014/main" xmlns="" id="{8E680493-44B7-618D-E480-D9F96A53927F}"/>
              </a:ext>
            </a:extLst>
          </p:cNvPr>
          <p:cNvSpPr txBox="1">
            <a:spLocks noChangeArrowheads="1"/>
          </p:cNvSpPr>
          <p:nvPr/>
        </p:nvSpPr>
        <p:spPr bwMode="auto">
          <a:xfrm>
            <a:off x="304800" y="381000"/>
            <a:ext cx="2265364"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800" i="1" dirty="0"/>
              <a:t>Network layer</a:t>
            </a:r>
          </a:p>
        </p:txBody>
      </p:sp>
      <p:sp>
        <p:nvSpPr>
          <p:cNvPr id="20485" name="Line 5">
            <a:extLst>
              <a:ext uri="{FF2B5EF4-FFF2-40B4-BE49-F238E27FC236}">
                <a16:creationId xmlns:a16="http://schemas.microsoft.com/office/drawing/2014/main" xmlns="" id="{6DC7687B-F1C9-BAA6-463F-870039908FF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20486" name="Picture 6">
            <a:extLst>
              <a:ext uri="{FF2B5EF4-FFF2-40B4-BE49-F238E27FC236}">
                <a16:creationId xmlns:a16="http://schemas.microsoft.com/office/drawing/2014/main" xmlns="" id="{9EF6A1C2-4E8E-69C7-3457-FB242518816C}"/>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39713" y="1963738"/>
            <a:ext cx="8675687" cy="2913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xmlns="" id="{8DE62FD4-5214-9DA0-EB4E-990CB4E49BDD}"/>
              </a:ext>
            </a:extLst>
          </p:cNvPr>
          <p:cNvSpPr>
            <a:spLocks noGrp="1" noChangeArrowheads="1"/>
          </p:cNvSpPr>
          <p:nvPr>
            <p:ph type="title"/>
          </p:nvPr>
        </p:nvSpPr>
        <p:spPr bwMode="auto">
          <a:xfrm>
            <a:off x="457200" y="274638"/>
            <a:ext cx="8458200" cy="58477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200" b="1" i="1" dirty="0">
                <a:solidFill>
                  <a:schemeClr val="tx1"/>
                </a:solidFill>
              </a:rPr>
              <a:t>Network layer functionalities</a:t>
            </a:r>
          </a:p>
        </p:txBody>
      </p:sp>
      <p:sp>
        <p:nvSpPr>
          <p:cNvPr id="21507" name="Rectangle 3">
            <a:extLst>
              <a:ext uri="{FF2B5EF4-FFF2-40B4-BE49-F238E27FC236}">
                <a16:creationId xmlns:a16="http://schemas.microsoft.com/office/drawing/2014/main" xmlns="" id="{C08339D9-FA14-935A-21E2-792FE6E1732E}"/>
              </a:ext>
            </a:extLst>
          </p:cNvPr>
          <p:cNvSpPr>
            <a:spLocks noGrp="1" noChangeArrowheads="1"/>
          </p:cNvSpPr>
          <p:nvPr>
            <p:ph type="body" idx="1"/>
          </p:nvPr>
        </p:nvSpPr>
        <p:spPr bwMode="auto">
          <a:xfrm>
            <a:off x="304800" y="990600"/>
            <a:ext cx="8610600" cy="5638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r>
              <a:rPr lang="en-US" altLang="en-US" sz="2800" b="1"/>
              <a:t>Responsible for source to destination delivery of packet across multiple networks.</a:t>
            </a:r>
          </a:p>
          <a:p>
            <a:pPr algn="just" eaLnBrk="1" hangingPunct="1">
              <a:buFont typeface="Wingdings" panose="05000000000000000000" pitchFamily="2" charset="2"/>
              <a:buNone/>
            </a:pPr>
            <a:endParaRPr lang="en-US" altLang="en-US" sz="2800" b="1"/>
          </a:p>
          <a:p>
            <a:pPr algn="just" eaLnBrk="1" hangingPunct="1"/>
            <a:r>
              <a:rPr lang="en-US" altLang="en-US" sz="2800" b="1"/>
              <a:t>Logical Addressing :</a:t>
            </a:r>
            <a:r>
              <a:rPr lang="en-US" altLang="en-US" sz="2800"/>
              <a:t> Adding sender and receiver addressing information to the Packet.</a:t>
            </a:r>
          </a:p>
          <a:p>
            <a:pPr algn="just" eaLnBrk="1" hangingPunct="1">
              <a:buFont typeface="Wingdings" panose="05000000000000000000" pitchFamily="2" charset="2"/>
              <a:buNone/>
            </a:pPr>
            <a:endParaRPr lang="en-US" altLang="en-US" sz="2800"/>
          </a:p>
          <a:p>
            <a:pPr algn="just" eaLnBrk="1" hangingPunct="1"/>
            <a:r>
              <a:rPr lang="en-US" altLang="en-US" sz="2800" b="1"/>
              <a:t>Routing </a:t>
            </a:r>
            <a:r>
              <a:rPr lang="en-US" altLang="en-US" sz="2800"/>
              <a:t>: Forwarding the packets to  one of the networks. Router or switches are responsible for forwarding these packets. </a:t>
            </a:r>
          </a:p>
          <a:p>
            <a:pPr algn="just" eaLnBrk="1" hangingPunct="1">
              <a:buFont typeface="Wingdings" panose="05000000000000000000" pitchFamily="2" charset="2"/>
              <a:buNone/>
            </a:pPr>
            <a:r>
              <a:rPr lang="en-US" altLang="en-US" sz="2800"/>
              <a:t> </a:t>
            </a:r>
          </a:p>
          <a:p>
            <a:pPr eaLnBrk="1" hangingPunct="1"/>
            <a:endParaRPr lang="en-US" altLang="en-US" sz="2800"/>
          </a:p>
          <a:p>
            <a:pPr eaLnBrk="1" hangingPunct="1"/>
            <a:endParaRPr lang="en-US" altLang="en-US" sz="28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xmlns="" id="{F226C2A8-0239-1A5E-5EE8-C9FF21EAEEA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eaLnBrk="1" hangingPunct="1"/>
            <a:endParaRPr kumimoji="1" lang="en-US" altLang="en-US" sz="2400" b="0">
              <a:latin typeface="Tahoma" panose="020B0604030504040204" pitchFamily="34" charset="0"/>
            </a:endParaRPr>
          </a:p>
        </p:txBody>
      </p:sp>
      <p:sp>
        <p:nvSpPr>
          <p:cNvPr id="22531" name="Rectangle 3">
            <a:extLst>
              <a:ext uri="{FF2B5EF4-FFF2-40B4-BE49-F238E27FC236}">
                <a16:creationId xmlns:a16="http://schemas.microsoft.com/office/drawing/2014/main" xmlns="" id="{51E9A94F-D132-6648-EC6D-3A074479B24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eaLnBrk="1" hangingPunct="1"/>
            <a:endParaRPr kumimoji="1" lang="en-US" altLang="en-US" sz="2400" b="0">
              <a:latin typeface="Tahoma" panose="020B0604030504040204" pitchFamily="34" charset="0"/>
            </a:endParaRPr>
          </a:p>
        </p:txBody>
      </p:sp>
      <p:sp>
        <p:nvSpPr>
          <p:cNvPr id="22532" name="Rectangle 4">
            <a:extLst>
              <a:ext uri="{FF2B5EF4-FFF2-40B4-BE49-F238E27FC236}">
                <a16:creationId xmlns:a16="http://schemas.microsoft.com/office/drawing/2014/main" xmlns="" id="{983FD10C-3D18-E3C1-1363-410074592EB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eaLnBrk="1" hangingPunct="1"/>
            <a:endParaRPr kumimoji="1" lang="en-US" altLang="en-US" sz="2400" b="0">
              <a:latin typeface="Tahoma" panose="020B0604030504040204" pitchFamily="34" charset="0"/>
            </a:endParaRPr>
          </a:p>
        </p:txBody>
      </p:sp>
      <p:sp>
        <p:nvSpPr>
          <p:cNvPr id="22533" name="Rectangle 5">
            <a:extLst>
              <a:ext uri="{FF2B5EF4-FFF2-40B4-BE49-F238E27FC236}">
                <a16:creationId xmlns:a16="http://schemas.microsoft.com/office/drawing/2014/main" xmlns="" id="{44B24413-D710-953C-1E27-A23FDDE1F90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eaLnBrk="1" hangingPunct="1"/>
            <a:endParaRPr kumimoji="1" lang="en-US" altLang="en-US" sz="2400" b="0">
              <a:latin typeface="Tahoma" panose="020B0604030504040204" pitchFamily="34" charset="0"/>
            </a:endParaRPr>
          </a:p>
        </p:txBody>
      </p:sp>
      <p:sp>
        <p:nvSpPr>
          <p:cNvPr id="22534" name="Rectangle 6">
            <a:extLst>
              <a:ext uri="{FF2B5EF4-FFF2-40B4-BE49-F238E27FC236}">
                <a16:creationId xmlns:a16="http://schemas.microsoft.com/office/drawing/2014/main" xmlns="" id="{FE5F7CCC-B219-B753-821F-94594D26D93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eaLnBrk="1" hangingPunct="1"/>
            <a:endParaRPr kumimoji="1" lang="en-US" altLang="en-US" sz="2400" b="0">
              <a:latin typeface="Tahoma" panose="020B0604030504040204" pitchFamily="34" charset="0"/>
            </a:endParaRPr>
          </a:p>
        </p:txBody>
      </p:sp>
      <p:sp>
        <p:nvSpPr>
          <p:cNvPr id="22535" name="Rectangle 7">
            <a:extLst>
              <a:ext uri="{FF2B5EF4-FFF2-40B4-BE49-F238E27FC236}">
                <a16:creationId xmlns:a16="http://schemas.microsoft.com/office/drawing/2014/main" xmlns="" id="{185396F0-EF92-D7EE-8282-749058F5E07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eaLnBrk="1" hangingPunct="1"/>
            <a:endParaRPr kumimoji="1" lang="en-US" altLang="en-US" sz="2400" b="0">
              <a:latin typeface="Tahoma" panose="020B0604030504040204" pitchFamily="34" charset="0"/>
            </a:endParaRPr>
          </a:p>
        </p:txBody>
      </p:sp>
      <p:sp>
        <p:nvSpPr>
          <p:cNvPr id="22536" name="Rectangle 8">
            <a:extLst>
              <a:ext uri="{FF2B5EF4-FFF2-40B4-BE49-F238E27FC236}">
                <a16:creationId xmlns:a16="http://schemas.microsoft.com/office/drawing/2014/main" xmlns="" id="{F3777678-D623-915B-5D78-B04A15BB02B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eaLnBrk="1" hangingPunct="1"/>
            <a:endParaRPr kumimoji="1" lang="en-US" altLang="en-US" sz="2400" b="0">
              <a:latin typeface="Tahoma" panose="020B0604030504040204" pitchFamily="34" charset="0"/>
            </a:endParaRPr>
          </a:p>
        </p:txBody>
      </p:sp>
      <p:sp>
        <p:nvSpPr>
          <p:cNvPr id="22537" name="Line 9">
            <a:extLst>
              <a:ext uri="{FF2B5EF4-FFF2-40B4-BE49-F238E27FC236}">
                <a16:creationId xmlns:a16="http://schemas.microsoft.com/office/drawing/2014/main" xmlns="" id="{328BCB26-779A-1EC2-E367-4AEAB8B31F5C}"/>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2538" name="Line 10">
            <a:extLst>
              <a:ext uri="{FF2B5EF4-FFF2-40B4-BE49-F238E27FC236}">
                <a16:creationId xmlns:a16="http://schemas.microsoft.com/office/drawing/2014/main" xmlns="" id="{533C9FE6-149F-70D3-54C2-F0962E0DC658}"/>
              </a:ext>
            </a:extLst>
          </p:cNvPr>
          <p:cNvSpPr>
            <a:spLocks noChangeShapeType="1"/>
          </p:cNvSpPr>
          <p:nvPr/>
        </p:nvSpPr>
        <p:spPr bwMode="auto">
          <a:xfrm>
            <a:off x="458788" y="43434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2539" name="Rectangle 11">
            <a:extLst>
              <a:ext uri="{FF2B5EF4-FFF2-40B4-BE49-F238E27FC236}">
                <a16:creationId xmlns:a16="http://schemas.microsoft.com/office/drawing/2014/main" xmlns="" id="{3FD79A19-7CCA-F0EC-D5E6-4D7FDE8DAF87}"/>
              </a:ext>
            </a:extLst>
          </p:cNvPr>
          <p:cNvSpPr>
            <a:spLocks noChangeArrowheads="1"/>
          </p:cNvSpPr>
          <p:nvPr/>
        </p:nvSpPr>
        <p:spPr bwMode="auto">
          <a:xfrm>
            <a:off x="495300" y="3063875"/>
            <a:ext cx="8077200" cy="1187450"/>
          </a:xfrm>
          <a:prstGeom prst="rect">
            <a:avLst/>
          </a:prstGeom>
          <a:solidFill>
            <a:srgbClr val="99FF33"/>
          </a:solidFill>
          <a:ln>
            <a:noFill/>
          </a:ln>
          <a:extLst>
            <a:ext uri="{91240B29-F687-4F45-9708-019B960494DF}">
              <a14:hiddenLine xmlns:a14="http://schemas.microsoft.com/office/drawing/2010/main" xmlns="" w="76200" algn="ctr">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2400"/>
              <a:t>The network layer is responsible for the </a:t>
            </a:r>
            <a:br>
              <a:rPr lang="en-US" altLang="en-US" sz="2400"/>
            </a:br>
            <a:r>
              <a:rPr lang="en-US" altLang="en-US" sz="2400"/>
              <a:t>delivery of individual packets from </a:t>
            </a:r>
          </a:p>
          <a:p>
            <a:pPr algn="ctr"/>
            <a:r>
              <a:rPr lang="en-US" altLang="en-US" sz="2400"/>
              <a:t>the source host to the destination host.</a:t>
            </a:r>
          </a:p>
        </p:txBody>
      </p:sp>
      <p:grpSp>
        <p:nvGrpSpPr>
          <p:cNvPr id="22540" name="Group 15">
            <a:extLst>
              <a:ext uri="{FF2B5EF4-FFF2-40B4-BE49-F238E27FC236}">
                <a16:creationId xmlns:a16="http://schemas.microsoft.com/office/drawing/2014/main" xmlns="" id="{FAB69B09-B321-4B79-656D-8503CF1B37ED}"/>
              </a:ext>
            </a:extLst>
          </p:cNvPr>
          <p:cNvGrpSpPr>
            <a:grpSpLocks/>
          </p:cNvGrpSpPr>
          <p:nvPr/>
        </p:nvGrpSpPr>
        <p:grpSpPr bwMode="auto">
          <a:xfrm>
            <a:off x="533400" y="2286000"/>
            <a:ext cx="1143000" cy="566738"/>
            <a:chOff x="1200" y="1248"/>
            <a:chExt cx="720" cy="357"/>
          </a:xfrm>
        </p:grpSpPr>
        <p:pic>
          <p:nvPicPr>
            <p:cNvPr id="22541" name="Picture 16">
              <a:extLst>
                <a:ext uri="{FF2B5EF4-FFF2-40B4-BE49-F238E27FC236}">
                  <a16:creationId xmlns:a16="http://schemas.microsoft.com/office/drawing/2014/main" xmlns="" id="{AE7861F7-2845-A8AA-34B0-CBA3A57B9156}"/>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542" name="Text Box 17">
              <a:extLst>
                <a:ext uri="{FF2B5EF4-FFF2-40B4-BE49-F238E27FC236}">
                  <a16:creationId xmlns:a16="http://schemas.microsoft.com/office/drawing/2014/main" xmlns="" id="{728608E2-81C3-084C-8EB6-CBF293454594}"/>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800" i="1">
                  <a:solidFill>
                    <a:schemeClr val="hlink"/>
                  </a:solidFill>
                </a:rPr>
                <a:t>Note</a:t>
              </a: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Line 2">
            <a:extLst>
              <a:ext uri="{FF2B5EF4-FFF2-40B4-BE49-F238E27FC236}">
                <a16:creationId xmlns:a16="http://schemas.microsoft.com/office/drawing/2014/main" xmlns="" id="{D9037673-E7F1-26ED-E8AF-6547AEE76C5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3555" name="Line 3">
            <a:extLst>
              <a:ext uri="{FF2B5EF4-FFF2-40B4-BE49-F238E27FC236}">
                <a16:creationId xmlns:a16="http://schemas.microsoft.com/office/drawing/2014/main" xmlns="" id="{712F183D-06D2-8C68-A82D-62B1BCF4CC8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3556" name="Text Box 4">
            <a:extLst>
              <a:ext uri="{FF2B5EF4-FFF2-40B4-BE49-F238E27FC236}">
                <a16:creationId xmlns:a16="http://schemas.microsoft.com/office/drawing/2014/main" xmlns="" id="{24C7AD50-EE71-E363-AD43-30D5FDEE4596}"/>
              </a:ext>
            </a:extLst>
          </p:cNvPr>
          <p:cNvSpPr txBox="1">
            <a:spLocks noChangeArrowheads="1"/>
          </p:cNvSpPr>
          <p:nvPr/>
        </p:nvSpPr>
        <p:spPr bwMode="auto">
          <a:xfrm>
            <a:off x="304800" y="381000"/>
            <a:ext cx="4618572"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800" i="1" dirty="0"/>
              <a:t>Source-to-destination delivery</a:t>
            </a:r>
          </a:p>
        </p:txBody>
      </p:sp>
      <p:sp>
        <p:nvSpPr>
          <p:cNvPr id="23557" name="Line 5">
            <a:extLst>
              <a:ext uri="{FF2B5EF4-FFF2-40B4-BE49-F238E27FC236}">
                <a16:creationId xmlns:a16="http://schemas.microsoft.com/office/drawing/2014/main" xmlns="" id="{58F4EF69-CF1C-2B8A-208E-7D6E3CA4C25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23558" name="Picture 6">
            <a:extLst>
              <a:ext uri="{FF2B5EF4-FFF2-40B4-BE49-F238E27FC236}">
                <a16:creationId xmlns:a16="http://schemas.microsoft.com/office/drawing/2014/main" xmlns="" id="{11E53E45-20FB-75BF-3385-D6584182C27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698625" y="1195388"/>
            <a:ext cx="5083175" cy="48244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Line 2">
            <a:extLst>
              <a:ext uri="{FF2B5EF4-FFF2-40B4-BE49-F238E27FC236}">
                <a16:creationId xmlns:a16="http://schemas.microsoft.com/office/drawing/2014/main" xmlns="" id="{AF5D54D4-D9F4-4EB7-CB77-819108ABF6ED}"/>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4579" name="Line 3">
            <a:extLst>
              <a:ext uri="{FF2B5EF4-FFF2-40B4-BE49-F238E27FC236}">
                <a16:creationId xmlns:a16="http://schemas.microsoft.com/office/drawing/2014/main" xmlns="" id="{171DD76B-D7F1-1CC7-237A-8ADFCE3ACB25}"/>
              </a:ext>
            </a:extLst>
          </p:cNvPr>
          <p:cNvSpPr>
            <a:spLocks noChangeShapeType="1"/>
          </p:cNvSpPr>
          <p:nvPr/>
        </p:nvSpPr>
        <p:spPr bwMode="auto">
          <a:xfrm>
            <a:off x="152400" y="9144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4580" name="Text Box 4">
            <a:extLst>
              <a:ext uri="{FF2B5EF4-FFF2-40B4-BE49-F238E27FC236}">
                <a16:creationId xmlns:a16="http://schemas.microsoft.com/office/drawing/2014/main" xmlns="" id="{6EF9964E-EE4F-44AF-D21F-30B0890E8E2A}"/>
              </a:ext>
            </a:extLst>
          </p:cNvPr>
          <p:cNvSpPr txBox="1">
            <a:spLocks noChangeArrowheads="1"/>
          </p:cNvSpPr>
          <p:nvPr/>
        </p:nvSpPr>
        <p:spPr bwMode="auto">
          <a:xfrm>
            <a:off x="304800" y="304800"/>
            <a:ext cx="2550185"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400" dirty="0">
                <a:solidFill>
                  <a:schemeClr val="folHlink"/>
                </a:solidFill>
              </a:rPr>
              <a:t> </a:t>
            </a:r>
            <a:r>
              <a:rPr lang="en-US" altLang="en-US" sz="2800" i="1" dirty="0"/>
              <a:t>Transport layer</a:t>
            </a:r>
            <a:endParaRPr lang="en-US" altLang="en-US" sz="2000" i="1" dirty="0"/>
          </a:p>
        </p:txBody>
      </p:sp>
      <p:sp>
        <p:nvSpPr>
          <p:cNvPr id="24581" name="Line 5">
            <a:extLst>
              <a:ext uri="{FF2B5EF4-FFF2-40B4-BE49-F238E27FC236}">
                <a16:creationId xmlns:a16="http://schemas.microsoft.com/office/drawing/2014/main" xmlns="" id="{CD49DB43-D539-0167-1AEB-74A88525BCC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24582" name="Picture 6">
            <a:extLst>
              <a:ext uri="{FF2B5EF4-FFF2-40B4-BE49-F238E27FC236}">
                <a16:creationId xmlns:a16="http://schemas.microsoft.com/office/drawing/2014/main" xmlns="" id="{D1A8E14B-2304-5038-39CA-1D7AB759F341}"/>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400" y="2003425"/>
            <a:ext cx="8693150" cy="3025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xmlns="" id="{072D3797-433E-AFD3-82A5-0F4EB85980C0}"/>
              </a:ext>
            </a:extLst>
          </p:cNvPr>
          <p:cNvSpPr>
            <a:spLocks noGrp="1" noChangeArrowheads="1"/>
          </p:cNvSpPr>
          <p:nvPr>
            <p:ph type="title"/>
          </p:nvPr>
        </p:nvSpPr>
        <p:spPr bwMode="auto">
          <a:xfrm>
            <a:off x="457200" y="274638"/>
            <a:ext cx="8229600" cy="58477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200" b="1" i="1" dirty="0">
                <a:solidFill>
                  <a:schemeClr val="tx1"/>
                </a:solidFill>
              </a:rPr>
              <a:t>Transport layer functionalities</a:t>
            </a:r>
          </a:p>
        </p:txBody>
      </p:sp>
      <p:sp>
        <p:nvSpPr>
          <p:cNvPr id="25603" name="Rectangle 3">
            <a:extLst>
              <a:ext uri="{FF2B5EF4-FFF2-40B4-BE49-F238E27FC236}">
                <a16:creationId xmlns:a16="http://schemas.microsoft.com/office/drawing/2014/main" xmlns="" id="{1F7631A1-4AB6-1504-0F9C-41CA29040A77}"/>
              </a:ext>
            </a:extLst>
          </p:cNvPr>
          <p:cNvSpPr>
            <a:spLocks noGrp="1" noChangeArrowheads="1"/>
          </p:cNvSpPr>
          <p:nvPr>
            <p:ph type="body" idx="1"/>
          </p:nvPr>
        </p:nvSpPr>
        <p:spPr bwMode="auto">
          <a:xfrm>
            <a:off x="228600" y="990600"/>
            <a:ext cx="8686800" cy="51054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en-US" altLang="en-US" sz="2800" b="1" dirty="0"/>
              <a:t>Responsible for process to process delivery</a:t>
            </a:r>
          </a:p>
          <a:p>
            <a:pPr eaLnBrk="1" hangingPunct="1">
              <a:lnSpc>
                <a:spcPct val="90000"/>
              </a:lnSpc>
            </a:pPr>
            <a:r>
              <a:rPr lang="en-US" altLang="en-US" sz="2800" b="1" dirty="0"/>
              <a:t>Service Point Addressing : </a:t>
            </a:r>
            <a:r>
              <a:rPr lang="en-US" altLang="en-US" sz="2800" dirty="0"/>
              <a:t>Specifying port address of receiver process.</a:t>
            </a:r>
          </a:p>
          <a:p>
            <a:pPr algn="just" eaLnBrk="1" hangingPunct="1">
              <a:lnSpc>
                <a:spcPct val="90000"/>
              </a:lnSpc>
            </a:pPr>
            <a:r>
              <a:rPr lang="en-US" altLang="en-US" sz="2800" b="1" dirty="0"/>
              <a:t>Segmentation and Reassembly :  </a:t>
            </a:r>
            <a:r>
              <a:rPr lang="en-US" altLang="en-US" sz="2800" dirty="0"/>
              <a:t>Dividing a message into transmittable segments, with each segments containing a sequence number.</a:t>
            </a:r>
          </a:p>
          <a:p>
            <a:pPr algn="just" eaLnBrk="1" hangingPunct="1">
              <a:lnSpc>
                <a:spcPct val="90000"/>
              </a:lnSpc>
            </a:pPr>
            <a:r>
              <a:rPr lang="en-US" altLang="en-US" sz="2800" b="1" dirty="0"/>
              <a:t> Connection Control : </a:t>
            </a:r>
          </a:p>
          <a:p>
            <a:pPr lvl="2" algn="just" eaLnBrk="1" hangingPunct="1">
              <a:lnSpc>
                <a:spcPct val="90000"/>
              </a:lnSpc>
            </a:pPr>
            <a:r>
              <a:rPr lang="en-US" altLang="en-US" sz="2000" b="1" dirty="0">
                <a:latin typeface="Arial" panose="020B0604020202020204" pitchFamily="34" charset="0"/>
                <a:cs typeface="Arial" panose="020B0604020202020204" pitchFamily="34" charset="0"/>
              </a:rPr>
              <a:t>Connection Oriented. </a:t>
            </a:r>
          </a:p>
          <a:p>
            <a:pPr lvl="2" algn="just" eaLnBrk="1" hangingPunct="1">
              <a:lnSpc>
                <a:spcPct val="90000"/>
              </a:lnSpc>
            </a:pPr>
            <a:r>
              <a:rPr lang="en-US" altLang="en-US" sz="2000" b="1" dirty="0">
                <a:latin typeface="Arial" panose="020B0604020202020204" pitchFamily="34" charset="0"/>
                <a:cs typeface="Arial" panose="020B0604020202020204" pitchFamily="34" charset="0"/>
              </a:rPr>
              <a:t>Connection less.</a:t>
            </a:r>
          </a:p>
          <a:p>
            <a:pPr algn="just" eaLnBrk="1" hangingPunct="1">
              <a:lnSpc>
                <a:spcPct val="90000"/>
              </a:lnSpc>
            </a:pPr>
            <a:r>
              <a:rPr lang="en-US" altLang="en-US" sz="2800" b="1" dirty="0"/>
              <a:t>Flow Control : </a:t>
            </a:r>
            <a:r>
              <a:rPr lang="en-US" altLang="en-US" sz="2800" dirty="0"/>
              <a:t> Here it is performed end to end process</a:t>
            </a:r>
          </a:p>
          <a:p>
            <a:pPr algn="just" eaLnBrk="1" hangingPunct="1">
              <a:lnSpc>
                <a:spcPct val="90000"/>
              </a:lnSpc>
            </a:pPr>
            <a:r>
              <a:rPr lang="en-US" altLang="en-US" sz="2800" b="1" dirty="0"/>
              <a:t>Error Control :</a:t>
            </a:r>
            <a:r>
              <a:rPr lang="en-US" altLang="en-US" sz="2800" dirty="0"/>
              <a:t> Avoiding data loss.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3" name="Line 9">
            <a:extLst>
              <a:ext uri="{FF2B5EF4-FFF2-40B4-BE49-F238E27FC236}">
                <a16:creationId xmlns:a16="http://schemas.microsoft.com/office/drawing/2014/main" xmlns="" id="{CBFB2945-7A4F-4806-EAEE-180FFE513B6A}"/>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6634" name="Line 10">
            <a:extLst>
              <a:ext uri="{FF2B5EF4-FFF2-40B4-BE49-F238E27FC236}">
                <a16:creationId xmlns:a16="http://schemas.microsoft.com/office/drawing/2014/main" xmlns="" id="{211AC4BA-5492-605A-0308-C4F31268A7D5}"/>
              </a:ext>
            </a:extLst>
          </p:cNvPr>
          <p:cNvSpPr>
            <a:spLocks noChangeShapeType="1"/>
          </p:cNvSpPr>
          <p:nvPr/>
        </p:nvSpPr>
        <p:spPr bwMode="auto">
          <a:xfrm>
            <a:off x="458788" y="39624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6635" name="Rectangle 11">
            <a:extLst>
              <a:ext uri="{FF2B5EF4-FFF2-40B4-BE49-F238E27FC236}">
                <a16:creationId xmlns:a16="http://schemas.microsoft.com/office/drawing/2014/main" xmlns="" id="{C46B3BEC-49FC-282B-B3EE-CCD72B879608}"/>
              </a:ext>
            </a:extLst>
          </p:cNvPr>
          <p:cNvSpPr>
            <a:spLocks noChangeArrowheads="1"/>
          </p:cNvSpPr>
          <p:nvPr/>
        </p:nvSpPr>
        <p:spPr bwMode="auto">
          <a:xfrm>
            <a:off x="495300" y="3063875"/>
            <a:ext cx="8077200" cy="822325"/>
          </a:xfrm>
          <a:prstGeom prst="rect">
            <a:avLst/>
          </a:prstGeom>
          <a:solidFill>
            <a:srgbClr val="99FF33"/>
          </a:solidFill>
          <a:ln>
            <a:noFill/>
          </a:ln>
          <a:extLst>
            <a:ext uri="{91240B29-F687-4F45-9708-019B960494DF}">
              <a14:hiddenLine xmlns:a14="http://schemas.microsoft.com/office/drawing/2010/main" xmlns="" w="76200" algn="ctr">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2400"/>
              <a:t>The transport layer is responsible for the delivery </a:t>
            </a:r>
            <a:br>
              <a:rPr lang="en-US" altLang="en-US" sz="2400"/>
            </a:br>
            <a:r>
              <a:rPr lang="en-US" altLang="en-US" sz="2400"/>
              <a:t>of a message from one process to another.</a:t>
            </a:r>
          </a:p>
        </p:txBody>
      </p:sp>
      <p:grpSp>
        <p:nvGrpSpPr>
          <p:cNvPr id="26636" name="Group 15">
            <a:extLst>
              <a:ext uri="{FF2B5EF4-FFF2-40B4-BE49-F238E27FC236}">
                <a16:creationId xmlns:a16="http://schemas.microsoft.com/office/drawing/2014/main" xmlns="" id="{123B1255-C030-73EB-06D6-5D35C46F21AB}"/>
              </a:ext>
            </a:extLst>
          </p:cNvPr>
          <p:cNvGrpSpPr>
            <a:grpSpLocks/>
          </p:cNvGrpSpPr>
          <p:nvPr/>
        </p:nvGrpSpPr>
        <p:grpSpPr bwMode="auto">
          <a:xfrm>
            <a:off x="533400" y="2286000"/>
            <a:ext cx="1143000" cy="566738"/>
            <a:chOff x="1200" y="1248"/>
            <a:chExt cx="720" cy="357"/>
          </a:xfrm>
        </p:grpSpPr>
        <p:pic>
          <p:nvPicPr>
            <p:cNvPr id="26637" name="Picture 16">
              <a:extLst>
                <a:ext uri="{FF2B5EF4-FFF2-40B4-BE49-F238E27FC236}">
                  <a16:creationId xmlns:a16="http://schemas.microsoft.com/office/drawing/2014/main" xmlns="" id="{4C5B2BFA-5304-20E2-4E24-57D8B03D4A29}"/>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638" name="Text Box 17">
              <a:extLst>
                <a:ext uri="{FF2B5EF4-FFF2-40B4-BE49-F238E27FC236}">
                  <a16:creationId xmlns:a16="http://schemas.microsoft.com/office/drawing/2014/main" xmlns="" id="{A15D1F73-793A-EAC9-9C49-BE1F815AC7AC}"/>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800" i="1">
                  <a:solidFill>
                    <a:schemeClr val="hlink"/>
                  </a:solidFill>
                </a:rPr>
                <a:t>Note</a:t>
              </a: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2">
            <a:extLst>
              <a:ext uri="{FF2B5EF4-FFF2-40B4-BE49-F238E27FC236}">
                <a16:creationId xmlns:a16="http://schemas.microsoft.com/office/drawing/2014/main" xmlns="" id="{3B420F03-1F74-B1FE-49C7-9094BBB3B9F8}"/>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7651" name="Line 3">
            <a:extLst>
              <a:ext uri="{FF2B5EF4-FFF2-40B4-BE49-F238E27FC236}">
                <a16:creationId xmlns:a16="http://schemas.microsoft.com/office/drawing/2014/main" xmlns="" id="{820436E4-5953-86E5-36F8-7E05EDF6470E}"/>
              </a:ext>
            </a:extLst>
          </p:cNvPr>
          <p:cNvSpPr>
            <a:spLocks noChangeShapeType="1"/>
          </p:cNvSpPr>
          <p:nvPr/>
        </p:nvSpPr>
        <p:spPr bwMode="auto">
          <a:xfrm>
            <a:off x="152400" y="9144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7652" name="Text Box 4">
            <a:extLst>
              <a:ext uri="{FF2B5EF4-FFF2-40B4-BE49-F238E27FC236}">
                <a16:creationId xmlns:a16="http://schemas.microsoft.com/office/drawing/2014/main" xmlns="" id="{FA26E93A-05B8-3B16-0677-8DDD8603C555}"/>
              </a:ext>
            </a:extLst>
          </p:cNvPr>
          <p:cNvSpPr txBox="1">
            <a:spLocks noChangeArrowheads="1"/>
          </p:cNvSpPr>
          <p:nvPr/>
        </p:nvSpPr>
        <p:spPr bwMode="auto">
          <a:xfrm>
            <a:off x="304800" y="304800"/>
            <a:ext cx="535274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000" i="1" dirty="0"/>
              <a:t>Reliable process-to-process delivery of a message</a:t>
            </a:r>
          </a:p>
        </p:txBody>
      </p:sp>
      <p:sp>
        <p:nvSpPr>
          <p:cNvPr id="27653" name="Line 5">
            <a:extLst>
              <a:ext uri="{FF2B5EF4-FFF2-40B4-BE49-F238E27FC236}">
                <a16:creationId xmlns:a16="http://schemas.microsoft.com/office/drawing/2014/main" xmlns="" id="{1DED7139-8D9D-2140-BFE5-500DF267FF9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27654" name="Picture 6">
            <a:extLst>
              <a:ext uri="{FF2B5EF4-FFF2-40B4-BE49-F238E27FC236}">
                <a16:creationId xmlns:a16="http://schemas.microsoft.com/office/drawing/2014/main" xmlns="" id="{8452F35A-9AAF-D45B-0683-0D78317D397B}"/>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30225" y="2025650"/>
            <a:ext cx="7623175" cy="3136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Line 2">
            <a:extLst>
              <a:ext uri="{FF2B5EF4-FFF2-40B4-BE49-F238E27FC236}">
                <a16:creationId xmlns:a16="http://schemas.microsoft.com/office/drawing/2014/main" xmlns="" id="{F422A0FD-023D-AAFD-BF81-145F18553C36}"/>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8675" name="Line 3">
            <a:extLst>
              <a:ext uri="{FF2B5EF4-FFF2-40B4-BE49-F238E27FC236}">
                <a16:creationId xmlns:a16="http://schemas.microsoft.com/office/drawing/2014/main" xmlns="" id="{15B34AB5-D9DB-D8B0-CABB-E1882ECF459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8676" name="Text Box 4">
            <a:extLst>
              <a:ext uri="{FF2B5EF4-FFF2-40B4-BE49-F238E27FC236}">
                <a16:creationId xmlns:a16="http://schemas.microsoft.com/office/drawing/2014/main" xmlns="" id="{046C0961-4494-4456-99DB-EEF57E381A82}"/>
              </a:ext>
            </a:extLst>
          </p:cNvPr>
          <p:cNvSpPr txBox="1">
            <a:spLocks noChangeArrowheads="1"/>
          </p:cNvSpPr>
          <p:nvPr/>
        </p:nvSpPr>
        <p:spPr bwMode="auto">
          <a:xfrm>
            <a:off x="0" y="533400"/>
            <a:ext cx="2409634"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3200" i="1" dirty="0"/>
              <a:t>Session layer</a:t>
            </a:r>
          </a:p>
        </p:txBody>
      </p:sp>
      <p:sp>
        <p:nvSpPr>
          <p:cNvPr id="28677" name="Line 5">
            <a:extLst>
              <a:ext uri="{FF2B5EF4-FFF2-40B4-BE49-F238E27FC236}">
                <a16:creationId xmlns:a16="http://schemas.microsoft.com/office/drawing/2014/main" xmlns="" id="{66CC8A32-3DC1-7CEE-9CA0-9D8EA5A3DB9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28678" name="Picture 6">
            <a:extLst>
              <a:ext uri="{FF2B5EF4-FFF2-40B4-BE49-F238E27FC236}">
                <a16:creationId xmlns:a16="http://schemas.microsoft.com/office/drawing/2014/main" xmlns="" id="{FFBB07F5-0556-9D8E-FDE5-D89D9DA545F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06375" y="1665288"/>
            <a:ext cx="8556625" cy="3973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xmlns="" id="{AF24238E-B9CF-ACC0-05CF-DD5DE4BF514A}"/>
              </a:ext>
            </a:extLst>
          </p:cNvPr>
          <p:cNvSpPr>
            <a:spLocks noGrp="1" noChangeArrowheads="1"/>
          </p:cNvSpPr>
          <p:nvPr>
            <p:ph type="title"/>
          </p:nvPr>
        </p:nvSpPr>
        <p:spPr bwMode="auto">
          <a:xfrm>
            <a:off x="457200" y="274638"/>
            <a:ext cx="8229600" cy="58477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200" b="1" i="1" dirty="0">
                <a:solidFill>
                  <a:schemeClr val="tx1"/>
                </a:solidFill>
              </a:rPr>
              <a:t>Session layer functionalities</a:t>
            </a:r>
          </a:p>
        </p:txBody>
      </p:sp>
      <p:sp>
        <p:nvSpPr>
          <p:cNvPr id="29699" name="Rectangle 3">
            <a:extLst>
              <a:ext uri="{FF2B5EF4-FFF2-40B4-BE49-F238E27FC236}">
                <a16:creationId xmlns:a16="http://schemas.microsoft.com/office/drawing/2014/main" xmlns="" id="{7676E9EA-3DED-8F2B-A36D-219C3C88EA53}"/>
              </a:ext>
            </a:extLst>
          </p:cNvPr>
          <p:cNvSpPr>
            <a:spLocks noGrp="1" noChangeArrowheads="1"/>
          </p:cNvSpPr>
          <p:nvPr>
            <p:ph type="body" idx="1"/>
          </p:nvPr>
        </p:nvSpPr>
        <p:spPr bwMode="auto">
          <a:xfrm>
            <a:off x="457200" y="1143000"/>
            <a:ext cx="8229600" cy="3582519"/>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endParaRPr lang="en-US" altLang="en-US" sz="2800" b="1" dirty="0"/>
          </a:p>
          <a:p>
            <a:pPr algn="just" eaLnBrk="1" hangingPunct="1">
              <a:lnSpc>
                <a:spcPct val="90000"/>
              </a:lnSpc>
            </a:pPr>
            <a:r>
              <a:rPr lang="en-US" altLang="en-US" sz="2800" b="1"/>
              <a:t>It establishes, maintaining and synchronizes the interaction among communicating systems. </a:t>
            </a:r>
            <a:r>
              <a:rPr lang="en-US" altLang="en-US" sz="2800" b="1" dirty="0"/>
              <a:t>It is called dialog controller</a:t>
            </a:r>
          </a:p>
          <a:p>
            <a:pPr eaLnBrk="1" hangingPunct="1">
              <a:lnSpc>
                <a:spcPct val="90000"/>
              </a:lnSpc>
              <a:buFont typeface="Wingdings" panose="05000000000000000000" pitchFamily="2" charset="2"/>
              <a:buNone/>
            </a:pPr>
            <a:endParaRPr lang="en-US" altLang="en-US" sz="2800" b="1" dirty="0"/>
          </a:p>
          <a:p>
            <a:pPr eaLnBrk="1" hangingPunct="1">
              <a:lnSpc>
                <a:spcPct val="90000"/>
              </a:lnSpc>
            </a:pPr>
            <a:r>
              <a:rPr lang="en-US" altLang="en-US" sz="2800" b="1" dirty="0"/>
              <a:t>Dialog Control :</a:t>
            </a:r>
            <a:r>
              <a:rPr lang="en-US" altLang="en-US" sz="2800" dirty="0"/>
              <a:t> Allowing two systems to process to communicate in half duplex or full – duplex mode.</a:t>
            </a:r>
          </a:p>
          <a:p>
            <a:pPr eaLnBrk="1" hangingPunct="1">
              <a:lnSpc>
                <a:spcPct val="90000"/>
              </a:lnSpc>
              <a:buFont typeface="Wingdings" panose="05000000000000000000" pitchFamily="2" charset="2"/>
              <a:buNone/>
            </a:pPr>
            <a:endParaRPr lang="en-US" altLang="en-US" sz="2800" dirty="0"/>
          </a:p>
          <a:p>
            <a:pPr eaLnBrk="1" hangingPunct="1">
              <a:lnSpc>
                <a:spcPct val="90000"/>
              </a:lnSpc>
            </a:pPr>
            <a:r>
              <a:rPr lang="en-US" altLang="en-US" sz="2800" b="1" dirty="0"/>
              <a:t>Synchronization : </a:t>
            </a:r>
            <a:r>
              <a:rPr lang="en-US" altLang="en-US" sz="2800" dirty="0"/>
              <a:t>Adding the check points to the data.</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Line 9">
            <a:extLst>
              <a:ext uri="{FF2B5EF4-FFF2-40B4-BE49-F238E27FC236}">
                <a16:creationId xmlns:a16="http://schemas.microsoft.com/office/drawing/2014/main" xmlns="" id="{159E8D3E-BB49-4970-B2E4-8852BD0E4DDF}"/>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0723" name="Line 10">
            <a:extLst>
              <a:ext uri="{FF2B5EF4-FFF2-40B4-BE49-F238E27FC236}">
                <a16:creationId xmlns:a16="http://schemas.microsoft.com/office/drawing/2014/main" xmlns="" id="{458551F8-7B07-0468-236C-E410D8B3916E}"/>
              </a:ext>
            </a:extLst>
          </p:cNvPr>
          <p:cNvSpPr>
            <a:spLocks noChangeShapeType="1"/>
          </p:cNvSpPr>
          <p:nvPr/>
        </p:nvSpPr>
        <p:spPr bwMode="auto">
          <a:xfrm>
            <a:off x="458788" y="39624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0724" name="Rectangle 11">
            <a:extLst>
              <a:ext uri="{FF2B5EF4-FFF2-40B4-BE49-F238E27FC236}">
                <a16:creationId xmlns:a16="http://schemas.microsoft.com/office/drawing/2014/main" xmlns="" id="{B8DC5464-7798-0500-277D-1FF98FE6C304}"/>
              </a:ext>
            </a:extLst>
          </p:cNvPr>
          <p:cNvSpPr>
            <a:spLocks noChangeArrowheads="1"/>
          </p:cNvSpPr>
          <p:nvPr/>
        </p:nvSpPr>
        <p:spPr bwMode="auto">
          <a:xfrm>
            <a:off x="495300" y="3063875"/>
            <a:ext cx="8077200" cy="822325"/>
          </a:xfrm>
          <a:prstGeom prst="rect">
            <a:avLst/>
          </a:prstGeom>
          <a:solidFill>
            <a:srgbClr val="99FF33"/>
          </a:solidFill>
          <a:ln>
            <a:noFill/>
          </a:ln>
          <a:extLst>
            <a:ext uri="{91240B29-F687-4F45-9708-019B960494DF}">
              <a14:hiddenLine xmlns:a14="http://schemas.microsoft.com/office/drawing/2010/main" xmlns="" w="76200" algn="ctr">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2400"/>
              <a:t>The session layer is responsible for dialog </a:t>
            </a:r>
            <a:br>
              <a:rPr lang="en-US" altLang="en-US" sz="2400"/>
            </a:br>
            <a:r>
              <a:rPr lang="en-US" altLang="en-US" sz="2400"/>
              <a:t>control and synchronization.</a:t>
            </a:r>
          </a:p>
        </p:txBody>
      </p:sp>
      <p:grpSp>
        <p:nvGrpSpPr>
          <p:cNvPr id="30725" name="Group 24">
            <a:extLst>
              <a:ext uri="{FF2B5EF4-FFF2-40B4-BE49-F238E27FC236}">
                <a16:creationId xmlns:a16="http://schemas.microsoft.com/office/drawing/2014/main" xmlns="" id="{21BCCFAF-FA1C-690D-CC42-8BB9AD5F6F39}"/>
              </a:ext>
            </a:extLst>
          </p:cNvPr>
          <p:cNvGrpSpPr>
            <a:grpSpLocks/>
          </p:cNvGrpSpPr>
          <p:nvPr/>
        </p:nvGrpSpPr>
        <p:grpSpPr bwMode="auto">
          <a:xfrm>
            <a:off x="533400" y="2286000"/>
            <a:ext cx="1143000" cy="566738"/>
            <a:chOff x="1200" y="1248"/>
            <a:chExt cx="720" cy="357"/>
          </a:xfrm>
        </p:grpSpPr>
        <p:pic>
          <p:nvPicPr>
            <p:cNvPr id="30726" name="Picture 23">
              <a:extLst>
                <a:ext uri="{FF2B5EF4-FFF2-40B4-BE49-F238E27FC236}">
                  <a16:creationId xmlns:a16="http://schemas.microsoft.com/office/drawing/2014/main" xmlns="" id="{58D9326A-F95A-6094-2758-CDA94BDCCEC0}"/>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0727" name="Text Box 13">
              <a:extLst>
                <a:ext uri="{FF2B5EF4-FFF2-40B4-BE49-F238E27FC236}">
                  <a16:creationId xmlns:a16="http://schemas.microsoft.com/office/drawing/2014/main" xmlns="" id="{02893F13-0E9B-7829-A5E3-36F0ADD42EEF}"/>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800" i="1">
                  <a:solidFill>
                    <a:schemeClr val="hlink"/>
                  </a:solidFill>
                </a:rPr>
                <a:t>Note</a:t>
              </a: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Line 2">
            <a:extLst>
              <a:ext uri="{FF2B5EF4-FFF2-40B4-BE49-F238E27FC236}">
                <a16:creationId xmlns:a16="http://schemas.microsoft.com/office/drawing/2014/main" xmlns="" id="{3B66B094-B83C-2ADA-C3F3-362D441B951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1747" name="Line 3">
            <a:extLst>
              <a:ext uri="{FF2B5EF4-FFF2-40B4-BE49-F238E27FC236}">
                <a16:creationId xmlns:a16="http://schemas.microsoft.com/office/drawing/2014/main" xmlns="" id="{937219B7-69EB-8F19-3F5C-2752761EE71D}"/>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1748" name="Text Box 4">
            <a:extLst>
              <a:ext uri="{FF2B5EF4-FFF2-40B4-BE49-F238E27FC236}">
                <a16:creationId xmlns:a16="http://schemas.microsoft.com/office/drawing/2014/main" xmlns="" id="{01E9FA7D-044D-0469-B30A-06C3E6DFD6DB}"/>
              </a:ext>
            </a:extLst>
          </p:cNvPr>
          <p:cNvSpPr txBox="1">
            <a:spLocks noChangeArrowheads="1"/>
          </p:cNvSpPr>
          <p:nvPr/>
        </p:nvSpPr>
        <p:spPr bwMode="auto">
          <a:xfrm>
            <a:off x="304800" y="381000"/>
            <a:ext cx="3275256"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3200" i="1" dirty="0"/>
              <a:t>Presentation layer</a:t>
            </a:r>
          </a:p>
        </p:txBody>
      </p:sp>
      <p:sp>
        <p:nvSpPr>
          <p:cNvPr id="31749" name="Line 5">
            <a:extLst>
              <a:ext uri="{FF2B5EF4-FFF2-40B4-BE49-F238E27FC236}">
                <a16:creationId xmlns:a16="http://schemas.microsoft.com/office/drawing/2014/main" xmlns="" id="{B724DF7B-D771-D9C3-D130-E857E4CC0F8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31750" name="Picture 6">
            <a:extLst>
              <a:ext uri="{FF2B5EF4-FFF2-40B4-BE49-F238E27FC236}">
                <a16:creationId xmlns:a16="http://schemas.microsoft.com/office/drawing/2014/main" xmlns="" id="{F56E30B5-503D-79D3-3C92-01B73DC48644}"/>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44488" y="2014538"/>
            <a:ext cx="8418512" cy="286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xmlns="" id="{E3DB0713-4844-7F5F-FCEB-0E6969D71C57}"/>
              </a:ext>
            </a:extLst>
          </p:cNvPr>
          <p:cNvSpPr>
            <a:spLocks noGrp="1" noChangeArrowheads="1"/>
          </p:cNvSpPr>
          <p:nvPr>
            <p:ph type="title"/>
          </p:nvPr>
        </p:nvSpPr>
        <p:spPr bwMode="auto">
          <a:xfrm>
            <a:off x="457200" y="274638"/>
            <a:ext cx="8458200" cy="58477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200" b="1" i="1" dirty="0">
                <a:solidFill>
                  <a:schemeClr val="tx1"/>
                </a:solidFill>
              </a:rPr>
              <a:t>Presentation layer functionalities</a:t>
            </a:r>
          </a:p>
        </p:txBody>
      </p:sp>
      <p:sp>
        <p:nvSpPr>
          <p:cNvPr id="32771" name="Rectangle 3">
            <a:extLst>
              <a:ext uri="{FF2B5EF4-FFF2-40B4-BE49-F238E27FC236}">
                <a16:creationId xmlns:a16="http://schemas.microsoft.com/office/drawing/2014/main" xmlns="" id="{6F7D4259-E6D9-BAF0-EB2D-ACA614DB479D}"/>
              </a:ext>
            </a:extLst>
          </p:cNvPr>
          <p:cNvSpPr>
            <a:spLocks noGrp="1" noChangeArrowheads="1"/>
          </p:cNvSpPr>
          <p:nvPr>
            <p:ph type="body" idx="1"/>
          </p:nvPr>
        </p:nvSpPr>
        <p:spPr bwMode="auto">
          <a:xfrm>
            <a:off x="304800" y="1143000"/>
            <a:ext cx="8382000" cy="3046988"/>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r>
              <a:rPr lang="en-US" altLang="en-US" b="1" dirty="0"/>
              <a:t>Translation :</a:t>
            </a:r>
            <a:r>
              <a:rPr lang="en-US" altLang="en-US" dirty="0"/>
              <a:t> Changing information of the sender into its receiver – dependent format.</a:t>
            </a:r>
          </a:p>
          <a:p>
            <a:pPr algn="just" eaLnBrk="1" hangingPunct="1"/>
            <a:endParaRPr lang="en-US" altLang="en-US" b="1" dirty="0"/>
          </a:p>
          <a:p>
            <a:pPr algn="just" eaLnBrk="1" hangingPunct="1"/>
            <a:r>
              <a:rPr lang="en-US" altLang="en-US" b="1" dirty="0"/>
              <a:t>Encryption : </a:t>
            </a:r>
            <a:r>
              <a:rPr lang="en-US" altLang="en-US" dirty="0"/>
              <a:t>Sending original information in another form for security of the information.</a:t>
            </a:r>
          </a:p>
          <a:p>
            <a:pPr algn="just" eaLnBrk="1" hangingPunct="1"/>
            <a:endParaRPr lang="en-US" altLang="en-US" b="1" dirty="0"/>
          </a:p>
          <a:p>
            <a:pPr algn="just" eaLnBrk="1" hangingPunct="1"/>
            <a:r>
              <a:rPr lang="en-US" altLang="en-US" b="1" dirty="0"/>
              <a:t>Compression: </a:t>
            </a:r>
            <a:r>
              <a:rPr lang="en-US" altLang="en-US" dirty="0"/>
              <a:t>Reducing the data for transmission to use the line (physical media) efficiently.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1" name="Line 9">
            <a:extLst>
              <a:ext uri="{FF2B5EF4-FFF2-40B4-BE49-F238E27FC236}">
                <a16:creationId xmlns:a16="http://schemas.microsoft.com/office/drawing/2014/main" xmlns="" id="{BCF6C0C4-F4B2-F41E-40CA-6FD72D7D17CE}"/>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3802" name="Line 10">
            <a:extLst>
              <a:ext uri="{FF2B5EF4-FFF2-40B4-BE49-F238E27FC236}">
                <a16:creationId xmlns:a16="http://schemas.microsoft.com/office/drawing/2014/main" xmlns="" id="{A9ED2040-F2FF-E087-A5E3-22112676F758}"/>
              </a:ext>
            </a:extLst>
          </p:cNvPr>
          <p:cNvSpPr>
            <a:spLocks noChangeShapeType="1"/>
          </p:cNvSpPr>
          <p:nvPr/>
        </p:nvSpPr>
        <p:spPr bwMode="auto">
          <a:xfrm>
            <a:off x="458788" y="39624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3803" name="Rectangle 11">
            <a:extLst>
              <a:ext uri="{FF2B5EF4-FFF2-40B4-BE49-F238E27FC236}">
                <a16:creationId xmlns:a16="http://schemas.microsoft.com/office/drawing/2014/main" xmlns="" id="{7AE79C3E-46C5-DACA-DE7A-265B7DB4EA33}"/>
              </a:ext>
            </a:extLst>
          </p:cNvPr>
          <p:cNvSpPr>
            <a:spLocks noChangeArrowheads="1"/>
          </p:cNvSpPr>
          <p:nvPr/>
        </p:nvSpPr>
        <p:spPr bwMode="auto">
          <a:xfrm>
            <a:off x="495300" y="3063875"/>
            <a:ext cx="8077200" cy="822325"/>
          </a:xfrm>
          <a:prstGeom prst="rect">
            <a:avLst/>
          </a:prstGeom>
          <a:solidFill>
            <a:srgbClr val="99FF33"/>
          </a:solidFill>
          <a:ln>
            <a:noFill/>
          </a:ln>
          <a:extLst>
            <a:ext uri="{91240B29-F687-4F45-9708-019B960494DF}">
              <a14:hiddenLine xmlns:a14="http://schemas.microsoft.com/office/drawing/2010/main" xmlns="" w="76200" algn="ctr">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2400"/>
              <a:t>The presentation layer is responsible for translation, compression, and encryption.</a:t>
            </a:r>
          </a:p>
        </p:txBody>
      </p:sp>
      <p:grpSp>
        <p:nvGrpSpPr>
          <p:cNvPr id="33804" name="Group 15">
            <a:extLst>
              <a:ext uri="{FF2B5EF4-FFF2-40B4-BE49-F238E27FC236}">
                <a16:creationId xmlns:a16="http://schemas.microsoft.com/office/drawing/2014/main" xmlns="" id="{AD79A479-7E96-E139-C9C9-D49DDDE7ED48}"/>
              </a:ext>
            </a:extLst>
          </p:cNvPr>
          <p:cNvGrpSpPr>
            <a:grpSpLocks/>
          </p:cNvGrpSpPr>
          <p:nvPr/>
        </p:nvGrpSpPr>
        <p:grpSpPr bwMode="auto">
          <a:xfrm>
            <a:off x="533400" y="2286000"/>
            <a:ext cx="1143000" cy="566738"/>
            <a:chOff x="1200" y="1248"/>
            <a:chExt cx="720" cy="357"/>
          </a:xfrm>
        </p:grpSpPr>
        <p:pic>
          <p:nvPicPr>
            <p:cNvPr id="33805" name="Picture 16">
              <a:extLst>
                <a:ext uri="{FF2B5EF4-FFF2-40B4-BE49-F238E27FC236}">
                  <a16:creationId xmlns:a16="http://schemas.microsoft.com/office/drawing/2014/main" xmlns="" id="{BA8E6433-D89C-3291-6D35-78AEECE38AED}"/>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3806" name="Text Box 17">
              <a:extLst>
                <a:ext uri="{FF2B5EF4-FFF2-40B4-BE49-F238E27FC236}">
                  <a16:creationId xmlns:a16="http://schemas.microsoft.com/office/drawing/2014/main" xmlns="" id="{37CBECAB-F47C-737B-136C-6B2D1054746E}"/>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800" i="1">
                  <a:solidFill>
                    <a:schemeClr val="hlink"/>
                  </a:solidFill>
                </a:rPr>
                <a:t>Note</a:t>
              </a:r>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Line 2">
            <a:extLst>
              <a:ext uri="{FF2B5EF4-FFF2-40B4-BE49-F238E27FC236}">
                <a16:creationId xmlns:a16="http://schemas.microsoft.com/office/drawing/2014/main" xmlns="" id="{93144A00-E369-0F0C-E0B8-401C768EF34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4819" name="Line 3">
            <a:extLst>
              <a:ext uri="{FF2B5EF4-FFF2-40B4-BE49-F238E27FC236}">
                <a16:creationId xmlns:a16="http://schemas.microsoft.com/office/drawing/2014/main" xmlns="" id="{D7F941A1-4B1E-C6BB-F28A-4A28AE8AB15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4820" name="Text Box 4">
            <a:extLst>
              <a:ext uri="{FF2B5EF4-FFF2-40B4-BE49-F238E27FC236}">
                <a16:creationId xmlns:a16="http://schemas.microsoft.com/office/drawing/2014/main" xmlns="" id="{73EB584E-358B-E729-1CFD-1E32B7F06547}"/>
              </a:ext>
            </a:extLst>
          </p:cNvPr>
          <p:cNvSpPr txBox="1">
            <a:spLocks noChangeArrowheads="1"/>
          </p:cNvSpPr>
          <p:nvPr/>
        </p:nvSpPr>
        <p:spPr bwMode="auto">
          <a:xfrm>
            <a:off x="304800" y="381000"/>
            <a:ext cx="3092513"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3200" i="1" dirty="0"/>
              <a:t>Application layer</a:t>
            </a:r>
          </a:p>
        </p:txBody>
      </p:sp>
      <p:sp>
        <p:nvSpPr>
          <p:cNvPr id="34821" name="Line 5">
            <a:extLst>
              <a:ext uri="{FF2B5EF4-FFF2-40B4-BE49-F238E27FC236}">
                <a16:creationId xmlns:a16="http://schemas.microsoft.com/office/drawing/2014/main" xmlns="" id="{958EC878-EF08-5D9F-C706-B4E9C790C1D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34822" name="Picture 6">
            <a:extLst>
              <a:ext uri="{FF2B5EF4-FFF2-40B4-BE49-F238E27FC236}">
                <a16:creationId xmlns:a16="http://schemas.microsoft.com/office/drawing/2014/main" xmlns="" id="{A43A4803-5B66-7B15-455D-37CA43070717}"/>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84175" y="1371600"/>
            <a:ext cx="8455025" cy="4275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xmlns="" id="{60BA4EFA-5952-A792-A322-7D8FD9560D4A}"/>
              </a:ext>
            </a:extLst>
          </p:cNvPr>
          <p:cNvSpPr>
            <a:spLocks noGrp="1" noChangeArrowheads="1"/>
          </p:cNvSpPr>
          <p:nvPr>
            <p:ph type="title"/>
          </p:nvPr>
        </p:nvSpPr>
        <p:spPr bwMode="auto">
          <a:xfrm>
            <a:off x="457200" y="274638"/>
            <a:ext cx="8229600" cy="58477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200" b="1" i="1" dirty="0">
                <a:solidFill>
                  <a:schemeClr val="tx1"/>
                </a:solidFill>
              </a:rPr>
              <a:t>Application layer functionalities</a:t>
            </a:r>
          </a:p>
        </p:txBody>
      </p:sp>
      <p:sp>
        <p:nvSpPr>
          <p:cNvPr id="35843" name="Rectangle 3">
            <a:extLst>
              <a:ext uri="{FF2B5EF4-FFF2-40B4-BE49-F238E27FC236}">
                <a16:creationId xmlns:a16="http://schemas.microsoft.com/office/drawing/2014/main" xmlns="" id="{2E1CCCA1-E9F7-2F56-61E7-B55442F9BC8E}"/>
              </a:ext>
            </a:extLst>
          </p:cNvPr>
          <p:cNvSpPr>
            <a:spLocks noGrp="1" noChangeArrowheads="1"/>
          </p:cNvSpPr>
          <p:nvPr>
            <p:ph type="body" idx="1"/>
          </p:nvPr>
        </p:nvSpPr>
        <p:spPr bwMode="auto">
          <a:xfrm>
            <a:off x="533400" y="1371600"/>
            <a:ext cx="8305800" cy="3933384"/>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80000"/>
              </a:lnSpc>
            </a:pPr>
            <a:r>
              <a:rPr lang="en-US" altLang="en-US" sz="2400" b="1" dirty="0"/>
              <a:t>It provides user interfaces and support for services such as electronic mail , remote file access  and transfer.</a:t>
            </a:r>
          </a:p>
          <a:p>
            <a:pPr algn="just" eaLnBrk="1" hangingPunct="1">
              <a:lnSpc>
                <a:spcPct val="80000"/>
              </a:lnSpc>
              <a:buFont typeface="Wingdings" panose="05000000000000000000" pitchFamily="2" charset="2"/>
              <a:buNone/>
            </a:pPr>
            <a:endParaRPr lang="en-US" altLang="en-US" sz="2400" b="1" dirty="0"/>
          </a:p>
          <a:p>
            <a:pPr algn="just" eaLnBrk="1" hangingPunct="1">
              <a:lnSpc>
                <a:spcPct val="80000"/>
              </a:lnSpc>
            </a:pPr>
            <a:r>
              <a:rPr lang="en-US" altLang="en-US" sz="2400" b="1" dirty="0"/>
              <a:t>Network Virtual Terminal : </a:t>
            </a:r>
            <a:r>
              <a:rPr lang="en-US" altLang="en-US" sz="2400" dirty="0"/>
              <a:t>Emulation of software version of physical terminal </a:t>
            </a:r>
          </a:p>
          <a:p>
            <a:pPr algn="just" eaLnBrk="1" hangingPunct="1">
              <a:lnSpc>
                <a:spcPct val="80000"/>
              </a:lnSpc>
            </a:pPr>
            <a:endParaRPr lang="en-US" altLang="en-US" sz="2400" dirty="0"/>
          </a:p>
          <a:p>
            <a:pPr algn="just" eaLnBrk="1" hangingPunct="1">
              <a:lnSpc>
                <a:spcPct val="80000"/>
              </a:lnSpc>
            </a:pPr>
            <a:r>
              <a:rPr lang="en-US" altLang="en-US" sz="2400" b="1" dirty="0"/>
              <a:t>File Transfer, access and management : </a:t>
            </a:r>
            <a:r>
              <a:rPr lang="en-US" altLang="en-US" sz="2400" dirty="0"/>
              <a:t>Allowing user to access remote computer to retrial file and  use in local computer .</a:t>
            </a:r>
          </a:p>
          <a:p>
            <a:pPr algn="just" eaLnBrk="1" hangingPunct="1">
              <a:lnSpc>
                <a:spcPct val="80000"/>
              </a:lnSpc>
            </a:pPr>
            <a:endParaRPr lang="en-US" altLang="en-US" sz="2400" dirty="0"/>
          </a:p>
          <a:p>
            <a:pPr algn="just" eaLnBrk="1" hangingPunct="1">
              <a:lnSpc>
                <a:spcPct val="80000"/>
              </a:lnSpc>
            </a:pPr>
            <a:r>
              <a:rPr lang="en-US" altLang="en-US" sz="2400" b="1" dirty="0"/>
              <a:t>Mail Services :</a:t>
            </a:r>
            <a:r>
              <a:rPr lang="en-US" altLang="en-US" sz="2400" dirty="0"/>
              <a:t> Email forwarding  and storage.</a:t>
            </a:r>
          </a:p>
          <a:p>
            <a:pPr algn="just" eaLnBrk="1" hangingPunct="1">
              <a:lnSpc>
                <a:spcPct val="80000"/>
              </a:lnSpc>
              <a:buFont typeface="Wingdings" panose="05000000000000000000" pitchFamily="2" charset="2"/>
              <a:buNone/>
            </a:pPr>
            <a:endParaRPr lang="en-US" altLang="en-US" sz="2400" dirty="0"/>
          </a:p>
          <a:p>
            <a:pPr algn="just" eaLnBrk="1" hangingPunct="1">
              <a:lnSpc>
                <a:spcPct val="80000"/>
              </a:lnSpc>
            </a:pPr>
            <a:r>
              <a:rPr lang="en-US" altLang="en-US" sz="2400" b="1" dirty="0"/>
              <a:t>Directory Services :</a:t>
            </a:r>
            <a:r>
              <a:rPr lang="en-US" altLang="en-US" sz="2400" dirty="0"/>
              <a:t> Provides Distributed Data base sources and access for global information about various objects and services.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3" name="Line 9">
            <a:extLst>
              <a:ext uri="{FF2B5EF4-FFF2-40B4-BE49-F238E27FC236}">
                <a16:creationId xmlns:a16="http://schemas.microsoft.com/office/drawing/2014/main" xmlns="" id="{492ECE6D-1030-D489-E061-C6EDD07ACB41}"/>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6874" name="Line 10">
            <a:extLst>
              <a:ext uri="{FF2B5EF4-FFF2-40B4-BE49-F238E27FC236}">
                <a16:creationId xmlns:a16="http://schemas.microsoft.com/office/drawing/2014/main" xmlns="" id="{B5DC142C-88C6-EC1F-418E-1329CC489B4B}"/>
              </a:ext>
            </a:extLst>
          </p:cNvPr>
          <p:cNvSpPr>
            <a:spLocks noChangeShapeType="1"/>
          </p:cNvSpPr>
          <p:nvPr/>
        </p:nvSpPr>
        <p:spPr bwMode="auto">
          <a:xfrm>
            <a:off x="458788" y="3962400"/>
            <a:ext cx="8153400" cy="0"/>
          </a:xfrm>
          <a:prstGeom prst="line">
            <a:avLst/>
          </a:prstGeom>
          <a:noFill/>
          <a:ln w="76200">
            <a:solidFill>
              <a:srgbClr val="0099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6875" name="Rectangle 11">
            <a:extLst>
              <a:ext uri="{FF2B5EF4-FFF2-40B4-BE49-F238E27FC236}">
                <a16:creationId xmlns:a16="http://schemas.microsoft.com/office/drawing/2014/main" xmlns="" id="{84F8DA57-7B69-BDB1-00D9-F5106265A6FF}"/>
              </a:ext>
            </a:extLst>
          </p:cNvPr>
          <p:cNvSpPr>
            <a:spLocks noChangeArrowheads="1"/>
          </p:cNvSpPr>
          <p:nvPr/>
        </p:nvSpPr>
        <p:spPr bwMode="auto">
          <a:xfrm>
            <a:off x="495300" y="3063875"/>
            <a:ext cx="8077200" cy="822325"/>
          </a:xfrm>
          <a:prstGeom prst="rect">
            <a:avLst/>
          </a:prstGeom>
          <a:solidFill>
            <a:srgbClr val="99FF33"/>
          </a:solidFill>
          <a:ln>
            <a:noFill/>
          </a:ln>
          <a:extLst>
            <a:ext uri="{91240B29-F687-4F45-9708-019B960494DF}">
              <a14:hiddenLine xmlns:a14="http://schemas.microsoft.com/office/drawing/2010/main" xmlns="" w="76200" algn="ctr">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2400"/>
              <a:t>The application layer is responsible for </a:t>
            </a:r>
            <a:br>
              <a:rPr lang="en-US" altLang="en-US" sz="2400"/>
            </a:br>
            <a:r>
              <a:rPr lang="en-US" altLang="en-US" sz="2400"/>
              <a:t>providing services to the user.</a:t>
            </a:r>
          </a:p>
        </p:txBody>
      </p:sp>
      <p:grpSp>
        <p:nvGrpSpPr>
          <p:cNvPr id="36876" name="Group 15">
            <a:extLst>
              <a:ext uri="{FF2B5EF4-FFF2-40B4-BE49-F238E27FC236}">
                <a16:creationId xmlns:a16="http://schemas.microsoft.com/office/drawing/2014/main" xmlns="" id="{8F4995C3-16D9-768F-0040-D658439BC548}"/>
              </a:ext>
            </a:extLst>
          </p:cNvPr>
          <p:cNvGrpSpPr>
            <a:grpSpLocks/>
          </p:cNvGrpSpPr>
          <p:nvPr/>
        </p:nvGrpSpPr>
        <p:grpSpPr bwMode="auto">
          <a:xfrm>
            <a:off x="533400" y="2286000"/>
            <a:ext cx="1143000" cy="566738"/>
            <a:chOff x="1200" y="1248"/>
            <a:chExt cx="720" cy="357"/>
          </a:xfrm>
        </p:grpSpPr>
        <p:pic>
          <p:nvPicPr>
            <p:cNvPr id="36877" name="Picture 16">
              <a:extLst>
                <a:ext uri="{FF2B5EF4-FFF2-40B4-BE49-F238E27FC236}">
                  <a16:creationId xmlns:a16="http://schemas.microsoft.com/office/drawing/2014/main" xmlns="" id="{7F551CCE-F57B-9699-9FDF-9675B3DAED65}"/>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878" name="Text Box 17">
              <a:extLst>
                <a:ext uri="{FF2B5EF4-FFF2-40B4-BE49-F238E27FC236}">
                  <a16:creationId xmlns:a16="http://schemas.microsoft.com/office/drawing/2014/main" xmlns="" id="{FFB3E060-932A-DAA2-08C6-3E3C5F2A6187}"/>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800" i="1">
                  <a:solidFill>
                    <a:schemeClr val="hlink"/>
                  </a:solidFill>
                </a:rPr>
                <a:t>Note</a:t>
              </a: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Line 2">
            <a:extLst>
              <a:ext uri="{FF2B5EF4-FFF2-40B4-BE49-F238E27FC236}">
                <a16:creationId xmlns:a16="http://schemas.microsoft.com/office/drawing/2014/main" xmlns="" id="{1D393DFB-D3F3-908E-67FB-2A0281D3F37B}"/>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7891" name="Line 3">
            <a:extLst>
              <a:ext uri="{FF2B5EF4-FFF2-40B4-BE49-F238E27FC236}">
                <a16:creationId xmlns:a16="http://schemas.microsoft.com/office/drawing/2014/main" xmlns="" id="{3D3FCB27-4E59-8B09-158F-772439918E22}"/>
              </a:ext>
            </a:extLst>
          </p:cNvPr>
          <p:cNvSpPr>
            <a:spLocks noChangeShapeType="1"/>
          </p:cNvSpPr>
          <p:nvPr/>
        </p:nvSpPr>
        <p:spPr bwMode="auto">
          <a:xfrm>
            <a:off x="152400" y="9144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7892" name="Text Box 4">
            <a:extLst>
              <a:ext uri="{FF2B5EF4-FFF2-40B4-BE49-F238E27FC236}">
                <a16:creationId xmlns:a16="http://schemas.microsoft.com/office/drawing/2014/main" xmlns="" id="{06A3F80F-2ECF-5D6E-1AF5-A83AAC46EF85}"/>
              </a:ext>
            </a:extLst>
          </p:cNvPr>
          <p:cNvSpPr txBox="1">
            <a:spLocks noChangeArrowheads="1"/>
          </p:cNvSpPr>
          <p:nvPr/>
        </p:nvSpPr>
        <p:spPr bwMode="auto">
          <a:xfrm>
            <a:off x="304800" y="304800"/>
            <a:ext cx="3377848"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3200" i="1" dirty="0"/>
              <a:t>Summary of layers</a:t>
            </a:r>
          </a:p>
        </p:txBody>
      </p:sp>
      <p:sp>
        <p:nvSpPr>
          <p:cNvPr id="37893" name="Line 5">
            <a:extLst>
              <a:ext uri="{FF2B5EF4-FFF2-40B4-BE49-F238E27FC236}">
                <a16:creationId xmlns:a16="http://schemas.microsoft.com/office/drawing/2014/main" xmlns="" id="{CF78A614-E51D-D9EC-5929-96AC5785599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37894" name="Picture 6">
            <a:extLst>
              <a:ext uri="{FF2B5EF4-FFF2-40B4-BE49-F238E27FC236}">
                <a16:creationId xmlns:a16="http://schemas.microsoft.com/office/drawing/2014/main" xmlns="" id="{72EC9357-3489-59F2-6792-4A972C3857C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44488" y="1219201"/>
            <a:ext cx="8189912" cy="46481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3200" dirty="0"/>
              <a:t>OSI versus TCP/IP</a:t>
            </a:r>
          </a:p>
        </p:txBody>
      </p:sp>
      <p:sp>
        <p:nvSpPr>
          <p:cNvPr id="7" name="Text Placeholder 6"/>
          <p:cNvSpPr>
            <a:spLocks noGrp="1"/>
          </p:cNvSpPr>
          <p:nvPr>
            <p:ph type="body" sz="quarter" idx="39"/>
          </p:nvPr>
        </p:nvSpPr>
        <p:spPr/>
        <p:txBody>
          <a:bodyPr/>
          <a:lstStyle/>
          <a:p>
            <a:endParaRPr lang="en-IN"/>
          </a:p>
        </p:txBody>
      </p:sp>
      <p:sp>
        <p:nvSpPr>
          <p:cNvPr id="8" name="Text Placeholder 7"/>
          <p:cNvSpPr>
            <a:spLocks noGrp="1"/>
          </p:cNvSpPr>
          <p:nvPr>
            <p:ph type="body" sz="quarter" idx="40"/>
          </p:nvPr>
        </p:nvSpPr>
        <p:spPr/>
        <p:txBody>
          <a:bodyPr/>
          <a:lstStyle/>
          <a:p>
            <a:endParaRPr lang="en-IN"/>
          </a:p>
        </p:txBody>
      </p:sp>
      <p:pic>
        <p:nvPicPr>
          <p:cNvPr id="2050" name="Picture 2"/>
          <p:cNvPicPr>
            <a:picLocks noGrp="1" noChangeAspect="1" noChangeArrowheads="1"/>
          </p:cNvPicPr>
          <p:nvPr>
            <p:ph sz="quarter" idx="11"/>
          </p:nvPr>
        </p:nvPicPr>
        <p:blipFill>
          <a:blip r:embed="rId2">
            <a:extLst>
              <a:ext uri="{28A0092B-C50C-407E-A947-70E740481C1C}">
                <a14:useLocalDpi xmlns:a14="http://schemas.microsoft.com/office/drawing/2010/main" xmlns="" val="0"/>
              </a:ext>
            </a:extLst>
          </a:blip>
          <a:srcRect/>
          <a:stretch>
            <a:fillRect/>
          </a:stretch>
        </p:blipFill>
        <p:spPr bwMode="auto">
          <a:xfrm>
            <a:off x="533400" y="1295400"/>
            <a:ext cx="8153400" cy="48220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xmlns="" id="{DC8F9193-2663-950C-1C23-7DD824436F36}"/>
              </a:ext>
            </a:extLst>
          </p:cNvPr>
          <p:cNvSpPr>
            <a:spLocks noGrp="1"/>
          </p:cNvSpPr>
          <p:nvPr>
            <p:ph type="sldNum" sz="quarter" idx="10"/>
          </p:nvPr>
        </p:nvSpPr>
        <p:spPr/>
        <p:txBody>
          <a:bodyPr/>
          <a:lstStyle/>
          <a:p>
            <a:fld id="{68151E55-6873-49E2-B8D5-2F265E6F1973}" type="slidenum">
              <a:rPr lang="en-US" smtClean="0"/>
              <a:pPr/>
              <a:t>88</a:t>
            </a:fld>
            <a:endParaRPr lang="en-US"/>
          </a:p>
        </p:txBody>
      </p:sp>
    </p:spTree>
    <p:extLst>
      <p:ext uri="{BB962C8B-B14F-4D97-AF65-F5344CB8AC3E}">
        <p14:creationId xmlns:p14="http://schemas.microsoft.com/office/powerpoint/2010/main" xmlns="" val="234757259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8EDC98-B542-0844-390D-DD417E8F8F47}"/>
              </a:ext>
            </a:extLst>
          </p:cNvPr>
          <p:cNvSpPr>
            <a:spLocks noGrp="1"/>
          </p:cNvSpPr>
          <p:nvPr>
            <p:ph type="title"/>
          </p:nvPr>
        </p:nvSpPr>
        <p:spPr/>
        <p:txBody>
          <a:bodyPr/>
          <a:lstStyle/>
          <a:p>
            <a:r>
              <a:rPr lang="en-IN" sz="3200" dirty="0"/>
              <a:t>OSI versus TCP/IP</a:t>
            </a:r>
          </a:p>
        </p:txBody>
      </p:sp>
      <p:sp>
        <p:nvSpPr>
          <p:cNvPr id="3" name="Content Placeholder 2">
            <a:extLst>
              <a:ext uri="{FF2B5EF4-FFF2-40B4-BE49-F238E27FC236}">
                <a16:creationId xmlns:a16="http://schemas.microsoft.com/office/drawing/2014/main" xmlns="" id="{60E5AA32-7B1F-DCA4-D5B7-807FD20518C5}"/>
              </a:ext>
            </a:extLst>
          </p:cNvPr>
          <p:cNvSpPr>
            <a:spLocks noGrp="1"/>
          </p:cNvSpPr>
          <p:nvPr>
            <p:ph sz="quarter" idx="11"/>
          </p:nvPr>
        </p:nvSpPr>
        <p:spPr/>
        <p:txBody>
          <a:bodyPr/>
          <a:lstStyle/>
          <a:p>
            <a:pPr marL="342900" indent="-342900">
              <a:buFont typeface="Arial" panose="020B0604020202020204" pitchFamily="34" charset="0"/>
              <a:buChar char="•"/>
            </a:pPr>
            <a:r>
              <a:rPr lang="en-US" dirty="0"/>
              <a:t>When we compare the two models, we find that two layers, session and presentation are missing from the TCP/IP protocol suite.</a:t>
            </a:r>
          </a:p>
          <a:p>
            <a:r>
              <a:rPr lang="en-US" dirty="0"/>
              <a:t> </a:t>
            </a:r>
          </a:p>
          <a:p>
            <a:pPr marL="342900" indent="-342900">
              <a:buFont typeface="Arial" panose="020B0604020202020204" pitchFamily="34" charset="0"/>
              <a:buChar char="•"/>
            </a:pPr>
            <a:r>
              <a:rPr lang="en-US" dirty="0"/>
              <a:t>These two layers were not added to the TCP/IP protocol suite after the publication of the OSI model.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The application layer in the suite is usually considered to be the combination of three layers in the OSI model.</a:t>
            </a:r>
            <a:endParaRPr lang="en-IN" dirty="0"/>
          </a:p>
        </p:txBody>
      </p:sp>
      <p:sp>
        <p:nvSpPr>
          <p:cNvPr id="4" name="Text Placeholder 3">
            <a:extLst>
              <a:ext uri="{FF2B5EF4-FFF2-40B4-BE49-F238E27FC236}">
                <a16:creationId xmlns:a16="http://schemas.microsoft.com/office/drawing/2014/main" xmlns="" id="{C662E5A6-BFCC-55E6-D39E-FF70B31C62AA}"/>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B6C147D4-687A-D10F-B77F-F71B957D0D30}"/>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FD2E907E-0702-E7A9-AD98-8141B944A734}"/>
              </a:ext>
            </a:extLst>
          </p:cNvPr>
          <p:cNvSpPr>
            <a:spLocks noGrp="1"/>
          </p:cNvSpPr>
          <p:nvPr>
            <p:ph type="sldNum" sz="quarter" idx="10"/>
          </p:nvPr>
        </p:nvSpPr>
        <p:spPr/>
        <p:txBody>
          <a:bodyPr/>
          <a:lstStyle/>
          <a:p>
            <a:fld id="{68151E55-6873-49E2-B8D5-2F265E6F1973}" type="slidenum">
              <a:rPr lang="en-US" smtClean="0"/>
              <a:pPr/>
              <a:t>89</a:t>
            </a:fld>
            <a:endParaRPr lang="en-US"/>
          </a:p>
        </p:txBody>
      </p:sp>
    </p:spTree>
    <p:extLst>
      <p:ext uri="{BB962C8B-B14F-4D97-AF65-F5344CB8AC3E}">
        <p14:creationId xmlns:p14="http://schemas.microsoft.com/office/powerpoint/2010/main" xmlns="" val="36440486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D62647-4BAF-B7FB-3D89-B5C3BF0AD212}"/>
              </a:ext>
            </a:extLst>
          </p:cNvPr>
          <p:cNvSpPr>
            <a:spLocks noGrp="1"/>
          </p:cNvSpPr>
          <p:nvPr>
            <p:ph type="title"/>
          </p:nvPr>
        </p:nvSpPr>
        <p:spPr/>
        <p:txBody>
          <a:bodyPr/>
          <a:lstStyle/>
          <a:p>
            <a:r>
              <a:rPr lang="en-IN" sz="3200" dirty="0"/>
              <a:t>OSI versus TCP/IP</a:t>
            </a:r>
          </a:p>
        </p:txBody>
      </p:sp>
      <p:sp>
        <p:nvSpPr>
          <p:cNvPr id="3" name="Content Placeholder 2">
            <a:extLst>
              <a:ext uri="{FF2B5EF4-FFF2-40B4-BE49-F238E27FC236}">
                <a16:creationId xmlns:a16="http://schemas.microsoft.com/office/drawing/2014/main" xmlns="" id="{1AB670B9-63E4-8D25-FE16-52817C597EED}"/>
              </a:ext>
            </a:extLst>
          </p:cNvPr>
          <p:cNvSpPr>
            <a:spLocks noGrp="1"/>
          </p:cNvSpPr>
          <p:nvPr>
            <p:ph sz="quarter" idx="11"/>
          </p:nvPr>
        </p:nvSpPr>
        <p:spPr/>
        <p:txBody>
          <a:bodyPr/>
          <a:lstStyle/>
          <a:p>
            <a:r>
              <a:rPr lang="en-US" dirty="0"/>
              <a:t>Two reasons were mentioned for this decision.</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First, TCP/IP has more than one transport-layer protocol. </a:t>
            </a:r>
          </a:p>
          <a:p>
            <a:pPr marL="342900" indent="-342900">
              <a:buFont typeface="Wingdings" panose="05000000000000000000" pitchFamily="2" charset="2"/>
              <a:buChar char="§"/>
            </a:pPr>
            <a:r>
              <a:rPr lang="en-US" dirty="0"/>
              <a:t>Some of the functionalities of the session layer are available in some of the transport-layer protocols.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Second, the application layer is not only one piece of software. Many applications can be developed at this layer.</a:t>
            </a:r>
          </a:p>
          <a:p>
            <a:pPr marL="342900" indent="-342900">
              <a:buFont typeface="Wingdings" panose="05000000000000000000" pitchFamily="2" charset="2"/>
              <a:buChar char="§"/>
            </a:pPr>
            <a:r>
              <a:rPr lang="en-US" dirty="0"/>
              <a:t> If some of the functionalities mentioned in the session and presentation layers are needed for a particular application, they can be included in the development of that piece of software.</a:t>
            </a:r>
            <a:endParaRPr lang="en-IN" dirty="0"/>
          </a:p>
        </p:txBody>
      </p:sp>
      <p:sp>
        <p:nvSpPr>
          <p:cNvPr id="4" name="Text Placeholder 3">
            <a:extLst>
              <a:ext uri="{FF2B5EF4-FFF2-40B4-BE49-F238E27FC236}">
                <a16:creationId xmlns:a16="http://schemas.microsoft.com/office/drawing/2014/main" xmlns="" id="{5BB42154-4230-85FB-7E15-4129361C3E43}"/>
              </a:ext>
            </a:extLst>
          </p:cNvPr>
          <p:cNvSpPr>
            <a:spLocks noGrp="1"/>
          </p:cNvSpPr>
          <p:nvPr>
            <p:ph type="body" sz="quarter" idx="39"/>
          </p:nvPr>
        </p:nvSpPr>
        <p:spPr/>
        <p:txBody>
          <a:bodyPr/>
          <a:lstStyle/>
          <a:p>
            <a:endParaRPr lang="en-IN"/>
          </a:p>
        </p:txBody>
      </p:sp>
      <p:sp>
        <p:nvSpPr>
          <p:cNvPr id="5" name="Text Placeholder 4">
            <a:extLst>
              <a:ext uri="{FF2B5EF4-FFF2-40B4-BE49-F238E27FC236}">
                <a16:creationId xmlns:a16="http://schemas.microsoft.com/office/drawing/2014/main" xmlns="" id="{B337D608-E982-F3DD-0EB6-C489567F2335}"/>
              </a:ext>
            </a:extLst>
          </p:cNvPr>
          <p:cNvSpPr>
            <a:spLocks noGrp="1"/>
          </p:cNvSpPr>
          <p:nvPr>
            <p:ph type="body" sz="quarter" idx="40"/>
          </p:nvPr>
        </p:nvSpPr>
        <p:spPr/>
        <p:txBody>
          <a:bodyPr/>
          <a:lstStyle/>
          <a:p>
            <a:endParaRPr lang="en-IN"/>
          </a:p>
        </p:txBody>
      </p:sp>
      <p:sp>
        <p:nvSpPr>
          <p:cNvPr id="6" name="Slide Number Placeholder 5">
            <a:extLst>
              <a:ext uri="{FF2B5EF4-FFF2-40B4-BE49-F238E27FC236}">
                <a16:creationId xmlns:a16="http://schemas.microsoft.com/office/drawing/2014/main" xmlns="" id="{431B0DBB-6B62-3C56-C7CE-AD5BFCE8B4DA}"/>
              </a:ext>
            </a:extLst>
          </p:cNvPr>
          <p:cNvSpPr>
            <a:spLocks noGrp="1"/>
          </p:cNvSpPr>
          <p:nvPr>
            <p:ph type="sldNum" sz="quarter" idx="10"/>
          </p:nvPr>
        </p:nvSpPr>
        <p:spPr/>
        <p:txBody>
          <a:bodyPr/>
          <a:lstStyle/>
          <a:p>
            <a:fld id="{68151E55-6873-49E2-B8D5-2F265E6F1973}" type="slidenum">
              <a:rPr lang="en-US" smtClean="0"/>
              <a:pPr/>
              <a:t>90</a:t>
            </a:fld>
            <a:endParaRPr lang="en-US"/>
          </a:p>
        </p:txBody>
      </p:sp>
    </p:spTree>
    <p:extLst>
      <p:ext uri="{BB962C8B-B14F-4D97-AF65-F5344CB8AC3E}">
        <p14:creationId xmlns:p14="http://schemas.microsoft.com/office/powerpoint/2010/main" xmlns="" val="6999278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9938" name="Rectangle 2">
            <a:extLst>
              <a:ext uri="{FF2B5EF4-FFF2-40B4-BE49-F238E27FC236}">
                <a16:creationId xmlns:a16="http://schemas.microsoft.com/office/drawing/2014/main" xmlns="" id="{ED10393E-612B-874F-0C15-65D4FD8F7A6D}"/>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sz="3200">
              <a:effectLst>
                <a:outerShdw blurRad="38100" dist="38100" dir="2700000" algn="tl">
                  <a:srgbClr val="FFFFFF"/>
                </a:outerShdw>
              </a:effectLst>
            </a:endParaRPr>
          </a:p>
        </p:txBody>
      </p:sp>
      <p:sp>
        <p:nvSpPr>
          <p:cNvPr id="679939" name="Text Box 3">
            <a:extLst>
              <a:ext uri="{FF2B5EF4-FFF2-40B4-BE49-F238E27FC236}">
                <a16:creationId xmlns:a16="http://schemas.microsoft.com/office/drawing/2014/main" xmlns="" id="{8D898D80-23E2-2091-6F36-72B334216331}"/>
              </a:ext>
            </a:extLst>
          </p:cNvPr>
          <p:cNvSpPr txBox="1">
            <a:spLocks noChangeArrowheads="1"/>
          </p:cNvSpPr>
          <p:nvPr/>
        </p:nvSpPr>
        <p:spPr bwMode="auto">
          <a:xfrm>
            <a:off x="228600" y="76200"/>
            <a:ext cx="5002780" cy="584775"/>
          </a:xfrm>
          <a:prstGeom prst="rect">
            <a:avLst/>
          </a:prstGeom>
          <a:noFill/>
          <a:ln w="9525">
            <a:noFill/>
            <a:miter lim="800000"/>
            <a:headEnd/>
            <a:tailEnd/>
          </a:ln>
          <a:effectLst/>
        </p:spPr>
        <p:txBody>
          <a:bodyPr wrap="none">
            <a:spAutoFit/>
          </a:bodyPr>
          <a:lstStyle/>
          <a:p>
            <a:pPr>
              <a:defRPr/>
            </a:pPr>
            <a:r>
              <a:rPr lang="en-US" sz="3200" dirty="0">
                <a:effectLst>
                  <a:outerShdw blurRad="38100" dist="38100" dir="2700000" algn="tl">
                    <a:srgbClr val="C0C0C0"/>
                  </a:outerShdw>
                </a:effectLst>
                <a:latin typeface="Times" pitchFamily="18" charset="0"/>
              </a:rPr>
              <a:t> TCP/IP PROTOCOL SUITE</a:t>
            </a:r>
          </a:p>
        </p:txBody>
      </p:sp>
      <p:sp>
        <p:nvSpPr>
          <p:cNvPr id="38916" name="Text Box 4">
            <a:extLst>
              <a:ext uri="{FF2B5EF4-FFF2-40B4-BE49-F238E27FC236}">
                <a16:creationId xmlns:a16="http://schemas.microsoft.com/office/drawing/2014/main" xmlns="" id="{81AF2019-6454-81FA-AEC0-42650626437B}"/>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
        <p:nvSpPr>
          <p:cNvPr id="679941" name="Rectangle 5">
            <a:extLst>
              <a:ext uri="{FF2B5EF4-FFF2-40B4-BE49-F238E27FC236}">
                <a16:creationId xmlns:a16="http://schemas.microsoft.com/office/drawing/2014/main" xmlns="" id="{ABF2E791-AD10-EF1F-66C0-43AFC1DC05D4}"/>
              </a:ext>
            </a:extLst>
          </p:cNvPr>
          <p:cNvSpPr>
            <a:spLocks noChangeArrowheads="1"/>
          </p:cNvSpPr>
          <p:nvPr/>
        </p:nvSpPr>
        <p:spPr bwMode="auto">
          <a:xfrm>
            <a:off x="228600" y="872937"/>
            <a:ext cx="8610600" cy="5816977"/>
          </a:xfrm>
          <a:prstGeom prst="rect">
            <a:avLst/>
          </a:prstGeom>
          <a:noFill/>
          <a:ln w="9525">
            <a:noFill/>
            <a:miter lim="800000"/>
            <a:headEnd/>
            <a:tailEnd/>
          </a:ln>
          <a:effectLst/>
        </p:spPr>
        <p:txBody>
          <a:bodyPr anchor="ctr">
            <a:spAutoFit/>
          </a:bodyPr>
          <a:lstStyle/>
          <a:p>
            <a:pPr algn="just" eaLnBrk="1" hangingPunct="1">
              <a:buFontTx/>
              <a:buChar char="•"/>
              <a:defRPr/>
            </a:pP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It is also called Internet Protocol Suite as it consists of set of communication protocols used for the Internet and other similar networks.</a:t>
            </a:r>
          </a:p>
          <a:p>
            <a:pPr algn="just" eaLnBrk="1" hangingPunct="1">
              <a:buFontTx/>
              <a:buChar char="•"/>
              <a:defRPr/>
            </a:pP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Two most important Protocols : TCP &amp; IP.</a:t>
            </a:r>
          </a:p>
          <a:p>
            <a:pPr algn="just" eaLnBrk="1" hangingPunct="1">
              <a:buFontTx/>
              <a:buChar char="•"/>
              <a:defRPr/>
            </a:pP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The layers in the </a:t>
            </a:r>
            <a:r>
              <a:rPr lang="en-US" sz="2800"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TCP/IP protocol suite</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do not exactly match those in the OSI model. </a:t>
            </a:r>
          </a:p>
          <a:p>
            <a:pPr algn="just" eaLnBrk="1" hangingPunct="1">
              <a:buFontTx/>
              <a:buChar char="•"/>
              <a:defRPr/>
            </a:pP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The original TCP/IP protocol suite was defined as having four layers:</a:t>
            </a:r>
          </a:p>
          <a:p>
            <a:pPr algn="just" eaLnBrk="1" hangingPunct="1">
              <a:defRPr/>
            </a:pPr>
            <a:endPar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gn="just" eaLnBrk="1" hangingPunct="1">
              <a:defRPr/>
            </a:pPr>
            <a:r>
              <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1. host-to-network layer </a:t>
            </a:r>
            <a:r>
              <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Wingdings" pitchFamily="2" charset="2"/>
              </a:rPr>
              <a:t>  (physical + data link layer) of OSI</a:t>
            </a:r>
          </a:p>
          <a:p>
            <a:pPr algn="just" eaLnBrk="1" hangingPunct="1">
              <a:defRPr/>
            </a:pP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2. </a:t>
            </a:r>
            <a:r>
              <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Internet  </a:t>
            </a:r>
            <a:r>
              <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Wingdings" pitchFamily="2" charset="2"/>
              </a:rPr>
              <a:t> Network Layer of OSI</a:t>
            </a:r>
          </a:p>
          <a:p>
            <a:pPr algn="just" eaLnBrk="1" hangingPunct="1">
              <a:defRPr/>
            </a:pPr>
            <a:r>
              <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Wingdings" pitchFamily="2" charset="2"/>
              </a:rPr>
              <a:t>3. </a:t>
            </a:r>
            <a:r>
              <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Transport </a:t>
            </a:r>
            <a:r>
              <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Wingdings" pitchFamily="2" charset="2"/>
              </a:rPr>
              <a:t> Transport layer of OSI.</a:t>
            </a:r>
            <a:endPar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gn="just" eaLnBrk="1" hangingPunct="1">
              <a:defRPr/>
            </a:pPr>
            <a:r>
              <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4. application</a:t>
            </a:r>
            <a:r>
              <a:rPr lang="en-US" sz="2400" dirty="0">
                <a:solidFill>
                  <a:schemeClr val="fo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Wingdings" pitchFamily="2" charset="2"/>
              </a:rPr>
              <a:t> (Session + Presentation + application) of OSI model.</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Line 2">
            <a:extLst>
              <a:ext uri="{FF2B5EF4-FFF2-40B4-BE49-F238E27FC236}">
                <a16:creationId xmlns:a16="http://schemas.microsoft.com/office/drawing/2014/main" xmlns="" id="{F64BC807-168E-F9E6-36E7-C6662DEFAF7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9939" name="Line 3">
            <a:extLst>
              <a:ext uri="{FF2B5EF4-FFF2-40B4-BE49-F238E27FC236}">
                <a16:creationId xmlns:a16="http://schemas.microsoft.com/office/drawing/2014/main" xmlns="" id="{7A819605-2F72-731B-EB60-77DD09AACA52}"/>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9940" name="Text Box 4">
            <a:extLst>
              <a:ext uri="{FF2B5EF4-FFF2-40B4-BE49-F238E27FC236}">
                <a16:creationId xmlns:a16="http://schemas.microsoft.com/office/drawing/2014/main" xmlns="" id="{DF837C52-86BC-EBBC-A6F3-F2C9D9619B54}"/>
              </a:ext>
            </a:extLst>
          </p:cNvPr>
          <p:cNvSpPr txBox="1">
            <a:spLocks noChangeArrowheads="1"/>
          </p:cNvSpPr>
          <p:nvPr/>
        </p:nvSpPr>
        <p:spPr bwMode="auto">
          <a:xfrm>
            <a:off x="304800" y="381000"/>
            <a:ext cx="2368725"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3200" i="1" dirty="0"/>
              <a:t>TCP/IP suite</a:t>
            </a:r>
          </a:p>
        </p:txBody>
      </p:sp>
      <p:sp>
        <p:nvSpPr>
          <p:cNvPr id="39941" name="Line 5">
            <a:extLst>
              <a:ext uri="{FF2B5EF4-FFF2-40B4-BE49-F238E27FC236}">
                <a16:creationId xmlns:a16="http://schemas.microsoft.com/office/drawing/2014/main" xmlns="" id="{95ACA85E-EAA1-0D01-CAD5-177FB9EE4606}"/>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39942" name="Picture 7">
            <a:extLst>
              <a:ext uri="{FF2B5EF4-FFF2-40B4-BE49-F238E27FC236}">
                <a16:creationId xmlns:a16="http://schemas.microsoft.com/office/drawing/2014/main" xmlns="" id="{302AF363-3112-3CE6-9BB1-62C42CC4AC9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96913" y="1143000"/>
            <a:ext cx="7532687" cy="500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xmlns="" id="{4EB67691-636D-6488-1412-ED0DDA7EE75B}"/>
              </a:ext>
            </a:extLst>
          </p:cNvPr>
          <p:cNvSpPr>
            <a:spLocks noGrp="1" noChangeArrowheads="1"/>
          </p:cNvSpPr>
          <p:nvPr>
            <p:ph type="title"/>
          </p:nvPr>
        </p:nvSpPr>
        <p:spPr bwMode="auto">
          <a:xfrm>
            <a:off x="457200" y="274638"/>
            <a:ext cx="8229600" cy="639762"/>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4000" dirty="0"/>
              <a:t>TCP/IP Layers </a:t>
            </a:r>
          </a:p>
        </p:txBody>
      </p:sp>
      <p:sp>
        <p:nvSpPr>
          <p:cNvPr id="40963" name="Rectangle 3">
            <a:extLst>
              <a:ext uri="{FF2B5EF4-FFF2-40B4-BE49-F238E27FC236}">
                <a16:creationId xmlns:a16="http://schemas.microsoft.com/office/drawing/2014/main" xmlns="" id="{2F971D10-7A9D-08B3-7A5B-04151A5C85CF}"/>
              </a:ext>
            </a:extLst>
          </p:cNvPr>
          <p:cNvSpPr>
            <a:spLocks noGrp="1" noChangeArrowheads="1"/>
          </p:cNvSpPr>
          <p:nvPr>
            <p:ph type="body" idx="1"/>
          </p:nvPr>
        </p:nvSpPr>
        <p:spPr bwMode="auto">
          <a:xfrm>
            <a:off x="457200" y="990600"/>
            <a:ext cx="8305800" cy="568155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pPr>
            <a:r>
              <a:rPr lang="en-US" altLang="en-US" sz="2800" b="1" dirty="0">
                <a:latin typeface="Times New Roman" panose="02020603050405020304" pitchFamily="18" charset="0"/>
                <a:cs typeface="Times New Roman" panose="02020603050405020304" pitchFamily="18" charset="0"/>
              </a:rPr>
              <a:t>Physical and Data Link Layers :</a:t>
            </a:r>
          </a:p>
          <a:p>
            <a:pPr eaLnBrk="1" hangingPunct="1">
              <a:lnSpc>
                <a:spcPct val="80000"/>
              </a:lnSpc>
              <a:buFont typeface="Wingdings" panose="05000000000000000000" pitchFamily="2" charset="2"/>
              <a:buNone/>
            </a:pPr>
            <a:r>
              <a:rPr lang="en-US" altLang="en-US" sz="2800" dirty="0">
                <a:latin typeface="Times New Roman" panose="02020603050405020304" pitchFamily="18" charset="0"/>
                <a:cs typeface="Times New Roman" panose="02020603050405020304" pitchFamily="18" charset="0"/>
              </a:rPr>
              <a:t>   It supports all the standard and proprietary data base </a:t>
            </a:r>
          </a:p>
          <a:p>
            <a:pPr eaLnBrk="1" hangingPunct="1">
              <a:lnSpc>
                <a:spcPct val="80000"/>
              </a:lnSpc>
            </a:pPr>
            <a:endParaRPr lang="en-US" altLang="en-US" sz="2800" b="1" dirty="0">
              <a:latin typeface="Times New Roman" panose="02020603050405020304" pitchFamily="18" charset="0"/>
              <a:cs typeface="Times New Roman" panose="02020603050405020304" pitchFamily="18" charset="0"/>
            </a:endParaRPr>
          </a:p>
          <a:p>
            <a:pPr eaLnBrk="1" hangingPunct="1">
              <a:lnSpc>
                <a:spcPct val="80000"/>
              </a:lnSpc>
            </a:pPr>
            <a:r>
              <a:rPr lang="en-US" altLang="en-US" sz="2800" b="1" dirty="0">
                <a:latin typeface="Times New Roman" panose="02020603050405020304" pitchFamily="18" charset="0"/>
                <a:cs typeface="Times New Roman" panose="02020603050405020304" pitchFamily="18" charset="0"/>
              </a:rPr>
              <a:t>Network Layers : </a:t>
            </a:r>
          </a:p>
          <a:p>
            <a:pPr marL="800100" lvl="1" indent="-342900" algn="just" eaLnBrk="1" hangingPunct="1">
              <a:lnSpc>
                <a:spcPct val="8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Internet Protocol (IP) : </a:t>
            </a:r>
            <a:r>
              <a:rPr lang="en-US" altLang="en-US" sz="2400" dirty="0">
                <a:latin typeface="Times New Roman" panose="02020603050405020304" pitchFamily="18" charset="0"/>
                <a:cs typeface="Times New Roman" panose="02020603050405020304" pitchFamily="18" charset="0"/>
              </a:rPr>
              <a:t>Used to send datagram (packets) from the source host to the destination host solely based on its address.</a:t>
            </a:r>
          </a:p>
          <a:p>
            <a:pPr marL="1657350" lvl="3" indent="-285750" eaLnBrk="1" hangingPunct="1">
              <a:lnSpc>
                <a:spcPct val="80000"/>
              </a:lnSpc>
              <a:buFont typeface="Arial" panose="020B0604020202020204" pitchFamily="34" charset="0"/>
              <a:buChar char="•"/>
            </a:pPr>
            <a:r>
              <a:rPr lang="en-US" altLang="en-US" sz="1800" b="1" dirty="0">
                <a:latin typeface="Times New Roman" panose="02020603050405020304" pitchFamily="18" charset="0"/>
                <a:cs typeface="Times New Roman" panose="02020603050405020304" pitchFamily="18" charset="0"/>
              </a:rPr>
              <a:t>Unreliable and connection less </a:t>
            </a:r>
          </a:p>
          <a:p>
            <a:pPr marL="1657350" lvl="3" indent="-285750" eaLnBrk="1" hangingPunct="1">
              <a:lnSpc>
                <a:spcPct val="80000"/>
              </a:lnSpc>
              <a:buFont typeface="Arial" panose="020B0604020202020204" pitchFamily="34" charset="0"/>
              <a:buChar char="•"/>
            </a:pPr>
            <a:r>
              <a:rPr lang="en-US" altLang="en-US" sz="1800" b="1" dirty="0">
                <a:latin typeface="Times New Roman" panose="02020603050405020304" pitchFamily="18" charset="0"/>
                <a:cs typeface="Times New Roman" panose="02020603050405020304" pitchFamily="18" charset="0"/>
              </a:rPr>
              <a:t>Best effort service</a:t>
            </a:r>
          </a:p>
          <a:p>
            <a:pPr marL="1657350" lvl="3" indent="-285750" eaLnBrk="1" hangingPunct="1">
              <a:lnSpc>
                <a:spcPct val="80000"/>
              </a:lnSpc>
              <a:buFont typeface="Arial" panose="020B0604020202020204" pitchFamily="34" charset="0"/>
              <a:buChar char="•"/>
            </a:pPr>
            <a:r>
              <a:rPr lang="en-US" altLang="en-US" sz="1800" b="1" dirty="0">
                <a:latin typeface="Times New Roman" panose="02020603050405020304" pitchFamily="18" charset="0"/>
                <a:cs typeface="Times New Roman" panose="02020603050405020304" pitchFamily="18" charset="0"/>
              </a:rPr>
              <a:t>IP data is called datagrams</a:t>
            </a:r>
          </a:p>
          <a:p>
            <a:pPr marL="800100" lvl="1" indent="-342900" algn="just" eaLnBrk="1" hangingPunct="1">
              <a:lnSpc>
                <a:spcPct val="8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Address Resolution Protocol (ARP) : </a:t>
            </a:r>
            <a:r>
              <a:rPr lang="en-US" altLang="en-US" sz="2400" dirty="0">
                <a:latin typeface="Times New Roman" panose="02020603050405020304" pitchFamily="18" charset="0"/>
                <a:cs typeface="Times New Roman" panose="02020603050405020304" pitchFamily="18" charset="0"/>
              </a:rPr>
              <a:t>Used to find physical address when its internet address is known.</a:t>
            </a:r>
          </a:p>
          <a:p>
            <a:pPr marL="800100" lvl="1" indent="-342900" algn="just" eaLnBrk="1" hangingPunct="1">
              <a:lnSpc>
                <a:spcPct val="8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Reverse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Address Resolution Protocol (RARP): </a:t>
            </a:r>
            <a:r>
              <a:rPr lang="en-US" altLang="en-US" sz="2400" dirty="0">
                <a:latin typeface="Times New Roman" panose="02020603050405020304" pitchFamily="18" charset="0"/>
                <a:cs typeface="Times New Roman" panose="02020603050405020304" pitchFamily="18" charset="0"/>
              </a:rPr>
              <a:t>Used to find internet address when its physical address  is known.</a:t>
            </a:r>
          </a:p>
          <a:p>
            <a:pPr marL="800100" lvl="1" indent="-342900" algn="just" eaLnBrk="1" hangingPunct="1">
              <a:lnSpc>
                <a:spcPct val="8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Internet Control Message Protocol (ICMP) : </a:t>
            </a:r>
            <a:r>
              <a:rPr lang="en-US" altLang="en-US" sz="2400" dirty="0">
                <a:latin typeface="Times New Roman" panose="02020603050405020304" pitchFamily="18" charset="0"/>
                <a:cs typeface="Times New Roman" panose="02020603050405020304" pitchFamily="18" charset="0"/>
              </a:rPr>
              <a:t>Used to send query and error reporting messages. </a:t>
            </a:r>
          </a:p>
          <a:p>
            <a:pPr marL="800100" lvl="1" indent="-342900" algn="just">
              <a:lnSpc>
                <a:spcPct val="8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Internet Group Message Protocol (IGMP) :</a:t>
            </a:r>
            <a:r>
              <a:rPr lang="en-US" altLang="en-US" sz="2400" dirty="0">
                <a:latin typeface="Times New Roman" panose="02020603050405020304" pitchFamily="18" charset="0"/>
                <a:cs typeface="Times New Roman" panose="02020603050405020304" pitchFamily="18" charset="0"/>
              </a:rPr>
              <a:t>  Simultaneous transmission to a group of recipients.</a:t>
            </a:r>
          </a:p>
          <a:p>
            <a:pPr lvl="1" algn="just" eaLnBrk="1" hangingPunct="1">
              <a:lnSpc>
                <a:spcPct val="80000"/>
              </a:lnSpc>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xmlns="" id="{68D20B45-59AA-1290-4B1F-2EED781D1193}"/>
              </a:ext>
            </a:extLst>
          </p:cNvPr>
          <p:cNvSpPr>
            <a:spLocks noGrp="1" noChangeArrowheads="1"/>
          </p:cNvSpPr>
          <p:nvPr>
            <p:ph type="title"/>
          </p:nvPr>
        </p:nvSpPr>
        <p:spPr bwMode="auto">
          <a:xfrm>
            <a:off x="533400" y="228600"/>
            <a:ext cx="8153400" cy="707886"/>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sz="4000" dirty="0"/>
              <a:t>TCP/IP Layers</a:t>
            </a:r>
          </a:p>
        </p:txBody>
      </p:sp>
      <p:sp>
        <p:nvSpPr>
          <p:cNvPr id="41987" name="Rectangle 3">
            <a:extLst>
              <a:ext uri="{FF2B5EF4-FFF2-40B4-BE49-F238E27FC236}">
                <a16:creationId xmlns:a16="http://schemas.microsoft.com/office/drawing/2014/main" xmlns="" id="{659F33DD-FE42-644C-058A-769C53C12D83}"/>
              </a:ext>
            </a:extLst>
          </p:cNvPr>
          <p:cNvSpPr>
            <a:spLocks noGrp="1" noChangeArrowheads="1"/>
          </p:cNvSpPr>
          <p:nvPr>
            <p:ph type="body" idx="1"/>
          </p:nvPr>
        </p:nvSpPr>
        <p:spPr bwMode="auto">
          <a:xfrm>
            <a:off x="457200" y="914400"/>
            <a:ext cx="8229600" cy="4918269"/>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2900" indent="-342900" eaLnBrk="1" hangingPunct="1">
              <a:lnSpc>
                <a:spcPct val="80000"/>
              </a:lnSpc>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Transport Layers :  </a:t>
            </a:r>
          </a:p>
          <a:p>
            <a:pPr marL="800100" lvl="1" indent="-342900" algn="just" eaLnBrk="1" hangingPunct="1">
              <a:lnSpc>
                <a:spcPct val="80000"/>
              </a:lnSpc>
              <a:buClr>
                <a:srgbClr val="FF0000"/>
              </a:buCl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User Datagram Protocol : </a:t>
            </a:r>
            <a:r>
              <a:rPr lang="en-US" altLang="en-US" sz="2400" dirty="0">
                <a:latin typeface="Times New Roman" panose="02020603050405020304" pitchFamily="18" charset="0"/>
                <a:cs typeface="Times New Roman" panose="02020603050405020304" pitchFamily="18" charset="0"/>
              </a:rPr>
              <a:t>Used to send short messages sometimes known as datagram.</a:t>
            </a:r>
            <a:r>
              <a:rPr lang="en-US" altLang="en-US" sz="2400" b="1" dirty="0">
                <a:latin typeface="Times New Roman" panose="02020603050405020304" pitchFamily="18" charset="0"/>
                <a:cs typeface="Times New Roman" panose="02020603050405020304" pitchFamily="18" charset="0"/>
              </a:rPr>
              <a:t>  </a:t>
            </a:r>
          </a:p>
          <a:p>
            <a:pPr marL="800100" lvl="1" indent="-342900" algn="just" eaLnBrk="1" hangingPunct="1">
              <a:lnSpc>
                <a:spcPct val="80000"/>
              </a:lnSpc>
              <a:buClr>
                <a:srgbClr val="FF0000"/>
              </a:buClr>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Process to Process protocol that adds only port address , checksum, error control and length information to the data.</a:t>
            </a:r>
          </a:p>
          <a:p>
            <a:pPr marL="800100" lvl="1" indent="-342900" algn="just" eaLnBrk="1" hangingPunct="1">
              <a:lnSpc>
                <a:spcPct val="80000"/>
              </a:lnSpc>
              <a:buClr>
                <a:srgbClr val="FF0000"/>
              </a:buCl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UDP does not guarantee reliability or ordering</a:t>
            </a:r>
          </a:p>
          <a:p>
            <a:pPr marL="1257300" lvl="2" indent="-342900" eaLnBrk="1" hangingPunct="1">
              <a:lnSpc>
                <a:spcPct val="80000"/>
              </a:lnSpc>
              <a:buClr>
                <a:srgbClr val="002060"/>
              </a:buClr>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a:p>
            <a:pPr marL="800100" lvl="1" indent="-342900" eaLnBrk="1" hangingPunct="1">
              <a:lnSpc>
                <a:spcPct val="80000"/>
              </a:lnSpc>
              <a:buClr>
                <a:srgbClr val="FF0000"/>
              </a:buCl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Transmission Control Protocol : Connection oriented and reliable </a:t>
            </a:r>
          </a:p>
          <a:p>
            <a:pPr marL="1257300" lvl="2" indent="-342900" eaLnBrk="1" hangingPunct="1">
              <a:lnSpc>
                <a:spcPct val="80000"/>
              </a:lnSpc>
              <a:buClr>
                <a:srgbClr val="002060"/>
              </a:buCl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Data is called segments </a:t>
            </a:r>
          </a:p>
          <a:p>
            <a:pPr marL="1257300" lvl="2" indent="-342900" eaLnBrk="1" hangingPunct="1">
              <a:lnSpc>
                <a:spcPct val="80000"/>
              </a:lnSpc>
              <a:buClr>
                <a:srgbClr val="002060"/>
              </a:buCl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reordering of the segments</a:t>
            </a:r>
          </a:p>
          <a:p>
            <a:pPr marL="800100" lvl="1" indent="-342900" eaLnBrk="1" hangingPunct="1">
              <a:lnSpc>
                <a:spcPct val="80000"/>
              </a:lnSpc>
              <a:buClr>
                <a:srgbClr val="FF0000"/>
              </a:buCl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Stream Control Protocol : Newer application support, such as voice over network.</a:t>
            </a:r>
          </a:p>
          <a:p>
            <a:pPr marL="800100" lvl="1" indent="-342900" eaLnBrk="1" hangingPunct="1">
              <a:lnSpc>
                <a:spcPct val="80000"/>
              </a:lnSpc>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a:p>
            <a:pPr marL="342900" indent="-342900" algn="just" eaLnBrk="1" hangingPunct="1">
              <a:lnSpc>
                <a:spcPct val="80000"/>
              </a:lnSpc>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Application Layer </a:t>
            </a:r>
            <a:r>
              <a:rPr lang="en-US" altLang="en-US" b="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Equivalent to combined session , presentation and application  layers of the OSI model.</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Line 2">
            <a:extLst>
              <a:ext uri="{FF2B5EF4-FFF2-40B4-BE49-F238E27FC236}">
                <a16:creationId xmlns:a16="http://schemas.microsoft.com/office/drawing/2014/main" xmlns="" id="{C940D4D2-A74B-E55A-A34B-F2E069259DA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45059" name="Line 3">
            <a:extLst>
              <a:ext uri="{FF2B5EF4-FFF2-40B4-BE49-F238E27FC236}">
                <a16:creationId xmlns:a16="http://schemas.microsoft.com/office/drawing/2014/main" xmlns="" id="{2BF2D9C0-D6E5-AF24-9AD7-BBB566B5E1BB}"/>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45060" name="Text Box 4">
            <a:extLst>
              <a:ext uri="{FF2B5EF4-FFF2-40B4-BE49-F238E27FC236}">
                <a16:creationId xmlns:a16="http://schemas.microsoft.com/office/drawing/2014/main" xmlns="" id="{55CBF754-9612-4683-6A4B-2B229D254C85}"/>
              </a:ext>
            </a:extLst>
          </p:cNvPr>
          <p:cNvSpPr txBox="1">
            <a:spLocks noChangeArrowheads="1"/>
          </p:cNvSpPr>
          <p:nvPr/>
        </p:nvSpPr>
        <p:spPr bwMode="auto">
          <a:xfrm>
            <a:off x="304800" y="381000"/>
            <a:ext cx="5179623"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000" i="1" dirty="0"/>
              <a:t>Relationship of layers and addresses in TCP/IP</a:t>
            </a:r>
          </a:p>
        </p:txBody>
      </p:sp>
      <p:sp>
        <p:nvSpPr>
          <p:cNvPr id="45061" name="Line 5">
            <a:extLst>
              <a:ext uri="{FF2B5EF4-FFF2-40B4-BE49-F238E27FC236}">
                <a16:creationId xmlns:a16="http://schemas.microsoft.com/office/drawing/2014/main" xmlns="" id="{791E29BA-082E-1CEE-686F-5962286A3785}"/>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45062" name="Picture 6">
            <a:extLst>
              <a:ext uri="{FF2B5EF4-FFF2-40B4-BE49-F238E27FC236}">
                <a16:creationId xmlns:a16="http://schemas.microsoft.com/office/drawing/2014/main" xmlns="" id="{8DC094E1-CF72-B427-0312-6A8A8EC0BFE8}"/>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85800" y="1266825"/>
            <a:ext cx="7467600" cy="4829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Line 2">
            <a:extLst>
              <a:ext uri="{FF2B5EF4-FFF2-40B4-BE49-F238E27FC236}">
                <a16:creationId xmlns:a16="http://schemas.microsoft.com/office/drawing/2014/main" xmlns="" id="{DD387822-7374-188D-8C53-9C91B4B0602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52227" name="Line 3">
            <a:extLst>
              <a:ext uri="{FF2B5EF4-FFF2-40B4-BE49-F238E27FC236}">
                <a16:creationId xmlns:a16="http://schemas.microsoft.com/office/drawing/2014/main" xmlns="" id="{975D6284-B403-9F38-7564-95D73EC442C5}"/>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52228" name="Text Box 4">
            <a:extLst>
              <a:ext uri="{FF2B5EF4-FFF2-40B4-BE49-F238E27FC236}">
                <a16:creationId xmlns:a16="http://schemas.microsoft.com/office/drawing/2014/main" xmlns="" id="{C28CF3F2-0742-B133-4BA0-5D47B953832F}"/>
              </a:ext>
            </a:extLst>
          </p:cNvPr>
          <p:cNvSpPr txBox="1">
            <a:spLocks noChangeArrowheads="1"/>
          </p:cNvSpPr>
          <p:nvPr/>
        </p:nvSpPr>
        <p:spPr bwMode="auto">
          <a:xfrm>
            <a:off x="304800" y="381000"/>
            <a:ext cx="1713931"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000" i="1" dirty="0"/>
              <a:t>Port addresses</a:t>
            </a:r>
          </a:p>
        </p:txBody>
      </p:sp>
      <p:sp>
        <p:nvSpPr>
          <p:cNvPr id="52229" name="Line 5">
            <a:extLst>
              <a:ext uri="{FF2B5EF4-FFF2-40B4-BE49-F238E27FC236}">
                <a16:creationId xmlns:a16="http://schemas.microsoft.com/office/drawing/2014/main" xmlns="" id="{60499B3C-BD6C-FAC8-EF07-E9F1BE349E8F}"/>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lstStyle/>
          <a:p>
            <a:endParaRPr lang="en-IN"/>
          </a:p>
        </p:txBody>
      </p:sp>
      <p:pic>
        <p:nvPicPr>
          <p:cNvPr id="52230" name="Picture 6">
            <a:extLst>
              <a:ext uri="{FF2B5EF4-FFF2-40B4-BE49-F238E27FC236}">
                <a16:creationId xmlns:a16="http://schemas.microsoft.com/office/drawing/2014/main" xmlns="" id="{7966380E-BA04-91D1-B811-9EEB729AFDA1}"/>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85825" y="990600"/>
            <a:ext cx="7038975" cy="5276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7375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1315</TotalTime>
  <Words>3544</Words>
  <Application>Microsoft Office PowerPoint</Application>
  <PresentationFormat>On-screen Show (4:3)</PresentationFormat>
  <Paragraphs>576</Paragraphs>
  <Slides>96</Slides>
  <Notes>18</Notes>
  <HiddenSlides>5</HiddenSlides>
  <MMClips>1</MMClips>
  <ScaleCrop>false</ScaleCrop>
  <HeadingPairs>
    <vt:vector size="4" baseType="variant">
      <vt:variant>
        <vt:lpstr>Theme</vt:lpstr>
      </vt:variant>
      <vt:variant>
        <vt:i4>1</vt:i4>
      </vt:variant>
      <vt:variant>
        <vt:lpstr>Slide Titles</vt:lpstr>
      </vt:variant>
      <vt:variant>
        <vt:i4>96</vt:i4>
      </vt:variant>
    </vt:vector>
  </HeadingPairs>
  <TitlesOfParts>
    <vt:vector size="97" baseType="lpstr">
      <vt:lpstr>Office Theme</vt:lpstr>
      <vt:lpstr>  COMPUTER NETWORK AND COMMUNICATION    Course code: CS3001-1  </vt:lpstr>
      <vt:lpstr>Course Learning objectives</vt:lpstr>
      <vt:lpstr>Syllabus</vt:lpstr>
      <vt:lpstr>Slide 4</vt:lpstr>
      <vt:lpstr>Suggested List of Experiments   Part-A(Experiments using NS-2/ NS-3)   </vt:lpstr>
      <vt:lpstr>PART B (Experiments using C/C++/Python)  </vt:lpstr>
      <vt:lpstr>Course Outcomes:</vt:lpstr>
      <vt:lpstr>Slide 8</vt:lpstr>
      <vt:lpstr>Data communications are the exchange of data between  two devices via some form of transmission medium such as  a wire cable.</vt:lpstr>
      <vt:lpstr>Components of a data communication system</vt:lpstr>
      <vt:lpstr>Data Representation</vt:lpstr>
      <vt:lpstr>Data flow (simplex, half-duplex, and full-duplex)</vt:lpstr>
      <vt:lpstr>NETWORKS</vt:lpstr>
      <vt:lpstr>Computer Network</vt:lpstr>
      <vt:lpstr>NETWORKS</vt:lpstr>
      <vt:lpstr>Physical structures of Networks</vt:lpstr>
      <vt:lpstr>Point-To-Point Connection</vt:lpstr>
      <vt:lpstr>Multipoint Connection</vt:lpstr>
      <vt:lpstr>Physical Topology</vt:lpstr>
      <vt:lpstr>Mesh Topology</vt:lpstr>
      <vt:lpstr>Mesh Topology</vt:lpstr>
      <vt:lpstr>Mesh Topology</vt:lpstr>
      <vt:lpstr>Star Topology</vt:lpstr>
      <vt:lpstr>Star Topology</vt:lpstr>
      <vt:lpstr>Bus Topology</vt:lpstr>
      <vt:lpstr>Bus Topology</vt:lpstr>
      <vt:lpstr>Ring Topology</vt:lpstr>
      <vt:lpstr>Ring Topology</vt:lpstr>
      <vt:lpstr>Hybrid Topologies</vt:lpstr>
      <vt:lpstr>Network Types</vt:lpstr>
      <vt:lpstr>Local Area Networks</vt:lpstr>
      <vt:lpstr>Wide Area Networks</vt:lpstr>
      <vt:lpstr>Two distinct examples of WAN:</vt:lpstr>
      <vt:lpstr>Switched WANs</vt:lpstr>
      <vt:lpstr>Examples</vt:lpstr>
      <vt:lpstr>Slide 36</vt:lpstr>
      <vt:lpstr> The Internet</vt:lpstr>
      <vt:lpstr>Figure 1.13 The Internet today A network topology representing the internet shows several backbones connected to several provider networks and peering points. The peering points connect to the provider networks. The provider networks connect to multiple customer networks. The provider networks establish connections between them. Similarly, the customer networks have connections between them.</vt:lpstr>
      <vt:lpstr>Accessing the Internet</vt:lpstr>
      <vt:lpstr>Connection-Oriented Versus Connectionless Service</vt:lpstr>
      <vt:lpstr>Connection-Oriented Versus Connectionless Service</vt:lpstr>
      <vt:lpstr>Connection-Oriented Versus Connectionless Service</vt:lpstr>
      <vt:lpstr>Connection-Oriented Versus Connectionless Service</vt:lpstr>
      <vt:lpstr>Connection-Oriented Versus Connectionless Service</vt:lpstr>
      <vt:lpstr>Connection-Oriented Versus Connectionless Service</vt:lpstr>
      <vt:lpstr>Connection-Oriented Versus Connectionless Service</vt:lpstr>
      <vt:lpstr>Summary of the types of services discussed</vt:lpstr>
      <vt:lpstr>Introduction to network Devices</vt:lpstr>
      <vt:lpstr>Slide 49</vt:lpstr>
      <vt:lpstr>Modem</vt:lpstr>
      <vt:lpstr>Modem</vt:lpstr>
      <vt:lpstr>Hub</vt:lpstr>
      <vt:lpstr>Switch</vt:lpstr>
      <vt:lpstr>Router</vt:lpstr>
      <vt:lpstr>Router</vt:lpstr>
      <vt:lpstr>Slide 56</vt:lpstr>
      <vt:lpstr>  Network Models  </vt:lpstr>
      <vt:lpstr>The OSI model</vt:lpstr>
      <vt:lpstr>Slide 59</vt:lpstr>
      <vt:lpstr>The OSI 7 Layers</vt:lpstr>
      <vt:lpstr> The interaction between layers in the OSI model</vt:lpstr>
      <vt:lpstr>An exchange using the OSI model</vt:lpstr>
      <vt:lpstr>LAYERS IN THE OSI MODEL</vt:lpstr>
      <vt:lpstr>Physical layer</vt:lpstr>
      <vt:lpstr>Slide 65</vt:lpstr>
      <vt:lpstr>2. Data link layer</vt:lpstr>
      <vt:lpstr>Data link layer functionalities</vt:lpstr>
      <vt:lpstr>Slide 68</vt:lpstr>
      <vt:lpstr>Hop-to-hop delivery</vt:lpstr>
      <vt:lpstr>Slide 70</vt:lpstr>
      <vt:lpstr>Network layer functionalities</vt:lpstr>
      <vt:lpstr>Slide 72</vt:lpstr>
      <vt:lpstr>Slide 73</vt:lpstr>
      <vt:lpstr>Slide 74</vt:lpstr>
      <vt:lpstr>Transport layer functionalities</vt:lpstr>
      <vt:lpstr>Slide 76</vt:lpstr>
      <vt:lpstr>Slide 77</vt:lpstr>
      <vt:lpstr>Slide 78</vt:lpstr>
      <vt:lpstr>Session layer functionalities</vt:lpstr>
      <vt:lpstr>Slide 80</vt:lpstr>
      <vt:lpstr>Slide 81</vt:lpstr>
      <vt:lpstr>Presentation layer functionalities</vt:lpstr>
      <vt:lpstr>Slide 83</vt:lpstr>
      <vt:lpstr>Slide 84</vt:lpstr>
      <vt:lpstr>Application layer functionalities</vt:lpstr>
      <vt:lpstr>Slide 86</vt:lpstr>
      <vt:lpstr>Slide 87</vt:lpstr>
      <vt:lpstr>OSI versus TCP/IP</vt:lpstr>
      <vt:lpstr>OSI versus TCP/IP</vt:lpstr>
      <vt:lpstr>OSI versus TCP/IP</vt:lpstr>
      <vt:lpstr>Slide 91</vt:lpstr>
      <vt:lpstr>Slide 92</vt:lpstr>
      <vt:lpstr>TCP/IP Layers </vt:lpstr>
      <vt:lpstr>TCP/IP Layers</vt:lpstr>
      <vt:lpstr>Slide 95</vt:lpstr>
      <vt:lpstr>Slide 96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COMMUNICATION   18CS46</dc:title>
  <dc:creator>DELL USER</dc:creator>
  <cp:lastModifiedBy>DELL</cp:lastModifiedBy>
  <cp:revision>49</cp:revision>
  <dcterms:created xsi:type="dcterms:W3CDTF">2023-06-14T08:58:57Z</dcterms:created>
  <dcterms:modified xsi:type="dcterms:W3CDTF">2026-08-09T09:53:55Z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2021-05-20T00:00:00Z</vt:filetime>
  </property>
  <property fmtid="{D5CDD505-2E9C-101B-9397-08002B2CF9AE}" pid="3" name="Creator">
    <vt:lpwstr>Microsoft® PowerPoint® 2019</vt:lpwstr>
  </property>
  <property fmtid="{D5CDD505-2E9C-101B-9397-08002B2CF9AE}" pid="4" name="LastSaved">
    <vt:filetime>2023-06-14T00:00:00Z</vt:filetime>
  </property>
</Properties>
</file>